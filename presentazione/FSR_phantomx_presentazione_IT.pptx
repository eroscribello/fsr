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zione" id="{f2e7c380-eb3b-8ae6-8464-ea567e3e0601}">
          <p14:sldIdLst>
            <p14:sldId id="256"/>
            <p14:sldId id="257"/>
            <p14:sldId id="258"/>
            <p14:sldId id="259"/>
          </p14:sldIdLst>
        </p14:section>
        <p14:section name="Metodo" id="{7b2e6dab-b6c2-3b2b-fb76-81c35742c351}">
          <p14:sldIdLst>
            <p14:sldId id="260"/>
            <p14:sldId id="261"/>
            <p14:sldId id="262"/>
            <p14:sldId id="263"/>
          </p14:sldIdLst>
        </p14:section>
        <p14:section name="Risultati" id="{36916680-eca3-958e-baa9-88e085a032d1}">
          <p14:sldIdLst>
            <p14:sldId id="264"/>
            <p14:sldId id="265"/>
            <p14:sldId id="266"/>
            <p14:sldId id="267"/>
            <p14:sldId id="268"/>
            <p14:sldId id="269"/>
            <p14:sldId id="270"/>
            <p14:sldId id="271"/>
            <p14:sldId id="272"/>
            <p14:sldId id="273"/>
            <p14:sldId id="274"/>
            <p14:sldId id="275"/>
            <p14:sldId id="276"/>
          </p14:sldIdLst>
        </p14:section>
        <p14:section name="Fattibilità" id="{0d1ead9e-b35d-3dee-cb17-a35ae91e2ab4}">
          <p14:sldIdLst>
            <p14:sldId id="277"/>
            <p14:sldId id="278"/>
          </p14:sldIdLst>
        </p14:section>
        <p14:section name="Trasporto di un carico" id="{e71b855f-7106-b936-a42d-0854e6b92b70}">
          <p14:sldIdLst>
            <p14:sldId id="279"/>
            <p14:sldId id="280"/>
            <p14:sldId id="281"/>
            <p14:sldId id="282"/>
            <p14:sldId id="283"/>
          </p14:sldIdLst>
        </p14:section>
        <p14:section name="Stabilità" id="{5fa27649-d4f7-e607-6324-843a7892cc6e}">
          <p14:sldIdLst>
            <p14:sldId id="284"/>
          </p14:sldIdLst>
        </p14:section>
        <p14:section name="Conclusioni" id="{34c09dbb-72d1-1106-74b3-56c00e604860}">
          <p14:sldIdLst>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Presentazione: chi siamo, corso. Il lavoro confronta tre controllori per l'esapode PhantomX sullo stesso impianto Simscape.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Hardware senza sensori di forza: tutto passa dalla coppia dei servo. Il paper mostra che la ricerca del terreno aiuta su terreno non modellato, ma non dice quanto costa dove il terreno è già noto. È la domanda da cui partiamo.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Il modello viene dall'URDF pubblico. I giunti sono comandati in posizione, quindi la coppia è una reazione. Contatto a penalità con attrito di Coulomb, penetrazione statica 4.3 mm.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Ogni controllore aggiunge un solo meccanismo al precedente, sullo stesso modello, terreno e generatore d'andatura. Quindi ogni confronto fra adiacenti ha una sola causa. In C3 la quota del piede è la somma della ricerca del terreno e della correzione d'assetto.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Tre parametri su cinque sono fissati da vincoli misurati, il periodo discende da passo e velocità. Froude 0.0095: la marcia è quasi-statica, il che giustifica l'ipotesi di stabilità statica del tripode. I sette task vanno dal piano agli ostacoli all'impulso laterale.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Le inerzie dichiarate collocano la massa del tronco a 1.79 m dal centro, per un tronco largo 25 cm. Tutti i 24 membri hanno la stessa inerzia. Dividendo per mille torna tutto plausibile: export CAD in grammi. Effetto sul beccheggio: da 45 a 15 gradi.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Avevamo corretto le inerzie solo nel robot simulato: lo stimatore di coppia descriveva ancora l'altro robot. Una flag sempre alta sbagliava quanto la nostra, quindi la nostra non portava informazione. Dopo l'allineamento l'errore scende allo 0.6%. Poi abbiamo disattivato la soglia della coxa.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In simulazione tutto è deterministico, ma una combinazione fortunata di istanti d'impatto può favorire un controllore. Perturbiamo la profondità d'appoggio di 0.2 mm, misuriamo quanto oscilla ogni metrica e dichiariamo una differenza solo se è almeno tre volte quella oscillazione.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Su un terreno identico a quello che il generatore si aspetta, la ricerca peggiora il beccheggio di quasi quattro volte, senza guadagni di energia. L'anello d'assetto lo riduce dell'82%, ma consuma il 28% di energia in più.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Sweep di cinque fattori, giudicato sul rimbalzo del corpo con soglia 10 mm decisa prima. L'andatura ad anello aperto è stabile fra 1 e 1.2 volte la velocità nominale; a 2 volte il robot arretra.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In curva quasi tutte le differenze superano la soglia. La ricerca peggiora l'assetto ma risparmia il 2-3% di energia; l'anello d'assetto riporta l'assetto giù e costa il 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 Le tre traiettorie si sovrappongono: il comando di imbardata viene seguito allo stesso modo. Le scale degli assi sono diverse, quindi lo scostamento laterale sembra più grande di quanto sia.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Su dosso e ostacolo la ricerca riduce energia e costo di trasporto, e il rollio sul dosso. È il risultato del paper. Eccezione: sul dosso il beccheggio di C2 peggiora del 21%, perché il corpo segue il gradiente. L'anello d'assetto riduce il beccheggio dell'81% e del 73%.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Fuori dalla finestra grigia le curve oscillano col passo. Dentro, C1 e C2 alzano il muso quando salgono le zampe anteriori e lo abbassano con le posteriori. C3 resta piatto.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Video: confrontare l'inclinazione del tronco di C1 e C3 mentre salgono sul gradino.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Sulla rampa la fascia non è misurata, quindi niente verdetti, ma la differenza è qualitativa. C1 e C2 restano paralleli alla rampa; C3 tiene il tronco orizzontale, che è il suo obiettivo. Costa il 45% di costo di trasporto.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 I primi 4.5 s sono in piano. Poi C1 e C2 si adagiano sulla pendenza, C3 tiene il tronco orizzontale. Il dente di sega è l'oscillazione del passo.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 Video: C2 parallelo alla rampa, C3 orizzontale.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Tutti e tre attraversano i sette ostacoli senza ribaltarsi, e la deriva resta sotto la soglia oltre la quale un ostacolo sarebbe aggirato. C3 riduce rollio e beccheggio di circa il 70% e quasi dimezza la coppia di picco. Solo C3 completa il percorso con un ciclo d'andatura di margine.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 Video del percorso completo: notare il rollio di C1 e C2 sugli ostacoli laterali e la stabilità del tronco di C3.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All'impulso grande nessuno dei tre recupera: le curve coincidono entro il 2%. Né la ricerca né l'assetto agiscono su questo disturbo: è la lacuna più chiara per un controllore futuro.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La simulazione concede qualunque coppia; qui misuriamo quanto chiede ciascun controllore. La marcia sta al 39-46% dello stallo, 2.3 volte il quinto raccomandato dal costruttore. I picchi d'urto superano lo stallo, fino a 5 volte, ma su meno dell'1% dei campioni.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 Stessa informazione della tabella, in forma grafica: le barre di coppia efficace stanno sotto lo stallo, i picchi lo superano solo agli impatti.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Finora l'assetto era solo un numero da minimizzare. Mettendo un carico libero sul robot diventa un requisito. Per capire se il carico ha bisogno dell'anello d'assetto confrontiamo C3P con C2P: stesso modello, stesso pacco, anello spento.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Finora l'assetto era solo un numero da minimizzare. Con un carico libero diventa un requisito. Spegnendo l'anello il robot completa comunque i percorsi con la stessa coppia, ma il pacco supera il gioco entro i primi nove secondi.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Sulla rampa la caduta è netta: oltrepassata la soglia, il cubo lascia il robot. Con l'anello acceso resta fermo sul vassoio.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Qui non c'è una caduta netta: il cubo sbatte avanti e indietro ben oltre i limiti del vassoio. Per il criterio resta comunque non consegnato.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 Video: stesso percorso, stesso pacco. A sinistra senza anello d'assetto il cubo scivola e cade, a destra resta sul vassoio. L'anello d'assetto non migliora il trasporto, lo rende possibile.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 Il tripode è costruito su un'ipotesi statica. Con Froude 0.0095 lo ZMP coincide con la proiezione del baricentro, quindi misurarlo verifica l'ipotesi anche con il robot in movimento. Margine mai negativo, mediana sulla previsione geometrica. I buchi sono istanti con meno di tre piedi sopra 2 N, solo al cambio di tripode. Il rumore viene dalle forze di contatto non filtrate.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Tre messaggi: la ricerca del terreno ha un costo misurabile dove non serve; l'anello d'assetto è ciò che rende il robot utile per trasportare; resta aperto il recupero da disturbi laterali.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1554480"/>
            <a:ext cx="10515600" cy="1737360"/>
          </a:xfrm>
          <a:prstGeom prst="rect">
            <a:avLst/>
          </a:prstGeom>
          <a:noFill/>
          <a:ln/>
        </p:spPr>
        <p:txBody>
          <a:bodyPr wrap="square" rtlCol="0"/>
          <a:lstStyle>
            <a:lvl1pPr indent="0" marL="0">
              <a:buNone/>
              <a:defRPr lang="en-US" sz="4000" b="1" dirty="0">
                <a:solidFill>
                  <a:schemeClr val="bg1"/>
                </a:solidFill>
              </a:defRPr>
            </a:lvl1pPr>
          </a:lstStyle>
          <a:p>
            <a:pPr indent="0" marL="0">
              <a:buNone/>
            </a:pPr>
            <a:endParaRPr lang="en-US" sz="4000" dirty="0"/>
          </a:p>
        </p:txBody>
      </p:sp>
      <p:sp>
        <p:nvSpPr>
          <p:cNvPr id="3" name="Text 0"/>
          <p:cNvSpPr/>
          <p:nvPr>
            <p:ph idx="101" type="body" hasCustomPrompt="1"/>
          </p:nvPr>
        </p:nvSpPr>
        <p:spPr>
          <a:xfrm>
            <a:off x="822960" y="3429000"/>
            <a:ext cx="10515600" cy="73152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indent="0" marL="0">
              <a:buNone/>
              <a:defRPr lang="en-US" sz="3000" b="1" dirty="0">
                <a:solidFill>
                  <a:schemeClr val="tx2"/>
                </a:solidFill>
              </a:defRPr>
            </a:lvl1pPr>
          </a:lstStyle>
          <a:p>
            <a:pPr indent="0" marL="0">
              <a:buNone/>
            </a:pPr>
            <a:endParaRPr lang="en-US" sz="3000" dirty="0"/>
          </a:p>
        </p:txBody>
      </p:sp>
      <p:sp>
        <p:nvSpPr>
          <p:cNvPr id="3" name="Text 0"/>
          <p:cNvSpPr/>
          <p:nvPr/>
        </p:nvSpPr>
        <p:spPr>
          <a:xfrm>
            <a:off x="548640" y="6400800"/>
            <a:ext cx="4572000" cy="274320"/>
          </a:xfrm>
          <a:prstGeom prst="rect">
            <a:avLst/>
          </a:prstGeom>
          <a:noFill/>
          <a:ln/>
        </p:spPr>
        <p:txBody>
          <a:bodyPr wrap="square" lIns="0" tIns="0" rIns="0" bIns="0" rtlCol="0" anchor="ctr"/>
          <a:lstStyle/>
          <a:p>
            <a:pPr indent="0" marL="0">
              <a:buNone/>
            </a:pPr>
            <a:r>
              <a:rPr lang="en-US" sz="1000" dirty="0">
                <a:solidFill>
                  <a:schemeClr val="accent3"/>
                </a:solidFill>
              </a:rPr>
              <a:t>FSR — PhantomX</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822960" y="1554480"/>
            <a:ext cx="10515600" cy="1737360"/>
          </a:xfrm>
          <a:prstGeom prst="rect">
            <a:avLst/>
          </a:prstGeom>
          <a:noFill/>
          <a:ln/>
        </p:spPr>
        <p:txBody>
          <a:bodyPr wrap="square" lIns="0" tIns="0" rIns="0" bIns="0" rtlCol="0" anchor="b"/>
          <a:lstStyle/>
          <a:p>
            <a:pPr indent="0" marL="0">
              <a:buNone/>
            </a:pPr>
            <a:r>
              <a:rPr lang="en-US" sz="4000" b="1" dirty="0">
                <a:solidFill>
                  <a:schemeClr val="bg1"/>
                </a:solidFill>
              </a:rPr>
              <a:t>Controllo con interazione col terreno di un robot esapode</a:t>
            </a:r>
            <a:endParaRPr lang="en-US" sz="4000" dirty="0"/>
          </a:p>
        </p:txBody>
      </p:sp>
      <p:sp>
        <p:nvSpPr>
          <p:cNvPr id="3" name="Text 0"/>
          <p:cNvSpPr/>
          <p:nvPr>
            <p:ph idx="101" type="body" hasCustomPrompt="1"/>
          </p:nvPr>
        </p:nvSpPr>
        <p:spPr>
          <a:xfrm>
            <a:off x="822960" y="3429000"/>
            <a:ext cx="10515600" cy="731520"/>
          </a:xfrm>
          <a:prstGeom prst="rect">
            <a:avLst/>
          </a:prstGeom>
          <a:noFill/>
          <a:ln/>
        </p:spPr>
        <p:txBody>
          <a:bodyPr wrap="square" lIns="0" tIns="0" rIns="0" bIns="0" rtlCol="0" anchor="t"/>
          <a:lstStyle/>
          <a:p>
            <a:pPr indent="0" marL="0">
              <a:buNone/>
            </a:pPr>
            <a:r>
              <a:rPr lang="en-US" sz="2000" dirty="0">
                <a:solidFill>
                  <a:schemeClr val="bg2"/>
                </a:solidFill>
              </a:rPr>
              <a:t>Confronto misurato di tre controllori su un impianto di simulazione condiviso</a:t>
            </a:r>
            <a:endParaRPr lang="en-US" sz="2000" dirty="0"/>
          </a:p>
        </p:txBody>
      </p:sp>
      <p:sp>
        <p:nvSpPr>
          <p:cNvPr id="4" name="Text 2"/>
          <p:cNvSpPr txBox="1"/>
          <p:nvPr/>
        </p:nvSpPr>
        <p:spPr>
          <a:xfrm>
            <a:off x="822960" y="4892040"/>
            <a:ext cx="7315200" cy="1097280"/>
          </a:xfrm>
          <a:prstGeom prst="rect">
            <a:avLst/>
          </a:prstGeom>
          <a:noFill/>
          <a:ln/>
        </p:spPr>
        <p:txBody>
          <a:bodyPr wrap="square" lIns="0" tIns="0" rIns="0" bIns="0" rtlCol="0" anchor="t"/>
          <a:lstStyle/>
          <a:p>
            <a:pPr indent="0" marL="0">
              <a:buNone/>
            </a:pPr>
            <a:r>
              <a:rPr lang="en-US" sz="1500" b="1" dirty="0">
                <a:solidFill>
                  <a:schemeClr val="bg1"/>
                </a:solidFill>
              </a:rPr>
              <a:t>Eros Cribello  ·  Andrea Russo</a:t>
            </a:r>
            <a:endParaRPr lang="en-US" sz="1500" dirty="0"/>
          </a:p>
          <a:p>
            <a:pPr indent="0" marL="0">
              <a:buNone/>
            </a:pPr>
            <a:r>
              <a:rPr lang="en-US" sz="1500" dirty="0">
                <a:solidFill>
                  <a:schemeClr val="bg1"/>
                </a:solidFill>
              </a:rPr>
              <a:t>Field and Service Robotics — A.A. 2025/2026</a:t>
            </a:r>
            <a:endParaRPr lang="en-US" sz="1500" dirty="0"/>
          </a:p>
          <a:p>
            <a:pPr indent="0" marL="0">
              <a:buNone/>
            </a:pPr>
            <a:r>
              <a:rPr lang="en-US" sz="1500" dirty="0">
                <a:solidFill>
                  <a:schemeClr val="bg1"/>
                </a:solidFill>
              </a:rPr>
              <a:t>Università degli Studi di Napoli Federico II</a:t>
            </a:r>
            <a:endParaRPr lang="en-US" sz="1500" dirty="0"/>
          </a:p>
        </p:txBody>
      </p:sp>
      <p:sp>
        <p:nvSpPr>
          <p:cNvPr id="5" name="badge C1"/>
          <p:cNvSpPr/>
          <p:nvPr/>
        </p:nvSpPr>
        <p:spPr>
          <a:xfrm>
            <a:off x="9418320" y="5074920"/>
            <a:ext cx="640080" cy="640080"/>
          </a:xfrm>
          <a:prstGeom prst="ellipse">
            <a:avLst/>
          </a:prstGeom>
          <a:solidFill>
            <a:schemeClr val="accent3"/>
          </a:solidFill>
          <a:ln w="12700">
            <a:solidFill>
              <a:schemeClr val="accent3"/>
            </a:solidFill>
            <a:prstDash val="solid"/>
          </a:ln>
        </p:spPr>
      </p:sp>
      <p:sp>
        <p:nvSpPr>
          <p:cNvPr id="6" name="Text 4"/>
          <p:cNvSpPr txBox="1"/>
          <p:nvPr/>
        </p:nvSpPr>
        <p:spPr>
          <a:xfrm>
            <a:off x="9418320" y="507492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C1</a:t>
            </a:r>
            <a:endParaRPr lang="en-US" sz="1600" dirty="0"/>
          </a:p>
        </p:txBody>
      </p:sp>
      <p:sp>
        <p:nvSpPr>
          <p:cNvPr id="7" name="badge C2"/>
          <p:cNvSpPr/>
          <p:nvPr/>
        </p:nvSpPr>
        <p:spPr>
          <a:xfrm>
            <a:off x="10195560" y="5074920"/>
            <a:ext cx="640080" cy="640080"/>
          </a:xfrm>
          <a:prstGeom prst="ellipse">
            <a:avLst/>
          </a:prstGeom>
          <a:solidFill>
            <a:schemeClr val="accent1"/>
          </a:solidFill>
          <a:ln w="12700">
            <a:solidFill>
              <a:schemeClr val="accent1"/>
            </a:solidFill>
            <a:prstDash val="solid"/>
          </a:ln>
        </p:spPr>
      </p:sp>
      <p:sp>
        <p:nvSpPr>
          <p:cNvPr id="8" name="Text 6"/>
          <p:cNvSpPr txBox="1"/>
          <p:nvPr/>
        </p:nvSpPr>
        <p:spPr>
          <a:xfrm>
            <a:off x="10195560" y="507492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C2</a:t>
            </a:r>
            <a:endParaRPr lang="en-US" sz="1600" dirty="0"/>
          </a:p>
        </p:txBody>
      </p:sp>
      <p:sp>
        <p:nvSpPr>
          <p:cNvPr id="9" name="badge C3"/>
          <p:cNvSpPr/>
          <p:nvPr/>
        </p:nvSpPr>
        <p:spPr>
          <a:xfrm>
            <a:off x="10972800" y="5074920"/>
            <a:ext cx="640080" cy="640080"/>
          </a:xfrm>
          <a:prstGeom prst="ellipse">
            <a:avLst/>
          </a:prstGeom>
          <a:solidFill>
            <a:schemeClr val="accent2"/>
          </a:solidFill>
          <a:ln w="12700">
            <a:solidFill>
              <a:schemeClr val="accent2"/>
            </a:solidFill>
            <a:prstDash val="solid"/>
          </a:ln>
        </p:spPr>
      </p:sp>
      <p:sp>
        <p:nvSpPr>
          <p:cNvPr id="10" name="Text 8"/>
          <p:cNvSpPr txBox="1"/>
          <p:nvPr/>
        </p:nvSpPr>
        <p:spPr>
          <a:xfrm>
            <a:off x="10972800" y="507492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C3</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chemeClr val="tx2"/>
                </a:solidFill>
              </a:rPr>
              <a:t>La piattaforma e il lavoro di riferimento</a:t>
            </a:r>
            <a:endParaRPr lang="en-US" sz="3000" dirty="0"/>
          </a:p>
        </p:txBody>
      </p:sp>
      <p:sp>
        <p:nvSpPr>
          <p:cNvPr id="4" name="Text 1"/>
          <p:cNvSpPr txBox="1"/>
          <p:nvPr/>
        </p:nvSpPr>
        <p:spPr>
          <a:xfrm>
            <a:off x="548640" y="1371600"/>
            <a:ext cx="5394960" cy="155448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tx1"/>
                </a:solidFill>
              </a:rPr>
              <a:t>PhantomX AX Metal Mark II: 18 servo Dynamixel AX-12A, tre per zampa</a:t>
            </a:r>
            <a:endParaRPr lang="en-US" sz="1800" dirty="0"/>
          </a:p>
          <a:p>
            <a:pPr marL="342900" indent="-342900">
              <a:spcAft>
                <a:spcPts val="1000"/>
              </a:spcAft>
              <a:buSzPct val="100000"/>
              <a:buChar char="•"/>
            </a:pPr>
            <a:r>
              <a:rPr lang="en-US" sz="1800" dirty="0">
                <a:solidFill>
                  <a:schemeClr val="tx1"/>
                </a:solidFill>
              </a:rPr>
              <a:t>Nessun sensore di forza ai piedi, nessuna IMU</a:t>
            </a:r>
            <a:endParaRPr lang="en-US" sz="1800" dirty="0"/>
          </a:p>
          <a:p>
            <a:pPr marL="342900" indent="-342900">
              <a:spcAft>
                <a:spcPts val="1000"/>
              </a:spcAft>
              <a:buSzPct val="100000"/>
              <a:buChar char="•"/>
            </a:pPr>
            <a:r>
              <a:rPr lang="en-US" sz="1800" dirty="0">
                <a:solidFill>
                  <a:schemeClr val="tx1"/>
                </a:solidFill>
              </a:rPr>
              <a:t>Unica retroazione: posizione e stima di carico di ciascun servo</a:t>
            </a:r>
            <a:endParaRPr lang="en-US" sz="1800" dirty="0"/>
          </a:p>
        </p:txBody>
      </p:sp>
      <p:sp>
        <p:nvSpPr>
          <p:cNvPr id="5" name="card riferimento"/>
          <p:cNvSpPr/>
          <p:nvPr/>
        </p:nvSpPr>
        <p:spPr>
          <a:xfrm>
            <a:off x="6309360" y="1371600"/>
            <a:ext cx="5330952" cy="1920240"/>
          </a:xfrm>
          <a:prstGeom prst="rect">
            <a:avLst/>
          </a:prstGeom>
          <a:solidFill>
            <a:schemeClr val="bg2"/>
          </a:solidFill>
          <a:ln w="12700">
            <a:solidFill>
              <a:schemeClr val="bg2"/>
            </a:solidFill>
            <a:prstDash val="solid"/>
          </a:ln>
        </p:spPr>
      </p:sp>
      <p:sp>
        <p:nvSpPr>
          <p:cNvPr id="6" name="Text 3"/>
          <p:cNvSpPr txBox="1"/>
          <p:nvPr/>
        </p:nvSpPr>
        <p:spPr>
          <a:xfrm>
            <a:off x="6537960" y="1554480"/>
            <a:ext cx="4873752" cy="1645920"/>
          </a:xfrm>
          <a:prstGeom prst="rect">
            <a:avLst/>
          </a:prstGeom>
          <a:noFill/>
          <a:ln/>
        </p:spPr>
        <p:txBody>
          <a:bodyPr wrap="square" lIns="0" tIns="0" rIns="0" bIns="0" rtlCol="0" anchor="t"/>
          <a:lstStyle/>
          <a:p>
            <a:pPr indent="0" marL="0">
              <a:buNone/>
            </a:pPr>
            <a:r>
              <a:rPr lang="en-US" sz="1600" b="1" dirty="0">
                <a:solidFill>
                  <a:schemeClr val="tx2"/>
                </a:solidFill>
              </a:rPr>
              <a:t>Arrigoni et al., Robotics 2024</a:t>
            </a:r>
            <a:endParaRPr lang="en-US" sz="1600" dirty="0"/>
          </a:p>
          <a:p>
            <a:pPr indent="0" marL="0">
              <a:buNone/>
            </a:pPr>
            <a:r>
              <a:rPr lang="en-US" sz="1600" dirty="0">
                <a:solidFill>
                  <a:schemeClr val="tx1"/>
                </a:solidFill>
              </a:rPr>
              <a:t>Il contatto piede–terreno si rileva dalla sola coppia: misurata contro prevista dalla dinamica inversa. La rilevazione adatta l'altezza comandata del piede.</a:t>
            </a:r>
            <a:endParaRPr lang="en-US" sz="1600" dirty="0"/>
          </a:p>
        </p:txBody>
      </p:sp>
      <p:sp>
        <p:nvSpPr>
          <p:cNvPr id="7" name="formula"/>
          <p:cNvSpPr/>
          <p:nvPr/>
        </p:nvSpPr>
        <p:spPr>
          <a:xfrm>
            <a:off x="548640" y="3657600"/>
            <a:ext cx="11094415" cy="731520"/>
          </a:xfrm>
          <a:prstGeom prst="rect">
            <a:avLst/>
          </a:prstGeom>
          <a:solidFill>
            <a:schemeClr val="tx2"/>
          </a:solidFill>
          <a:ln w="12700">
            <a:solidFill>
              <a:schemeClr val="tx2"/>
            </a:solidFill>
            <a:prstDash val="solid"/>
          </a:ln>
        </p:spPr>
      </p:sp>
      <p:sp>
        <p:nvSpPr>
          <p:cNvPr id="8" name="Text 5"/>
          <p:cNvSpPr txBox="1"/>
          <p:nvPr/>
        </p:nvSpPr>
        <p:spPr>
          <a:xfrm>
            <a:off x="548640" y="3657600"/>
            <a:ext cx="11094415" cy="731520"/>
          </a:xfrm>
          <a:prstGeom prst="rect">
            <a:avLst/>
          </a:prstGeom>
          <a:noFill/>
          <a:ln/>
        </p:spPr>
        <p:txBody>
          <a:bodyPr wrap="square" lIns="0" tIns="0" rIns="0" bIns="0" rtlCol="0" anchor="ctr"/>
          <a:lstStyle/>
          <a:p>
            <a:pPr algn="ctr" indent="0" marL="0">
              <a:buNone/>
            </a:pPr>
            <a:r>
              <a:rPr lang="en-US" sz="2200" b="1" dirty="0">
                <a:solidFill>
                  <a:schemeClr val="bg1"/>
                </a:solidFill>
              </a:rPr>
              <a:t>contatto = OR_j ( |τ_mis − τ_att| &gt; σ_j )</a:t>
            </a:r>
            <a:endParaRPr lang="en-US" sz="2200" dirty="0"/>
          </a:p>
        </p:txBody>
      </p:sp>
      <p:sp>
        <p:nvSpPr>
          <p:cNvPr id="9" name="Text 6"/>
          <p:cNvSpPr txBox="1"/>
          <p:nvPr/>
        </p:nvSpPr>
        <p:spPr>
          <a:xfrm>
            <a:off x="548640" y="4754880"/>
            <a:ext cx="11094415" cy="822960"/>
          </a:xfrm>
          <a:prstGeom prst="rect">
            <a:avLst/>
          </a:prstGeom>
          <a:noFill/>
          <a:ln/>
        </p:spPr>
        <p:txBody>
          <a:bodyPr wrap="square" lIns="0" tIns="0" rIns="0" bIns="0" rtlCol="0" anchor="ctr"/>
          <a:lstStyle/>
          <a:p>
            <a:pPr indent="0" marL="0">
              <a:buNone/>
            </a:pPr>
            <a:r>
              <a:rPr lang="en-US" sz="2000" b="1" i="1" dirty="0">
                <a:solidFill>
                  <a:schemeClr val="accent1"/>
                </a:solidFill>
              </a:rPr>
              <a:t>La nostra domanda: quanto costa il meccanismo dove non c'è terreno da scoprire?</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chemeClr val="tx2"/>
                </a:solidFill>
              </a:rPr>
              <a:t>Il robot in Simscape Multibody</a:t>
            </a:r>
            <a:endParaRPr lang="en-US" sz="3000" dirty="0"/>
          </a:p>
        </p:txBody>
      </p:sp>
      <p:sp>
        <p:nvSpPr>
          <p:cNvPr id="4" name="IMG phantomx.png"/>
          <p:cNvSpPr/>
          <p:nvPr/>
        </p:nvSpPr>
        <p:spPr>
          <a:xfrm>
            <a:off x="548640" y="1280160"/>
            <a:ext cx="11094415" cy="4206240"/>
          </a:xfrm>
          <a:prstGeom prst="roundRect">
            <a:avLst>
              <a:gd name="adj" fmla="val 1739"/>
            </a:avLst>
          </a:prstGeom>
          <a:solidFill>
            <a:srgbClr val="F2F4F5"/>
          </a:solidFill>
          <a:ln w="15875">
            <a:solidFill>
              <a:srgbClr val="6F7F86"/>
            </a:solidFill>
            <a:prstDash val="dash"/>
          </a:ln>
        </p:spPr>
      </p:sp>
      <p:sp>
        <p:nvSpPr>
          <p:cNvPr id="5" name="Text 2"/>
          <p:cNvSpPr txBox="1"/>
          <p:nvPr/>
        </p:nvSpPr>
        <p:spPr>
          <a:xfrm>
            <a:off x="685800" y="1371600"/>
            <a:ext cx="10820095" cy="4023360"/>
          </a:xfrm>
          <a:prstGeom prst="rect">
            <a:avLst/>
          </a:prstGeom>
          <a:noFill/>
          <a:ln/>
        </p:spPr>
        <p:txBody>
          <a:bodyPr wrap="square" lIns="0" tIns="0" rIns="0" bIns="0" rtlCol="0" anchor="ctr"/>
          <a:lstStyle/>
          <a:p>
            <a:pPr algn="ctr" indent="0" marL="0">
              <a:buNone/>
            </a:pPr>
            <a:r>
              <a:rPr lang="en-US" sz="1600" b="1" dirty="0">
                <a:solidFill>
                  <a:schemeClr val="accent3"/>
                </a:solidFill>
              </a:rPr>
              <a:t>IMMAGINE</a:t>
            </a:r>
            <a:endParaRPr lang="en-US" sz="1500" dirty="0"/>
          </a:p>
          <a:p>
            <a:pPr algn="ctr" indent="0" marL="0">
              <a:buNone/>
            </a:pPr>
            <a:r>
              <a:rPr lang="en-US" sz="1400" dirty="0">
                <a:solidFill>
                  <a:schemeClr val="tx1"/>
                </a:solidFill>
              </a:rPr>
              <a:t>phantomx.png</a:t>
            </a:r>
            <a:endParaRPr lang="en-US" sz="1500" dirty="0"/>
          </a:p>
          <a:p>
            <a:pPr algn="ctr" indent="0" marL="0">
              <a:buNone/>
            </a:pPr>
            <a:r>
              <a:rPr lang="en-US" sz="1300" i="1" dirty="0">
                <a:solidFill>
                  <a:schemeClr val="accent3"/>
                </a:solidFill>
              </a:rPr>
              <a:t>come nel report</a:t>
            </a:r>
            <a:endParaRPr lang="en-US" sz="1500" dirty="0"/>
          </a:p>
        </p:txBody>
      </p:sp>
      <p:sp>
        <p:nvSpPr>
          <p:cNvPr id="6" name="Text 3"/>
          <p:cNvSpPr txBox="1"/>
          <p:nvPr/>
        </p:nvSpPr>
        <p:spPr>
          <a:xfrm>
            <a:off x="548640" y="5623560"/>
            <a:ext cx="11094415" cy="548640"/>
          </a:xfrm>
          <a:prstGeom prst="rect">
            <a:avLst/>
          </a:prstGeom>
          <a:noFill/>
          <a:ln/>
        </p:spPr>
        <p:txBody>
          <a:bodyPr wrap="square" lIns="0" tIns="0" rIns="0" bIns="0" rtlCol="0" anchor="ctr"/>
          <a:lstStyle/>
          <a:p>
            <a:pPr indent="0" marL="0">
              <a:buNone/>
            </a:pPr>
            <a:r>
              <a:rPr lang="en-US" sz="1600" b="1" dirty="0">
                <a:solidFill>
                  <a:schemeClr val="tx2"/>
                </a:solidFill>
              </a:rPr>
              <a:t>25 corpi rigidi, 18 giunti rotoidali comandati in posizione, 6 contatti sferici ai piedi</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chemeClr val="tx2"/>
                </a:solidFill>
              </a:rPr>
              <a:t>Tre controllori, un meccanismo alla volta</a:t>
            </a:r>
            <a:endParaRPr lang="en-US" sz="3000" dirty="0"/>
          </a:p>
        </p:txBody>
      </p:sp>
      <p:sp>
        <p:nvSpPr>
          <p:cNvPr id="4" name="riga C1"/>
          <p:cNvSpPr/>
          <p:nvPr/>
        </p:nvSpPr>
        <p:spPr>
          <a:xfrm>
            <a:off x="548640" y="1371600"/>
            <a:ext cx="11094415" cy="1051560"/>
          </a:xfrm>
          <a:prstGeom prst="rect">
            <a:avLst/>
          </a:prstGeom>
          <a:solidFill>
            <a:schemeClr val="bg2"/>
          </a:solidFill>
          <a:ln w="12700">
            <a:solidFill>
              <a:schemeClr val="bg2"/>
            </a:solidFill>
            <a:prstDash val="solid"/>
          </a:ln>
        </p:spPr>
      </p:sp>
      <p:sp>
        <p:nvSpPr>
          <p:cNvPr id="5" name="badge C1"/>
          <p:cNvSpPr/>
          <p:nvPr/>
        </p:nvSpPr>
        <p:spPr>
          <a:xfrm>
            <a:off x="777240" y="1581912"/>
            <a:ext cx="640080" cy="640080"/>
          </a:xfrm>
          <a:prstGeom prst="ellipse">
            <a:avLst/>
          </a:prstGeom>
          <a:solidFill>
            <a:schemeClr val="accent3"/>
          </a:solidFill>
          <a:ln w="12700">
            <a:solidFill>
              <a:schemeClr val="accent3"/>
            </a:solidFill>
            <a:prstDash val="solid"/>
          </a:ln>
        </p:spPr>
      </p:sp>
      <p:sp>
        <p:nvSpPr>
          <p:cNvPr id="6" name="Text 3"/>
          <p:cNvSpPr txBox="1"/>
          <p:nvPr/>
        </p:nvSpPr>
        <p:spPr>
          <a:xfrm>
            <a:off x="777240" y="1581912"/>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C1</a:t>
            </a:r>
            <a:endParaRPr lang="en-US" sz="1600" dirty="0"/>
          </a:p>
        </p:txBody>
      </p:sp>
      <p:sp>
        <p:nvSpPr>
          <p:cNvPr id="7" name="Text 4"/>
          <p:cNvSpPr txBox="1"/>
          <p:nvPr/>
        </p:nvSpPr>
        <p:spPr>
          <a:xfrm>
            <a:off x="1645920" y="1554480"/>
            <a:ext cx="3108960" cy="731520"/>
          </a:xfrm>
          <a:prstGeom prst="rect">
            <a:avLst/>
          </a:prstGeom>
          <a:noFill/>
          <a:ln/>
        </p:spPr>
        <p:txBody>
          <a:bodyPr wrap="square" lIns="0" tIns="0" rIns="0" bIns="0" rtlCol="0" anchor="t"/>
          <a:lstStyle/>
          <a:p>
            <a:pPr indent="0" marL="0">
              <a:buNone/>
            </a:pPr>
            <a:r>
              <a:rPr lang="en-US" sz="1600" b="1" dirty="0">
                <a:solidFill>
                  <a:schemeClr val="tx2"/>
                </a:solidFill>
              </a:rPr>
              <a:t>Tripode ad anello aperto</a:t>
            </a:r>
            <a:endParaRPr lang="en-US" sz="1600" dirty="0"/>
          </a:p>
          <a:p>
            <a:pPr indent="0" marL="0">
              <a:buNone/>
            </a:pPr>
            <a:r>
              <a:rPr lang="en-US" sz="1200" dirty="0">
                <a:solidFill>
                  <a:schemeClr val="accent3"/>
                </a:solidFill>
                <a:latin typeface="Courier New" pitchFamily="34" charset="0"/>
                <a:ea typeface="Courier New" pitchFamily="34" charset="-122"/>
                <a:cs typeface="Courier New" pitchFamily="34" charset="-120"/>
              </a:rPr>
              <a:t>sim_zero</a:t>
            </a:r>
            <a:endParaRPr lang="en-US" sz="1600" dirty="0"/>
          </a:p>
        </p:txBody>
      </p:sp>
      <p:sp>
        <p:nvSpPr>
          <p:cNvPr id="8" name="Text 5"/>
          <p:cNvSpPr txBox="1"/>
          <p:nvPr/>
        </p:nvSpPr>
        <p:spPr>
          <a:xfrm>
            <a:off x="4937760" y="1508760"/>
            <a:ext cx="6492240" cy="777240"/>
          </a:xfrm>
          <a:prstGeom prst="rect">
            <a:avLst/>
          </a:prstGeom>
          <a:noFill/>
          <a:ln/>
        </p:spPr>
        <p:txBody>
          <a:bodyPr wrap="square" lIns="0" tIns="0" rIns="0" bIns="0" rtlCol="0" anchor="ctr"/>
          <a:lstStyle/>
          <a:p>
            <a:pPr indent="0" marL="0">
              <a:buNone/>
            </a:pPr>
            <a:r>
              <a:rPr lang="en-US" sz="1400" dirty="0">
                <a:solidFill>
                  <a:schemeClr val="tx1"/>
                </a:solidFill>
              </a:rPr>
              <a:t>Traiettorie dei piedi dai parametri d'andatura, cinematica inversa per zampa, giunti in posizione. Nessuna retroazione.</a:t>
            </a:r>
            <a:endParaRPr lang="en-US" sz="1400" dirty="0"/>
          </a:p>
        </p:txBody>
      </p:sp>
      <p:sp>
        <p:nvSpPr>
          <p:cNvPr id="9" name="riga C2"/>
          <p:cNvSpPr/>
          <p:nvPr/>
        </p:nvSpPr>
        <p:spPr>
          <a:xfrm>
            <a:off x="548640" y="2578608"/>
            <a:ext cx="11094415" cy="1051560"/>
          </a:xfrm>
          <a:prstGeom prst="rect">
            <a:avLst/>
          </a:prstGeom>
          <a:solidFill>
            <a:schemeClr val="bg2"/>
          </a:solidFill>
          <a:ln w="12700">
            <a:solidFill>
              <a:schemeClr val="bg2"/>
            </a:solidFill>
            <a:prstDash val="solid"/>
          </a:ln>
        </p:spPr>
      </p:sp>
      <p:sp>
        <p:nvSpPr>
          <p:cNvPr id="10" name="badge C2"/>
          <p:cNvSpPr/>
          <p:nvPr/>
        </p:nvSpPr>
        <p:spPr>
          <a:xfrm>
            <a:off x="777240" y="2788920"/>
            <a:ext cx="640080" cy="640080"/>
          </a:xfrm>
          <a:prstGeom prst="ellipse">
            <a:avLst/>
          </a:prstGeom>
          <a:solidFill>
            <a:schemeClr val="accent1"/>
          </a:solidFill>
          <a:ln w="12700">
            <a:solidFill>
              <a:schemeClr val="accent1"/>
            </a:solidFill>
            <a:prstDash val="solid"/>
          </a:ln>
        </p:spPr>
      </p:sp>
      <p:sp>
        <p:nvSpPr>
          <p:cNvPr id="11" name="Text 8"/>
          <p:cNvSpPr txBox="1"/>
          <p:nvPr/>
        </p:nvSpPr>
        <p:spPr>
          <a:xfrm>
            <a:off x="777240" y="278892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C2</a:t>
            </a:r>
            <a:endParaRPr lang="en-US" sz="1600" dirty="0"/>
          </a:p>
        </p:txBody>
      </p:sp>
      <p:sp>
        <p:nvSpPr>
          <p:cNvPr id="12" name="Text 9"/>
          <p:cNvSpPr txBox="1"/>
          <p:nvPr/>
        </p:nvSpPr>
        <p:spPr>
          <a:xfrm>
            <a:off x="1645920" y="2761488"/>
            <a:ext cx="3108960" cy="731520"/>
          </a:xfrm>
          <a:prstGeom prst="rect">
            <a:avLst/>
          </a:prstGeom>
          <a:noFill/>
          <a:ln/>
        </p:spPr>
        <p:txBody>
          <a:bodyPr wrap="square" lIns="0" tIns="0" rIns="0" bIns="0" rtlCol="0" anchor="t"/>
          <a:lstStyle/>
          <a:p>
            <a:pPr indent="0" marL="0">
              <a:buNone/>
            </a:pPr>
            <a:r>
              <a:rPr lang="en-US" sz="1600" b="1" dirty="0">
                <a:solidFill>
                  <a:schemeClr val="tx2"/>
                </a:solidFill>
              </a:rPr>
              <a:t>C1 + ricerca del terreno</a:t>
            </a:r>
            <a:endParaRPr lang="en-US" sz="1600" dirty="0"/>
          </a:p>
          <a:p>
            <a:pPr indent="0" marL="0">
              <a:buNone/>
            </a:pPr>
            <a:r>
              <a:rPr lang="en-US" sz="1200" dirty="0">
                <a:solidFill>
                  <a:schemeClr val="accent3"/>
                </a:solidFill>
                <a:latin typeface="Courier New" pitchFamily="34" charset="0"/>
                <a:ea typeface="Courier New" pitchFamily="34" charset="-122"/>
                <a:cs typeface="Courier New" pitchFamily="34" charset="-120"/>
              </a:rPr>
              <a:t>sim_zero</a:t>
            </a:r>
            <a:endParaRPr lang="en-US" sz="1600" dirty="0"/>
          </a:p>
        </p:txBody>
      </p:sp>
      <p:sp>
        <p:nvSpPr>
          <p:cNvPr id="13" name="Text 10"/>
          <p:cNvSpPr txBox="1"/>
          <p:nvPr/>
        </p:nvSpPr>
        <p:spPr>
          <a:xfrm>
            <a:off x="4937760" y="2715768"/>
            <a:ext cx="6492240" cy="777240"/>
          </a:xfrm>
          <a:prstGeom prst="rect">
            <a:avLst/>
          </a:prstGeom>
          <a:noFill/>
          <a:ln/>
        </p:spPr>
        <p:txBody>
          <a:bodyPr wrap="square" lIns="0" tIns="0" rIns="0" bIns="0" rtlCol="0" anchor="ctr"/>
          <a:lstStyle/>
          <a:p>
            <a:pPr indent="0" marL="0">
              <a:buNone/>
            </a:pPr>
            <a:r>
              <a:rPr lang="en-US" sz="1400" dirty="0">
                <a:solidFill>
                  <a:schemeClr val="tx1"/>
                </a:solidFill>
              </a:rPr>
              <a:t>Se il piede ha raggiunto la quota d'appoggio ma la flag è bassa, continua a scendere finché il residuo di coppia supera la soglia.</a:t>
            </a:r>
            <a:endParaRPr lang="en-US" sz="1400" dirty="0"/>
          </a:p>
        </p:txBody>
      </p:sp>
      <p:sp>
        <p:nvSpPr>
          <p:cNvPr id="14" name="riga C3"/>
          <p:cNvSpPr/>
          <p:nvPr/>
        </p:nvSpPr>
        <p:spPr>
          <a:xfrm>
            <a:off x="548640" y="3785616"/>
            <a:ext cx="11094415" cy="1051560"/>
          </a:xfrm>
          <a:prstGeom prst="rect">
            <a:avLst/>
          </a:prstGeom>
          <a:solidFill>
            <a:schemeClr val="bg2"/>
          </a:solidFill>
          <a:ln w="12700">
            <a:solidFill>
              <a:schemeClr val="bg2"/>
            </a:solidFill>
            <a:prstDash val="solid"/>
          </a:ln>
        </p:spPr>
      </p:sp>
      <p:sp>
        <p:nvSpPr>
          <p:cNvPr id="15" name="badge C3"/>
          <p:cNvSpPr/>
          <p:nvPr/>
        </p:nvSpPr>
        <p:spPr>
          <a:xfrm>
            <a:off x="777240" y="3995928"/>
            <a:ext cx="640080" cy="640080"/>
          </a:xfrm>
          <a:prstGeom prst="ellipse">
            <a:avLst/>
          </a:prstGeom>
          <a:solidFill>
            <a:schemeClr val="accent2"/>
          </a:solidFill>
          <a:ln w="12700">
            <a:solidFill>
              <a:schemeClr val="accent2"/>
            </a:solidFill>
            <a:prstDash val="solid"/>
          </a:ln>
        </p:spPr>
      </p:sp>
      <p:sp>
        <p:nvSpPr>
          <p:cNvPr id="16" name="Text 13"/>
          <p:cNvSpPr txBox="1"/>
          <p:nvPr/>
        </p:nvSpPr>
        <p:spPr>
          <a:xfrm>
            <a:off x="777240" y="3995928"/>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C3</a:t>
            </a:r>
            <a:endParaRPr lang="en-US" sz="1600" dirty="0"/>
          </a:p>
        </p:txBody>
      </p:sp>
      <p:sp>
        <p:nvSpPr>
          <p:cNvPr id="17" name="Text 14"/>
          <p:cNvSpPr txBox="1"/>
          <p:nvPr/>
        </p:nvSpPr>
        <p:spPr>
          <a:xfrm>
            <a:off x="1645920" y="3968496"/>
            <a:ext cx="3108960" cy="731520"/>
          </a:xfrm>
          <a:prstGeom prst="rect">
            <a:avLst/>
          </a:prstGeom>
          <a:noFill/>
          <a:ln/>
        </p:spPr>
        <p:txBody>
          <a:bodyPr wrap="square" lIns="0" tIns="0" rIns="0" bIns="0" rtlCol="0" anchor="t"/>
          <a:lstStyle/>
          <a:p>
            <a:pPr indent="0" marL="0">
              <a:buNone/>
            </a:pPr>
            <a:r>
              <a:rPr lang="en-US" sz="1600" b="1" dirty="0">
                <a:solidFill>
                  <a:schemeClr val="tx2"/>
                </a:solidFill>
              </a:rPr>
              <a:t>C2 + anello d'assetto</a:t>
            </a:r>
            <a:endParaRPr lang="en-US" sz="1600" dirty="0"/>
          </a:p>
          <a:p>
            <a:pPr indent="0" marL="0">
              <a:buNone/>
            </a:pPr>
            <a:r>
              <a:rPr lang="en-US" sz="1200" dirty="0">
                <a:solidFill>
                  <a:schemeClr val="accent3"/>
                </a:solidFill>
                <a:latin typeface="Courier New" pitchFamily="34" charset="0"/>
                <a:ea typeface="Courier New" pitchFamily="34" charset="-122"/>
                <a:cs typeface="Courier New" pitchFamily="34" charset="-120"/>
              </a:rPr>
              <a:t>sim_attitude</a:t>
            </a:r>
            <a:endParaRPr lang="en-US" sz="1600" dirty="0"/>
          </a:p>
        </p:txBody>
      </p:sp>
      <p:sp>
        <p:nvSpPr>
          <p:cNvPr id="18" name="Text 15"/>
          <p:cNvSpPr txBox="1"/>
          <p:nvPr/>
        </p:nvSpPr>
        <p:spPr>
          <a:xfrm>
            <a:off x="4937760" y="3922776"/>
            <a:ext cx="6492240" cy="777240"/>
          </a:xfrm>
          <a:prstGeom prst="rect">
            <a:avLst/>
          </a:prstGeom>
          <a:noFill/>
          <a:ln/>
        </p:spPr>
        <p:txBody>
          <a:bodyPr wrap="square" lIns="0" tIns="0" rIns="0" bIns="0" rtlCol="0" anchor="ctr"/>
          <a:lstStyle/>
          <a:p>
            <a:pPr indent="0" marL="0">
              <a:buNone/>
            </a:pPr>
            <a:r>
              <a:rPr lang="en-US" sz="1400" dirty="0">
                <a:solidFill>
                  <a:schemeClr val="tx1"/>
                </a:solidFill>
              </a:rPr>
              <a:t>Due PI discreti su beccheggio (P=10, I=1) e rollio (P=5, I=0.5); uscite distribuite sui sei piedi come Δz additivo.</a:t>
            </a:r>
            <a:endParaRPr lang="en-US" sz="1400" dirty="0"/>
          </a:p>
        </p:txBody>
      </p:sp>
      <p:sp>
        <p:nvSpPr>
          <p:cNvPr id="19" name="pipeline"/>
          <p:cNvSpPr/>
          <p:nvPr/>
        </p:nvSpPr>
        <p:spPr>
          <a:xfrm>
            <a:off x="548640" y="5074920"/>
            <a:ext cx="11094415" cy="548640"/>
          </a:xfrm>
          <a:prstGeom prst="rect">
            <a:avLst/>
          </a:prstGeom>
          <a:solidFill>
            <a:schemeClr val="tx2"/>
          </a:solidFill>
          <a:ln w="12700">
            <a:solidFill>
              <a:schemeClr val="tx2"/>
            </a:solidFill>
            <a:prstDash val="solid"/>
          </a:ln>
        </p:spPr>
      </p:sp>
      <p:sp>
        <p:nvSpPr>
          <p:cNvPr id="20" name="Text 17"/>
          <p:cNvSpPr txBox="1"/>
          <p:nvPr/>
        </p:nvSpPr>
        <p:spPr>
          <a:xfrm>
            <a:off x="548640" y="5074920"/>
            <a:ext cx="11094415" cy="548640"/>
          </a:xfrm>
          <a:prstGeom prst="rect">
            <a:avLst/>
          </a:prstGeom>
          <a:noFill/>
          <a:ln/>
        </p:spPr>
        <p:txBody>
          <a:bodyPr wrap="square" lIns="0" tIns="0" rIns="0" bIns="0" rtlCol="0" anchor="ctr"/>
          <a:lstStyle/>
          <a:p>
            <a:pPr algn="ctr" indent="0" marL="0">
              <a:buNone/>
            </a:pPr>
            <a:r>
              <a:rPr lang="en-US" sz="1500" b="1" dirty="0">
                <a:solidFill>
                  <a:schemeClr val="bg1"/>
                </a:solidFill>
                <a:latin typeface="Courier New" pitchFamily="34" charset="0"/>
                <a:ea typeface="Courier New" pitchFamily="34" charset="-122"/>
                <a:cs typeface="Courier New" pitchFamily="34" charset="-120"/>
              </a:rPr>
              <a:t>ricerca_terreno  →  z_i  →  Σ(+Δz_i)  →  Saturation  →  Rate Limiter  →  zampa</a:t>
            </a:r>
            <a:endParaRPr lang="en-US" sz="1500" dirty="0"/>
          </a:p>
        </p:txBody>
      </p:sp>
      <p:sp>
        <p:nvSpPr>
          <p:cNvPr id="21" name="Text 18"/>
          <p:cNvSpPr txBox="1"/>
          <p:nvPr/>
        </p:nvSpPr>
        <p:spPr>
          <a:xfrm>
            <a:off x="548640" y="5760720"/>
            <a:ext cx="11094415" cy="365760"/>
          </a:xfrm>
          <a:prstGeom prst="rect">
            <a:avLst/>
          </a:prstGeom>
          <a:noFill/>
          <a:ln/>
        </p:spPr>
        <p:txBody>
          <a:bodyPr wrap="square" lIns="0" tIns="0" rIns="0" bIns="0" rtlCol="0" anchor="t"/>
          <a:lstStyle/>
          <a:p>
            <a:pPr algn="ctr" indent="0" marL="0">
              <a:buNone/>
            </a:pPr>
            <a:r>
              <a:rPr lang="en-US" sz="1400" dirty="0">
                <a:solidFill>
                  <a:schemeClr val="accent3"/>
                </a:solidFill>
              </a:rPr>
              <a:t>Δz = x·u_θ + y·u_φ        C1→C2 isola la ricerca del terreno   ·   C2→C3 isola l'anello d'assetto</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chemeClr val="tx2"/>
                </a:solidFill>
              </a:rPr>
              <a:t>Andatura e sette task</a:t>
            </a:r>
            <a:endParaRPr lang="en-US" sz="3000" dirty="0"/>
          </a:p>
        </p:txBody>
      </p:sp>
      <p:sp>
        <p:nvSpPr>
          <p:cNvPr id="4" name="Text 1"/>
          <p:cNvSpPr txBox="1"/>
          <p:nvPr/>
        </p:nvSpPr>
        <p:spPr>
          <a:xfrm>
            <a:off x="548640" y="1371600"/>
            <a:ext cx="3840480" cy="365760"/>
          </a:xfrm>
          <a:prstGeom prst="rect">
            <a:avLst/>
          </a:prstGeom>
          <a:noFill/>
          <a:ln/>
        </p:spPr>
        <p:txBody>
          <a:bodyPr wrap="square" lIns="0" tIns="0" rIns="0" bIns="0" rtlCol="0" anchor="t"/>
          <a:lstStyle/>
          <a:p>
            <a:pPr indent="0" marL="0">
              <a:buNone/>
            </a:pPr>
            <a:r>
              <a:rPr lang="en-US" sz="1800" b="1" dirty="0">
                <a:solidFill>
                  <a:schemeClr val="tx2"/>
                </a:solidFill>
              </a:rPr>
              <a:t>Parametri d'andatura</a:t>
            </a:r>
            <a:endParaRPr lang="en-US" sz="1800" dirty="0"/>
          </a:p>
        </p:txBody>
      </p:sp>
      <p:sp>
        <p:nvSpPr>
          <p:cNvPr id="5" name="param S"/>
          <p:cNvSpPr/>
          <p:nvPr/>
        </p:nvSpPr>
        <p:spPr>
          <a:xfrm>
            <a:off x="548640" y="1874520"/>
            <a:ext cx="1828800" cy="1188720"/>
          </a:xfrm>
          <a:prstGeom prst="rect">
            <a:avLst/>
          </a:prstGeom>
          <a:solidFill>
            <a:schemeClr val="bg2"/>
          </a:solidFill>
          <a:ln w="12700">
            <a:solidFill>
              <a:schemeClr val="bg2"/>
            </a:solidFill>
            <a:prstDash val="solid"/>
          </a:ln>
        </p:spPr>
      </p:sp>
      <p:sp>
        <p:nvSpPr>
          <p:cNvPr id="6" name="Text 3"/>
          <p:cNvSpPr txBox="1"/>
          <p:nvPr/>
        </p:nvSpPr>
        <p:spPr>
          <a:xfrm>
            <a:off x="685800" y="2057400"/>
            <a:ext cx="1600200" cy="45720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S = 0.06 m</a:t>
            </a:r>
            <a:endParaRPr lang="en-US" sz="2000" dirty="0"/>
          </a:p>
        </p:txBody>
      </p:sp>
      <p:sp>
        <p:nvSpPr>
          <p:cNvPr id="7" name="Text 4"/>
          <p:cNvSpPr txBox="1"/>
          <p:nvPr/>
        </p:nvSpPr>
        <p:spPr>
          <a:xfrm>
            <a:off x="685800" y="2560320"/>
            <a:ext cx="1600200" cy="365760"/>
          </a:xfrm>
          <a:prstGeom prst="rect">
            <a:avLst/>
          </a:prstGeom>
          <a:noFill/>
          <a:ln/>
        </p:spPr>
        <p:txBody>
          <a:bodyPr wrap="square" lIns="0" tIns="0" rIns="0" bIns="0" rtlCol="0" anchor="t"/>
          <a:lstStyle/>
          <a:p>
            <a:pPr indent="0" marL="0">
              <a:buNone/>
            </a:pPr>
            <a:r>
              <a:rPr lang="en-US" sz="1300" dirty="0">
                <a:solidFill>
                  <a:schemeClr val="accent3"/>
                </a:solidFill>
              </a:rPr>
              <a:t>passo</a:t>
            </a:r>
            <a:endParaRPr lang="en-US" sz="1300" dirty="0"/>
          </a:p>
        </p:txBody>
      </p:sp>
      <p:sp>
        <p:nvSpPr>
          <p:cNvPr id="8" name="param H"/>
          <p:cNvSpPr/>
          <p:nvPr/>
        </p:nvSpPr>
        <p:spPr>
          <a:xfrm>
            <a:off x="2514600" y="1874520"/>
            <a:ext cx="1828800" cy="1188720"/>
          </a:xfrm>
          <a:prstGeom prst="rect">
            <a:avLst/>
          </a:prstGeom>
          <a:solidFill>
            <a:schemeClr val="bg2"/>
          </a:solidFill>
          <a:ln w="12700">
            <a:solidFill>
              <a:schemeClr val="bg2"/>
            </a:solidFill>
            <a:prstDash val="solid"/>
          </a:ln>
        </p:spPr>
      </p:sp>
      <p:sp>
        <p:nvSpPr>
          <p:cNvPr id="9" name="Text 6"/>
          <p:cNvSpPr txBox="1"/>
          <p:nvPr/>
        </p:nvSpPr>
        <p:spPr>
          <a:xfrm>
            <a:off x="2651760" y="2057400"/>
            <a:ext cx="1600200" cy="45720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H = 0.05 m</a:t>
            </a:r>
            <a:endParaRPr lang="en-US" sz="2000" dirty="0"/>
          </a:p>
        </p:txBody>
      </p:sp>
      <p:sp>
        <p:nvSpPr>
          <p:cNvPr id="10" name="Text 7"/>
          <p:cNvSpPr txBox="1"/>
          <p:nvPr/>
        </p:nvSpPr>
        <p:spPr>
          <a:xfrm>
            <a:off x="2651760" y="2560320"/>
            <a:ext cx="1600200" cy="365760"/>
          </a:xfrm>
          <a:prstGeom prst="rect">
            <a:avLst/>
          </a:prstGeom>
          <a:noFill/>
          <a:ln/>
        </p:spPr>
        <p:txBody>
          <a:bodyPr wrap="square" lIns="0" tIns="0" rIns="0" bIns="0" rtlCol="0" anchor="t"/>
          <a:lstStyle/>
          <a:p>
            <a:pPr indent="0" marL="0">
              <a:buNone/>
            </a:pPr>
            <a:r>
              <a:rPr lang="en-US" sz="1300" dirty="0">
                <a:solidFill>
                  <a:schemeClr val="accent3"/>
                </a:solidFill>
              </a:rPr>
              <a:t>altezza</a:t>
            </a:r>
            <a:endParaRPr lang="en-US" sz="1300" dirty="0"/>
          </a:p>
        </p:txBody>
      </p:sp>
      <p:sp>
        <p:nvSpPr>
          <p:cNvPr id="11" name="param T"/>
          <p:cNvSpPr/>
          <p:nvPr/>
        </p:nvSpPr>
        <p:spPr>
          <a:xfrm>
            <a:off x="548640" y="3200400"/>
            <a:ext cx="1828800" cy="1188720"/>
          </a:xfrm>
          <a:prstGeom prst="rect">
            <a:avLst/>
          </a:prstGeom>
          <a:solidFill>
            <a:schemeClr val="bg2"/>
          </a:solidFill>
          <a:ln w="12700">
            <a:solidFill>
              <a:schemeClr val="bg2"/>
            </a:solidFill>
            <a:prstDash val="solid"/>
          </a:ln>
        </p:spPr>
      </p:sp>
      <p:sp>
        <p:nvSpPr>
          <p:cNvPr id="12" name="Text 9"/>
          <p:cNvSpPr txBox="1"/>
          <p:nvPr/>
        </p:nvSpPr>
        <p:spPr>
          <a:xfrm>
            <a:off x="685800" y="3383280"/>
            <a:ext cx="1600200" cy="45720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T = 1.0 s</a:t>
            </a:r>
            <a:endParaRPr lang="en-US" sz="2000" dirty="0"/>
          </a:p>
        </p:txBody>
      </p:sp>
      <p:sp>
        <p:nvSpPr>
          <p:cNvPr id="13" name="Text 10"/>
          <p:cNvSpPr txBox="1"/>
          <p:nvPr/>
        </p:nvSpPr>
        <p:spPr>
          <a:xfrm>
            <a:off x="685800" y="3886200"/>
            <a:ext cx="1600200" cy="365760"/>
          </a:xfrm>
          <a:prstGeom prst="rect">
            <a:avLst/>
          </a:prstGeom>
          <a:noFill/>
          <a:ln/>
        </p:spPr>
        <p:txBody>
          <a:bodyPr wrap="square" lIns="0" tIns="0" rIns="0" bIns="0" rtlCol="0" anchor="t"/>
          <a:lstStyle/>
          <a:p>
            <a:pPr indent="0" marL="0">
              <a:buNone/>
            </a:pPr>
            <a:r>
              <a:rPr lang="en-US" sz="1300" dirty="0">
                <a:solidFill>
                  <a:schemeClr val="accent3"/>
                </a:solidFill>
              </a:rPr>
              <a:t>periodo</a:t>
            </a:r>
            <a:endParaRPr lang="en-US" sz="1300" dirty="0"/>
          </a:p>
        </p:txBody>
      </p:sp>
      <p:sp>
        <p:nvSpPr>
          <p:cNvPr id="14" name="param β"/>
          <p:cNvSpPr/>
          <p:nvPr/>
        </p:nvSpPr>
        <p:spPr>
          <a:xfrm>
            <a:off x="2514600" y="3200400"/>
            <a:ext cx="1828800" cy="1188720"/>
          </a:xfrm>
          <a:prstGeom prst="rect">
            <a:avLst/>
          </a:prstGeom>
          <a:solidFill>
            <a:schemeClr val="bg2"/>
          </a:solidFill>
          <a:ln w="12700">
            <a:solidFill>
              <a:schemeClr val="bg2"/>
            </a:solidFill>
            <a:prstDash val="solid"/>
          </a:ln>
        </p:spPr>
      </p:sp>
      <p:sp>
        <p:nvSpPr>
          <p:cNvPr id="15" name="Text 12"/>
          <p:cNvSpPr txBox="1"/>
          <p:nvPr/>
        </p:nvSpPr>
        <p:spPr>
          <a:xfrm>
            <a:off x="2651760" y="3383280"/>
            <a:ext cx="1600200" cy="45720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β = 0.50</a:t>
            </a:r>
            <a:endParaRPr lang="en-US" sz="2000" dirty="0"/>
          </a:p>
        </p:txBody>
      </p:sp>
      <p:sp>
        <p:nvSpPr>
          <p:cNvPr id="16" name="Text 13"/>
          <p:cNvSpPr txBox="1"/>
          <p:nvPr/>
        </p:nvSpPr>
        <p:spPr>
          <a:xfrm>
            <a:off x="2651760" y="3886200"/>
            <a:ext cx="1600200" cy="365760"/>
          </a:xfrm>
          <a:prstGeom prst="rect">
            <a:avLst/>
          </a:prstGeom>
          <a:noFill/>
          <a:ln/>
        </p:spPr>
        <p:txBody>
          <a:bodyPr wrap="square" lIns="0" tIns="0" rIns="0" bIns="0" rtlCol="0" anchor="t"/>
          <a:lstStyle/>
          <a:p>
            <a:pPr indent="0" marL="0">
              <a:buNone/>
            </a:pPr>
            <a:r>
              <a:rPr lang="en-US" sz="1300" dirty="0">
                <a:solidFill>
                  <a:schemeClr val="accent3"/>
                </a:solidFill>
              </a:rPr>
              <a:t>fattore di servizio</a:t>
            </a:r>
            <a:endParaRPr lang="en-US" sz="1300" dirty="0"/>
          </a:p>
        </p:txBody>
      </p:sp>
      <p:sp>
        <p:nvSpPr>
          <p:cNvPr id="17" name="Text 14"/>
          <p:cNvSpPr txBox="1"/>
          <p:nvPr/>
        </p:nvSpPr>
        <p:spPr>
          <a:xfrm>
            <a:off x="548640" y="4663440"/>
            <a:ext cx="3794760" cy="822960"/>
          </a:xfrm>
          <a:prstGeom prst="rect">
            <a:avLst/>
          </a:prstGeom>
          <a:noFill/>
          <a:ln/>
        </p:spPr>
        <p:txBody>
          <a:bodyPr wrap="square" lIns="0" tIns="0" rIns="0" bIns="0" rtlCol="0" anchor="t"/>
          <a:lstStyle/>
          <a:p>
            <a:pPr indent="0" marL="0">
              <a:buNone/>
            </a:pPr>
            <a:r>
              <a:rPr lang="en-US" sz="1400" i="1" dirty="0">
                <a:solidFill>
                  <a:schemeClr val="tx2"/>
                </a:solidFill>
              </a:rPr>
              <a:t>Fr = v²/(g·h) = 0.0095: marcia quasi-statica, v = 0.12 m/s</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800600" y="1371600"/>
          <a:ext cx="6839712" cy="914400"/>
        </p:xfrm>
        <a:graphic>
          <a:graphicData uri="http://schemas.openxmlformats.org/drawingml/2006/table">
            <a:tbl>
              <a:tblPr/>
              <a:tblGrid>
                <a:gridCol w="731520"/>
                <a:gridCol w="2377440"/>
                <a:gridCol w="3730752"/>
              </a:tblGrid>
              <a:tr h="457200">
                <a:tc>
                  <a:txBody>
                    <a:bodyPr/>
                    <a:lstStyle/>
                    <a:p>
                      <a:pPr indent="0" marL="0">
                        <a:buNone/>
                      </a:pPr>
                      <a:r>
                        <a:rPr lang="en-US" sz="1500" b="1" dirty="0">
                          <a:solidFill>
                            <a:srgbClr val="FFFFFF"/>
                          </a:solidFill>
                        </a:rPr>
                        <a:t>ID</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indent="0" marL="0">
                        <a:buNone/>
                      </a:pPr>
                      <a:r>
                        <a:rPr lang="en-US" sz="1500" b="1" dirty="0">
                          <a:solidFill>
                            <a:srgbClr val="FFFFFF"/>
                          </a:solidFill>
                        </a:rPr>
                        <a:t>Task</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indent="0" marL="0">
                        <a:buNone/>
                      </a:pPr>
                      <a:r>
                        <a:rPr lang="en-US" sz="1500" b="1" dirty="0">
                          <a:solidFill>
                            <a:srgbClr val="FFFFFF"/>
                          </a:solidFill>
                        </a:rPr>
                        <a:t>Che cosa sollecita</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r>
              <a:tr h="457200">
                <a:tc>
                  <a:txBody>
                    <a:bodyPr/>
                    <a:lstStyle/>
                    <a:p>
                      <a:pPr indent="0" marL="0">
                        <a:buNone/>
                      </a:pPr>
                      <a:r>
                        <a:rPr lang="en-US" sz="1500" b="1" dirty="0">
                          <a:solidFill>
                            <a:srgbClr val="1F2A30"/>
                          </a:solidFill>
                        </a:rPr>
                        <a:t>T2</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rgbClr val="1F2A30"/>
                          </a:solidFill>
                        </a:rPr>
                        <a:t>piano, sweep di velocità</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rgbClr val="1F2A30"/>
                          </a:solidFill>
                        </a:rPr>
                        <a:t>riferimento e inviluppo in velocità</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457200">
                <a:tc>
                  <a:txBody>
                    <a:bodyPr/>
                    <a:lstStyle/>
                    <a:p>
                      <a:pPr indent="0" marL="0">
                        <a:buNone/>
                      </a:pPr>
                      <a:r>
                        <a:rPr lang="en-US" sz="1500" b="1" dirty="0">
                          <a:solidFill>
                            <a:srgbClr val="1F2A30"/>
                          </a:solidFill>
                        </a:rPr>
                        <a:t>T3</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rgbClr val="1F2A30"/>
                          </a:solidFill>
                        </a:rPr>
                        <a:t>percorso in curva</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rgbClr val="1F2A30"/>
                          </a:solidFill>
                        </a:rPr>
                        <a:t>imbardata 0.1 rad/s</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457200">
                <a:tc>
                  <a:txBody>
                    <a:bodyPr/>
                    <a:lstStyle/>
                    <a:p>
                      <a:pPr indent="0" marL="0">
                        <a:buNone/>
                      </a:pPr>
                      <a:r>
                        <a:rPr lang="en-US" sz="1500" b="1" dirty="0">
                          <a:solidFill>
                            <a:srgbClr val="1F2A30"/>
                          </a:solidFill>
                        </a:rPr>
                        <a:t>T4</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rgbClr val="1F2A30"/>
                          </a:solidFill>
                        </a:rPr>
                        <a:t>rampa 8°</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rgbClr val="1F2A30"/>
                          </a:solidFill>
                        </a:rPr>
                        <a:t>assetto del corpo contro terreno</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457200">
                <a:tc>
                  <a:txBody>
                    <a:bodyPr/>
                    <a:lstStyle/>
                    <a:p>
                      <a:pPr indent="0" marL="0">
                        <a:buNone/>
                      </a:pPr>
                      <a:r>
                        <a:rPr lang="en-US" sz="1500" b="1" dirty="0">
                          <a:solidFill>
                            <a:srgbClr val="1F2A30"/>
                          </a:solidFill>
                        </a:rPr>
                        <a:t>T4D</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rgbClr val="1F2A30"/>
                          </a:solidFill>
                        </a:rPr>
                        <a:t>dosso 8°/8°</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rgbClr val="1F2A30"/>
                          </a:solidFill>
                        </a:rPr>
                        <a:t>salita e discesa</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457200">
                <a:tc>
                  <a:txBody>
                    <a:bodyPr/>
                    <a:lstStyle/>
                    <a:p>
                      <a:pPr indent="0" marL="0">
                        <a:buNone/>
                      </a:pPr>
                      <a:r>
                        <a:rPr lang="en-US" sz="1500" b="1" dirty="0">
                          <a:solidFill>
                            <a:srgbClr val="1F2A30"/>
                          </a:solidFill>
                        </a:rPr>
                        <a:t>T5</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rgbClr val="1F2A30"/>
                          </a:solidFill>
                        </a:rPr>
                        <a:t>ostacolo singolo</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rgbClr val="1F2A30"/>
                          </a:solidFill>
                        </a:rPr>
                        <a:t>gradino non modellato, 32.8 mm</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457200">
                <a:tc>
                  <a:txBody>
                    <a:bodyPr/>
                    <a:lstStyle/>
                    <a:p>
                      <a:pPr indent="0" marL="0">
                        <a:buNone/>
                      </a:pPr>
                      <a:r>
                        <a:rPr lang="en-US" sz="1500" b="1" dirty="0">
                          <a:solidFill>
                            <a:srgbClr val="1F2A30"/>
                          </a:solidFill>
                        </a:rPr>
                        <a:t>T6</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rgbClr val="1F2A30"/>
                          </a:solidFill>
                        </a:rPr>
                        <a:t>sette ostacoli</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rgbClr val="1F2A30"/>
                          </a:solidFill>
                        </a:rPr>
                        <a:t>quattro a tutta larghezza, tre laterali</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457200">
                <a:tc>
                  <a:txBody>
                    <a:bodyPr/>
                    <a:lstStyle/>
                    <a:p>
                      <a:pPr indent="0" marL="0">
                        <a:buNone/>
                      </a:pPr>
                      <a:r>
                        <a:rPr lang="en-US" sz="1500" b="1" dirty="0">
                          <a:solidFill>
                            <a:srgbClr val="1F2A30"/>
                          </a:solidFill>
                        </a:rPr>
                        <a:t>T7</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rgbClr val="1F2A30"/>
                          </a:solidFill>
                        </a:rPr>
                        <a:t>impulso laterale</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rgbClr val="1F2A30"/>
                          </a:solidFill>
                        </a:rPr>
                        <a:t>dall'1% al 1600% del nominale</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chemeClr val="tx2"/>
                </a:solidFill>
              </a:rPr>
              <a:t>Difetto 1: le inerzie dell'URDF</a:t>
            </a:r>
            <a:endParaRPr lang="en-US" sz="3000" dirty="0"/>
          </a:p>
        </p:txBody>
      </p:sp>
      <p:sp>
        <p:nvSpPr>
          <p:cNvPr id="4" name="stat 0"/>
          <p:cNvSpPr/>
          <p:nvPr/>
        </p:nvSpPr>
        <p:spPr>
          <a:xfrm>
            <a:off x="548640" y="1463040"/>
            <a:ext cx="3520440" cy="2743200"/>
          </a:xfrm>
          <a:prstGeom prst="rect">
            <a:avLst/>
          </a:prstGeom>
          <a:solidFill>
            <a:schemeClr val="bg2"/>
          </a:solidFill>
          <a:ln w="12700">
            <a:solidFill>
              <a:schemeClr val="bg2"/>
            </a:solidFill>
            <a:prstDash val="solid"/>
          </a:ln>
        </p:spPr>
      </p:sp>
      <p:sp>
        <p:nvSpPr>
          <p:cNvPr id="5" name="Text 2"/>
          <p:cNvSpPr txBox="1"/>
          <p:nvPr/>
        </p:nvSpPr>
        <p:spPr>
          <a:xfrm>
            <a:off x="822960" y="1783080"/>
            <a:ext cx="2971800" cy="685800"/>
          </a:xfrm>
          <a:prstGeom prst="rect">
            <a:avLst/>
          </a:prstGeom>
          <a:noFill/>
          <a:ln/>
        </p:spPr>
        <p:txBody>
          <a:bodyPr wrap="square" lIns="0" tIns="0" rIns="0" bIns="0" rtlCol="0" anchor="t"/>
          <a:lstStyle/>
          <a:p>
            <a:pPr indent="0" marL="0">
              <a:buNone/>
            </a:pPr>
            <a:r>
              <a:rPr lang="en-US" sz="3800" b="1" dirty="0">
                <a:solidFill>
                  <a:schemeClr val="accent1"/>
                </a:solidFill>
                <a:latin typeface="Cambria" pitchFamily="34" charset="0"/>
                <a:ea typeface="Cambria" pitchFamily="34" charset="-122"/>
                <a:cs typeface="Cambria" pitchFamily="34" charset="-120"/>
              </a:rPr>
              <a:t>r = 1.79 m</a:t>
            </a:r>
            <a:endParaRPr lang="en-US" sz="3800" dirty="0"/>
          </a:p>
        </p:txBody>
      </p:sp>
      <p:sp>
        <p:nvSpPr>
          <p:cNvPr id="6" name="Text 3"/>
          <p:cNvSpPr txBox="1"/>
          <p:nvPr/>
        </p:nvSpPr>
        <p:spPr>
          <a:xfrm>
            <a:off x="822960" y="2496312"/>
            <a:ext cx="2971800" cy="548640"/>
          </a:xfrm>
          <a:prstGeom prst="rect">
            <a:avLst/>
          </a:prstGeom>
          <a:noFill/>
          <a:ln/>
        </p:spPr>
        <p:txBody>
          <a:bodyPr wrap="square" lIns="0" tIns="0" rIns="0" bIns="0" rtlCol="0" anchor="t"/>
          <a:lstStyle/>
          <a:p>
            <a:pPr indent="0" marL="0">
              <a:buNone/>
            </a:pPr>
            <a:r>
              <a:rPr lang="en-US" sz="1300" dirty="0">
                <a:solidFill>
                  <a:schemeClr val="tx1"/>
                </a:solidFill>
              </a:rPr>
              <a:t>raggio d'inerzia dichiarato per un tronco largo 25 cm</a:t>
            </a:r>
            <a:endParaRPr lang="en-US" sz="1300" dirty="0"/>
          </a:p>
        </p:txBody>
      </p:sp>
      <p:sp>
        <p:nvSpPr>
          <p:cNvPr id="7" name="stat 1"/>
          <p:cNvSpPr/>
          <p:nvPr/>
        </p:nvSpPr>
        <p:spPr>
          <a:xfrm>
            <a:off x="4343400" y="1463040"/>
            <a:ext cx="3520440" cy="2743200"/>
          </a:xfrm>
          <a:prstGeom prst="rect">
            <a:avLst/>
          </a:prstGeom>
          <a:solidFill>
            <a:schemeClr val="bg2"/>
          </a:solidFill>
          <a:ln w="12700">
            <a:solidFill>
              <a:schemeClr val="bg2"/>
            </a:solidFill>
            <a:prstDash val="solid"/>
          </a:ln>
        </p:spPr>
      </p:sp>
      <p:sp>
        <p:nvSpPr>
          <p:cNvPr id="8" name="Text 5"/>
          <p:cNvSpPr txBox="1"/>
          <p:nvPr/>
        </p:nvSpPr>
        <p:spPr>
          <a:xfrm>
            <a:off x="4617720" y="1783080"/>
            <a:ext cx="2971800" cy="685800"/>
          </a:xfrm>
          <a:prstGeom prst="rect">
            <a:avLst/>
          </a:prstGeom>
          <a:noFill/>
          <a:ln/>
        </p:spPr>
        <p:txBody>
          <a:bodyPr wrap="square" lIns="0" tIns="0" rIns="0" bIns="0" rtlCol="0" anchor="t"/>
          <a:lstStyle/>
          <a:p>
            <a:pPr indent="0" marL="0">
              <a:buNone/>
            </a:pPr>
            <a:r>
              <a:rPr lang="en-US" sz="3800" b="1" dirty="0">
                <a:solidFill>
                  <a:schemeClr val="accent3"/>
                </a:solidFill>
                <a:latin typeface="Cambria" pitchFamily="34" charset="0"/>
                <a:ea typeface="Cambria" pitchFamily="34" charset="-122"/>
                <a:cs typeface="Cambria" pitchFamily="34" charset="-120"/>
              </a:rPr>
              <a:t>24 / 24</a:t>
            </a:r>
            <a:endParaRPr lang="en-US" sz="3800" dirty="0"/>
          </a:p>
        </p:txBody>
      </p:sp>
      <p:sp>
        <p:nvSpPr>
          <p:cNvPr id="9" name="Text 6"/>
          <p:cNvSpPr txBox="1"/>
          <p:nvPr/>
        </p:nvSpPr>
        <p:spPr>
          <a:xfrm>
            <a:off x="4617720" y="2496312"/>
            <a:ext cx="2971800" cy="548640"/>
          </a:xfrm>
          <a:prstGeom prst="rect">
            <a:avLst/>
          </a:prstGeom>
          <a:noFill/>
          <a:ln/>
        </p:spPr>
        <p:txBody>
          <a:bodyPr wrap="square" lIns="0" tIns="0" rIns="0" bIns="0" rtlCol="0" anchor="t"/>
          <a:lstStyle/>
          <a:p>
            <a:pPr indent="0" marL="0">
              <a:buNone/>
            </a:pPr>
            <a:r>
              <a:rPr lang="en-US" sz="1300" dirty="0">
                <a:solidFill>
                  <a:schemeClr val="tx1"/>
                </a:solidFill>
              </a:rPr>
              <a:t>membri con inerzia identica, allo stesso decimale</a:t>
            </a:r>
            <a:endParaRPr lang="en-US" sz="1300" dirty="0"/>
          </a:p>
        </p:txBody>
      </p:sp>
      <p:sp>
        <p:nvSpPr>
          <p:cNvPr id="10" name="stat 2"/>
          <p:cNvSpPr/>
          <p:nvPr/>
        </p:nvSpPr>
        <p:spPr>
          <a:xfrm>
            <a:off x="8138160" y="1463040"/>
            <a:ext cx="3520440" cy="2743200"/>
          </a:xfrm>
          <a:prstGeom prst="rect">
            <a:avLst/>
          </a:prstGeom>
          <a:solidFill>
            <a:schemeClr val="bg2"/>
          </a:solidFill>
          <a:ln w="12700">
            <a:solidFill>
              <a:schemeClr val="bg2"/>
            </a:solidFill>
            <a:prstDash val="solid"/>
          </a:ln>
        </p:spPr>
      </p:sp>
      <p:sp>
        <p:nvSpPr>
          <p:cNvPr id="11" name="Text 8"/>
          <p:cNvSpPr txBox="1"/>
          <p:nvPr/>
        </p:nvSpPr>
        <p:spPr>
          <a:xfrm>
            <a:off x="8412480" y="1783080"/>
            <a:ext cx="2971800" cy="685800"/>
          </a:xfrm>
          <a:prstGeom prst="rect">
            <a:avLst/>
          </a:prstGeom>
          <a:noFill/>
          <a:ln/>
        </p:spPr>
        <p:txBody>
          <a:bodyPr wrap="square" lIns="0" tIns="0" rIns="0" bIns="0" rtlCol="0" anchor="t"/>
          <a:lstStyle/>
          <a:p>
            <a:pPr indent="0" marL="0">
              <a:buNone/>
            </a:pPr>
            <a:r>
              <a:rPr lang="en-US" sz="3800" b="1" dirty="0">
                <a:solidFill>
                  <a:schemeClr val="accent2"/>
                </a:solidFill>
                <a:latin typeface="Cambria" pitchFamily="34" charset="0"/>
                <a:ea typeface="Cambria" pitchFamily="34" charset="-122"/>
                <a:cs typeface="Cambria" pitchFamily="34" charset="-120"/>
              </a:rPr>
              <a:t>45° → 15°</a:t>
            </a:r>
            <a:endParaRPr lang="en-US" sz="3800" dirty="0"/>
          </a:p>
        </p:txBody>
      </p:sp>
      <p:sp>
        <p:nvSpPr>
          <p:cNvPr id="12" name="Text 9"/>
          <p:cNvSpPr txBox="1"/>
          <p:nvPr/>
        </p:nvSpPr>
        <p:spPr>
          <a:xfrm>
            <a:off x="8412480" y="2496312"/>
            <a:ext cx="2971800" cy="548640"/>
          </a:xfrm>
          <a:prstGeom prst="rect">
            <a:avLst/>
          </a:prstGeom>
          <a:noFill/>
          <a:ln/>
        </p:spPr>
        <p:txBody>
          <a:bodyPr wrap="square" lIns="0" tIns="0" rIns="0" bIns="0" rtlCol="0" anchor="t"/>
          <a:lstStyle/>
          <a:p>
            <a:pPr indent="0" marL="0">
              <a:buNone/>
            </a:pPr>
            <a:r>
              <a:rPr lang="en-US" sz="1300" dirty="0">
                <a:solidFill>
                  <a:schemeClr val="tx1"/>
                </a:solidFill>
              </a:rPr>
              <a:t>beccheggio di C1 su terreno accidentato, prima e dopo ÷10³</a:t>
            </a:r>
            <a:endParaRPr lang="en-US" sz="1300" dirty="0"/>
          </a:p>
        </p:txBody>
      </p:sp>
      <p:sp>
        <p:nvSpPr>
          <p:cNvPr id="13" name="Text 10"/>
          <p:cNvSpPr txBox="1"/>
          <p:nvPr/>
        </p:nvSpPr>
        <p:spPr>
          <a:xfrm>
            <a:off x="548640" y="4663440"/>
            <a:ext cx="11094415" cy="548640"/>
          </a:xfrm>
          <a:prstGeom prst="rect">
            <a:avLst/>
          </a:prstGeom>
          <a:noFill/>
          <a:ln/>
        </p:spPr>
        <p:txBody>
          <a:bodyPr wrap="square" lIns="0" tIns="0" rIns="0" bIns="0" rtlCol="0" anchor="ctr"/>
          <a:lstStyle/>
          <a:p>
            <a:pPr indent="0" marL="0">
              <a:buNone/>
            </a:pPr>
            <a:r>
              <a:rPr lang="en-US" sz="1600" b="1" dirty="0">
                <a:solidFill>
                  <a:schemeClr val="tx2"/>
                </a:solidFill>
              </a:rPr>
              <a:t>Firma di un export CAD con le masse in grammi: dividendo per 10³ tutto torna fisicamente plausibile.</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chemeClr val="tx2"/>
                </a:solidFill>
              </a:rPr>
              <a:t>Difetto 2: il rilevatore di contatto</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6583680" cy="914400"/>
        </p:xfrm>
        <a:graphic>
          <a:graphicData uri="http://schemas.openxmlformats.org/drawingml/2006/table">
            <a:tbl>
              <a:tblPr/>
              <a:tblGrid>
                <a:gridCol w="3291840"/>
                <a:gridCol w="1737360"/>
                <a:gridCol w="1554480"/>
              </a:tblGrid>
              <a:tr h="502920">
                <a:tc>
                  <a:txBody>
                    <a:bodyPr/>
                    <a:lstStyle/>
                    <a:p>
                      <a:pPr indent="0" marL="0">
                        <a:buNone/>
                      </a:pPr>
                      <a:endParaRPr lang="en-US" sz="16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indent="0" marL="0">
                        <a:buNone/>
                      </a:pPr>
                      <a:r>
                        <a:rPr lang="en-US" sz="1600" b="1" dirty="0">
                          <a:solidFill>
                            <a:srgbClr val="FFFFFF"/>
                          </a:solidFill>
                        </a:rPr>
                        <a:t>stimatore disallineato</a:t>
                      </a:r>
                      <a:endParaRPr lang="en-US" sz="16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indent="0" marL="0">
                        <a:buNone/>
                      </a:pPr>
                      <a:r>
                        <a:rPr lang="en-US" sz="1600" b="1" dirty="0">
                          <a:solidFill>
                            <a:srgbClr val="FFFFFF"/>
                          </a:solidFill>
                        </a:rPr>
                        <a:t>allineato</a:t>
                      </a:r>
                      <a:endParaRPr lang="en-US" sz="16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r>
              <a:tr h="502920">
                <a:tc>
                  <a:txBody>
                    <a:bodyPr/>
                    <a:lstStyle/>
                    <a:p>
                      <a:pPr indent="0" marL="0">
                        <a:buNone/>
                      </a:pPr>
                      <a:r>
                        <a:rPr lang="en-US" sz="1600" b="1" dirty="0">
                          <a:solidFill>
                            <a:srgbClr val="1F2A30"/>
                          </a:solidFill>
                        </a:rPr>
                        <a:t>errore della flag in appoggio</a:t>
                      </a:r>
                      <a:endParaRPr lang="en-US" sz="16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600" dirty="0">
                          <a:solidFill>
                            <a:srgbClr val="1F2A30"/>
                          </a:solidFill>
                        </a:rPr>
                        <a:t>7.0%</a:t>
                      </a:r>
                      <a:endParaRPr lang="en-US" sz="16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600" b="1" dirty="0">
                          <a:solidFill>
                            <a:srgbClr val="1F3A45"/>
                          </a:solidFill>
                        </a:rPr>
                        <a:t>0.6%</a:t>
                      </a:r>
                      <a:endParaRPr lang="en-US" sz="16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502920">
                <a:tc>
                  <a:txBody>
                    <a:bodyPr/>
                    <a:lstStyle/>
                    <a:p>
                      <a:pPr indent="0" marL="0">
                        <a:buNone/>
                      </a:pPr>
                      <a:r>
                        <a:rPr lang="en-US" sz="1600" b="1" dirty="0">
                          <a:solidFill>
                            <a:srgbClr val="1F2A30"/>
                          </a:solidFill>
                        </a:rPr>
                        <a:t>errore di una flag sempre alta</a:t>
                      </a:r>
                      <a:endParaRPr lang="en-US" sz="16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600" dirty="0">
                          <a:solidFill>
                            <a:srgbClr val="1F2A30"/>
                          </a:solidFill>
                        </a:rPr>
                        <a:t>7.0%</a:t>
                      </a:r>
                      <a:endParaRPr lang="en-US" sz="16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600" dirty="0">
                          <a:solidFill>
                            <a:srgbClr val="1F2A30"/>
                          </a:solidFill>
                        </a:rPr>
                        <a:t>3.2%</a:t>
                      </a:r>
                      <a:endParaRPr lang="en-US" sz="16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502920">
                <a:tc>
                  <a:txBody>
                    <a:bodyPr/>
                    <a:lstStyle/>
                    <a:p>
                      <a:pPr indent="0" marL="0">
                        <a:buNone/>
                      </a:pPr>
                      <a:r>
                        <a:rPr lang="en-US" sz="1600" b="1" dirty="0">
                          <a:solidFill>
                            <a:srgbClr val="1F2A30"/>
                          </a:solidFill>
                        </a:rPr>
                        <a:t>la flag porta informazione?</a:t>
                      </a:r>
                      <a:endParaRPr lang="en-US" sz="16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600" b="1" dirty="0">
                          <a:solidFill>
                            <a:srgbClr val="1F3A45"/>
                          </a:solidFill>
                        </a:rPr>
                        <a:t>no</a:t>
                      </a:r>
                      <a:endParaRPr lang="en-US" sz="16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600" dirty="0">
                          <a:solidFill>
                            <a:srgbClr val="1F2A30"/>
                          </a:solidFill>
                        </a:rPr>
                        <a:t>sì</a:t>
                      </a:r>
                      <a:endParaRPr lang="en-US" sz="16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502920">
                <a:tc>
                  <a:txBody>
                    <a:bodyPr/>
                    <a:lstStyle/>
                    <a:p>
                      <a:pPr indent="0" marL="0">
                        <a:buNone/>
                      </a:pPr>
                      <a:r>
                        <a:rPr lang="en-US" sz="1600" b="1" dirty="0">
                          <a:solidFill>
                            <a:srgbClr val="1F2A30"/>
                          </a:solidFill>
                        </a:rPr>
                        <a:t>voli senza reset della ricerca</a:t>
                      </a:r>
                      <a:endParaRPr lang="en-US" sz="16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600" dirty="0">
                          <a:solidFill>
                            <a:srgbClr val="1F2A30"/>
                          </a:solidFill>
                        </a:rPr>
                        <a:t>20/60</a:t>
                      </a:r>
                      <a:endParaRPr lang="en-US" sz="16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600" dirty="0">
                          <a:solidFill>
                            <a:srgbClr val="1F2A30"/>
                          </a:solidFill>
                        </a:rPr>
                        <a:t>2/60</a:t>
                      </a:r>
                      <a:endParaRPr lang="en-US" sz="16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bl>
          </a:graphicData>
        </a:graphic>
      </p:graphicFrame>
      <p:sp>
        <p:nvSpPr>
          <p:cNvPr id="5" name="card soglia"/>
          <p:cNvSpPr/>
          <p:nvPr/>
        </p:nvSpPr>
        <p:spPr>
          <a:xfrm>
            <a:off x="7498080" y="1417320"/>
            <a:ext cx="4142232" cy="2514600"/>
          </a:xfrm>
          <a:prstGeom prst="rect">
            <a:avLst/>
          </a:prstGeom>
          <a:solidFill>
            <a:schemeClr val="bg2"/>
          </a:solidFill>
          <a:ln w="12700">
            <a:solidFill>
              <a:schemeClr val="bg2"/>
            </a:solidFill>
            <a:prstDash val="solid"/>
          </a:ln>
        </p:spPr>
      </p:sp>
      <p:sp>
        <p:nvSpPr>
          <p:cNvPr id="6" name="Text 2"/>
          <p:cNvSpPr txBox="1"/>
          <p:nvPr/>
        </p:nvSpPr>
        <p:spPr>
          <a:xfrm>
            <a:off x="7726680" y="1600200"/>
            <a:ext cx="3685032" cy="2194560"/>
          </a:xfrm>
          <a:prstGeom prst="rect">
            <a:avLst/>
          </a:prstGeom>
          <a:noFill/>
          <a:ln/>
        </p:spPr>
        <p:txBody>
          <a:bodyPr wrap="square" lIns="0" tIns="0" rIns="0" bIns="0" rtlCol="0" anchor="t"/>
          <a:lstStyle/>
          <a:p>
            <a:pPr indent="0" marL="0">
              <a:spcAft>
                <a:spcPts val="600"/>
              </a:spcAft>
              <a:buNone/>
            </a:pPr>
            <a:r>
              <a:rPr lang="en-US" sz="1500" b="1" dirty="0">
                <a:solidFill>
                  <a:schemeClr val="tx2"/>
                </a:solidFill>
              </a:rPr>
              <a:t>Nuova soglia</a:t>
            </a:r>
            <a:endParaRPr lang="en-US" sz="1500" dirty="0"/>
          </a:p>
          <a:p>
            <a:pPr indent="0" marL="0">
              <a:spcAft>
                <a:spcPts val="600"/>
              </a:spcAft>
              <a:buNone/>
            </a:pPr>
            <a:r>
              <a:rPr lang="en-US" sz="1500" b="1" dirty="0">
                <a:solidFill>
                  <a:schemeClr val="accent1"/>
                </a:solidFill>
              </a:rPr>
              <a:t>[0.04, 0.1, 0.1] → [0.385, 0.136, 0.105]</a:t>
            </a:r>
            <a:endParaRPr lang="en-US" sz="1500" dirty="0"/>
          </a:p>
          <a:p>
            <a:pPr indent="0" marL="0">
              <a:spcAft>
                <a:spcPts val="600"/>
              </a:spcAft>
              <a:buNone/>
            </a:pPr>
            <a:r>
              <a:rPr lang="en-US" sz="1500" dirty="0">
                <a:solidFill>
                  <a:schemeClr val="tx1"/>
                </a:solidFill>
              </a:rPr>
              <a:t>La coxa non riceve coppia dal contatto verticale: la sua soglia viene disattivata, la flag diventa un OR su due giunti.</a:t>
            </a:r>
            <a:endParaRPr lang="en-US" sz="1500" dirty="0"/>
          </a:p>
        </p:txBody>
      </p:sp>
      <p:sp>
        <p:nvSpPr>
          <p:cNvPr id="7" name="Text 3"/>
          <p:cNvSpPr txBox="1"/>
          <p:nvPr/>
        </p:nvSpPr>
        <p:spPr>
          <a:xfrm>
            <a:off x="548640" y="4343400"/>
            <a:ext cx="11094415" cy="548640"/>
          </a:xfrm>
          <a:prstGeom prst="rect">
            <a:avLst/>
          </a:prstGeom>
          <a:noFill/>
          <a:ln/>
        </p:spPr>
        <p:txBody>
          <a:bodyPr wrap="square" lIns="0" tIns="0" rIns="0" bIns="0" rtlCol="0" anchor="ctr"/>
          <a:lstStyle/>
          <a:p>
            <a:pPr indent="0" marL="0">
              <a:buNone/>
            </a:pPr>
            <a:r>
              <a:rPr lang="en-US" sz="1600" b="1" dirty="0">
                <a:solidFill>
                  <a:schemeClr val="tx2"/>
                </a:solidFill>
              </a:rPr>
              <a:t>Con lo stimatore disallineato la flag restava alta per oltre il 95% del volo.</a:t>
            </a:r>
            <a:endParaRPr lang="en-US" sz="1600" dirty="0"/>
          </a:p>
        </p:txBody>
      </p:sp>
      <p:sp>
        <p:nvSpPr>
          <p:cNvPr id="8" name="Text 4"/>
          <p:cNvSpPr txBox="1"/>
          <p:nvPr/>
        </p:nvSpPr>
        <p:spPr>
          <a:xfrm>
            <a:off x="548640" y="5120640"/>
            <a:ext cx="11094415" cy="548640"/>
          </a:xfrm>
          <a:prstGeom prst="rect">
            <a:avLst/>
          </a:prstGeom>
          <a:noFill/>
          <a:ln/>
        </p:spPr>
        <p:txBody>
          <a:bodyPr wrap="square" lIns="0" tIns="0" rIns="0" bIns="0" rtlCol="0" anchor="t"/>
          <a:lstStyle/>
          <a:p>
            <a:pPr indent="0" marL="0">
              <a:buNone/>
            </a:pPr>
            <a:r>
              <a:rPr lang="en-US" sz="1400" dirty="0">
                <a:solidFill>
                  <a:schemeClr val="accent3"/>
                </a:solidFill>
              </a:rPr>
              <a:t>Inoltre: soglia della coxa disattivata ([0.385, 0.136, 0.105]); limitatore a ±0.4 m/s e saturazione su tutti i controllori.</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chemeClr val="tx2"/>
                </a:solidFill>
              </a:rPr>
              <a:t>Quando una differenza è un risultato</a:t>
            </a:r>
            <a:endParaRPr lang="en-US" sz="3000" dirty="0"/>
          </a:p>
        </p:txBody>
      </p:sp>
      <p:sp>
        <p:nvSpPr>
          <p:cNvPr id="4" name="step 1"/>
          <p:cNvSpPr/>
          <p:nvPr/>
        </p:nvSpPr>
        <p:spPr>
          <a:xfrm>
            <a:off x="548640" y="1417320"/>
            <a:ext cx="3429000" cy="1828800"/>
          </a:xfrm>
          <a:prstGeom prst="rect">
            <a:avLst/>
          </a:prstGeom>
          <a:solidFill>
            <a:schemeClr val="bg2"/>
          </a:solidFill>
          <a:ln w="12700">
            <a:solidFill>
              <a:schemeClr val="bg2"/>
            </a:solidFill>
            <a:prstDash val="solid"/>
          </a:ln>
        </p:spPr>
      </p:sp>
      <p:sp>
        <p:nvSpPr>
          <p:cNvPr id="5" name="num 1"/>
          <p:cNvSpPr/>
          <p:nvPr/>
        </p:nvSpPr>
        <p:spPr>
          <a:xfrm>
            <a:off x="822960" y="1645920"/>
            <a:ext cx="548640" cy="548640"/>
          </a:xfrm>
          <a:prstGeom prst="ellipse">
            <a:avLst/>
          </a:prstGeom>
          <a:solidFill>
            <a:schemeClr val="tx2"/>
          </a:solidFill>
          <a:ln w="12700">
            <a:solidFill>
              <a:schemeClr val="tx2"/>
            </a:solidFill>
            <a:prstDash val="solid"/>
          </a:ln>
        </p:spPr>
      </p:sp>
      <p:sp>
        <p:nvSpPr>
          <p:cNvPr id="6" name="Text 3"/>
          <p:cNvSpPr txBox="1"/>
          <p:nvPr/>
        </p:nvSpPr>
        <p:spPr>
          <a:xfrm>
            <a:off x="822960" y="16459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4"/>
          <p:cNvSpPr txBox="1"/>
          <p:nvPr/>
        </p:nvSpPr>
        <p:spPr>
          <a:xfrm>
            <a:off x="1508760" y="1645920"/>
            <a:ext cx="2286000" cy="548640"/>
          </a:xfrm>
          <a:prstGeom prst="rect">
            <a:avLst/>
          </a:prstGeom>
          <a:noFill/>
          <a:ln/>
        </p:spPr>
        <p:txBody>
          <a:bodyPr wrap="square" lIns="0" tIns="0" rIns="0" bIns="0" rtlCol="0" anchor="ctr"/>
          <a:lstStyle/>
          <a:p>
            <a:pPr indent="0" marL="0">
              <a:buNone/>
            </a:pPr>
            <a:r>
              <a:rPr lang="en-US" sz="1700" b="1" dirty="0">
                <a:solidFill>
                  <a:schemeClr val="tx2"/>
                </a:solidFill>
              </a:rPr>
              <a:t>Tre run per controllore</a:t>
            </a:r>
            <a:endParaRPr lang="en-US" sz="1700" dirty="0"/>
          </a:p>
        </p:txBody>
      </p:sp>
      <p:sp>
        <p:nvSpPr>
          <p:cNvPr id="8" name="Text 5"/>
          <p:cNvSpPr txBox="1"/>
          <p:nvPr/>
        </p:nvSpPr>
        <p:spPr>
          <a:xfrm>
            <a:off x="822960" y="2377440"/>
            <a:ext cx="2880360" cy="731520"/>
          </a:xfrm>
          <a:prstGeom prst="rect">
            <a:avLst/>
          </a:prstGeom>
          <a:noFill/>
          <a:ln/>
        </p:spPr>
        <p:txBody>
          <a:bodyPr wrap="square" lIns="0" tIns="0" rIns="0" bIns="0" rtlCol="0" anchor="t"/>
          <a:lstStyle/>
          <a:p>
            <a:pPr indent="0" marL="0">
              <a:buNone/>
            </a:pPr>
            <a:r>
              <a:rPr lang="en-US" sz="1500" dirty="0">
                <a:solidFill>
                  <a:schemeClr val="tx1"/>
                </a:solidFill>
              </a:rPr>
              <a:t>z0 nominale ±0.2 mm, su quattro task</a:t>
            </a:r>
            <a:endParaRPr lang="en-US" sz="1500" dirty="0"/>
          </a:p>
        </p:txBody>
      </p:sp>
      <p:sp>
        <p:nvSpPr>
          <p:cNvPr id="9" name="freccia 0"/>
          <p:cNvSpPr/>
          <p:nvPr/>
        </p:nvSpPr>
        <p:spPr>
          <a:xfrm>
            <a:off x="4050792" y="2148840"/>
            <a:ext cx="219456" cy="365760"/>
          </a:xfrm>
          <a:prstGeom prst="chevron">
            <a:avLst/>
          </a:prstGeom>
          <a:solidFill>
            <a:schemeClr val="accent5"/>
          </a:solidFill>
          <a:ln w="12700">
            <a:solidFill>
              <a:schemeClr val="accent5"/>
            </a:solidFill>
            <a:prstDash val="solid"/>
          </a:ln>
        </p:spPr>
      </p:sp>
      <p:sp>
        <p:nvSpPr>
          <p:cNvPr id="10" name="step 2"/>
          <p:cNvSpPr/>
          <p:nvPr/>
        </p:nvSpPr>
        <p:spPr>
          <a:xfrm>
            <a:off x="4343400" y="1417320"/>
            <a:ext cx="3429000" cy="1828800"/>
          </a:xfrm>
          <a:prstGeom prst="rect">
            <a:avLst/>
          </a:prstGeom>
          <a:solidFill>
            <a:schemeClr val="bg2"/>
          </a:solidFill>
          <a:ln w="12700">
            <a:solidFill>
              <a:schemeClr val="bg2"/>
            </a:solidFill>
            <a:prstDash val="solid"/>
          </a:ln>
        </p:spPr>
      </p:sp>
      <p:sp>
        <p:nvSpPr>
          <p:cNvPr id="11" name="num 2"/>
          <p:cNvSpPr/>
          <p:nvPr/>
        </p:nvSpPr>
        <p:spPr>
          <a:xfrm>
            <a:off x="4617720" y="1645920"/>
            <a:ext cx="548640" cy="548640"/>
          </a:xfrm>
          <a:prstGeom prst="ellipse">
            <a:avLst/>
          </a:prstGeom>
          <a:solidFill>
            <a:schemeClr val="tx2"/>
          </a:solidFill>
          <a:ln w="12700">
            <a:solidFill>
              <a:schemeClr val="tx2"/>
            </a:solidFill>
            <a:prstDash val="solid"/>
          </a:ln>
        </p:spPr>
      </p:sp>
      <p:sp>
        <p:nvSpPr>
          <p:cNvPr id="12" name="Text 9"/>
          <p:cNvSpPr txBox="1"/>
          <p:nvPr/>
        </p:nvSpPr>
        <p:spPr>
          <a:xfrm>
            <a:off x="4617720" y="16459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3" name="Text 10"/>
          <p:cNvSpPr txBox="1"/>
          <p:nvPr/>
        </p:nvSpPr>
        <p:spPr>
          <a:xfrm>
            <a:off x="5303520" y="1645920"/>
            <a:ext cx="2286000" cy="548640"/>
          </a:xfrm>
          <a:prstGeom prst="rect">
            <a:avLst/>
          </a:prstGeom>
          <a:noFill/>
          <a:ln/>
        </p:spPr>
        <p:txBody>
          <a:bodyPr wrap="square" lIns="0" tIns="0" rIns="0" bIns="0" rtlCol="0" anchor="ctr"/>
          <a:lstStyle/>
          <a:p>
            <a:pPr indent="0" marL="0">
              <a:buNone/>
            </a:pPr>
            <a:r>
              <a:rPr lang="en-US" sz="1700" b="1" dirty="0">
                <a:solidFill>
                  <a:schemeClr val="tx2"/>
                </a:solidFill>
              </a:rPr>
              <a:t>Fascia di variabilità</a:t>
            </a:r>
            <a:endParaRPr lang="en-US" sz="1700" dirty="0"/>
          </a:p>
        </p:txBody>
      </p:sp>
      <p:sp>
        <p:nvSpPr>
          <p:cNvPr id="14" name="Text 11"/>
          <p:cNvSpPr txBox="1"/>
          <p:nvPr/>
        </p:nvSpPr>
        <p:spPr>
          <a:xfrm>
            <a:off x="4617720" y="2377440"/>
            <a:ext cx="2880360" cy="731520"/>
          </a:xfrm>
          <a:prstGeom prst="rect">
            <a:avLst/>
          </a:prstGeom>
          <a:noFill/>
          <a:ln/>
        </p:spPr>
        <p:txBody>
          <a:bodyPr wrap="square" lIns="0" tIns="0" rIns="0" bIns="0" rtlCol="0" anchor="t"/>
          <a:lstStyle/>
          <a:p>
            <a:pPr indent="0" marL="0">
              <a:buNone/>
            </a:pPr>
            <a:r>
              <a:rPr lang="en-US" sz="1500" dirty="0">
                <a:solidFill>
                  <a:schemeClr val="tx1"/>
                </a:solidFill>
              </a:rPr>
              <a:t>max − min della metrica fra le tre run</a:t>
            </a:r>
            <a:endParaRPr lang="en-US" sz="1500" dirty="0"/>
          </a:p>
        </p:txBody>
      </p:sp>
      <p:sp>
        <p:nvSpPr>
          <p:cNvPr id="15" name="freccia 1"/>
          <p:cNvSpPr/>
          <p:nvPr/>
        </p:nvSpPr>
        <p:spPr>
          <a:xfrm>
            <a:off x="7845552" y="2148840"/>
            <a:ext cx="219456" cy="365760"/>
          </a:xfrm>
          <a:prstGeom prst="chevron">
            <a:avLst/>
          </a:prstGeom>
          <a:solidFill>
            <a:schemeClr val="accent5"/>
          </a:solidFill>
          <a:ln w="12700">
            <a:solidFill>
              <a:schemeClr val="accent5"/>
            </a:solidFill>
            <a:prstDash val="solid"/>
          </a:ln>
        </p:spPr>
      </p:sp>
      <p:sp>
        <p:nvSpPr>
          <p:cNvPr id="16" name="step 3"/>
          <p:cNvSpPr/>
          <p:nvPr/>
        </p:nvSpPr>
        <p:spPr>
          <a:xfrm>
            <a:off x="8138160" y="1417320"/>
            <a:ext cx="3429000" cy="1828800"/>
          </a:xfrm>
          <a:prstGeom prst="rect">
            <a:avLst/>
          </a:prstGeom>
          <a:solidFill>
            <a:schemeClr val="bg2"/>
          </a:solidFill>
          <a:ln w="12700">
            <a:solidFill>
              <a:schemeClr val="bg2"/>
            </a:solidFill>
            <a:prstDash val="solid"/>
          </a:ln>
        </p:spPr>
      </p:sp>
      <p:sp>
        <p:nvSpPr>
          <p:cNvPr id="17" name="num 3"/>
          <p:cNvSpPr/>
          <p:nvPr/>
        </p:nvSpPr>
        <p:spPr>
          <a:xfrm>
            <a:off x="8412480" y="1645920"/>
            <a:ext cx="548640" cy="548640"/>
          </a:xfrm>
          <a:prstGeom prst="ellipse">
            <a:avLst/>
          </a:prstGeom>
          <a:solidFill>
            <a:schemeClr val="tx2"/>
          </a:solidFill>
          <a:ln w="12700">
            <a:solidFill>
              <a:schemeClr val="tx2"/>
            </a:solidFill>
            <a:prstDash val="solid"/>
          </a:ln>
        </p:spPr>
      </p:sp>
      <p:sp>
        <p:nvSpPr>
          <p:cNvPr id="18" name="Text 15"/>
          <p:cNvSpPr txBox="1"/>
          <p:nvPr/>
        </p:nvSpPr>
        <p:spPr>
          <a:xfrm>
            <a:off x="8412480" y="16459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9" name="Text 16"/>
          <p:cNvSpPr txBox="1"/>
          <p:nvPr/>
        </p:nvSpPr>
        <p:spPr>
          <a:xfrm>
            <a:off x="9098280" y="1645920"/>
            <a:ext cx="2286000" cy="548640"/>
          </a:xfrm>
          <a:prstGeom prst="rect">
            <a:avLst/>
          </a:prstGeom>
          <a:noFill/>
          <a:ln/>
        </p:spPr>
        <p:txBody>
          <a:bodyPr wrap="square" lIns="0" tIns="0" rIns="0" bIns="0" rtlCol="0" anchor="ctr"/>
          <a:lstStyle/>
          <a:p>
            <a:pPr indent="0" marL="0">
              <a:buNone/>
            </a:pPr>
            <a:r>
              <a:rPr lang="en-US" sz="1700" b="1" dirty="0">
                <a:solidFill>
                  <a:schemeClr val="tx2"/>
                </a:solidFill>
              </a:rPr>
              <a:t>Regola del 3×</a:t>
            </a:r>
            <a:endParaRPr lang="en-US" sz="1700" dirty="0"/>
          </a:p>
        </p:txBody>
      </p:sp>
      <p:sp>
        <p:nvSpPr>
          <p:cNvPr id="20" name="Text 17"/>
          <p:cNvSpPr txBox="1"/>
          <p:nvPr/>
        </p:nvSpPr>
        <p:spPr>
          <a:xfrm>
            <a:off x="8412480" y="2377440"/>
            <a:ext cx="2880360" cy="731520"/>
          </a:xfrm>
          <a:prstGeom prst="rect">
            <a:avLst/>
          </a:prstGeom>
          <a:noFill/>
          <a:ln/>
        </p:spPr>
        <p:txBody>
          <a:bodyPr wrap="square" lIns="0" tIns="0" rIns="0" bIns="0" rtlCol="0" anchor="t"/>
          <a:lstStyle/>
          <a:p>
            <a:pPr indent="0" marL="0">
              <a:buNone/>
            </a:pPr>
            <a:r>
              <a:rPr lang="en-US" sz="1500" dirty="0">
                <a:solidFill>
                  <a:schemeClr val="tx1"/>
                </a:solidFill>
              </a:rPr>
              <a:t>differenza ≥ 3 × la fascia peggiore dei due</a:t>
            </a:r>
            <a:endParaRPr lang="en-US" sz="1500" dirty="0"/>
          </a:p>
        </p:txBody>
      </p:sp>
      <p:sp>
        <p:nvSpPr>
          <p:cNvPr id="21" name="regola"/>
          <p:cNvSpPr/>
          <p:nvPr/>
        </p:nvSpPr>
        <p:spPr>
          <a:xfrm>
            <a:off x="548640" y="3611880"/>
            <a:ext cx="11094415" cy="868680"/>
          </a:xfrm>
          <a:prstGeom prst="rect">
            <a:avLst/>
          </a:prstGeom>
          <a:solidFill>
            <a:schemeClr val="tx2"/>
          </a:solidFill>
          <a:ln w="12700">
            <a:solidFill>
              <a:schemeClr val="tx2"/>
            </a:solidFill>
            <a:prstDash val="solid"/>
          </a:ln>
        </p:spPr>
      </p:sp>
      <p:sp>
        <p:nvSpPr>
          <p:cNvPr id="22" name="Text 19"/>
          <p:cNvSpPr txBox="1"/>
          <p:nvPr/>
        </p:nvSpPr>
        <p:spPr>
          <a:xfrm>
            <a:off x="548640" y="3611880"/>
            <a:ext cx="11094415" cy="868680"/>
          </a:xfrm>
          <a:prstGeom prst="rect">
            <a:avLst/>
          </a:prstGeom>
          <a:noFill/>
          <a:ln/>
        </p:spPr>
        <p:txBody>
          <a:bodyPr wrap="square" lIns="0" tIns="0" rIns="0" bIns="0" rtlCol="0" anchor="ctr"/>
          <a:lstStyle/>
          <a:p>
            <a:pPr algn="ctr" indent="0" marL="0">
              <a:buNone/>
            </a:pPr>
            <a:r>
              <a:rPr lang="en-US" sz="2400" b="1" dirty="0">
                <a:solidFill>
                  <a:schemeClr val="bg1"/>
                </a:solidFill>
                <a:latin typeface="Cambria" pitchFamily="34" charset="0"/>
                <a:ea typeface="Cambria" pitchFamily="34" charset="-122"/>
                <a:cs typeface="Cambria" pitchFamily="34" charset="-120"/>
              </a:rPr>
              <a:t>|M_A − M_B|  ≥  3 · max( fascia_A , fascia_B )</a:t>
            </a:r>
            <a:endParaRPr lang="en-US" sz="2400" dirty="0"/>
          </a:p>
        </p:txBody>
      </p:sp>
      <p:sp>
        <p:nvSpPr>
          <p:cNvPr id="23" name="esito 0"/>
          <p:cNvSpPr/>
          <p:nvPr/>
        </p:nvSpPr>
        <p:spPr>
          <a:xfrm>
            <a:off x="548640" y="4937760"/>
            <a:ext cx="320040" cy="320040"/>
          </a:xfrm>
          <a:prstGeom prst="ellipse">
            <a:avLst/>
          </a:prstGeom>
          <a:solidFill>
            <a:schemeClr val="accent2"/>
          </a:solidFill>
          <a:ln w="12700">
            <a:solidFill>
              <a:schemeClr val="accent2"/>
            </a:solidFill>
            <a:prstDash val="solid"/>
          </a:ln>
        </p:spPr>
      </p:sp>
      <p:sp>
        <p:nvSpPr>
          <p:cNvPr id="24" name="Text 21"/>
          <p:cNvSpPr txBox="1"/>
          <p:nvPr/>
        </p:nvSpPr>
        <p:spPr>
          <a:xfrm>
            <a:off x="1051560" y="4846320"/>
            <a:ext cx="4937760" cy="731520"/>
          </a:xfrm>
          <a:prstGeom prst="rect">
            <a:avLst/>
          </a:prstGeom>
          <a:noFill/>
          <a:ln/>
        </p:spPr>
        <p:txBody>
          <a:bodyPr wrap="square" lIns="0" tIns="0" rIns="0" bIns="0" rtlCol="0" anchor="ctr"/>
          <a:lstStyle/>
          <a:p>
            <a:pPr indent="0" marL="0">
              <a:buNone/>
            </a:pPr>
            <a:r>
              <a:rPr lang="en-US" sz="1500" dirty="0">
                <a:solidFill>
                  <a:schemeClr val="tx1"/>
                </a:solidFill>
              </a:rPr>
              <a:t>Sopra la soglia: differenza valida, in grassetto nelle tabelle</a:t>
            </a:r>
            <a:endParaRPr lang="en-US" sz="1500" dirty="0"/>
          </a:p>
        </p:txBody>
      </p:sp>
      <p:sp>
        <p:nvSpPr>
          <p:cNvPr id="25" name="esito 1"/>
          <p:cNvSpPr/>
          <p:nvPr/>
        </p:nvSpPr>
        <p:spPr>
          <a:xfrm>
            <a:off x="6190488" y="4937760"/>
            <a:ext cx="320040" cy="320040"/>
          </a:xfrm>
          <a:prstGeom prst="ellipse">
            <a:avLst/>
          </a:prstGeom>
          <a:solidFill>
            <a:schemeClr val="accent3"/>
          </a:solidFill>
          <a:ln w="12700">
            <a:solidFill>
              <a:schemeClr val="accent3"/>
            </a:solidFill>
            <a:prstDash val="solid"/>
          </a:ln>
        </p:spPr>
      </p:sp>
      <p:sp>
        <p:nvSpPr>
          <p:cNvPr id="26" name="Text 23"/>
          <p:cNvSpPr txBox="1"/>
          <p:nvPr/>
        </p:nvSpPr>
        <p:spPr>
          <a:xfrm>
            <a:off x="6693408" y="4846320"/>
            <a:ext cx="4937760" cy="731520"/>
          </a:xfrm>
          <a:prstGeom prst="rect">
            <a:avLst/>
          </a:prstGeom>
          <a:noFill/>
          <a:ln/>
        </p:spPr>
        <p:txBody>
          <a:bodyPr wrap="square" lIns="0" tIns="0" rIns="0" bIns="0" rtlCol="0" anchor="ctr"/>
          <a:lstStyle/>
          <a:p>
            <a:pPr indent="0" marL="0">
              <a:buNone/>
            </a:pPr>
            <a:r>
              <a:rPr lang="en-US" sz="1500" dirty="0">
                <a:solidFill>
                  <a:schemeClr val="tx1"/>
                </a:solidFill>
              </a:rPr>
              <a:t>Sotto: non concludente (n.c.), non si attribuisce al controllore</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chemeClr val="tx2"/>
                </a:solidFill>
              </a:rPr>
              <a:t>Piano (T2): la ricerca del terreno ha un costo</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3063240"/>
                <a:gridCol w="1143000"/>
                <a:gridCol w="1143000"/>
                <a:gridCol w="1143000"/>
                <a:gridCol w="2295144"/>
                <a:gridCol w="2304288"/>
              </a:tblGrid>
              <a:tr h="457200">
                <a:tc>
                  <a:txBody>
                    <a:bodyPr/>
                    <a:lstStyle/>
                    <a:p>
                      <a:pPr indent="0" marL="0">
                        <a:buNone/>
                      </a:pP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indent="0" marL="0">
                        <a:buNone/>
                      </a:pPr>
                      <a:r>
                        <a:rPr lang="en-US" sz="1500" b="1" dirty="0">
                          <a:solidFill>
                            <a:srgbClr val="FFFFFF"/>
                          </a:solidFill>
                        </a:rPr>
                        <a:t>C1</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indent="0" marL="0">
                        <a:buNone/>
                      </a:pPr>
                      <a:r>
                        <a:rPr lang="en-US" sz="1500" b="1" dirty="0">
                          <a:solidFill>
                            <a:srgbClr val="FFFFFF"/>
                          </a:solidFill>
                        </a:rPr>
                        <a:t>C2</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indent="0" marL="0">
                        <a:buNone/>
                      </a:pPr>
                      <a:r>
                        <a:rPr lang="en-US" sz="1500" b="1" dirty="0">
                          <a:solidFill>
                            <a:srgbClr val="FFFFFF"/>
                          </a:solidFill>
                        </a:rPr>
                        <a:t>C3</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indent="0" marL="0">
                        <a:buNone/>
                      </a:pPr>
                      <a:r>
                        <a:rPr lang="en-US" sz="1500" b="1" dirty="0">
                          <a:solidFill>
                            <a:srgbClr val="FFFFFF"/>
                          </a:solidFill>
                        </a:rPr>
                        <a:t>C1→C2</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indent="0" marL="0">
                        <a:buNone/>
                      </a:pPr>
                      <a:r>
                        <a:rPr lang="en-US" sz="1500" b="1" dirty="0">
                          <a:solidFill>
                            <a:srgbClr val="FFFFFF"/>
                          </a:solidFill>
                        </a:rPr>
                        <a:t>C2→C3</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r>
              <a:tr h="457200">
                <a:tc>
                  <a:txBody>
                    <a:bodyPr/>
                    <a:lstStyle/>
                    <a:p>
                      <a:pPr indent="0" marL="0">
                        <a:buNone/>
                      </a:pPr>
                      <a:r>
                        <a:rPr lang="en-US" sz="1500" b="1" dirty="0">
                          <a:solidFill>
                            <a:srgbClr val="1F2A30"/>
                          </a:solidFill>
                        </a:rPr>
                        <a:t>beccheggio max [deg]</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0.514</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1.95</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0.356</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b="1" dirty="0">
                          <a:solidFill>
                            <a:srgbClr val="1F3A45"/>
                          </a:solidFill>
                        </a:rPr>
                        <a:t>+279% (16.3)</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b="1" dirty="0">
                          <a:solidFill>
                            <a:srgbClr val="1F3A45"/>
                          </a:solidFill>
                        </a:rPr>
                        <a:t>−82% (18.1)</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457200">
                <a:tc>
                  <a:txBody>
                    <a:bodyPr/>
                    <a:lstStyle/>
                    <a:p>
                      <a:pPr indent="0" marL="0">
                        <a:buNone/>
                      </a:pPr>
                      <a:r>
                        <a:rPr lang="en-US" sz="1500" b="1" dirty="0">
                          <a:solidFill>
                            <a:srgbClr val="1F2A30"/>
                          </a:solidFill>
                        </a:rPr>
                        <a:t>rollio max [deg]</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0.206</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0.280</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0.205</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rgbClr val="6F7F86"/>
                          </a:solidFill>
                        </a:rPr>
                        <a:t>+36% (n.c.)</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rgbClr val="6F7F86"/>
                          </a:solidFill>
                        </a:rPr>
                        <a:t>−27% (n.c.)</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457200">
                <a:tc>
                  <a:txBody>
                    <a:bodyPr/>
                    <a:lstStyle/>
                    <a:p>
                      <a:pPr indent="0" marL="0">
                        <a:buNone/>
                      </a:pPr>
                      <a:r>
                        <a:rPr lang="en-US" sz="1500" b="1" dirty="0">
                          <a:solidFill>
                            <a:srgbClr val="1F2A30"/>
                          </a:solidFill>
                        </a:rPr>
                        <a:t>costo di trasporto</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0.888</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0.865</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1.11</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rgbClr val="6F7F86"/>
                          </a:solidFill>
                        </a:rPr>
                        <a:t>−3% (n.c.)</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b="1" dirty="0">
                          <a:solidFill>
                            <a:srgbClr val="1F3A45"/>
                          </a:solidFill>
                        </a:rPr>
                        <a:t>+28% (27.7)</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457200">
                <a:tc>
                  <a:txBody>
                    <a:bodyPr/>
                    <a:lstStyle/>
                    <a:p>
                      <a:pPr indent="0" marL="0">
                        <a:buNone/>
                      </a:pPr>
                      <a:r>
                        <a:rPr lang="en-US" sz="1500" b="1" dirty="0">
                          <a:solidFill>
                            <a:srgbClr val="1F2A30"/>
                          </a:solidFill>
                        </a:rPr>
                        <a:t>energia [J]</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18.6</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18.2</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23.3</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rgbClr val="6F7F86"/>
                          </a:solidFill>
                        </a:rPr>
                        <a:t>−2% (n.c.)</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b="1" dirty="0">
                          <a:solidFill>
                            <a:srgbClr val="1F3A45"/>
                          </a:solidFill>
                        </a:rPr>
                        <a:t>+28% (28.4)</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457200">
                <a:tc>
                  <a:txBody>
                    <a:bodyPr/>
                    <a:lstStyle/>
                    <a:p>
                      <a:pPr indent="0" marL="0">
                        <a:buNone/>
                      </a:pPr>
                      <a:r>
                        <a:rPr lang="en-US" sz="1500" b="1" dirty="0">
                          <a:solidFill>
                            <a:srgbClr val="1F2A30"/>
                          </a:solidFill>
                        </a:rPr>
                        <a:t>coppia RMS [N·m]</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0.400</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0.403</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0.372</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rgbClr val="6F7F86"/>
                          </a:solidFill>
                        </a:rPr>
                        <a:t>+1% (n.c.)</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b="1" dirty="0">
                          <a:solidFill>
                            <a:srgbClr val="1F3A45"/>
                          </a:solidFill>
                        </a:rPr>
                        <a:t>−8% (8.0)</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457200">
                <a:tc>
                  <a:txBody>
                    <a:bodyPr/>
                    <a:lstStyle/>
                    <a:p>
                      <a:pPr indent="0" marL="0">
                        <a:buNone/>
                      </a:pPr>
                      <a:r>
                        <a:rPr lang="en-US" sz="1500" b="1" dirty="0">
                          <a:solidFill>
                            <a:srgbClr val="1F2A30"/>
                          </a:solidFill>
                        </a:rPr>
                        <a:t>coppia di picco [N·m]</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1.87</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2.02</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2.23</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rgbClr val="6F7F86"/>
                          </a:solidFill>
                        </a:rPr>
                        <a:t>+8% (n.c.)</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rgbClr val="6F7F86"/>
                          </a:solidFill>
                        </a:rPr>
                        <a:t>+11% (n.c.)</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457200">
                <a:tc>
                  <a:txBody>
                    <a:bodyPr/>
                    <a:lstStyle/>
                    <a:p>
                      <a:pPr indent="0" marL="0">
                        <a:buNone/>
                      </a:pPr>
                      <a:r>
                        <a:rPr lang="en-US" sz="1500" b="1" dirty="0">
                          <a:solidFill>
                            <a:srgbClr val="1F2A30"/>
                          </a:solidFill>
                        </a:rPr>
                        <a:t>velocità media [m/s]</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0.135</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0.136</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0.135</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b="1" dirty="0">
                          <a:solidFill>
                            <a:srgbClr val="1F3A45"/>
                          </a:solidFill>
                        </a:rPr>
                        <a:t>+1% (6.9)</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rgbClr val="6F7F86"/>
                          </a:solidFill>
                        </a:rPr>
                        <a:t>−0% (n.c.)</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bl>
          </a:graphicData>
        </a:graphic>
      </p:graphicFrame>
      <p:sp>
        <p:nvSpPr>
          <p:cNvPr id="5" name="Text 1"/>
          <p:cNvSpPr txBox="1"/>
          <p:nvPr/>
        </p:nvSpPr>
        <p:spPr>
          <a:xfrm>
            <a:off x="548640" y="5120640"/>
            <a:ext cx="11094415" cy="365760"/>
          </a:xfrm>
          <a:prstGeom prst="rect">
            <a:avLst/>
          </a:prstGeom>
          <a:noFill/>
          <a:ln/>
        </p:spPr>
        <p:txBody>
          <a:bodyPr wrap="square" lIns="0" tIns="0" rIns="0" bIns="0" rtlCol="0" anchor="t"/>
          <a:lstStyle/>
          <a:p>
            <a:pPr indent="0" marL="0">
              <a:buNone/>
            </a:pPr>
            <a:r>
              <a:rPr lang="en-US" sz="1200" i="1" dirty="0">
                <a:solidFill>
                  <a:schemeClr val="accent3"/>
                </a:solidFill>
              </a:rPr>
              <a:t>Fra parentesi il rapporto sulla fascia di variabilità; in grassetto i verdetti validi (≥ 3×), in grigio i non concludenti.</a:t>
            </a:r>
            <a:endParaRPr lang="en-US" sz="1200" dirty="0"/>
          </a:p>
        </p:txBody>
      </p:sp>
      <p:sp>
        <p:nvSpPr>
          <p:cNvPr id="6" name="Text 2"/>
          <p:cNvSpPr txBox="1"/>
          <p:nvPr/>
        </p:nvSpPr>
        <p:spPr>
          <a:xfrm>
            <a:off x="548640" y="5532120"/>
            <a:ext cx="11094415" cy="548640"/>
          </a:xfrm>
          <a:prstGeom prst="rect">
            <a:avLst/>
          </a:prstGeom>
          <a:noFill/>
          <a:ln/>
        </p:spPr>
        <p:txBody>
          <a:bodyPr wrap="square" lIns="0" tIns="0" rIns="0" bIns="0" rtlCol="0" anchor="ctr"/>
          <a:lstStyle/>
          <a:p>
            <a:pPr indent="0" marL="0">
              <a:buNone/>
            </a:pPr>
            <a:r>
              <a:rPr lang="en-US" sz="1600" b="1" dirty="0">
                <a:solidFill>
                  <a:schemeClr val="tx2"/>
                </a:solidFill>
              </a:rPr>
              <a:t>Il meccanismo continua a lavorare dove non c'è nulla da trovare, e il corpo lo paga.</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chemeClr val="tx2"/>
                </a:solidFill>
              </a:rPr>
              <a:t>Inviluppo in velocità (T2)</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3566160" cy="914400"/>
        </p:xfrm>
        <a:graphic>
          <a:graphicData uri="http://schemas.openxmlformats.org/drawingml/2006/table">
            <a:tbl>
              <a:tblPr/>
              <a:tblGrid>
                <a:gridCol w="914400"/>
                <a:gridCol w="1188720"/>
                <a:gridCol w="1463040"/>
              </a:tblGrid>
              <a:tr h="457200">
                <a:tc>
                  <a:txBody>
                    <a:bodyPr/>
                    <a:lstStyle/>
                    <a:p>
                      <a:pPr indent="0" marL="0">
                        <a:buNone/>
                      </a:pPr>
                      <a:r>
                        <a:rPr lang="en-US" sz="1500" b="1" dirty="0">
                          <a:solidFill>
                            <a:srgbClr val="FFFFFF"/>
                          </a:solidFill>
                        </a:rPr>
                        <a:t>fattore</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indent="0" marL="0">
                        <a:buNone/>
                      </a:pPr>
                      <a:r>
                        <a:rPr lang="en-US" sz="1500" b="1" dirty="0">
                          <a:solidFill>
                            <a:srgbClr val="FFFFFF"/>
                          </a:solidFill>
                        </a:rPr>
                        <a:t>rimbalzo [mm]</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indent="0" marL="0">
                        <a:buNone/>
                      </a:pP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r>
              <a:tr h="457200">
                <a:tc>
                  <a:txBody>
                    <a:bodyPr/>
                    <a:lstStyle/>
                    <a:p>
                      <a:pPr indent="0" marL="0">
                        <a:buNone/>
                      </a:pPr>
                      <a:r>
                        <a:rPr lang="en-US" sz="1500" dirty="0">
                          <a:solidFill>
                            <a:srgbClr val="1F2A30"/>
                          </a:solidFill>
                        </a:rPr>
                        <a:t>0.50</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28.5</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rgbClr val="1F2A30"/>
                          </a:solidFill>
                        </a:rPr>
                        <a:t>fallisce</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457200">
                <a:tc>
                  <a:txBody>
                    <a:bodyPr/>
                    <a:lstStyle/>
                    <a:p>
                      <a:pPr indent="0" marL="0">
                        <a:buNone/>
                      </a:pPr>
                      <a:r>
                        <a:rPr lang="en-US" sz="1500" dirty="0">
                          <a:solidFill>
                            <a:srgbClr val="1F2A30"/>
                          </a:solidFill>
                        </a:rPr>
                        <a:t>1.00</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b="1" dirty="0">
                          <a:solidFill>
                            <a:srgbClr val="1F3A45"/>
                          </a:solidFill>
                        </a:rPr>
                        <a:t>2.9</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rgbClr val="1F2A30"/>
                          </a:solidFill>
                        </a:rPr>
                        <a:t>nominale</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457200">
                <a:tc>
                  <a:txBody>
                    <a:bodyPr/>
                    <a:lstStyle/>
                    <a:p>
                      <a:pPr indent="0" marL="0">
                        <a:buNone/>
                      </a:pPr>
                      <a:r>
                        <a:rPr lang="en-US" sz="1500" dirty="0">
                          <a:solidFill>
                            <a:srgbClr val="1F2A30"/>
                          </a:solidFill>
                        </a:rPr>
                        <a:t>1.20</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b="1" dirty="0">
                          <a:solidFill>
                            <a:srgbClr val="1F3A45"/>
                          </a:solidFill>
                        </a:rPr>
                        <a:t>3.0</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rgbClr val="1F2A30"/>
                          </a:solidFill>
                        </a:rPr>
                        <a:t>ultima stabile</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457200">
                <a:tc>
                  <a:txBody>
                    <a:bodyPr/>
                    <a:lstStyle/>
                    <a:p>
                      <a:pPr indent="0" marL="0">
                        <a:buNone/>
                      </a:pPr>
                      <a:r>
                        <a:rPr lang="en-US" sz="1500" dirty="0">
                          <a:solidFill>
                            <a:srgbClr val="1F2A30"/>
                          </a:solidFill>
                        </a:rPr>
                        <a:t>1.50</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32.4</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rgbClr val="1F2A30"/>
                          </a:solidFill>
                        </a:rPr>
                        <a:t>fallisce</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457200">
                <a:tc>
                  <a:txBody>
                    <a:bodyPr/>
                    <a:lstStyle/>
                    <a:p>
                      <a:pPr indent="0" marL="0">
                        <a:buNone/>
                      </a:pPr>
                      <a:r>
                        <a:rPr lang="en-US" sz="1500" dirty="0">
                          <a:solidFill>
                            <a:srgbClr val="1F2A30"/>
                          </a:solidFill>
                        </a:rPr>
                        <a:t>2.00</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58.9</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rgbClr val="1F2A30"/>
                          </a:solidFill>
                        </a:rPr>
                        <a:t>arretra</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bl>
          </a:graphicData>
        </a:graphic>
      </p:graphicFrame>
      <p:sp>
        <p:nvSpPr>
          <p:cNvPr id="5" name="Text 1"/>
          <p:cNvSpPr txBox="1"/>
          <p:nvPr/>
        </p:nvSpPr>
        <p:spPr>
          <a:xfrm>
            <a:off x="548640" y="4206240"/>
            <a:ext cx="3566160" cy="548640"/>
          </a:xfrm>
          <a:prstGeom prst="rect">
            <a:avLst/>
          </a:prstGeom>
          <a:noFill/>
          <a:ln/>
        </p:spPr>
        <p:txBody>
          <a:bodyPr wrap="square" lIns="0" tIns="0" rIns="0" bIns="0" rtlCol="0" anchor="t"/>
          <a:lstStyle/>
          <a:p>
            <a:pPr indent="0" marL="0">
              <a:buNone/>
            </a:pPr>
            <a:r>
              <a:rPr lang="en-US" sz="1200" i="1" dirty="0">
                <a:solidFill>
                  <a:schemeClr val="accent3"/>
                </a:solidFill>
              </a:rPr>
              <a:t>C1, soglia 10 mm dichiarata prima dello sweep</a:t>
            </a:r>
            <a:endParaRPr lang="en-US" sz="1200" dirty="0"/>
          </a:p>
        </p:txBody>
      </p:sp>
      <p:sp>
        <p:nvSpPr>
          <p:cNvPr id="6" name="IMG inviluppo_en.pdf"/>
          <p:cNvSpPr/>
          <p:nvPr/>
        </p:nvSpPr>
        <p:spPr>
          <a:xfrm>
            <a:off x="4343400" y="1325880"/>
            <a:ext cx="7296912" cy="4800600"/>
          </a:xfrm>
          <a:prstGeom prst="roundRect">
            <a:avLst>
              <a:gd name="adj" fmla="val 1524"/>
            </a:avLst>
          </a:prstGeom>
          <a:solidFill>
            <a:srgbClr val="F2F4F5"/>
          </a:solidFill>
          <a:ln w="15875">
            <a:solidFill>
              <a:srgbClr val="6F7F86"/>
            </a:solidFill>
            <a:prstDash val="dash"/>
          </a:ln>
        </p:spPr>
      </p:sp>
      <p:sp>
        <p:nvSpPr>
          <p:cNvPr id="7" name="Text 3"/>
          <p:cNvSpPr txBox="1"/>
          <p:nvPr/>
        </p:nvSpPr>
        <p:spPr>
          <a:xfrm>
            <a:off x="4480560" y="1417320"/>
            <a:ext cx="7022592" cy="4617720"/>
          </a:xfrm>
          <a:prstGeom prst="rect">
            <a:avLst/>
          </a:prstGeom>
          <a:noFill/>
          <a:ln/>
        </p:spPr>
        <p:txBody>
          <a:bodyPr wrap="square" lIns="0" tIns="0" rIns="0" bIns="0" rtlCol="0" anchor="ctr"/>
          <a:lstStyle/>
          <a:p>
            <a:pPr algn="ctr" indent="0" marL="0">
              <a:buNone/>
            </a:pPr>
            <a:r>
              <a:rPr lang="en-US" sz="1600" b="1" dirty="0">
                <a:solidFill>
                  <a:schemeClr val="accent3"/>
                </a:solidFill>
              </a:rPr>
              <a:t>IMMAGINE</a:t>
            </a:r>
            <a:endParaRPr lang="en-US" sz="1500" dirty="0"/>
          </a:p>
          <a:p>
            <a:pPr algn="ctr" indent="0" marL="0">
              <a:buNone/>
            </a:pPr>
            <a:r>
              <a:rPr lang="en-US" sz="1400" dirty="0">
                <a:solidFill>
                  <a:schemeClr val="tx1"/>
                </a:solidFill>
              </a:rPr>
              <a:t>inviluppo_en.pdf</a:t>
            </a:r>
            <a:endParaRPr lang="en-US" sz="1500" dirty="0"/>
          </a:p>
          <a:p>
            <a:pPr algn="ctr" indent="0" marL="0">
              <a:buNone/>
            </a:pPr>
            <a:r>
              <a:rPr lang="en-US" sz="1300" i="1" dirty="0">
                <a:solidFill>
                  <a:schemeClr val="accent3"/>
                </a:solidFill>
              </a:rPr>
              <a:t>Rimbalzo e frazione del task contro il fattore di velocità</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chemeClr val="tx2"/>
                </a:solidFill>
              </a:rPr>
              <a:t>Curva (T3): stesso quadro, differenze più nette</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3063240"/>
                <a:gridCol w="1143000"/>
                <a:gridCol w="1143000"/>
                <a:gridCol w="1143000"/>
                <a:gridCol w="2295144"/>
                <a:gridCol w="2304288"/>
              </a:tblGrid>
              <a:tr h="502920">
                <a:tc>
                  <a:txBody>
                    <a:bodyPr/>
                    <a:lstStyle/>
                    <a:p>
                      <a:pPr indent="0" marL="0">
                        <a:buNone/>
                      </a:pP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indent="0" marL="0">
                        <a:buNone/>
                      </a:pPr>
                      <a:r>
                        <a:rPr lang="en-US" sz="1500" b="1" dirty="0">
                          <a:solidFill>
                            <a:srgbClr val="FFFFFF"/>
                          </a:solidFill>
                        </a:rPr>
                        <a:t>C1</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indent="0" marL="0">
                        <a:buNone/>
                      </a:pPr>
                      <a:r>
                        <a:rPr lang="en-US" sz="1500" b="1" dirty="0">
                          <a:solidFill>
                            <a:srgbClr val="FFFFFF"/>
                          </a:solidFill>
                        </a:rPr>
                        <a:t>C2</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indent="0" marL="0">
                        <a:buNone/>
                      </a:pPr>
                      <a:r>
                        <a:rPr lang="en-US" sz="1500" b="1" dirty="0">
                          <a:solidFill>
                            <a:srgbClr val="FFFFFF"/>
                          </a:solidFill>
                        </a:rPr>
                        <a:t>C3</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indent="0" marL="0">
                        <a:buNone/>
                      </a:pPr>
                      <a:r>
                        <a:rPr lang="en-US" sz="1500" b="1" dirty="0">
                          <a:solidFill>
                            <a:srgbClr val="FFFFFF"/>
                          </a:solidFill>
                        </a:rPr>
                        <a:t>C1→C2</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indent="0" marL="0">
                        <a:buNone/>
                      </a:pPr>
                      <a:r>
                        <a:rPr lang="en-US" sz="1500" b="1" dirty="0">
                          <a:solidFill>
                            <a:srgbClr val="FFFFFF"/>
                          </a:solidFill>
                        </a:rPr>
                        <a:t>C2→C3</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r>
              <a:tr h="502920">
                <a:tc>
                  <a:txBody>
                    <a:bodyPr/>
                    <a:lstStyle/>
                    <a:p>
                      <a:pPr indent="0" marL="0">
                        <a:buNone/>
                      </a:pPr>
                      <a:r>
                        <a:rPr lang="en-US" sz="1500" b="1" dirty="0">
                          <a:solidFill>
                            <a:srgbClr val="1F2A30"/>
                          </a:solidFill>
                        </a:rPr>
                        <a:t>beccheggio max [deg]</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0.579</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1.85</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0.392</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b="1" dirty="0">
                          <a:solidFill>
                            <a:srgbClr val="1F3A45"/>
                          </a:solidFill>
                        </a:rPr>
                        <a:t>+219% (40.0)</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b="1" dirty="0">
                          <a:solidFill>
                            <a:srgbClr val="1F3A45"/>
                          </a:solidFill>
                        </a:rPr>
                        <a:t>−79% (45.9)</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502920">
                <a:tc>
                  <a:txBody>
                    <a:bodyPr/>
                    <a:lstStyle/>
                    <a:p>
                      <a:pPr indent="0" marL="0">
                        <a:buNone/>
                      </a:pPr>
                      <a:r>
                        <a:rPr lang="en-US" sz="1500" b="1" dirty="0">
                          <a:solidFill>
                            <a:srgbClr val="1F2A30"/>
                          </a:solidFill>
                        </a:rPr>
                        <a:t>rollio max [deg]</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0.224</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0.351</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0.210</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b="1" dirty="0">
                          <a:solidFill>
                            <a:srgbClr val="1F3A45"/>
                          </a:solidFill>
                        </a:rPr>
                        <a:t>+57% (4.6)</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b="1" dirty="0">
                          <a:solidFill>
                            <a:srgbClr val="1F3A45"/>
                          </a:solidFill>
                        </a:rPr>
                        <a:t>−40% (5.1)</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502920">
                <a:tc>
                  <a:txBody>
                    <a:bodyPr/>
                    <a:lstStyle/>
                    <a:p>
                      <a:pPr indent="0" marL="0">
                        <a:buNone/>
                      </a:pPr>
                      <a:r>
                        <a:rPr lang="en-US" sz="1500" b="1" dirty="0">
                          <a:solidFill>
                            <a:srgbClr val="1F2A30"/>
                          </a:solidFill>
                        </a:rPr>
                        <a:t>costo di trasporto</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0.970</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0.951</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1.22</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b="1" dirty="0">
                          <a:solidFill>
                            <a:srgbClr val="1F3A45"/>
                          </a:solidFill>
                        </a:rPr>
                        <a:t>−2% (3.6)</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b="1" dirty="0">
                          <a:solidFill>
                            <a:srgbClr val="1F3A45"/>
                          </a:solidFill>
                        </a:rPr>
                        <a:t>+28% (24.3)</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502920">
                <a:tc>
                  <a:txBody>
                    <a:bodyPr/>
                    <a:lstStyle/>
                    <a:p>
                      <a:pPr indent="0" marL="0">
                        <a:buNone/>
                      </a:pPr>
                      <a:r>
                        <a:rPr lang="en-US" sz="1500" b="1" dirty="0">
                          <a:solidFill>
                            <a:srgbClr val="1F2A30"/>
                          </a:solidFill>
                        </a:rPr>
                        <a:t>energia [J]</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30.3</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29.5</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37.8</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b="1" dirty="0">
                          <a:solidFill>
                            <a:srgbClr val="1F3A45"/>
                          </a:solidFill>
                        </a:rPr>
                        <a:t>−3% (6.4)</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b="1" dirty="0">
                          <a:solidFill>
                            <a:srgbClr val="1F3A45"/>
                          </a:solidFill>
                        </a:rPr>
                        <a:t>+28% (22.5)</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502920">
                <a:tc>
                  <a:txBody>
                    <a:bodyPr/>
                    <a:lstStyle/>
                    <a:p>
                      <a:pPr indent="0" marL="0">
                        <a:buNone/>
                      </a:pPr>
                      <a:r>
                        <a:rPr lang="en-US" sz="1500" b="1" dirty="0">
                          <a:solidFill>
                            <a:srgbClr val="1F2A30"/>
                          </a:solidFill>
                        </a:rPr>
                        <a:t>coppia RMS [N·m]</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0.398</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0.389</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0.376</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b="1" dirty="0">
                          <a:solidFill>
                            <a:srgbClr val="1F3A45"/>
                          </a:solidFill>
                        </a:rPr>
                        <a:t>−2% (7.0)</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b="1" dirty="0">
                          <a:solidFill>
                            <a:srgbClr val="1F3A45"/>
                          </a:solidFill>
                        </a:rPr>
                        <a:t>−3% (7.3)</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502920">
                <a:tc>
                  <a:txBody>
                    <a:bodyPr/>
                    <a:lstStyle/>
                    <a:p>
                      <a:pPr indent="0" marL="0">
                        <a:buNone/>
                      </a:pPr>
                      <a:r>
                        <a:rPr lang="en-US" sz="1500" b="1" dirty="0">
                          <a:solidFill>
                            <a:srgbClr val="1F2A30"/>
                          </a:solidFill>
                        </a:rPr>
                        <a:t>coppia di picco [N·m]</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1.91</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2.11</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2.43</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rgbClr val="6F7F86"/>
                          </a:solidFill>
                        </a:rPr>
                        <a:t>+10% (n.c.)</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rgbClr val="6F7F86"/>
                          </a:solidFill>
                        </a:rPr>
                        <a:t>+15% (n.c.)</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bl>
          </a:graphicData>
        </a:graphic>
      </p:graphicFrame>
      <p:sp>
        <p:nvSpPr>
          <p:cNvPr id="5" name="Text 1"/>
          <p:cNvSpPr txBox="1"/>
          <p:nvPr/>
        </p:nvSpPr>
        <p:spPr>
          <a:xfrm>
            <a:off x="548640" y="5029200"/>
            <a:ext cx="11094415" cy="365760"/>
          </a:xfrm>
          <a:prstGeom prst="rect">
            <a:avLst/>
          </a:prstGeom>
          <a:noFill/>
          <a:ln/>
        </p:spPr>
        <p:txBody>
          <a:bodyPr wrap="square" lIns="0" tIns="0" rIns="0" bIns="0" rtlCol="0" anchor="t"/>
          <a:lstStyle/>
          <a:p>
            <a:pPr indent="0" marL="0">
              <a:buNone/>
            </a:pPr>
            <a:r>
              <a:rPr lang="en-US" sz="1200" i="1" dirty="0">
                <a:solidFill>
                  <a:schemeClr val="accent3"/>
                </a:solidFill>
              </a:rPr>
              <a:t>Fra parentesi il rapporto sulla fascia di variabilità; in grassetto i verdetti validi (≥ 3×), in grigio i non concludenti.</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chemeClr val="tx2"/>
                </a:solidFill>
              </a:rPr>
              <a:t>Curva (T3): stesso percorso per i tre controllori</a:t>
            </a:r>
            <a:endParaRPr lang="en-US" sz="3000" dirty="0"/>
          </a:p>
        </p:txBody>
      </p:sp>
      <p:sp>
        <p:nvSpPr>
          <p:cNvPr id="4" name="IMG curva_en.pdf"/>
          <p:cNvSpPr/>
          <p:nvPr/>
        </p:nvSpPr>
        <p:spPr>
          <a:xfrm>
            <a:off x="548640" y="1280160"/>
            <a:ext cx="11094415" cy="4206240"/>
          </a:xfrm>
          <a:prstGeom prst="roundRect">
            <a:avLst>
              <a:gd name="adj" fmla="val 1739"/>
            </a:avLst>
          </a:prstGeom>
          <a:solidFill>
            <a:srgbClr val="F2F4F5"/>
          </a:solidFill>
          <a:ln w="15875">
            <a:solidFill>
              <a:srgbClr val="6F7F86"/>
            </a:solidFill>
            <a:prstDash val="dash"/>
          </a:ln>
        </p:spPr>
      </p:sp>
      <p:sp>
        <p:nvSpPr>
          <p:cNvPr id="5" name="Text 2"/>
          <p:cNvSpPr txBox="1"/>
          <p:nvPr/>
        </p:nvSpPr>
        <p:spPr>
          <a:xfrm>
            <a:off x="685800" y="1371600"/>
            <a:ext cx="10820095" cy="4023360"/>
          </a:xfrm>
          <a:prstGeom prst="rect">
            <a:avLst/>
          </a:prstGeom>
          <a:noFill/>
          <a:ln/>
        </p:spPr>
        <p:txBody>
          <a:bodyPr wrap="square" lIns="0" tIns="0" rIns="0" bIns="0" rtlCol="0" anchor="ctr"/>
          <a:lstStyle/>
          <a:p>
            <a:pPr algn="ctr" indent="0" marL="0">
              <a:buNone/>
            </a:pPr>
            <a:r>
              <a:rPr lang="en-US" sz="1600" b="1" dirty="0">
                <a:solidFill>
                  <a:schemeClr val="accent3"/>
                </a:solidFill>
              </a:rPr>
              <a:t>IMMAGINE</a:t>
            </a:r>
            <a:endParaRPr lang="en-US" sz="1500" dirty="0"/>
          </a:p>
          <a:p>
            <a:pPr algn="ctr" indent="0" marL="0">
              <a:buNone/>
            </a:pPr>
            <a:r>
              <a:rPr lang="en-US" sz="1400" dirty="0">
                <a:solidFill>
                  <a:schemeClr val="tx1"/>
                </a:solidFill>
              </a:rPr>
              <a:t>curva_en.pdf</a:t>
            </a:r>
            <a:endParaRPr lang="en-US" sz="1500" dirty="0"/>
          </a:p>
          <a:p>
            <a:pPr algn="ctr" indent="0" marL="0">
              <a:buNone/>
            </a:pPr>
            <a:r>
              <a:rPr lang="en-US" sz="1300" i="1" dirty="0">
                <a:solidFill>
                  <a:schemeClr val="accent3"/>
                </a:solidFill>
              </a:rPr>
              <a:t>Traiettoria nel piano con imbardata +0.1 rad/s</a:t>
            </a:r>
            <a:endParaRPr lang="en-US" sz="1500" dirty="0"/>
          </a:p>
        </p:txBody>
      </p:sp>
      <p:sp>
        <p:nvSpPr>
          <p:cNvPr id="6" name="Text 3"/>
          <p:cNvSpPr txBox="1"/>
          <p:nvPr/>
        </p:nvSpPr>
        <p:spPr>
          <a:xfrm>
            <a:off x="548640" y="5623560"/>
            <a:ext cx="11094415" cy="548640"/>
          </a:xfrm>
          <a:prstGeom prst="rect">
            <a:avLst/>
          </a:prstGeom>
          <a:noFill/>
          <a:ln/>
        </p:spPr>
        <p:txBody>
          <a:bodyPr wrap="square" lIns="0" tIns="0" rIns="0" bIns="0" rtlCol="0" anchor="ctr"/>
          <a:lstStyle/>
          <a:p>
            <a:pPr indent="0" marL="0">
              <a:buNone/>
            </a:pPr>
            <a:r>
              <a:rPr lang="en-US" sz="1600" b="1" dirty="0">
                <a:solidFill>
                  <a:schemeClr val="tx2"/>
                </a:solidFill>
              </a:rPr>
              <a:t>Le differenze riguardano l'assetto, non il percorso. Attenzione: assi a scale diverse.</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chemeClr val="tx2"/>
                </a:solidFill>
              </a:rPr>
              <a:t>Discontinuità (T4D, T5): qui la ricerca ripaga</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3063240"/>
                <a:gridCol w="1143000"/>
                <a:gridCol w="1143000"/>
                <a:gridCol w="1143000"/>
                <a:gridCol w="2295144"/>
                <a:gridCol w="2304288"/>
              </a:tblGrid>
              <a:tr h="402336">
                <a:tc>
                  <a:txBody>
                    <a:bodyPr/>
                    <a:lstStyle/>
                    <a:p>
                      <a:pPr indent="0" marL="0">
                        <a:buNone/>
                      </a:pP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indent="0" marL="0">
                        <a:buNone/>
                      </a:pPr>
                      <a:r>
                        <a:rPr lang="en-US" sz="1400" b="1" dirty="0">
                          <a:solidFill>
                            <a:srgbClr val="FFFFFF"/>
                          </a:solidFill>
                        </a:rPr>
                        <a:t>C1</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indent="0" marL="0">
                        <a:buNone/>
                      </a:pPr>
                      <a:r>
                        <a:rPr lang="en-US" sz="1400" b="1" dirty="0">
                          <a:solidFill>
                            <a:srgbClr val="FFFFFF"/>
                          </a:solidFill>
                        </a:rPr>
                        <a:t>C2</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indent="0" marL="0">
                        <a:buNone/>
                      </a:pPr>
                      <a:r>
                        <a:rPr lang="en-US" sz="1400" b="1" dirty="0">
                          <a:solidFill>
                            <a:srgbClr val="FFFFFF"/>
                          </a:solidFill>
                        </a:rPr>
                        <a:t>C3</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indent="0" marL="0">
                        <a:buNone/>
                      </a:pPr>
                      <a:r>
                        <a:rPr lang="en-US" sz="1400" b="1" dirty="0">
                          <a:solidFill>
                            <a:srgbClr val="FFFFFF"/>
                          </a:solidFill>
                        </a:rPr>
                        <a:t>C1→C2</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indent="0" marL="0">
                        <a:buNone/>
                      </a:pPr>
                      <a:r>
                        <a:rPr lang="en-US" sz="1400" b="1" dirty="0">
                          <a:solidFill>
                            <a:srgbClr val="FFFFFF"/>
                          </a:solidFill>
                        </a:rPr>
                        <a:t>C2→C3</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r>
              <a:tr h="402336">
                <a:tc gridSpan="6">
                  <a:txBody>
                    <a:bodyPr/>
                    <a:lstStyle/>
                    <a:p>
                      <a:pPr indent="0" marL="0">
                        <a:buNone/>
                      </a:pPr>
                      <a:r>
                        <a:rPr lang="en-US" sz="1400" b="1" i="1" dirty="0">
                          <a:solidFill>
                            <a:srgbClr val="1F3A45"/>
                          </a:solidFill>
                        </a:rPr>
                        <a:t>T4D — dosso 8°/8°</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EEF2F3"/>
                    </a:solidFill>
                  </a:tcPr>
                </a:tc>
                <a:tc hMerge="1">
                  <a:tcPr/>
                </a:tc>
                <a:tc hMerge="1">
                  <a:tcPr/>
                </a:tc>
                <a:tc hMerge="1">
                  <a:tcPr/>
                </a:tc>
                <a:tc hMerge="1">
                  <a:tcPr/>
                </a:tc>
                <a:tc hMerge="1">
                  <a:tcPr/>
                </a:tc>
              </a:tr>
              <a:tr h="402336">
                <a:tc>
                  <a:txBody>
                    <a:bodyPr/>
                    <a:lstStyle/>
                    <a:p>
                      <a:pPr indent="0" marL="0">
                        <a:buNone/>
                      </a:pPr>
                      <a:r>
                        <a:rPr lang="en-US" sz="1400" b="1" dirty="0">
                          <a:solidFill>
                            <a:srgbClr val="1F2A30"/>
                          </a:solidFill>
                        </a:rPr>
                        <a:t>beccheggio max [deg]</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400" dirty="0">
                          <a:solidFill>
                            <a:srgbClr val="1F2A30"/>
                          </a:solidFill>
                        </a:rPr>
                        <a:t>8.65</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400" dirty="0">
                          <a:solidFill>
                            <a:srgbClr val="1F2A30"/>
                          </a:solidFill>
                        </a:rPr>
                        <a:t>10.4</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400" dirty="0">
                          <a:solidFill>
                            <a:srgbClr val="1F2A30"/>
                          </a:solidFill>
                        </a:rPr>
                        <a:t>1.98</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400" b="1" dirty="0">
                          <a:solidFill>
                            <a:srgbClr val="1F3A45"/>
                          </a:solidFill>
                        </a:rPr>
                        <a:t>+21% (19.8)</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400" b="1" dirty="0">
                          <a:solidFill>
                            <a:srgbClr val="1F3A45"/>
                          </a:solidFill>
                        </a:rPr>
                        <a:t>−81% (93.8)</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402336">
                <a:tc>
                  <a:txBody>
                    <a:bodyPr/>
                    <a:lstStyle/>
                    <a:p>
                      <a:pPr indent="0" marL="0">
                        <a:buNone/>
                      </a:pPr>
                      <a:r>
                        <a:rPr lang="en-US" sz="1400" b="1" dirty="0">
                          <a:solidFill>
                            <a:srgbClr val="1F2A30"/>
                          </a:solidFill>
                        </a:rPr>
                        <a:t>rollio max [deg]</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400" dirty="0">
                          <a:solidFill>
                            <a:srgbClr val="1F2A30"/>
                          </a:solidFill>
                        </a:rPr>
                        <a:t>2.12</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400" dirty="0">
                          <a:solidFill>
                            <a:srgbClr val="1F2A30"/>
                          </a:solidFill>
                        </a:rPr>
                        <a:t>1.49</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400" dirty="0">
                          <a:solidFill>
                            <a:srgbClr val="1F2A30"/>
                          </a:solidFill>
                        </a:rPr>
                        <a:t>0.611</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400" b="1" dirty="0">
                          <a:solidFill>
                            <a:srgbClr val="1F3A45"/>
                          </a:solidFill>
                        </a:rPr>
                        <a:t>−30% (6.4)</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400" b="1" dirty="0">
                          <a:solidFill>
                            <a:srgbClr val="1F3A45"/>
                          </a:solidFill>
                        </a:rPr>
                        <a:t>−59% (7.6)</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402336">
                <a:tc>
                  <a:txBody>
                    <a:bodyPr/>
                    <a:lstStyle/>
                    <a:p>
                      <a:pPr indent="0" marL="0">
                        <a:buNone/>
                      </a:pPr>
                      <a:r>
                        <a:rPr lang="en-US" sz="1400" b="1" dirty="0">
                          <a:solidFill>
                            <a:srgbClr val="1F2A30"/>
                          </a:solidFill>
                        </a:rPr>
                        <a:t>costo di trasporto</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400" dirty="0">
                          <a:solidFill>
                            <a:srgbClr val="1F2A30"/>
                          </a:solidFill>
                        </a:rPr>
                        <a:t>1.12</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400" dirty="0">
                          <a:solidFill>
                            <a:srgbClr val="1F2A30"/>
                          </a:solidFill>
                        </a:rPr>
                        <a:t>1.04</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400" dirty="0">
                          <a:solidFill>
                            <a:srgbClr val="1F2A30"/>
                          </a:solidFill>
                        </a:rPr>
                        <a:t>1.45</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400" b="1" dirty="0">
                          <a:solidFill>
                            <a:srgbClr val="1F3A45"/>
                          </a:solidFill>
                        </a:rPr>
                        <a:t>−7% (5.1)</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400" b="1" dirty="0">
                          <a:solidFill>
                            <a:srgbClr val="1F3A45"/>
                          </a:solidFill>
                        </a:rPr>
                        <a:t>+40% (16.8)</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402336">
                <a:tc>
                  <a:txBody>
                    <a:bodyPr/>
                    <a:lstStyle/>
                    <a:p>
                      <a:pPr indent="0" marL="0">
                        <a:buNone/>
                      </a:pPr>
                      <a:r>
                        <a:rPr lang="en-US" sz="1400" b="1" dirty="0">
                          <a:solidFill>
                            <a:srgbClr val="1F2A30"/>
                          </a:solidFill>
                        </a:rPr>
                        <a:t>energia [J]</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400" dirty="0">
                          <a:solidFill>
                            <a:srgbClr val="1F2A30"/>
                          </a:solidFill>
                        </a:rPr>
                        <a:t>64.1</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400" dirty="0">
                          <a:solidFill>
                            <a:srgbClr val="1F2A30"/>
                          </a:solidFill>
                        </a:rPr>
                        <a:t>59.9</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400" dirty="0">
                          <a:solidFill>
                            <a:srgbClr val="1F2A30"/>
                          </a:solidFill>
                        </a:rPr>
                        <a:t>83.6</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400" b="1" dirty="0">
                          <a:solidFill>
                            <a:srgbClr val="1F3A45"/>
                          </a:solidFill>
                        </a:rPr>
                        <a:t>−7% (3.5)</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400" b="1" dirty="0">
                          <a:solidFill>
                            <a:srgbClr val="1F3A45"/>
                          </a:solidFill>
                        </a:rPr>
                        <a:t>+40% (18.8)</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402336">
                <a:tc gridSpan="6">
                  <a:txBody>
                    <a:bodyPr/>
                    <a:lstStyle/>
                    <a:p>
                      <a:pPr indent="0" marL="0">
                        <a:buNone/>
                      </a:pPr>
                      <a:r>
                        <a:rPr lang="en-US" sz="1400" b="1" i="1" dirty="0">
                          <a:solidFill>
                            <a:srgbClr val="1F3A45"/>
                          </a:solidFill>
                        </a:rPr>
                        <a:t>T5 — ostacolo singolo</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EEF2F3"/>
                    </a:solidFill>
                  </a:tcPr>
                </a:tc>
                <a:tc hMerge="1">
                  <a:tcPr/>
                </a:tc>
                <a:tc hMerge="1">
                  <a:tcPr/>
                </a:tc>
                <a:tc hMerge="1">
                  <a:tcPr/>
                </a:tc>
                <a:tc hMerge="1">
                  <a:tcPr/>
                </a:tc>
                <a:tc hMerge="1">
                  <a:tcPr/>
                </a:tc>
              </a:tr>
              <a:tr h="402336">
                <a:tc>
                  <a:txBody>
                    <a:bodyPr/>
                    <a:lstStyle/>
                    <a:p>
                      <a:pPr indent="0" marL="0">
                        <a:buNone/>
                      </a:pPr>
                      <a:r>
                        <a:rPr lang="en-US" sz="1400" b="1" dirty="0">
                          <a:solidFill>
                            <a:srgbClr val="1F2A30"/>
                          </a:solidFill>
                        </a:rPr>
                        <a:t>beccheggio max [deg]</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400" dirty="0">
                          <a:solidFill>
                            <a:srgbClr val="1F2A30"/>
                          </a:solidFill>
                        </a:rPr>
                        <a:t>7.56</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400" dirty="0">
                          <a:solidFill>
                            <a:srgbClr val="1F2A30"/>
                          </a:solidFill>
                        </a:rPr>
                        <a:t>6.41</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400" dirty="0">
                          <a:solidFill>
                            <a:srgbClr val="1F2A30"/>
                          </a:solidFill>
                        </a:rPr>
                        <a:t>1.73</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400" b="1" dirty="0">
                          <a:solidFill>
                            <a:srgbClr val="1F3A45"/>
                          </a:solidFill>
                        </a:rPr>
                        <a:t>−15% (16.4)</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400" b="1" dirty="0">
                          <a:solidFill>
                            <a:srgbClr val="1F3A45"/>
                          </a:solidFill>
                        </a:rPr>
                        <a:t>−73% (19.8)</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402336">
                <a:tc>
                  <a:txBody>
                    <a:bodyPr/>
                    <a:lstStyle/>
                    <a:p>
                      <a:pPr indent="0" marL="0">
                        <a:buNone/>
                      </a:pPr>
                      <a:r>
                        <a:rPr lang="en-US" sz="1400" b="1" dirty="0">
                          <a:solidFill>
                            <a:srgbClr val="1F2A30"/>
                          </a:solidFill>
                        </a:rPr>
                        <a:t>rollio max [deg]</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400" dirty="0">
                          <a:solidFill>
                            <a:srgbClr val="1F2A30"/>
                          </a:solidFill>
                        </a:rPr>
                        <a:t>4.49</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400" dirty="0">
                          <a:solidFill>
                            <a:srgbClr val="1F2A30"/>
                          </a:solidFill>
                        </a:rPr>
                        <a:t>2.31</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400" dirty="0">
                          <a:solidFill>
                            <a:srgbClr val="1F2A30"/>
                          </a:solidFill>
                        </a:rPr>
                        <a:t>1.13</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400" dirty="0">
                          <a:solidFill>
                            <a:srgbClr val="6F7F86"/>
                          </a:solidFill>
                        </a:rPr>
                        <a:t>−49% (n.c.)</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400" dirty="0">
                          <a:solidFill>
                            <a:srgbClr val="6F7F86"/>
                          </a:solidFill>
                        </a:rPr>
                        <a:t>−51% (n.c.)</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402336">
                <a:tc>
                  <a:txBody>
                    <a:bodyPr/>
                    <a:lstStyle/>
                    <a:p>
                      <a:pPr indent="0" marL="0">
                        <a:buNone/>
                      </a:pPr>
                      <a:r>
                        <a:rPr lang="en-US" sz="1400" b="1" dirty="0">
                          <a:solidFill>
                            <a:srgbClr val="1F2A30"/>
                          </a:solidFill>
                        </a:rPr>
                        <a:t>costo di trasporto</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400" dirty="0">
                          <a:solidFill>
                            <a:srgbClr val="1F2A30"/>
                          </a:solidFill>
                        </a:rPr>
                        <a:t>1.20</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400" dirty="0">
                          <a:solidFill>
                            <a:srgbClr val="1F2A30"/>
                          </a:solidFill>
                        </a:rPr>
                        <a:t>1.08</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400" dirty="0">
                          <a:solidFill>
                            <a:srgbClr val="1F2A30"/>
                          </a:solidFill>
                        </a:rPr>
                        <a:t>1.40</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400" b="1" dirty="0">
                          <a:solidFill>
                            <a:srgbClr val="1F3A45"/>
                          </a:solidFill>
                        </a:rPr>
                        <a:t>−10% (5.2)</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400" b="1" dirty="0">
                          <a:solidFill>
                            <a:srgbClr val="1F3A45"/>
                          </a:solidFill>
                        </a:rPr>
                        <a:t>+30% (17.1)</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402336">
                <a:tc>
                  <a:txBody>
                    <a:bodyPr/>
                    <a:lstStyle/>
                    <a:p>
                      <a:pPr indent="0" marL="0">
                        <a:buNone/>
                      </a:pPr>
                      <a:r>
                        <a:rPr lang="en-US" sz="1400" b="1" dirty="0">
                          <a:solidFill>
                            <a:srgbClr val="1F2A30"/>
                          </a:solidFill>
                        </a:rPr>
                        <a:t>energia [J]</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400" dirty="0">
                          <a:solidFill>
                            <a:srgbClr val="1F2A30"/>
                          </a:solidFill>
                        </a:rPr>
                        <a:t>48.1</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400" dirty="0">
                          <a:solidFill>
                            <a:srgbClr val="1F2A30"/>
                          </a:solidFill>
                        </a:rPr>
                        <a:t>44.3</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400" dirty="0">
                          <a:solidFill>
                            <a:srgbClr val="1F2A30"/>
                          </a:solidFill>
                        </a:rPr>
                        <a:t>57.5</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400" b="1" dirty="0">
                          <a:solidFill>
                            <a:srgbClr val="1F3A45"/>
                          </a:solidFill>
                        </a:rPr>
                        <a:t>−8% (3.6)</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400" b="1" dirty="0">
                          <a:solidFill>
                            <a:srgbClr val="1F3A45"/>
                          </a:solidFill>
                        </a:rPr>
                        <a:t>+30% (17.2)</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bl>
          </a:graphicData>
        </a:graphic>
      </p:graphicFrame>
      <p:sp>
        <p:nvSpPr>
          <p:cNvPr id="5" name="Text 1"/>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200" i="1" dirty="0">
                <a:solidFill>
                  <a:schemeClr val="accent3"/>
                </a:solidFill>
              </a:rPr>
              <a:t>Fra parentesi il rapporto sulla fascia di variabilità; in grassetto i verdetti validi (≥ 3×), in grigio i non concludenti. Righe complete nel report (Tab. T4D/T5).</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chemeClr val="tx2"/>
                </a:solidFill>
              </a:rPr>
              <a:t>Ostacolo singolo (T5): il beccheggio</a:t>
            </a:r>
            <a:endParaRPr lang="en-US" sz="3000" dirty="0"/>
          </a:p>
        </p:txBody>
      </p:sp>
      <p:sp>
        <p:nvSpPr>
          <p:cNvPr id="4" name="IMG ostacolo_en.pdf"/>
          <p:cNvSpPr/>
          <p:nvPr/>
        </p:nvSpPr>
        <p:spPr>
          <a:xfrm>
            <a:off x="548640" y="1280160"/>
            <a:ext cx="11094415" cy="4206240"/>
          </a:xfrm>
          <a:prstGeom prst="roundRect">
            <a:avLst>
              <a:gd name="adj" fmla="val 1739"/>
            </a:avLst>
          </a:prstGeom>
          <a:solidFill>
            <a:srgbClr val="F2F4F5"/>
          </a:solidFill>
          <a:ln w="15875">
            <a:solidFill>
              <a:srgbClr val="6F7F86"/>
            </a:solidFill>
            <a:prstDash val="dash"/>
          </a:ln>
        </p:spPr>
      </p:sp>
      <p:sp>
        <p:nvSpPr>
          <p:cNvPr id="5" name="Text 2"/>
          <p:cNvSpPr txBox="1"/>
          <p:nvPr/>
        </p:nvSpPr>
        <p:spPr>
          <a:xfrm>
            <a:off x="685800" y="1371600"/>
            <a:ext cx="10820095" cy="4023360"/>
          </a:xfrm>
          <a:prstGeom prst="rect">
            <a:avLst/>
          </a:prstGeom>
          <a:noFill/>
          <a:ln/>
        </p:spPr>
        <p:txBody>
          <a:bodyPr wrap="square" lIns="0" tIns="0" rIns="0" bIns="0" rtlCol="0" anchor="ctr"/>
          <a:lstStyle/>
          <a:p>
            <a:pPr algn="ctr" indent="0" marL="0">
              <a:buNone/>
            </a:pPr>
            <a:r>
              <a:rPr lang="en-US" sz="1600" b="1" dirty="0">
                <a:solidFill>
                  <a:schemeClr val="accent3"/>
                </a:solidFill>
              </a:rPr>
              <a:t>IMMAGINE</a:t>
            </a:r>
            <a:endParaRPr lang="en-US" sz="1500" dirty="0"/>
          </a:p>
          <a:p>
            <a:pPr algn="ctr" indent="0" marL="0">
              <a:buNone/>
            </a:pPr>
            <a:r>
              <a:rPr lang="en-US" sz="1400" dirty="0">
                <a:solidFill>
                  <a:schemeClr val="tx1"/>
                </a:solidFill>
              </a:rPr>
              <a:t>ostacolo_en.pdf</a:t>
            </a:r>
            <a:endParaRPr lang="en-US" sz="1500" dirty="0"/>
          </a:p>
          <a:p>
            <a:pPr algn="ctr" indent="0" marL="0">
              <a:buNone/>
            </a:pPr>
            <a:r>
              <a:rPr lang="en-US" sz="1300" i="1" dirty="0">
                <a:solidFill>
                  <a:schemeClr val="accent3"/>
                </a:solidFill>
              </a:rPr>
              <a:t>Beccheggio durante il superamento; in grigio la finestra sull'ostacolo</a:t>
            </a:r>
            <a:endParaRPr lang="en-US" sz="1500" dirty="0"/>
          </a:p>
        </p:txBody>
      </p:sp>
      <p:sp>
        <p:nvSpPr>
          <p:cNvPr id="6" name="Text 3"/>
          <p:cNvSpPr txBox="1"/>
          <p:nvPr/>
        </p:nvSpPr>
        <p:spPr>
          <a:xfrm>
            <a:off x="548640" y="5623560"/>
            <a:ext cx="11094415" cy="548640"/>
          </a:xfrm>
          <a:prstGeom prst="rect">
            <a:avLst/>
          </a:prstGeom>
          <a:noFill/>
          <a:ln/>
        </p:spPr>
        <p:txBody>
          <a:bodyPr wrap="square" lIns="0" tIns="0" rIns="0" bIns="0" rtlCol="0" anchor="ctr"/>
          <a:lstStyle/>
          <a:p>
            <a:pPr indent="0" marL="0">
              <a:buNone/>
            </a:pPr>
            <a:r>
              <a:rPr lang="en-US" sz="1600" b="1" dirty="0">
                <a:solidFill>
                  <a:schemeClr val="tx2"/>
                </a:solidFill>
              </a:rPr>
              <a:t>C1 e C2 oscillano di diversi gradi sul gradino; C3 resta entro circa un grado (−73%).</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chemeClr val="tx2"/>
                </a:solidFill>
              </a:rPr>
              <a:t>Ostacolo singolo (T5) in simulazione</a:t>
            </a:r>
            <a:endParaRPr lang="en-US" sz="3000" dirty="0"/>
          </a:p>
        </p:txBody>
      </p:sp>
      <p:sp>
        <p:nvSpPr>
          <p:cNvPr id="4" name="VIDEO T5: C1 e C3 affiancati, vista laterale"/>
          <p:cNvSpPr/>
          <p:nvPr/>
        </p:nvSpPr>
        <p:spPr>
          <a:xfrm>
            <a:off x="548640" y="1280160"/>
            <a:ext cx="11094415" cy="4846320"/>
          </a:xfrm>
          <a:prstGeom prst="roundRect">
            <a:avLst>
              <a:gd name="adj" fmla="val 1509"/>
            </a:avLst>
          </a:prstGeom>
          <a:solidFill>
            <a:srgbClr val="FBEFE8"/>
          </a:solidFill>
          <a:ln w="15875">
            <a:solidFill>
              <a:srgbClr val="C4581E"/>
            </a:solidFill>
            <a:prstDash val="dash"/>
          </a:ln>
        </p:spPr>
      </p:sp>
      <p:sp>
        <p:nvSpPr>
          <p:cNvPr id="5" name="Text 2"/>
          <p:cNvSpPr txBox="1"/>
          <p:nvPr/>
        </p:nvSpPr>
        <p:spPr>
          <a:xfrm>
            <a:off x="685800" y="1371600"/>
            <a:ext cx="10820095" cy="4663440"/>
          </a:xfrm>
          <a:prstGeom prst="rect">
            <a:avLst/>
          </a:prstGeom>
          <a:noFill/>
          <a:ln/>
        </p:spPr>
        <p:txBody>
          <a:bodyPr wrap="square" lIns="0" tIns="0" rIns="0" bIns="0" rtlCol="0" anchor="ctr"/>
          <a:lstStyle/>
          <a:p>
            <a:pPr algn="ctr" indent="0" marL="0">
              <a:buNone/>
            </a:pPr>
            <a:r>
              <a:rPr lang="en-US" sz="1600" b="1" dirty="0">
                <a:solidFill>
                  <a:schemeClr val="accent1"/>
                </a:solidFill>
              </a:rPr>
              <a:t>▶  VIDEO</a:t>
            </a:r>
            <a:endParaRPr lang="en-US" sz="1500" dirty="0"/>
          </a:p>
          <a:p>
            <a:pPr algn="ctr" indent="0" marL="0">
              <a:buNone/>
            </a:pPr>
            <a:r>
              <a:rPr lang="en-US" sz="1300" i="1" dirty="0">
                <a:solidFill>
                  <a:schemeClr val="accent3"/>
                </a:solidFill>
              </a:rPr>
              <a:t>T5: C1 e C3 affiancati, vista laterale</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chemeClr val="tx2"/>
                </a:solidFill>
              </a:rPr>
              <a:t>Rampa (T4): due comportamenti diversi</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6949440" cy="914400"/>
        </p:xfrm>
        <a:graphic>
          <a:graphicData uri="http://schemas.openxmlformats.org/drawingml/2006/table">
            <a:tbl>
              <a:tblPr/>
              <a:tblGrid>
                <a:gridCol w="3931920"/>
                <a:gridCol w="1005840"/>
                <a:gridCol w="1005840"/>
                <a:gridCol w="1005840"/>
              </a:tblGrid>
              <a:tr h="502920">
                <a:tc>
                  <a:txBody>
                    <a:bodyPr/>
                    <a:lstStyle/>
                    <a:p>
                      <a:pPr indent="0" marL="0">
                        <a:buNone/>
                      </a:pP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indent="0" marL="0">
                        <a:buNone/>
                      </a:pPr>
                      <a:r>
                        <a:rPr lang="en-US" sz="1500" b="1" dirty="0">
                          <a:solidFill>
                            <a:srgbClr val="FFFFFF"/>
                          </a:solidFill>
                        </a:rPr>
                        <a:t>C1</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indent="0" marL="0">
                        <a:buNone/>
                      </a:pPr>
                      <a:r>
                        <a:rPr lang="en-US" sz="1500" b="1" dirty="0">
                          <a:solidFill>
                            <a:srgbClr val="FFFFFF"/>
                          </a:solidFill>
                        </a:rPr>
                        <a:t>C2</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indent="0" marL="0">
                        <a:buNone/>
                      </a:pPr>
                      <a:r>
                        <a:rPr lang="en-US" sz="1500" b="1" dirty="0">
                          <a:solidFill>
                            <a:srgbClr val="FFFFFF"/>
                          </a:solidFill>
                        </a:rPr>
                        <a:t>C3</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r>
              <a:tr h="502920">
                <a:tc>
                  <a:txBody>
                    <a:bodyPr/>
                    <a:lstStyle/>
                    <a:p>
                      <a:pPr indent="0" marL="0">
                        <a:buNone/>
                      </a:pPr>
                      <a:r>
                        <a:rPr lang="en-US" sz="1500" b="1" dirty="0">
                          <a:solidFill>
                            <a:srgbClr val="1F2A30"/>
                          </a:solidFill>
                        </a:rPr>
                        <a:t>assetto del corpo − angolo rampa [deg]</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0.106</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0.259</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b="1" dirty="0">
                          <a:solidFill>
                            <a:srgbClr val="1F3A45"/>
                          </a:solidFill>
                        </a:rPr>
                        <a:t>−7.54</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502920">
                <a:tc>
                  <a:txBody>
                    <a:bodyPr/>
                    <a:lstStyle/>
                    <a:p>
                      <a:pPr indent="0" marL="0">
                        <a:buNone/>
                      </a:pPr>
                      <a:r>
                        <a:rPr lang="en-US" sz="1500" b="1" dirty="0">
                          <a:solidFill>
                            <a:srgbClr val="1F2A30"/>
                          </a:solidFill>
                        </a:rPr>
                        <a:t>beccheggio picco-picco sulla rampa [deg]</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0.994</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1.97</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0.839</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502920">
                <a:tc>
                  <a:txBody>
                    <a:bodyPr/>
                    <a:lstStyle/>
                    <a:p>
                      <a:pPr indent="0" marL="0">
                        <a:buNone/>
                      </a:pPr>
                      <a:r>
                        <a:rPr lang="en-US" sz="1500" b="1" dirty="0">
                          <a:solidFill>
                            <a:srgbClr val="1F2A30"/>
                          </a:solidFill>
                        </a:rPr>
                        <a:t>rollio sulla rampa [deg]</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0.662</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0.563</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0.314</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502920">
                <a:tc>
                  <a:txBody>
                    <a:bodyPr/>
                    <a:lstStyle/>
                    <a:p>
                      <a:pPr indent="0" marL="0">
                        <a:buNone/>
                      </a:pPr>
                      <a:r>
                        <a:rPr lang="en-US" sz="1500" b="1" dirty="0">
                          <a:solidFill>
                            <a:srgbClr val="1F2A30"/>
                          </a:solidFill>
                        </a:rPr>
                        <a:t>costo di trasporto</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1.15</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1.09</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b="1" dirty="0">
                          <a:solidFill>
                            <a:srgbClr val="1F3A45"/>
                          </a:solidFill>
                        </a:rPr>
                        <a:t>1.58</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502920">
                <a:tc>
                  <a:txBody>
                    <a:bodyPr/>
                    <a:lstStyle/>
                    <a:p>
                      <a:pPr indent="0" marL="0">
                        <a:buNone/>
                      </a:pPr>
                      <a:r>
                        <a:rPr lang="en-US" sz="1500" b="1" dirty="0">
                          <a:solidFill>
                            <a:srgbClr val="1F2A30"/>
                          </a:solidFill>
                        </a:rPr>
                        <a:t>salita riuscita</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sì</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sì</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sì</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bl>
          </a:graphicData>
        </a:graphic>
      </p:graphicFrame>
      <p:sp>
        <p:nvSpPr>
          <p:cNvPr id="5" name="card rampa 0"/>
          <p:cNvSpPr/>
          <p:nvPr/>
        </p:nvSpPr>
        <p:spPr>
          <a:xfrm>
            <a:off x="7772400" y="1325880"/>
            <a:ext cx="3867912" cy="1417320"/>
          </a:xfrm>
          <a:prstGeom prst="rect">
            <a:avLst/>
          </a:prstGeom>
          <a:solidFill>
            <a:schemeClr val="bg2"/>
          </a:solidFill>
          <a:ln w="12700">
            <a:solidFill>
              <a:schemeClr val="bg2"/>
            </a:solidFill>
            <a:prstDash val="solid"/>
          </a:ln>
        </p:spPr>
      </p:sp>
      <p:sp>
        <p:nvSpPr>
          <p:cNvPr id="6" name="Text 2"/>
          <p:cNvSpPr txBox="1"/>
          <p:nvPr/>
        </p:nvSpPr>
        <p:spPr>
          <a:xfrm>
            <a:off x="8001000" y="1463040"/>
            <a:ext cx="3429000" cy="365760"/>
          </a:xfrm>
          <a:prstGeom prst="rect">
            <a:avLst/>
          </a:prstGeom>
          <a:noFill/>
          <a:ln/>
        </p:spPr>
        <p:txBody>
          <a:bodyPr wrap="square" lIns="0" tIns="0" rIns="0" bIns="0" rtlCol="0" anchor="t"/>
          <a:lstStyle/>
          <a:p>
            <a:pPr indent="0" marL="0">
              <a:buNone/>
            </a:pPr>
            <a:r>
              <a:rPr lang="en-US" sz="1700" b="1" dirty="0">
                <a:solidFill>
                  <a:schemeClr val="accent3"/>
                </a:solidFill>
              </a:rPr>
              <a:t>C1 e C2</a:t>
            </a:r>
            <a:endParaRPr lang="en-US" sz="1700" dirty="0"/>
          </a:p>
        </p:txBody>
      </p:sp>
      <p:sp>
        <p:nvSpPr>
          <p:cNvPr id="7" name="Text 3"/>
          <p:cNvSpPr txBox="1"/>
          <p:nvPr/>
        </p:nvSpPr>
        <p:spPr>
          <a:xfrm>
            <a:off x="8001000" y="1828800"/>
            <a:ext cx="3429000" cy="822960"/>
          </a:xfrm>
          <a:prstGeom prst="rect">
            <a:avLst/>
          </a:prstGeom>
          <a:noFill/>
          <a:ln/>
        </p:spPr>
        <p:txBody>
          <a:bodyPr wrap="square" lIns="0" tIns="0" rIns="0" bIns="0" rtlCol="0" anchor="t"/>
          <a:lstStyle/>
          <a:p>
            <a:pPr indent="0" marL="0">
              <a:buNone/>
            </a:pPr>
            <a:r>
              <a:rPr lang="en-US" sz="1400" dirty="0">
                <a:solidFill>
                  <a:schemeClr val="tx1"/>
                </a:solidFill>
              </a:rPr>
              <a:t>Allineano il tronco alla rampa, entro pochi decimi di grado</a:t>
            </a:r>
            <a:endParaRPr lang="en-US" sz="1400" dirty="0"/>
          </a:p>
        </p:txBody>
      </p:sp>
      <p:sp>
        <p:nvSpPr>
          <p:cNvPr id="8" name="card rampa 1"/>
          <p:cNvSpPr/>
          <p:nvPr/>
        </p:nvSpPr>
        <p:spPr>
          <a:xfrm>
            <a:off x="7772400" y="2926080"/>
            <a:ext cx="3867912" cy="1417320"/>
          </a:xfrm>
          <a:prstGeom prst="rect">
            <a:avLst/>
          </a:prstGeom>
          <a:solidFill>
            <a:schemeClr val="bg2"/>
          </a:solidFill>
          <a:ln w="12700">
            <a:solidFill>
              <a:schemeClr val="bg2"/>
            </a:solidFill>
            <a:prstDash val="solid"/>
          </a:ln>
        </p:spPr>
      </p:sp>
      <p:sp>
        <p:nvSpPr>
          <p:cNvPr id="9" name="Text 5"/>
          <p:cNvSpPr txBox="1"/>
          <p:nvPr/>
        </p:nvSpPr>
        <p:spPr>
          <a:xfrm>
            <a:off x="8001000" y="3063240"/>
            <a:ext cx="3429000" cy="365760"/>
          </a:xfrm>
          <a:prstGeom prst="rect">
            <a:avLst/>
          </a:prstGeom>
          <a:noFill/>
          <a:ln/>
        </p:spPr>
        <p:txBody>
          <a:bodyPr wrap="square" lIns="0" tIns="0" rIns="0" bIns="0" rtlCol="0" anchor="t"/>
          <a:lstStyle/>
          <a:p>
            <a:pPr indent="0" marL="0">
              <a:buNone/>
            </a:pPr>
            <a:r>
              <a:rPr lang="en-US" sz="1700" b="1" dirty="0">
                <a:solidFill>
                  <a:schemeClr val="accent2"/>
                </a:solidFill>
              </a:rPr>
              <a:t>C3</a:t>
            </a:r>
            <a:endParaRPr lang="en-US" sz="1700" dirty="0"/>
          </a:p>
        </p:txBody>
      </p:sp>
      <p:sp>
        <p:nvSpPr>
          <p:cNvPr id="10" name="Text 6"/>
          <p:cNvSpPr txBox="1"/>
          <p:nvPr/>
        </p:nvSpPr>
        <p:spPr>
          <a:xfrm>
            <a:off x="8001000" y="3429000"/>
            <a:ext cx="3429000" cy="822960"/>
          </a:xfrm>
          <a:prstGeom prst="rect">
            <a:avLst/>
          </a:prstGeom>
          <a:noFill/>
          <a:ln/>
        </p:spPr>
        <p:txBody>
          <a:bodyPr wrap="square" lIns="0" tIns="0" rIns="0" bIns="0" rtlCol="0" anchor="t"/>
          <a:lstStyle/>
          <a:p>
            <a:pPr indent="0" marL="0">
              <a:buNone/>
            </a:pPr>
            <a:r>
              <a:rPr lang="en-US" sz="1400" dirty="0">
                <a:solidFill>
                  <a:schemeClr val="tx1"/>
                </a:solidFill>
              </a:rPr>
              <a:t>Tiene il tronco orizzontale, entro 0.5°: è ciò per cui è costruito un anello a riferimento nullo</a:t>
            </a:r>
            <a:endParaRPr lang="en-US" sz="1400" dirty="0"/>
          </a:p>
        </p:txBody>
      </p:sp>
      <p:sp>
        <p:nvSpPr>
          <p:cNvPr id="11" name="Text 7"/>
          <p:cNvSpPr txBox="1"/>
          <p:nvPr/>
        </p:nvSpPr>
        <p:spPr>
          <a:xfrm>
            <a:off x="548640" y="4754880"/>
            <a:ext cx="11094415" cy="548640"/>
          </a:xfrm>
          <a:prstGeom prst="rect">
            <a:avLst/>
          </a:prstGeom>
          <a:noFill/>
          <a:ln/>
        </p:spPr>
        <p:txBody>
          <a:bodyPr wrap="square" lIns="0" tIns="0" rIns="0" bIns="0" rtlCol="0" anchor="ctr"/>
          <a:lstStyle/>
          <a:p>
            <a:pPr indent="0" marL="0">
              <a:buNone/>
            </a:pPr>
            <a:r>
              <a:rPr lang="en-US" sz="1600" b="1" dirty="0">
                <a:solidFill>
                  <a:schemeClr val="tx2"/>
                </a:solidFill>
              </a:rPr>
              <a:t>Prezzo: +45% di costo di trasporto rispetto a C2</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chemeClr val="tx2"/>
                </a:solidFill>
              </a:rPr>
              <a:t>Rampa (T4): inclinazione del corpo</a:t>
            </a:r>
            <a:endParaRPr lang="en-US" sz="3000" dirty="0"/>
          </a:p>
        </p:txBody>
      </p:sp>
      <p:sp>
        <p:nvSpPr>
          <p:cNvPr id="4" name="IMG rampa_en.png"/>
          <p:cNvSpPr/>
          <p:nvPr/>
        </p:nvSpPr>
        <p:spPr>
          <a:xfrm>
            <a:off x="548640" y="1280160"/>
            <a:ext cx="11094415" cy="4206240"/>
          </a:xfrm>
          <a:prstGeom prst="roundRect">
            <a:avLst>
              <a:gd name="adj" fmla="val 1739"/>
            </a:avLst>
          </a:prstGeom>
          <a:solidFill>
            <a:srgbClr val="F2F4F5"/>
          </a:solidFill>
          <a:ln w="15875">
            <a:solidFill>
              <a:srgbClr val="6F7F86"/>
            </a:solidFill>
            <a:prstDash val="dash"/>
          </a:ln>
        </p:spPr>
      </p:sp>
      <p:sp>
        <p:nvSpPr>
          <p:cNvPr id="5" name="Text 2"/>
          <p:cNvSpPr txBox="1"/>
          <p:nvPr/>
        </p:nvSpPr>
        <p:spPr>
          <a:xfrm>
            <a:off x="685800" y="1371600"/>
            <a:ext cx="10820095" cy="4023360"/>
          </a:xfrm>
          <a:prstGeom prst="rect">
            <a:avLst/>
          </a:prstGeom>
          <a:noFill/>
          <a:ln/>
        </p:spPr>
        <p:txBody>
          <a:bodyPr wrap="square" lIns="0" tIns="0" rIns="0" bIns="0" rtlCol="0" anchor="ctr"/>
          <a:lstStyle/>
          <a:p>
            <a:pPr algn="ctr" indent="0" marL="0">
              <a:buNone/>
            </a:pPr>
            <a:r>
              <a:rPr lang="en-US" sz="1600" b="1" dirty="0">
                <a:solidFill>
                  <a:schemeClr val="accent3"/>
                </a:solidFill>
              </a:rPr>
              <a:t>IMMAGINE</a:t>
            </a:r>
            <a:endParaRPr lang="en-US" sz="1500" dirty="0"/>
          </a:p>
          <a:p>
            <a:pPr algn="ctr" indent="0" marL="0">
              <a:buNone/>
            </a:pPr>
            <a:r>
              <a:rPr lang="en-US" sz="1400" dirty="0">
                <a:solidFill>
                  <a:schemeClr val="tx1"/>
                </a:solidFill>
              </a:rPr>
              <a:t>rampa_en.png</a:t>
            </a:r>
            <a:endParaRPr lang="en-US" sz="1500" dirty="0"/>
          </a:p>
          <a:p>
            <a:pPr algn="ctr" indent="0" marL="0">
              <a:buNone/>
            </a:pPr>
            <a:r>
              <a:rPr lang="en-US" sz="1300" i="1" dirty="0">
                <a:solidFill>
                  <a:schemeClr val="accent3"/>
                </a:solidFill>
              </a:rPr>
              <a:t>Linea tratteggiata a 8° = pendenza della rampa</a:t>
            </a:r>
            <a:endParaRPr lang="en-US" sz="1500" dirty="0"/>
          </a:p>
        </p:txBody>
      </p:sp>
      <p:sp>
        <p:nvSpPr>
          <p:cNvPr id="6" name="Text 3"/>
          <p:cNvSpPr txBox="1"/>
          <p:nvPr/>
        </p:nvSpPr>
        <p:spPr>
          <a:xfrm>
            <a:off x="548640" y="5623560"/>
            <a:ext cx="11094415" cy="548640"/>
          </a:xfrm>
          <a:prstGeom prst="rect">
            <a:avLst/>
          </a:prstGeom>
          <a:noFill/>
          <a:ln/>
        </p:spPr>
        <p:txBody>
          <a:bodyPr wrap="square" lIns="0" tIns="0" rIns="0" bIns="0" rtlCol="0" anchor="ctr"/>
          <a:lstStyle/>
          <a:p>
            <a:pPr indent="0" marL="0">
              <a:buNone/>
            </a:pPr>
            <a:r>
              <a:rPr lang="en-US" sz="1600" b="1" dirty="0">
                <a:solidFill>
                  <a:schemeClr val="tx2"/>
                </a:solidFill>
              </a:rPr>
              <a:t>C1 e C2 salgono fino a 8° e restano paralleli al terreno; C3 si ferma sotto 1.5°.</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chemeClr val="tx2"/>
                </a:solidFill>
              </a:rPr>
              <a:t>Rampa (T4) in simulazione</a:t>
            </a:r>
            <a:endParaRPr lang="en-US" sz="3000" dirty="0"/>
          </a:p>
        </p:txBody>
      </p:sp>
      <p:sp>
        <p:nvSpPr>
          <p:cNvPr id="4" name="VIDEO T4: C2 e C3 affiancati, vista laterale"/>
          <p:cNvSpPr/>
          <p:nvPr/>
        </p:nvSpPr>
        <p:spPr>
          <a:xfrm>
            <a:off x="548640" y="1280160"/>
            <a:ext cx="11094415" cy="4846320"/>
          </a:xfrm>
          <a:prstGeom prst="roundRect">
            <a:avLst>
              <a:gd name="adj" fmla="val 1509"/>
            </a:avLst>
          </a:prstGeom>
          <a:solidFill>
            <a:srgbClr val="FBEFE8"/>
          </a:solidFill>
          <a:ln w="15875">
            <a:solidFill>
              <a:srgbClr val="C4581E"/>
            </a:solidFill>
            <a:prstDash val="dash"/>
          </a:ln>
        </p:spPr>
      </p:sp>
      <p:sp>
        <p:nvSpPr>
          <p:cNvPr id="5" name="Text 2"/>
          <p:cNvSpPr txBox="1"/>
          <p:nvPr/>
        </p:nvSpPr>
        <p:spPr>
          <a:xfrm>
            <a:off x="685800" y="1371600"/>
            <a:ext cx="10820095" cy="4663440"/>
          </a:xfrm>
          <a:prstGeom prst="rect">
            <a:avLst/>
          </a:prstGeom>
          <a:noFill/>
          <a:ln/>
        </p:spPr>
        <p:txBody>
          <a:bodyPr wrap="square" lIns="0" tIns="0" rIns="0" bIns="0" rtlCol="0" anchor="ctr"/>
          <a:lstStyle/>
          <a:p>
            <a:pPr algn="ctr" indent="0" marL="0">
              <a:buNone/>
            </a:pPr>
            <a:r>
              <a:rPr lang="en-US" sz="1600" b="1" dirty="0">
                <a:solidFill>
                  <a:schemeClr val="accent1"/>
                </a:solidFill>
              </a:rPr>
              <a:t>▶  VIDEO</a:t>
            </a:r>
            <a:endParaRPr lang="en-US" sz="1500" dirty="0"/>
          </a:p>
          <a:p>
            <a:pPr algn="ctr" indent="0" marL="0">
              <a:buNone/>
            </a:pPr>
            <a:r>
              <a:rPr lang="en-US" sz="1300" i="1" dirty="0">
                <a:solidFill>
                  <a:schemeClr val="accent3"/>
                </a:solidFill>
              </a:rPr>
              <a:t>T4: C2 e C3 affiancati, vista laterale</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chemeClr val="tx2"/>
                </a:solidFill>
              </a:rPr>
              <a:t>Percorso a ostacoli (T6): l'anello d'assetto rende di più</a:t>
            </a:r>
            <a:endParaRPr lang="en-US" sz="3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6949440" cy="914400"/>
        </p:xfrm>
        <a:graphic>
          <a:graphicData uri="http://schemas.openxmlformats.org/drawingml/2006/table">
            <a:tbl>
              <a:tblPr/>
              <a:tblGrid>
                <a:gridCol w="3931920"/>
                <a:gridCol w="1005840"/>
                <a:gridCol w="1005840"/>
                <a:gridCol w="1005840"/>
              </a:tblGrid>
              <a:tr h="457200">
                <a:tc>
                  <a:txBody>
                    <a:bodyPr/>
                    <a:lstStyle/>
                    <a:p>
                      <a:pPr indent="0" marL="0">
                        <a:buNone/>
                      </a:pP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indent="0" marL="0">
                        <a:buNone/>
                      </a:pPr>
                      <a:r>
                        <a:rPr lang="en-US" sz="1500" b="1" dirty="0">
                          <a:solidFill>
                            <a:srgbClr val="FFFFFF"/>
                          </a:solidFill>
                        </a:rPr>
                        <a:t>C1</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indent="0" marL="0">
                        <a:buNone/>
                      </a:pPr>
                      <a:r>
                        <a:rPr lang="en-US" sz="1500" b="1" dirty="0">
                          <a:solidFill>
                            <a:srgbClr val="FFFFFF"/>
                          </a:solidFill>
                        </a:rPr>
                        <a:t>C2</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indent="0" marL="0">
                        <a:buNone/>
                      </a:pPr>
                      <a:r>
                        <a:rPr lang="en-US" sz="1500" b="1" dirty="0">
                          <a:solidFill>
                            <a:srgbClr val="FFFFFF"/>
                          </a:solidFill>
                        </a:rPr>
                        <a:t>C3</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r>
              <a:tr h="457200">
                <a:tc>
                  <a:txBody>
                    <a:bodyPr/>
                    <a:lstStyle/>
                    <a:p>
                      <a:pPr indent="0" marL="0">
                        <a:buNone/>
                      </a:pPr>
                      <a:r>
                        <a:rPr lang="en-US" sz="1500" b="1" dirty="0">
                          <a:solidFill>
                            <a:srgbClr val="1F2A30"/>
                          </a:solidFill>
                        </a:rPr>
                        <a:t>ostacoli attraversati (su 7)</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7</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7</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7</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457200">
                <a:tc>
                  <a:txBody>
                    <a:bodyPr/>
                    <a:lstStyle/>
                    <a:p>
                      <a:pPr indent="0" marL="0">
                        <a:buNone/>
                      </a:pPr>
                      <a:r>
                        <a:rPr lang="en-US" sz="1500" b="1" dirty="0">
                          <a:solidFill>
                            <a:srgbClr val="1F2A30"/>
                          </a:solidFill>
                        </a:rPr>
                        <a:t>avanzamento [m]</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3.65</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3.68</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3.72</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457200">
                <a:tc>
                  <a:txBody>
                    <a:bodyPr/>
                    <a:lstStyle/>
                    <a:p>
                      <a:pPr indent="0" marL="0">
                        <a:buNone/>
                      </a:pPr>
                      <a:r>
                        <a:rPr lang="en-US" sz="1500" b="1" dirty="0">
                          <a:solidFill>
                            <a:srgbClr val="1F2A30"/>
                          </a:solidFill>
                        </a:rPr>
                        <a:t>deriva laterale max [m]</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0.067</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0.104</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0.058</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457200">
                <a:tc>
                  <a:txBody>
                    <a:bodyPr/>
                    <a:lstStyle/>
                    <a:p>
                      <a:pPr indent="0" marL="0">
                        <a:buNone/>
                      </a:pPr>
                      <a:r>
                        <a:rPr lang="en-US" sz="1500" b="1" dirty="0">
                          <a:solidFill>
                            <a:srgbClr val="1F2A30"/>
                          </a:solidFill>
                        </a:rPr>
                        <a:t>rollio max [deg]</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9.44</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10.0</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b="1" dirty="0">
                          <a:solidFill>
                            <a:srgbClr val="1F3A45"/>
                          </a:solidFill>
                        </a:rPr>
                        <a:t>2.78</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457200">
                <a:tc>
                  <a:txBody>
                    <a:bodyPr/>
                    <a:lstStyle/>
                    <a:p>
                      <a:pPr indent="0" marL="0">
                        <a:buNone/>
                      </a:pPr>
                      <a:r>
                        <a:rPr lang="en-US" sz="1500" b="1" dirty="0">
                          <a:solidFill>
                            <a:srgbClr val="1F2A30"/>
                          </a:solidFill>
                        </a:rPr>
                        <a:t>beccheggio max [deg]</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14.7</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13.6</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b="1" dirty="0">
                          <a:solidFill>
                            <a:srgbClr val="1F3A45"/>
                          </a:solidFill>
                        </a:rPr>
                        <a:t>4.44</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457200">
                <a:tc>
                  <a:txBody>
                    <a:bodyPr/>
                    <a:lstStyle/>
                    <a:p>
                      <a:pPr indent="0" marL="0">
                        <a:buNone/>
                      </a:pPr>
                      <a:r>
                        <a:rPr lang="en-US" sz="1500" b="1" dirty="0">
                          <a:solidFill>
                            <a:srgbClr val="1F2A30"/>
                          </a:solidFill>
                        </a:rPr>
                        <a:t>coppia di picco [N·m]</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7.51</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7.97</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b="1" dirty="0">
                          <a:solidFill>
                            <a:srgbClr val="1F3A45"/>
                          </a:solidFill>
                        </a:rPr>
                        <a:t>4.18</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457200">
                <a:tc>
                  <a:txBody>
                    <a:bodyPr/>
                    <a:lstStyle/>
                    <a:p>
                      <a:pPr indent="0" marL="0">
                        <a:buNone/>
                      </a:pPr>
                      <a:r>
                        <a:rPr lang="en-US" sz="1500" b="1" dirty="0">
                          <a:solidFill>
                            <a:srgbClr val="1F2A30"/>
                          </a:solidFill>
                        </a:rPr>
                        <a:t>ribaltamenti</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0</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0</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0</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457200">
                <a:tc>
                  <a:txBody>
                    <a:bodyPr/>
                    <a:lstStyle/>
                    <a:p>
                      <a:pPr indent="0" marL="0">
                        <a:buNone/>
                      </a:pPr>
                      <a:r>
                        <a:rPr lang="en-US" sz="1500" b="1" dirty="0">
                          <a:solidFill>
                            <a:srgbClr val="1F2A30"/>
                          </a:solidFill>
                        </a:rPr>
                        <a:t>percorso concluso con margine</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no</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no</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b="1" dirty="0">
                          <a:solidFill>
                            <a:srgbClr val="1F3A45"/>
                          </a:solidFill>
                        </a:rPr>
                        <a:t>sì</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bl>
          </a:graphicData>
        </a:graphic>
      </p:graphicFrame>
      <p:sp>
        <p:nvSpPr>
          <p:cNvPr id="5" name="Text 1"/>
          <p:cNvSpPr txBox="1"/>
          <p:nvPr/>
        </p:nvSpPr>
        <p:spPr>
          <a:xfrm>
            <a:off x="7863840" y="1371600"/>
            <a:ext cx="3776472" cy="685800"/>
          </a:xfrm>
          <a:prstGeom prst="rect">
            <a:avLst/>
          </a:prstGeom>
          <a:noFill/>
          <a:ln/>
        </p:spPr>
        <p:txBody>
          <a:bodyPr wrap="square" lIns="0" tIns="0" rIns="0" bIns="0" rtlCol="0" anchor="t"/>
          <a:lstStyle/>
          <a:p>
            <a:pPr indent="0" marL="0">
              <a:buNone/>
            </a:pPr>
            <a:r>
              <a:rPr lang="en-US" sz="3400" b="1" dirty="0">
                <a:solidFill>
                  <a:schemeClr val="accent2"/>
                </a:solidFill>
                <a:latin typeface="Cambria" pitchFamily="34" charset="0"/>
                <a:ea typeface="Cambria" pitchFamily="34" charset="-122"/>
                <a:cs typeface="Cambria" pitchFamily="34" charset="-120"/>
              </a:rPr>
              <a:t>−72% / −67%</a:t>
            </a:r>
            <a:endParaRPr lang="en-US" sz="3400" dirty="0"/>
          </a:p>
        </p:txBody>
      </p:sp>
      <p:sp>
        <p:nvSpPr>
          <p:cNvPr id="6" name="Text 2"/>
          <p:cNvSpPr txBox="1"/>
          <p:nvPr/>
        </p:nvSpPr>
        <p:spPr>
          <a:xfrm>
            <a:off x="7863840" y="2084832"/>
            <a:ext cx="3776472" cy="548640"/>
          </a:xfrm>
          <a:prstGeom prst="rect">
            <a:avLst/>
          </a:prstGeom>
          <a:noFill/>
          <a:ln/>
        </p:spPr>
        <p:txBody>
          <a:bodyPr wrap="square" lIns="0" tIns="0" rIns="0" bIns="0" rtlCol="0" anchor="t"/>
          <a:lstStyle/>
          <a:p>
            <a:pPr indent="0" marL="0">
              <a:buNone/>
            </a:pPr>
            <a:r>
              <a:rPr lang="en-US" sz="1300" dirty="0">
                <a:solidFill>
                  <a:schemeClr val="tx1"/>
                </a:solidFill>
              </a:rPr>
              <a:t>rollio / beccheggio di C3 rispetto a C2</a:t>
            </a:r>
            <a:endParaRPr lang="en-US" sz="1300" dirty="0"/>
          </a:p>
        </p:txBody>
      </p:sp>
      <p:sp>
        <p:nvSpPr>
          <p:cNvPr id="7" name="Text 3"/>
          <p:cNvSpPr txBox="1"/>
          <p:nvPr/>
        </p:nvSpPr>
        <p:spPr>
          <a:xfrm>
            <a:off x="7863840" y="2926080"/>
            <a:ext cx="3776472" cy="685800"/>
          </a:xfrm>
          <a:prstGeom prst="rect">
            <a:avLst/>
          </a:prstGeom>
          <a:noFill/>
          <a:ln/>
        </p:spPr>
        <p:txBody>
          <a:bodyPr wrap="square" lIns="0" tIns="0" rIns="0" bIns="0" rtlCol="0" anchor="t"/>
          <a:lstStyle/>
          <a:p>
            <a:pPr indent="0" marL="0">
              <a:buNone/>
            </a:pPr>
            <a:r>
              <a:rPr lang="en-US" sz="3400" b="1" dirty="0">
                <a:solidFill>
                  <a:schemeClr val="accent2"/>
                </a:solidFill>
                <a:latin typeface="Cambria" pitchFamily="34" charset="0"/>
                <a:ea typeface="Cambria" pitchFamily="34" charset="-122"/>
                <a:cs typeface="Cambria" pitchFamily="34" charset="-120"/>
              </a:rPr>
              <a:t>−48%</a:t>
            </a:r>
            <a:endParaRPr lang="en-US" sz="3400" dirty="0"/>
          </a:p>
        </p:txBody>
      </p:sp>
      <p:sp>
        <p:nvSpPr>
          <p:cNvPr id="8" name="Text 4"/>
          <p:cNvSpPr txBox="1"/>
          <p:nvPr/>
        </p:nvSpPr>
        <p:spPr>
          <a:xfrm>
            <a:off x="7863840" y="3639312"/>
            <a:ext cx="3776472" cy="548640"/>
          </a:xfrm>
          <a:prstGeom prst="rect">
            <a:avLst/>
          </a:prstGeom>
          <a:noFill/>
          <a:ln/>
        </p:spPr>
        <p:txBody>
          <a:bodyPr wrap="square" lIns="0" tIns="0" rIns="0" bIns="0" rtlCol="0" anchor="t"/>
          <a:lstStyle/>
          <a:p>
            <a:pPr indent="0" marL="0">
              <a:buNone/>
            </a:pPr>
            <a:r>
              <a:rPr lang="en-US" sz="1300" dirty="0">
                <a:solidFill>
                  <a:schemeClr val="tx1"/>
                </a:solidFill>
              </a:rPr>
              <a:t>coppia di picco di C3 rispetto a C2</a:t>
            </a:r>
            <a:endParaRPr lang="en-US" sz="1300" dirty="0"/>
          </a:p>
        </p:txBody>
      </p:sp>
      <p:sp>
        <p:nvSpPr>
          <p:cNvPr id="9" name="Text 5"/>
          <p:cNvSpPr txBox="1"/>
          <p:nvPr/>
        </p:nvSpPr>
        <p:spPr>
          <a:xfrm>
            <a:off x="7863840" y="4480560"/>
            <a:ext cx="3776472" cy="822960"/>
          </a:xfrm>
          <a:prstGeom prst="rect">
            <a:avLst/>
          </a:prstGeom>
          <a:noFill/>
          <a:ln/>
        </p:spPr>
        <p:txBody>
          <a:bodyPr wrap="square" lIns="0" tIns="0" rIns="0" bIns="0" rtlCol="0" anchor="t"/>
          <a:lstStyle/>
          <a:p>
            <a:pPr indent="0" marL="0">
              <a:buNone/>
            </a:pPr>
            <a:r>
              <a:rPr lang="en-US" sz="1400" dirty="0">
                <a:solidFill>
                  <a:schemeClr val="accent3"/>
                </a:solidFill>
              </a:rPr>
              <a:t>Deriva sotto la soglia di 0.183 m per tutti: i tre incontrano gli stessi ostacoli.</a:t>
            </a:r>
            <a:endParaRPr lang="en-US" sz="1400" dirty="0"/>
          </a:p>
        </p:txBody>
      </p:sp>
      <p:sp>
        <p:nvSpPr>
          <p:cNvPr id="10" name="Text 6"/>
          <p:cNvSpPr txBox="1"/>
          <p:nvPr/>
        </p:nvSpPr>
        <p:spPr>
          <a:xfrm>
            <a:off x="548640" y="5440680"/>
            <a:ext cx="11094415" cy="548640"/>
          </a:xfrm>
          <a:prstGeom prst="rect">
            <a:avLst/>
          </a:prstGeom>
          <a:noFill/>
          <a:ln/>
        </p:spPr>
        <p:txBody>
          <a:bodyPr wrap="square" lIns="0" tIns="0" rIns="0" bIns="0" rtlCol="0" anchor="ctr"/>
          <a:lstStyle/>
          <a:p>
            <a:pPr indent="0" marL="0">
              <a:buNone/>
            </a:pPr>
            <a:r>
              <a:rPr lang="en-US" sz="1600" b="1" dirty="0">
                <a:solidFill>
                  <a:schemeClr val="tx2"/>
                </a:solidFill>
              </a:rPr>
              <a:t>Tutti attraversano i sette ostacoli; solo C3 conclude con un ciclo di margine.</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chemeClr val="tx2"/>
                </a:solidFill>
              </a:rPr>
              <a:t>Percorso a ostacoli (T6) in simulazione</a:t>
            </a:r>
            <a:endParaRPr lang="en-US" sz="3000" dirty="0"/>
          </a:p>
        </p:txBody>
      </p:sp>
      <p:sp>
        <p:nvSpPr>
          <p:cNvPr id="4" name="VIDEO T6 percorso a ostacoli, 30 s: C1, C2 e C3"/>
          <p:cNvSpPr/>
          <p:nvPr/>
        </p:nvSpPr>
        <p:spPr>
          <a:xfrm>
            <a:off x="548640" y="1280160"/>
            <a:ext cx="11094415" cy="4846320"/>
          </a:xfrm>
          <a:prstGeom prst="roundRect">
            <a:avLst>
              <a:gd name="adj" fmla="val 1509"/>
            </a:avLst>
          </a:prstGeom>
          <a:solidFill>
            <a:srgbClr val="FBEFE8"/>
          </a:solidFill>
          <a:ln w="15875">
            <a:solidFill>
              <a:srgbClr val="C4581E"/>
            </a:solidFill>
            <a:prstDash val="dash"/>
          </a:ln>
        </p:spPr>
      </p:sp>
      <p:sp>
        <p:nvSpPr>
          <p:cNvPr id="5" name="Text 2"/>
          <p:cNvSpPr txBox="1"/>
          <p:nvPr/>
        </p:nvSpPr>
        <p:spPr>
          <a:xfrm>
            <a:off x="685800" y="1371600"/>
            <a:ext cx="10820095" cy="4663440"/>
          </a:xfrm>
          <a:prstGeom prst="rect">
            <a:avLst/>
          </a:prstGeom>
          <a:noFill/>
          <a:ln/>
        </p:spPr>
        <p:txBody>
          <a:bodyPr wrap="square" lIns="0" tIns="0" rIns="0" bIns="0" rtlCol="0" anchor="ctr"/>
          <a:lstStyle/>
          <a:p>
            <a:pPr algn="ctr" indent="0" marL="0">
              <a:buNone/>
            </a:pPr>
            <a:r>
              <a:rPr lang="en-US" sz="1600" b="1" dirty="0">
                <a:solidFill>
                  <a:schemeClr val="accent1"/>
                </a:solidFill>
              </a:rPr>
              <a:t>▶  VIDEO</a:t>
            </a:r>
            <a:endParaRPr lang="en-US" sz="1500" dirty="0"/>
          </a:p>
          <a:p>
            <a:pPr algn="ctr" indent="0" marL="0">
              <a:buNone/>
            </a:pPr>
            <a:r>
              <a:rPr lang="en-US" sz="1300" i="1" dirty="0">
                <a:solidFill>
                  <a:schemeClr val="accent3"/>
                </a:solidFill>
              </a:rPr>
              <a:t>T6 percorso a ostacoli, 30 s: C1, C2 e C3</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chemeClr val="tx2"/>
                </a:solidFill>
              </a:rPr>
              <a:t>Impulso laterale (T7): un limite comune</a:t>
            </a:r>
            <a:endParaRPr lang="en-US" sz="3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4206240" cy="914400"/>
        </p:xfrm>
        <a:graphic>
          <a:graphicData uri="http://schemas.openxmlformats.org/drawingml/2006/table">
            <a:tbl>
              <a:tblPr/>
              <a:tblGrid>
                <a:gridCol w="2286000"/>
                <a:gridCol w="640080"/>
                <a:gridCol w="640080"/>
                <a:gridCol w="640080"/>
              </a:tblGrid>
              <a:tr h="502920">
                <a:tc>
                  <a:txBody>
                    <a:bodyPr/>
                    <a:lstStyle/>
                    <a:p>
                      <a:pPr indent="0" marL="0">
                        <a:buNone/>
                      </a:pP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indent="0" marL="0">
                        <a:buNone/>
                      </a:pPr>
                      <a:r>
                        <a:rPr lang="en-US" sz="1400" b="1" dirty="0">
                          <a:solidFill>
                            <a:srgbClr val="FFFFFF"/>
                          </a:solidFill>
                        </a:rPr>
                        <a:t>C1</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indent="0" marL="0">
                        <a:buNone/>
                      </a:pPr>
                      <a:r>
                        <a:rPr lang="en-US" sz="1400" b="1" dirty="0">
                          <a:solidFill>
                            <a:srgbClr val="FFFFFF"/>
                          </a:solidFill>
                        </a:rPr>
                        <a:t>C2</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indent="0" marL="0">
                        <a:buNone/>
                      </a:pPr>
                      <a:r>
                        <a:rPr lang="en-US" sz="1400" b="1" dirty="0">
                          <a:solidFill>
                            <a:srgbClr val="FFFFFF"/>
                          </a:solidFill>
                        </a:rPr>
                        <a:t>C3</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r>
              <a:tr h="502920">
                <a:tc>
                  <a:txBody>
                    <a:bodyPr/>
                    <a:lstStyle/>
                    <a:p>
                      <a:pPr indent="0" marL="0">
                        <a:buNone/>
                      </a:pPr>
                      <a:r>
                        <a:rPr lang="en-US" sz="1400" b="1" dirty="0">
                          <a:solidFill>
                            <a:srgbClr val="1F2A30"/>
                          </a:solidFill>
                        </a:rPr>
                        <a:t>deviazione residua, 1× [mm]</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400" dirty="0">
                          <a:solidFill>
                            <a:srgbClr val="1F2A30"/>
                          </a:solidFill>
                        </a:rPr>
                        <a:t>1.34</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400" dirty="0">
                          <a:solidFill>
                            <a:srgbClr val="1F2A30"/>
                          </a:solidFill>
                        </a:rPr>
                        <a:t>6.04</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400" dirty="0">
                          <a:solidFill>
                            <a:srgbClr val="1F2A30"/>
                          </a:solidFill>
                        </a:rPr>
                        <a:t>0.164</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502920">
                <a:tc>
                  <a:txBody>
                    <a:bodyPr/>
                    <a:lstStyle/>
                    <a:p>
                      <a:pPr indent="0" marL="0">
                        <a:buNone/>
                      </a:pPr>
                      <a:r>
                        <a:rPr lang="en-US" sz="1400" b="1" dirty="0">
                          <a:solidFill>
                            <a:srgbClr val="1F2A30"/>
                          </a:solidFill>
                        </a:rPr>
                        <a:t>deviazione residua, 16× [mm]</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400" dirty="0">
                          <a:solidFill>
                            <a:srgbClr val="1F2A30"/>
                          </a:solidFill>
                        </a:rPr>
                        <a:t>393</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400" dirty="0">
                          <a:solidFill>
                            <a:srgbClr val="1F2A30"/>
                          </a:solidFill>
                        </a:rPr>
                        <a:t>400</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400" dirty="0">
                          <a:solidFill>
                            <a:srgbClr val="1F2A30"/>
                          </a:solidFill>
                        </a:rPr>
                        <a:t>392</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502920">
                <a:tc>
                  <a:txBody>
                    <a:bodyPr/>
                    <a:lstStyle/>
                    <a:p>
                      <a:pPr indent="0" marL="0">
                        <a:buNone/>
                      </a:pPr>
                      <a:r>
                        <a:rPr lang="en-US" sz="1400" b="1" dirty="0">
                          <a:solidFill>
                            <a:srgbClr val="1F2A30"/>
                          </a:solidFill>
                        </a:rPr>
                        <a:t>recupera a 16×</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400" dirty="0">
                          <a:solidFill>
                            <a:srgbClr val="1F2A30"/>
                          </a:solidFill>
                        </a:rPr>
                        <a:t>no</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400" dirty="0">
                          <a:solidFill>
                            <a:srgbClr val="1F2A30"/>
                          </a:solidFill>
                        </a:rPr>
                        <a:t>no</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400" dirty="0">
                          <a:solidFill>
                            <a:srgbClr val="1F2A30"/>
                          </a:solidFill>
                        </a:rPr>
                        <a:t>no</a:t>
                      </a:r>
                      <a:endParaRPr lang="en-US" sz="14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bl>
          </a:graphicData>
        </a:graphic>
      </p:graphicFrame>
      <p:sp>
        <p:nvSpPr>
          <p:cNvPr id="5" name="Text 1"/>
          <p:cNvSpPr txBox="1"/>
          <p:nvPr/>
        </p:nvSpPr>
        <p:spPr>
          <a:xfrm>
            <a:off x="548640" y="4114800"/>
            <a:ext cx="4206240" cy="1463040"/>
          </a:xfrm>
          <a:prstGeom prst="rect">
            <a:avLst/>
          </a:prstGeom>
          <a:noFill/>
          <a:ln/>
        </p:spPr>
        <p:txBody>
          <a:bodyPr wrap="square" lIns="0" tIns="0" rIns="0" bIns="0" rtlCol="0" anchor="t"/>
          <a:lstStyle/>
          <a:p>
            <a:pPr indent="0" marL="0">
              <a:buNone/>
            </a:pPr>
            <a:r>
              <a:rPr lang="en-US" sz="1600" b="1" dirty="0">
                <a:solidFill>
                  <a:schemeClr val="tx2"/>
                </a:solidFill>
              </a:rPr>
              <a:t>A 16× nessuno dei tre recupera: le curve coincidono entro il 2%. Né la ricerca né l'assetto agiscono su questo disturbo.</a:t>
            </a:r>
            <a:endParaRPr lang="en-US" sz="1600" dirty="0"/>
          </a:p>
        </p:txBody>
      </p:sp>
      <p:sp>
        <p:nvSpPr>
          <p:cNvPr id="6" name="IMG impulso_en.pdf"/>
          <p:cNvSpPr/>
          <p:nvPr/>
        </p:nvSpPr>
        <p:spPr>
          <a:xfrm>
            <a:off x="4983480" y="1325880"/>
            <a:ext cx="6656832" cy="4800600"/>
          </a:xfrm>
          <a:prstGeom prst="roundRect">
            <a:avLst>
              <a:gd name="adj" fmla="val 1524"/>
            </a:avLst>
          </a:prstGeom>
          <a:solidFill>
            <a:srgbClr val="F2F4F5"/>
          </a:solidFill>
          <a:ln w="15875">
            <a:solidFill>
              <a:srgbClr val="6F7F86"/>
            </a:solidFill>
            <a:prstDash val="dash"/>
          </a:ln>
        </p:spPr>
      </p:sp>
      <p:sp>
        <p:nvSpPr>
          <p:cNvPr id="7" name="Text 3"/>
          <p:cNvSpPr txBox="1"/>
          <p:nvPr/>
        </p:nvSpPr>
        <p:spPr>
          <a:xfrm>
            <a:off x="5120640" y="1417320"/>
            <a:ext cx="6382512" cy="4617720"/>
          </a:xfrm>
          <a:prstGeom prst="rect">
            <a:avLst/>
          </a:prstGeom>
          <a:noFill/>
          <a:ln/>
        </p:spPr>
        <p:txBody>
          <a:bodyPr wrap="square" lIns="0" tIns="0" rIns="0" bIns="0" rtlCol="0" anchor="ctr"/>
          <a:lstStyle/>
          <a:p>
            <a:pPr algn="ctr" indent="0" marL="0">
              <a:buNone/>
            </a:pPr>
            <a:r>
              <a:rPr lang="en-US" sz="1600" b="1" dirty="0">
                <a:solidFill>
                  <a:schemeClr val="accent3"/>
                </a:solidFill>
              </a:rPr>
              <a:t>IMMAGINE</a:t>
            </a:r>
            <a:endParaRPr lang="en-US" sz="1500" dirty="0"/>
          </a:p>
          <a:p>
            <a:pPr algn="ctr" indent="0" marL="0">
              <a:buNone/>
            </a:pPr>
            <a:r>
              <a:rPr lang="en-US" sz="1400" dirty="0">
                <a:solidFill>
                  <a:schemeClr val="tx1"/>
                </a:solidFill>
              </a:rPr>
              <a:t>impulso_en.pdf</a:t>
            </a:r>
            <a:endParaRPr lang="en-US" sz="1500" dirty="0"/>
          </a:p>
          <a:p>
            <a:pPr algn="ctr" indent="0" marL="0">
              <a:buNone/>
            </a:pPr>
            <a:r>
              <a:rPr lang="en-US" sz="1300" i="1" dirty="0">
                <a:solidFill>
                  <a:schemeClr val="accent3"/>
                </a:solidFill>
              </a:rPr>
              <a:t>Deviazione massima contro impulso (ascissa logaritmica)</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chemeClr val="tx2"/>
                </a:solidFill>
              </a:rPr>
              <a:t>Fattibilità sugli AX-12A reali</a:t>
            </a:r>
            <a:endParaRPr lang="en-US" sz="3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1216152"/>
                <a:gridCol w="1097280"/>
                <a:gridCol w="1097280"/>
                <a:gridCol w="1097280"/>
                <a:gridCol w="1005840"/>
                <a:gridCol w="1005840"/>
                <a:gridCol w="1005840"/>
                <a:gridCol w="1188720"/>
                <a:gridCol w="1188720"/>
                <a:gridCol w="1188720"/>
              </a:tblGrid>
              <a:tr h="411480">
                <a:tc>
                  <a:txBody>
                    <a:bodyPr/>
                    <a:lstStyle/>
                    <a:p>
                      <a:pPr indent="0" marL="0">
                        <a:buNone/>
                      </a:pP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gridSpan="3">
                  <a:txBody>
                    <a:bodyPr/>
                    <a:lstStyle/>
                    <a:p>
                      <a:pPr algn="ctr" indent="0" marL="0">
                        <a:buNone/>
                      </a:pPr>
                      <a:r>
                        <a:rPr lang="en-US" sz="1500" b="1" dirty="0">
                          <a:solidFill>
                            <a:srgbClr val="FFFFFF"/>
                          </a:solidFill>
                        </a:rPr>
                        <a:t>RMS / stallo</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hMerge="1">
                  <a:tcPr/>
                </a:tc>
                <a:tc hMerge="1">
                  <a:tcPr/>
                </a:tc>
                <a:tc gridSpan="3">
                  <a:txBody>
                    <a:bodyPr/>
                    <a:lstStyle/>
                    <a:p>
                      <a:pPr algn="ctr" indent="0" marL="0">
                        <a:buNone/>
                      </a:pPr>
                      <a:r>
                        <a:rPr lang="en-US" sz="1500" b="1" dirty="0">
                          <a:solidFill>
                            <a:srgbClr val="FFFFFF"/>
                          </a:solidFill>
                        </a:rPr>
                        <a:t>picco / stallo</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hMerge="1">
                  <a:tcPr/>
                </a:tc>
                <a:tc hMerge="1">
                  <a:tcPr/>
                </a:tc>
                <a:tc gridSpan="3">
                  <a:txBody>
                    <a:bodyPr/>
                    <a:lstStyle/>
                    <a:p>
                      <a:pPr algn="ctr" indent="0" marL="0">
                        <a:buNone/>
                      </a:pPr>
                      <a:r>
                        <a:rPr lang="en-US" sz="1500" b="1" dirty="0">
                          <a:solidFill>
                            <a:srgbClr val="FFFFFF"/>
                          </a:solidFill>
                        </a:rPr>
                        <a:t>campioni oltre lo stallo</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hMerge="1">
                  <a:tcPr/>
                </a:tc>
                <a:tc hMerge="1">
                  <a:tcPr/>
                </a:tc>
              </a:tr>
              <a:tr h="411480">
                <a:tc>
                  <a:txBody>
                    <a:bodyPr/>
                    <a:lstStyle/>
                    <a:p>
                      <a:pPr indent="0" marL="0">
                        <a:buNone/>
                      </a:pPr>
                      <a:r>
                        <a:rPr lang="en-US" sz="1500" b="1" dirty="0">
                          <a:solidFill>
                            <a:srgbClr val="FFFFFF"/>
                          </a:solidFill>
                        </a:rPr>
                        <a:t>task</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indent="0" marL="0">
                        <a:buNone/>
                      </a:pPr>
                      <a:r>
                        <a:rPr lang="en-US" sz="1500" b="1" dirty="0">
                          <a:solidFill>
                            <a:srgbClr val="FFFFFF"/>
                          </a:solidFill>
                        </a:rPr>
                        <a:t>C1</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indent="0" marL="0">
                        <a:buNone/>
                      </a:pPr>
                      <a:r>
                        <a:rPr lang="en-US" sz="1500" b="1" dirty="0">
                          <a:solidFill>
                            <a:srgbClr val="FFFFFF"/>
                          </a:solidFill>
                        </a:rPr>
                        <a:t>C2</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indent="0" marL="0">
                        <a:buNone/>
                      </a:pPr>
                      <a:r>
                        <a:rPr lang="en-US" sz="1500" b="1" dirty="0">
                          <a:solidFill>
                            <a:srgbClr val="FFFFFF"/>
                          </a:solidFill>
                        </a:rPr>
                        <a:t>C3</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indent="0" marL="0">
                        <a:buNone/>
                      </a:pPr>
                      <a:r>
                        <a:rPr lang="en-US" sz="1500" b="1" dirty="0">
                          <a:solidFill>
                            <a:srgbClr val="FFFFFF"/>
                          </a:solidFill>
                        </a:rPr>
                        <a:t>C1</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indent="0" marL="0">
                        <a:buNone/>
                      </a:pPr>
                      <a:r>
                        <a:rPr lang="en-US" sz="1500" b="1" dirty="0">
                          <a:solidFill>
                            <a:srgbClr val="FFFFFF"/>
                          </a:solidFill>
                        </a:rPr>
                        <a:t>C2</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indent="0" marL="0">
                        <a:buNone/>
                      </a:pPr>
                      <a:r>
                        <a:rPr lang="en-US" sz="1500" b="1" dirty="0">
                          <a:solidFill>
                            <a:srgbClr val="FFFFFF"/>
                          </a:solidFill>
                        </a:rPr>
                        <a:t>C3</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indent="0" marL="0">
                        <a:buNone/>
                      </a:pPr>
                      <a:r>
                        <a:rPr lang="en-US" sz="1500" b="1" dirty="0">
                          <a:solidFill>
                            <a:srgbClr val="FFFFFF"/>
                          </a:solidFill>
                        </a:rPr>
                        <a:t>C1</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indent="0" marL="0">
                        <a:buNone/>
                      </a:pPr>
                      <a:r>
                        <a:rPr lang="en-US" sz="1500" b="1" dirty="0">
                          <a:solidFill>
                            <a:srgbClr val="FFFFFF"/>
                          </a:solidFill>
                        </a:rPr>
                        <a:t>C2</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indent="0" marL="0">
                        <a:buNone/>
                      </a:pPr>
                      <a:r>
                        <a:rPr lang="en-US" sz="1500" b="1" dirty="0">
                          <a:solidFill>
                            <a:srgbClr val="FFFFFF"/>
                          </a:solidFill>
                        </a:rPr>
                        <a:t>C3</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r>
              <a:tr h="411480">
                <a:tc>
                  <a:txBody>
                    <a:bodyPr/>
                    <a:lstStyle/>
                    <a:p>
                      <a:pPr indent="0" marL="0">
                        <a:buNone/>
                      </a:pPr>
                      <a:r>
                        <a:rPr lang="en-US" sz="1500" b="1" dirty="0">
                          <a:solidFill>
                            <a:srgbClr val="1F2A30"/>
                          </a:solidFill>
                        </a:rPr>
                        <a:t>T2</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46%</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44%</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39%</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1.2</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1.3</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1.5</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0.40%</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0.45%</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0.38%</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411480">
                <a:tc>
                  <a:txBody>
                    <a:bodyPr/>
                    <a:lstStyle/>
                    <a:p>
                      <a:pPr indent="0" marL="0">
                        <a:buNone/>
                      </a:pPr>
                      <a:r>
                        <a:rPr lang="en-US" sz="1500" b="1" dirty="0">
                          <a:solidFill>
                            <a:srgbClr val="1F2A30"/>
                          </a:solidFill>
                        </a:rPr>
                        <a:t>T3</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46%</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42%</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39%</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1.3</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1.4</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1.6</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0.50%</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0.40%</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0.43%</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411480">
                <a:tc>
                  <a:txBody>
                    <a:bodyPr/>
                    <a:lstStyle/>
                    <a:p>
                      <a:pPr indent="0" marL="0">
                        <a:buNone/>
                      </a:pPr>
                      <a:r>
                        <a:rPr lang="en-US" sz="1500" b="1" dirty="0">
                          <a:solidFill>
                            <a:srgbClr val="1F2A30"/>
                          </a:solidFill>
                        </a:rPr>
                        <a:t>T4</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44%</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44%</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45%</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1.4</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2.3</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1.8</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0.39%</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0.49%</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0.48%</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411480">
                <a:tc>
                  <a:txBody>
                    <a:bodyPr/>
                    <a:lstStyle/>
                    <a:p>
                      <a:pPr indent="0" marL="0">
                        <a:buNone/>
                      </a:pPr>
                      <a:r>
                        <a:rPr lang="en-US" sz="1500" b="1" dirty="0">
                          <a:solidFill>
                            <a:srgbClr val="1F2A30"/>
                          </a:solidFill>
                        </a:rPr>
                        <a:t>T4D</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42%</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42%</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39%</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1.7</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2.7</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2.1</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0.45%</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0.41%</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0.49%</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411480">
                <a:tc>
                  <a:txBody>
                    <a:bodyPr/>
                    <a:lstStyle/>
                    <a:p>
                      <a:pPr indent="0" marL="0">
                        <a:buNone/>
                      </a:pPr>
                      <a:r>
                        <a:rPr lang="en-US" sz="1500" b="1" dirty="0">
                          <a:solidFill>
                            <a:srgbClr val="1F2A30"/>
                          </a:solidFill>
                        </a:rPr>
                        <a:t>T5</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45%</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44%</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40%</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3.0</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5.6</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2.7</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0.61%</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0.50%</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0.51%</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411480">
                <a:tc>
                  <a:txBody>
                    <a:bodyPr/>
                    <a:lstStyle/>
                    <a:p>
                      <a:pPr indent="0" marL="0">
                        <a:buNone/>
                      </a:pPr>
                      <a:r>
                        <a:rPr lang="en-US" sz="1500" b="1" dirty="0">
                          <a:solidFill>
                            <a:srgbClr val="1F2A30"/>
                          </a:solidFill>
                        </a:rPr>
                        <a:t>T6</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42%</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43%</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42%</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5.0</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4.9</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2.8</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0.91%</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0.67%</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0.81%</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411480">
                <a:tc>
                  <a:txBody>
                    <a:bodyPr/>
                    <a:lstStyle/>
                    <a:p>
                      <a:pPr indent="0" marL="0">
                        <a:buNone/>
                      </a:pPr>
                      <a:r>
                        <a:rPr lang="en-US" sz="1500" b="1" dirty="0">
                          <a:solidFill>
                            <a:srgbClr val="1F2A30"/>
                          </a:solidFill>
                        </a:rPr>
                        <a:t>T7</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46%</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44%</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39%</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1.2</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1.3</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1.5</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0.41%</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0.45%</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r" indent="0" marL="0">
                        <a:buNone/>
                      </a:pPr>
                      <a:r>
                        <a:rPr lang="en-US" sz="1500" dirty="0">
                          <a:solidFill>
                            <a:srgbClr val="1F2A30"/>
                          </a:solidFill>
                        </a:rPr>
                        <a:t>0.38%</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bl>
          </a:graphicData>
        </a:graphic>
      </p:graphicFrame>
      <p:sp>
        <p:nvSpPr>
          <p:cNvPr id="5" name="Text 1"/>
          <p:cNvSpPr txBox="1"/>
          <p:nvPr/>
        </p:nvSpPr>
        <p:spPr>
          <a:xfrm>
            <a:off x="548640" y="5257800"/>
            <a:ext cx="11094415" cy="548640"/>
          </a:xfrm>
          <a:prstGeom prst="rect">
            <a:avLst/>
          </a:prstGeom>
          <a:noFill/>
          <a:ln/>
        </p:spPr>
        <p:txBody>
          <a:bodyPr wrap="square" lIns="0" tIns="0" rIns="0" bIns="0" rtlCol="0" anchor="ctr"/>
          <a:lstStyle/>
          <a:p>
            <a:pPr indent="0" marL="0">
              <a:buNone/>
            </a:pPr>
            <a:r>
              <a:rPr lang="en-US" sz="1600" b="1" dirty="0">
                <a:solidFill>
                  <a:schemeClr val="tx2"/>
                </a:solidFill>
              </a:rPr>
              <a:t>Stallo 1.5 N·m, raccomandato un quinto: la marcia sta a 2.3× il raccomandato, i picchi d'urto fino a 5× lo stallo.</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chemeClr val="tx2"/>
                </a:solidFill>
              </a:rPr>
              <a:t>Coppia richiesta contro i limiti dell'AX-12A</a:t>
            </a:r>
            <a:endParaRPr lang="en-US" sz="3000" dirty="0"/>
          </a:p>
        </p:txBody>
      </p:sp>
      <p:sp>
        <p:nvSpPr>
          <p:cNvPr id="4" name="IMG fattibilita.png"/>
          <p:cNvSpPr/>
          <p:nvPr/>
        </p:nvSpPr>
        <p:spPr>
          <a:xfrm>
            <a:off x="548640" y="1280160"/>
            <a:ext cx="11094415" cy="4206240"/>
          </a:xfrm>
          <a:prstGeom prst="roundRect">
            <a:avLst>
              <a:gd name="adj" fmla="val 1739"/>
            </a:avLst>
          </a:prstGeom>
          <a:solidFill>
            <a:srgbClr val="F2F4F5"/>
          </a:solidFill>
          <a:ln w="15875">
            <a:solidFill>
              <a:srgbClr val="6F7F86"/>
            </a:solidFill>
            <a:prstDash val="dash"/>
          </a:ln>
        </p:spPr>
      </p:sp>
      <p:sp>
        <p:nvSpPr>
          <p:cNvPr id="5" name="Text 2"/>
          <p:cNvSpPr txBox="1"/>
          <p:nvPr/>
        </p:nvSpPr>
        <p:spPr>
          <a:xfrm>
            <a:off x="685800" y="1371600"/>
            <a:ext cx="10820095" cy="4023360"/>
          </a:xfrm>
          <a:prstGeom prst="rect">
            <a:avLst/>
          </a:prstGeom>
          <a:noFill/>
          <a:ln/>
        </p:spPr>
        <p:txBody>
          <a:bodyPr wrap="square" lIns="0" tIns="0" rIns="0" bIns="0" rtlCol="0" anchor="ctr"/>
          <a:lstStyle/>
          <a:p>
            <a:pPr algn="ctr" indent="0" marL="0">
              <a:buNone/>
            </a:pPr>
            <a:r>
              <a:rPr lang="en-US" sz="1600" b="1" dirty="0">
                <a:solidFill>
                  <a:schemeClr val="accent3"/>
                </a:solidFill>
              </a:rPr>
              <a:t>IMMAGINE</a:t>
            </a:r>
            <a:endParaRPr lang="en-US" sz="1500" dirty="0"/>
          </a:p>
          <a:p>
            <a:pPr algn="ctr" indent="0" marL="0">
              <a:buNone/>
            </a:pPr>
            <a:r>
              <a:rPr lang="en-US" sz="1400" dirty="0">
                <a:solidFill>
                  <a:schemeClr val="tx1"/>
                </a:solidFill>
              </a:rPr>
              <a:t>fattibilita.png</a:t>
            </a:r>
            <a:endParaRPr lang="en-US" sz="1500" dirty="0"/>
          </a:p>
          <a:p>
            <a:pPr algn="ctr" indent="0" marL="0">
              <a:buNone/>
            </a:pPr>
            <a:r>
              <a:rPr lang="en-US" sz="1300" i="1" dirty="0">
                <a:solidFill>
                  <a:schemeClr val="accent3"/>
                </a:solidFill>
              </a:rPr>
              <a:t>Coppia efficace e di picco per task e controllore</a:t>
            </a:r>
            <a:endParaRPr lang="en-US" sz="1500" dirty="0"/>
          </a:p>
        </p:txBody>
      </p:sp>
      <p:sp>
        <p:nvSpPr>
          <p:cNvPr id="6" name="Text 3"/>
          <p:cNvSpPr txBox="1"/>
          <p:nvPr/>
        </p:nvSpPr>
        <p:spPr>
          <a:xfrm>
            <a:off x="548640" y="5623560"/>
            <a:ext cx="11094415" cy="548640"/>
          </a:xfrm>
          <a:prstGeom prst="rect">
            <a:avLst/>
          </a:prstGeom>
          <a:noFill/>
          <a:ln/>
        </p:spPr>
        <p:txBody>
          <a:bodyPr wrap="square" lIns="0" tIns="0" rIns="0" bIns="0" rtlCol="0" anchor="ctr"/>
          <a:lstStyle/>
          <a:p>
            <a:pPr indent="0" marL="0">
              <a:buNone/>
            </a:pPr>
            <a:r>
              <a:rPr lang="en-US" sz="1600" b="1" dirty="0">
                <a:solidFill>
                  <a:schemeClr val="tx2"/>
                </a:solidFill>
              </a:rPr>
              <a:t>Due regimi: la marcia sotto lo stallo ma sopra il raccomandato; i picchi oltre lo stallo agli urti.</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chemeClr val="tx2"/>
                </a:solidFill>
              </a:rPr>
              <a:t>Trasporto di un carico: C2P contro C3P</a:t>
            </a:r>
            <a:endParaRPr lang="en-US" sz="3000" dirty="0"/>
          </a:p>
        </p:txBody>
      </p:sp>
      <p:sp>
        <p:nvSpPr>
          <p:cNvPr id="4" name="setup 0"/>
          <p:cNvSpPr/>
          <p:nvPr/>
        </p:nvSpPr>
        <p:spPr>
          <a:xfrm>
            <a:off x="548640" y="1371600"/>
            <a:ext cx="3520440" cy="1828800"/>
          </a:xfrm>
          <a:prstGeom prst="rect">
            <a:avLst/>
          </a:prstGeom>
          <a:solidFill>
            <a:schemeClr val="bg2"/>
          </a:solidFill>
          <a:ln w="12700">
            <a:solidFill>
              <a:schemeClr val="bg2"/>
            </a:solidFill>
            <a:prstDash val="solid"/>
          </a:ln>
        </p:spPr>
      </p:sp>
      <p:sp>
        <p:nvSpPr>
          <p:cNvPr id="5" name="Text 2"/>
          <p:cNvSpPr txBox="1"/>
          <p:nvPr/>
        </p:nvSpPr>
        <p:spPr>
          <a:xfrm>
            <a:off x="822960" y="1508760"/>
            <a:ext cx="2971800" cy="1554480"/>
          </a:xfrm>
          <a:prstGeom prst="rect">
            <a:avLst/>
          </a:prstGeom>
          <a:noFill/>
          <a:ln/>
        </p:spPr>
        <p:txBody>
          <a:bodyPr wrap="square" lIns="0" tIns="0" rIns="0" bIns="0" rtlCol="0" anchor="ctr"/>
          <a:lstStyle/>
          <a:p>
            <a:pPr indent="0" marL="0">
              <a:buNone/>
            </a:pPr>
            <a:r>
              <a:rPr lang="en-US" sz="1800" dirty="0">
                <a:solidFill>
                  <a:schemeClr val="tx1"/>
                </a:solidFill>
              </a:rPr>
              <a:t>Cubo da 1 kg libero su un vassoio da 0.1 kg: +69% della massa</a:t>
            </a:r>
            <a:endParaRPr lang="en-US" sz="1800" dirty="0"/>
          </a:p>
        </p:txBody>
      </p:sp>
      <p:sp>
        <p:nvSpPr>
          <p:cNvPr id="6" name="setup 1"/>
          <p:cNvSpPr/>
          <p:nvPr/>
        </p:nvSpPr>
        <p:spPr>
          <a:xfrm>
            <a:off x="4343400" y="1371600"/>
            <a:ext cx="3520440" cy="1828800"/>
          </a:xfrm>
          <a:prstGeom prst="rect">
            <a:avLst/>
          </a:prstGeom>
          <a:solidFill>
            <a:schemeClr val="bg2"/>
          </a:solidFill>
          <a:ln w="12700">
            <a:solidFill>
              <a:schemeClr val="bg2"/>
            </a:solidFill>
            <a:prstDash val="solid"/>
          </a:ln>
        </p:spPr>
      </p:sp>
      <p:sp>
        <p:nvSpPr>
          <p:cNvPr id="7" name="Text 4"/>
          <p:cNvSpPr txBox="1"/>
          <p:nvPr/>
        </p:nvSpPr>
        <p:spPr>
          <a:xfrm>
            <a:off x="4617720" y="1508760"/>
            <a:ext cx="2971800" cy="1554480"/>
          </a:xfrm>
          <a:prstGeom prst="rect">
            <a:avLst/>
          </a:prstGeom>
          <a:noFill/>
          <a:ln/>
        </p:spPr>
        <p:txBody>
          <a:bodyPr wrap="square" lIns="0" tIns="0" rIns="0" bIns="0" rtlCol="0" anchor="ctr"/>
          <a:lstStyle/>
          <a:p>
            <a:pPr indent="0" marL="0">
              <a:buNone/>
            </a:pPr>
            <a:r>
              <a:rPr lang="en-US" sz="1800" dirty="0">
                <a:solidFill>
                  <a:schemeClr val="tx1"/>
                </a:solidFill>
              </a:rPr>
              <a:t>C3P = C3 con il carico; C2P = C3P con i guadagni PI a zero</a:t>
            </a:r>
            <a:endParaRPr lang="en-US" sz="1800" dirty="0"/>
          </a:p>
        </p:txBody>
      </p:sp>
      <p:sp>
        <p:nvSpPr>
          <p:cNvPr id="8" name="setup 2"/>
          <p:cNvSpPr/>
          <p:nvPr/>
        </p:nvSpPr>
        <p:spPr>
          <a:xfrm>
            <a:off x="8138160" y="1371600"/>
            <a:ext cx="3520440" cy="1828800"/>
          </a:xfrm>
          <a:prstGeom prst="rect">
            <a:avLst/>
          </a:prstGeom>
          <a:solidFill>
            <a:schemeClr val="bg2"/>
          </a:solidFill>
          <a:ln w="12700">
            <a:solidFill>
              <a:schemeClr val="bg2"/>
            </a:solidFill>
            <a:prstDash val="solid"/>
          </a:ln>
        </p:spPr>
      </p:sp>
      <p:sp>
        <p:nvSpPr>
          <p:cNvPr id="9" name="Text 6"/>
          <p:cNvSpPr txBox="1"/>
          <p:nvPr/>
        </p:nvSpPr>
        <p:spPr>
          <a:xfrm>
            <a:off x="8412480" y="1508760"/>
            <a:ext cx="2971800" cy="1554480"/>
          </a:xfrm>
          <a:prstGeom prst="rect">
            <a:avLst/>
          </a:prstGeom>
          <a:noFill/>
          <a:ln/>
        </p:spPr>
        <p:txBody>
          <a:bodyPr wrap="square" lIns="0" tIns="0" rIns="0" bIns="0" rtlCol="0" anchor="ctr"/>
          <a:lstStyle/>
          <a:p>
            <a:pPr indent="0" marL="0">
              <a:buNone/>
            </a:pPr>
            <a:r>
              <a:rPr lang="en-US" sz="1800" dirty="0">
                <a:solidFill>
                  <a:schemeClr val="tx1"/>
                </a:solidFill>
              </a:rPr>
              <a:t>Il pacco deve restare entro 50 mm, il gioco del vassoio</a:t>
            </a:r>
            <a:endParaRPr lang="en-US" sz="1800" dirty="0"/>
          </a:p>
        </p:txBody>
      </p:sp>
      <p:sp>
        <p:nvSpPr>
          <p:cNvPr id="10" name="criterio"/>
          <p:cNvSpPr/>
          <p:nvPr/>
        </p:nvSpPr>
        <p:spPr>
          <a:xfrm>
            <a:off x="548640" y="3520440"/>
            <a:ext cx="11094415" cy="1737360"/>
          </a:xfrm>
          <a:prstGeom prst="rect">
            <a:avLst/>
          </a:prstGeom>
          <a:solidFill>
            <a:schemeClr val="bg2"/>
          </a:solidFill>
          <a:ln w="12700">
            <a:solidFill>
              <a:schemeClr val="bg2"/>
            </a:solidFill>
            <a:prstDash val="solid"/>
          </a:ln>
        </p:spPr>
      </p:sp>
      <p:sp>
        <p:nvSpPr>
          <p:cNvPr id="11" name="Text 8"/>
          <p:cNvSpPr txBox="1"/>
          <p:nvPr/>
        </p:nvSpPr>
        <p:spPr>
          <a:xfrm>
            <a:off x="822960" y="3657600"/>
            <a:ext cx="10545775" cy="1463040"/>
          </a:xfrm>
          <a:prstGeom prst="rect">
            <a:avLst/>
          </a:prstGeom>
          <a:noFill/>
          <a:ln/>
        </p:spPr>
        <p:txBody>
          <a:bodyPr wrap="square" lIns="0" tIns="0" rIns="0" bIns="0" rtlCol="0" anchor="t"/>
          <a:lstStyle/>
          <a:p>
            <a:pPr indent="0" marL="0">
              <a:spcAft>
                <a:spcPts val="600"/>
              </a:spcAft>
              <a:buNone/>
            </a:pPr>
            <a:r>
              <a:rPr lang="en-US" sz="1700" b="1" dirty="0">
                <a:solidFill>
                  <a:schemeClr val="tx2"/>
                </a:solidFill>
              </a:rPr>
              <a:t>Criterio, dichiarato prima delle run</a:t>
            </a:r>
            <a:endParaRPr lang="en-US" sz="1700" dirty="0"/>
          </a:p>
          <a:p>
            <a:pPr indent="0" marL="0">
              <a:spcAft>
                <a:spcPts val="600"/>
              </a:spcAft>
              <a:buNone/>
            </a:pPr>
            <a:r>
              <a:rPr lang="en-US" sz="1700" dirty="0">
                <a:solidFill>
                  <a:schemeClr val="tx1"/>
                </a:solidFill>
              </a:rPr>
              <a:t>1. Task completato: nessun ribaltamento, deriva entro soglia, percorso attraversato per intero</a:t>
            </a:r>
            <a:endParaRPr lang="en-US" sz="1700" dirty="0"/>
          </a:p>
          <a:p>
            <a:pPr indent="0" marL="0">
              <a:spcAft>
                <a:spcPts val="600"/>
              </a:spcAft>
              <a:buNone/>
            </a:pPr>
            <a:r>
              <a:rPr lang="en-US" sz="1700" dirty="0">
                <a:solidFill>
                  <a:schemeClr val="tx1"/>
                </a:solidFill>
              </a:rPr>
              <a:t>2. Pacco sul vassoio: spostamento massimo &lt; 50 mm (gioco); sotto 20 mm è fermo</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chemeClr val="tx2"/>
                </a:solidFill>
              </a:rPr>
              <a:t>C2P contro C3P: stessa locomozione, pacco diverso</a:t>
            </a:r>
            <a:endParaRPr lang="en-US" sz="3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3227832"/>
                <a:gridCol w="1311097"/>
                <a:gridCol w="1311097"/>
                <a:gridCol w="1311097"/>
                <a:gridCol w="1311097"/>
                <a:gridCol w="1311097"/>
                <a:gridCol w="1311097"/>
              </a:tblGrid>
              <a:tr h="457200">
                <a:tc>
                  <a:txBody>
                    <a:bodyPr/>
                    <a:lstStyle/>
                    <a:p>
                      <a:pPr indent="0" marL="0">
                        <a:buNone/>
                      </a:pP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gridSpan="2">
                  <a:txBody>
                    <a:bodyPr/>
                    <a:lstStyle/>
                    <a:p>
                      <a:pPr algn="ctr" indent="0" marL="0">
                        <a:buNone/>
                      </a:pPr>
                      <a:r>
                        <a:rPr lang="en-US" sz="1500" b="1" dirty="0">
                          <a:solidFill>
                            <a:srgbClr val="FFFFFF"/>
                          </a:solidFill>
                        </a:rPr>
                        <a:t>T4 — rampa</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hMerge="1">
                  <a:tcPr/>
                </a:tc>
                <a:tc gridSpan="2">
                  <a:txBody>
                    <a:bodyPr/>
                    <a:lstStyle/>
                    <a:p>
                      <a:pPr algn="ctr" indent="0" marL="0">
                        <a:buNone/>
                      </a:pPr>
                      <a:r>
                        <a:rPr lang="en-US" sz="1500" b="1" dirty="0">
                          <a:solidFill>
                            <a:srgbClr val="FFFFFF"/>
                          </a:solidFill>
                        </a:rPr>
                        <a:t>T4D — dosso</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hMerge="1">
                  <a:tcPr/>
                </a:tc>
                <a:tc gridSpan="2">
                  <a:txBody>
                    <a:bodyPr/>
                    <a:lstStyle/>
                    <a:p>
                      <a:pPr algn="ctr" indent="0" marL="0">
                        <a:buNone/>
                      </a:pPr>
                      <a:r>
                        <a:rPr lang="en-US" sz="1500" b="1" dirty="0">
                          <a:solidFill>
                            <a:srgbClr val="FFFFFF"/>
                          </a:solidFill>
                        </a:rPr>
                        <a:t>T6 — ostacoli</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hMerge="1">
                  <a:tcPr/>
                </a:tc>
              </a:tr>
              <a:tr h="457200">
                <a:tc>
                  <a:txBody>
                    <a:bodyPr/>
                    <a:lstStyle/>
                    <a:p>
                      <a:pPr algn="ctr" indent="0" marL="0">
                        <a:buNone/>
                      </a:pP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1F3A45"/>
                    </a:solidFill>
                  </a:tcPr>
                </a:tc>
                <a:tc>
                  <a:txBody>
                    <a:bodyPr/>
                    <a:lstStyle/>
                    <a:p>
                      <a:pPr algn="ctr" indent="0" marL="0">
                        <a:buNone/>
                      </a:pPr>
                      <a:r>
                        <a:rPr lang="en-US" sz="1500" b="1" dirty="0">
                          <a:solidFill>
                            <a:srgbClr val="FFFFFF"/>
                          </a:solidFill>
                        </a:rPr>
                        <a:t>C2P</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C4581E"/>
                    </a:solidFill>
                  </a:tcPr>
                </a:tc>
                <a:tc>
                  <a:txBody>
                    <a:bodyPr/>
                    <a:lstStyle/>
                    <a:p>
                      <a:pPr algn="ctr" indent="0" marL="0">
                        <a:buNone/>
                      </a:pPr>
                      <a:r>
                        <a:rPr lang="en-US" sz="1500" b="1" dirty="0">
                          <a:solidFill>
                            <a:srgbClr val="FFFFFF"/>
                          </a:solidFill>
                        </a:rPr>
                        <a:t>C3P</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4E7F64"/>
                    </a:solidFill>
                  </a:tcPr>
                </a:tc>
                <a:tc>
                  <a:txBody>
                    <a:bodyPr/>
                    <a:lstStyle/>
                    <a:p>
                      <a:pPr algn="ctr" indent="0" marL="0">
                        <a:buNone/>
                      </a:pPr>
                      <a:r>
                        <a:rPr lang="en-US" sz="1500" b="1" dirty="0">
                          <a:solidFill>
                            <a:srgbClr val="FFFFFF"/>
                          </a:solidFill>
                        </a:rPr>
                        <a:t>C2P</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C4581E"/>
                    </a:solidFill>
                  </a:tcPr>
                </a:tc>
                <a:tc>
                  <a:txBody>
                    <a:bodyPr/>
                    <a:lstStyle/>
                    <a:p>
                      <a:pPr algn="ctr" indent="0" marL="0">
                        <a:buNone/>
                      </a:pPr>
                      <a:r>
                        <a:rPr lang="en-US" sz="1500" b="1" dirty="0">
                          <a:solidFill>
                            <a:srgbClr val="FFFFFF"/>
                          </a:solidFill>
                        </a:rPr>
                        <a:t>C3P</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4E7F64"/>
                    </a:solidFill>
                  </a:tcPr>
                </a:tc>
                <a:tc>
                  <a:txBody>
                    <a:bodyPr/>
                    <a:lstStyle/>
                    <a:p>
                      <a:pPr algn="ctr" indent="0" marL="0">
                        <a:buNone/>
                      </a:pPr>
                      <a:r>
                        <a:rPr lang="en-US" sz="1500" b="1" dirty="0">
                          <a:solidFill>
                            <a:srgbClr val="FFFFFF"/>
                          </a:solidFill>
                        </a:rPr>
                        <a:t>C2P</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C4581E"/>
                    </a:solidFill>
                  </a:tcPr>
                </a:tc>
                <a:tc>
                  <a:txBody>
                    <a:bodyPr/>
                    <a:lstStyle/>
                    <a:p>
                      <a:pPr algn="ctr" indent="0" marL="0">
                        <a:buNone/>
                      </a:pPr>
                      <a:r>
                        <a:rPr lang="en-US" sz="1500" b="1" dirty="0">
                          <a:solidFill>
                            <a:srgbClr val="FFFFFF"/>
                          </a:solidFill>
                        </a:rPr>
                        <a:t>C3P</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4E7F64"/>
                    </a:solidFill>
                  </a:tcPr>
                </a:tc>
              </a:tr>
              <a:tr h="457200">
                <a:tc>
                  <a:txBody>
                    <a:bodyPr/>
                    <a:lstStyle/>
                    <a:p>
                      <a:pPr indent="0" marL="0">
                        <a:buNone/>
                      </a:pPr>
                      <a:r>
                        <a:rPr lang="en-US" sz="1500" b="1" dirty="0">
                          <a:solidFill>
                            <a:srgbClr val="1F2A30"/>
                          </a:solidFill>
                        </a:rPr>
                        <a:t>distanza percorsa [m]</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ctr" indent="0" marL="0">
                        <a:buNone/>
                      </a:pPr>
                      <a:r>
                        <a:rPr lang="en-US" sz="1500" dirty="0">
                          <a:solidFill>
                            <a:srgbClr val="1F2A30"/>
                          </a:solidFill>
                        </a:rPr>
                        <a:t>2.39</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ctr" indent="0" marL="0">
                        <a:buNone/>
                      </a:pPr>
                      <a:r>
                        <a:rPr lang="en-US" sz="1500" dirty="0">
                          <a:solidFill>
                            <a:srgbClr val="1F2A30"/>
                          </a:solidFill>
                        </a:rPr>
                        <a:t>2.35</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ctr" indent="0" marL="0">
                        <a:buNone/>
                      </a:pPr>
                      <a:r>
                        <a:rPr lang="en-US" sz="1500" dirty="0">
                          <a:solidFill>
                            <a:srgbClr val="1F2A30"/>
                          </a:solidFill>
                        </a:rPr>
                        <a:t>3.70</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ctr" indent="0" marL="0">
                        <a:buNone/>
                      </a:pPr>
                      <a:r>
                        <a:rPr lang="en-US" sz="1500" dirty="0">
                          <a:solidFill>
                            <a:srgbClr val="1F2A30"/>
                          </a:solidFill>
                        </a:rPr>
                        <a:t>3.71</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ctr" indent="0" marL="0">
                        <a:buNone/>
                      </a:pPr>
                      <a:r>
                        <a:rPr lang="en-US" sz="1500" dirty="0">
                          <a:solidFill>
                            <a:srgbClr val="1F2A30"/>
                          </a:solidFill>
                        </a:rPr>
                        <a:t>3.67</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ctr" indent="0" marL="0">
                        <a:buNone/>
                      </a:pPr>
                      <a:r>
                        <a:rPr lang="en-US" sz="1500" dirty="0">
                          <a:solidFill>
                            <a:srgbClr val="1F2A30"/>
                          </a:solidFill>
                        </a:rPr>
                        <a:t>3.72</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457200">
                <a:tc>
                  <a:txBody>
                    <a:bodyPr/>
                    <a:lstStyle/>
                    <a:p>
                      <a:pPr indent="0" marL="0">
                        <a:buNone/>
                      </a:pPr>
                      <a:r>
                        <a:rPr lang="en-US" sz="1500" b="1" dirty="0">
                          <a:solidFill>
                            <a:srgbClr val="1F2A30"/>
                          </a:solidFill>
                        </a:rPr>
                        <a:t>beccheggio max [deg]</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ctr" indent="0" marL="0">
                        <a:buNone/>
                      </a:pPr>
                      <a:r>
                        <a:rPr lang="en-US" sz="1500" dirty="0">
                          <a:solidFill>
                            <a:srgbClr val="1F2A30"/>
                          </a:solidFill>
                        </a:rPr>
                        <a:t>12.60</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ctr" indent="0" marL="0">
                        <a:buNone/>
                      </a:pPr>
                      <a:r>
                        <a:rPr lang="en-US" sz="1500" b="1" dirty="0">
                          <a:solidFill>
                            <a:srgbClr val="1F3A45"/>
                          </a:solidFill>
                        </a:rPr>
                        <a:t>1.33</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ctr" indent="0" marL="0">
                        <a:buNone/>
                      </a:pPr>
                      <a:r>
                        <a:rPr lang="en-US" sz="1500" dirty="0">
                          <a:solidFill>
                            <a:srgbClr val="1F2A30"/>
                          </a:solidFill>
                        </a:rPr>
                        <a:t>12.15</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ctr" indent="0" marL="0">
                        <a:buNone/>
                      </a:pPr>
                      <a:r>
                        <a:rPr lang="en-US" sz="1500" b="1" dirty="0">
                          <a:solidFill>
                            <a:srgbClr val="1F3A45"/>
                          </a:solidFill>
                        </a:rPr>
                        <a:t>1.68</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ctr" indent="0" marL="0">
                        <a:buNone/>
                      </a:pPr>
                      <a:r>
                        <a:rPr lang="en-US" sz="1500" dirty="0">
                          <a:solidFill>
                            <a:srgbClr val="1F2A30"/>
                          </a:solidFill>
                        </a:rPr>
                        <a:t>12.77</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ctr" indent="0" marL="0">
                        <a:buNone/>
                      </a:pPr>
                      <a:r>
                        <a:rPr lang="en-US" sz="1500" b="1" dirty="0">
                          <a:solidFill>
                            <a:srgbClr val="1F3A45"/>
                          </a:solidFill>
                        </a:rPr>
                        <a:t>3.53</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457200">
                <a:tc>
                  <a:txBody>
                    <a:bodyPr/>
                    <a:lstStyle/>
                    <a:p>
                      <a:pPr indent="0" marL="0">
                        <a:buNone/>
                      </a:pPr>
                      <a:r>
                        <a:rPr lang="en-US" sz="1500" b="1" dirty="0">
                          <a:solidFill>
                            <a:srgbClr val="1F2A30"/>
                          </a:solidFill>
                        </a:rPr>
                        <a:t>rollio max [deg]</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ctr" indent="0" marL="0">
                        <a:buNone/>
                      </a:pPr>
                      <a:r>
                        <a:rPr lang="en-US" sz="1500" dirty="0">
                          <a:solidFill>
                            <a:srgbClr val="1F2A30"/>
                          </a:solidFill>
                        </a:rPr>
                        <a:t>1.00</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ctr" indent="0" marL="0">
                        <a:buNone/>
                      </a:pPr>
                      <a:r>
                        <a:rPr lang="en-US" sz="1500" dirty="0">
                          <a:solidFill>
                            <a:srgbClr val="1F2A30"/>
                          </a:solidFill>
                        </a:rPr>
                        <a:t>0.44</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ctr" indent="0" marL="0">
                        <a:buNone/>
                      </a:pPr>
                      <a:r>
                        <a:rPr lang="en-US" sz="1500" dirty="0">
                          <a:solidFill>
                            <a:srgbClr val="1F2A30"/>
                          </a:solidFill>
                        </a:rPr>
                        <a:t>1.47</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ctr" indent="0" marL="0">
                        <a:buNone/>
                      </a:pPr>
                      <a:r>
                        <a:rPr lang="en-US" sz="1500" dirty="0">
                          <a:solidFill>
                            <a:srgbClr val="1F2A30"/>
                          </a:solidFill>
                        </a:rPr>
                        <a:t>0.45</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ctr" indent="0" marL="0">
                        <a:buNone/>
                      </a:pPr>
                      <a:r>
                        <a:rPr lang="en-US" sz="1500" dirty="0">
                          <a:solidFill>
                            <a:srgbClr val="1F2A30"/>
                          </a:solidFill>
                        </a:rPr>
                        <a:t>11.13</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ctr" indent="0" marL="0">
                        <a:buNone/>
                      </a:pPr>
                      <a:r>
                        <a:rPr lang="en-US" sz="1500" b="1" dirty="0">
                          <a:solidFill>
                            <a:srgbClr val="1F3A45"/>
                          </a:solidFill>
                        </a:rPr>
                        <a:t>2.07</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457200">
                <a:tc>
                  <a:txBody>
                    <a:bodyPr/>
                    <a:lstStyle/>
                    <a:p>
                      <a:pPr indent="0" marL="0">
                        <a:buNone/>
                      </a:pPr>
                      <a:r>
                        <a:rPr lang="en-US" sz="1500" b="1" dirty="0">
                          <a:solidFill>
                            <a:srgbClr val="1F2A30"/>
                          </a:solidFill>
                        </a:rPr>
                        <a:t>coppia RMS, giunto peggiore [N·m]</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ctr" indent="0" marL="0">
                        <a:buNone/>
                      </a:pPr>
                      <a:r>
                        <a:rPr lang="en-US" sz="1500" dirty="0">
                          <a:solidFill>
                            <a:srgbClr val="1F2A30"/>
                          </a:solidFill>
                        </a:rPr>
                        <a:t>0.963</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ctr" indent="0" marL="0">
                        <a:buNone/>
                      </a:pPr>
                      <a:r>
                        <a:rPr lang="en-US" sz="1500" dirty="0">
                          <a:solidFill>
                            <a:srgbClr val="1F2A30"/>
                          </a:solidFill>
                        </a:rPr>
                        <a:t>1.004</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ctr" indent="0" marL="0">
                        <a:buNone/>
                      </a:pPr>
                      <a:r>
                        <a:rPr lang="en-US" sz="1500" dirty="0">
                          <a:solidFill>
                            <a:srgbClr val="1F2A30"/>
                          </a:solidFill>
                        </a:rPr>
                        <a:t>1.028</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ctr" indent="0" marL="0">
                        <a:buNone/>
                      </a:pPr>
                      <a:r>
                        <a:rPr lang="en-US" sz="1500" dirty="0">
                          <a:solidFill>
                            <a:srgbClr val="1F2A30"/>
                          </a:solidFill>
                        </a:rPr>
                        <a:t>0.956</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ctr" indent="0" marL="0">
                        <a:buNone/>
                      </a:pPr>
                      <a:r>
                        <a:rPr lang="en-US" sz="1500" dirty="0">
                          <a:solidFill>
                            <a:srgbClr val="1F2A30"/>
                          </a:solidFill>
                        </a:rPr>
                        <a:t>0.999</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ctr" indent="0" marL="0">
                        <a:buNone/>
                      </a:pPr>
                      <a:r>
                        <a:rPr lang="en-US" sz="1500" dirty="0">
                          <a:solidFill>
                            <a:srgbClr val="1F2A30"/>
                          </a:solidFill>
                        </a:rPr>
                        <a:t>0.989</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457200">
                <a:tc>
                  <a:txBody>
                    <a:bodyPr/>
                    <a:lstStyle/>
                    <a:p>
                      <a:pPr indent="0" marL="0">
                        <a:buNone/>
                      </a:pPr>
                      <a:r>
                        <a:rPr lang="en-US" sz="1500" b="1" dirty="0">
                          <a:solidFill>
                            <a:srgbClr val="1F2A30"/>
                          </a:solidFill>
                        </a:rPr>
                        <a:t>spostamento max del pacco [mm]</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ctr" indent="0" marL="0">
                        <a:buNone/>
                      </a:pPr>
                      <a:r>
                        <a:rPr lang="en-US" sz="1500" dirty="0">
                          <a:solidFill>
                            <a:srgbClr val="1F2A30"/>
                          </a:solidFill>
                        </a:rPr>
                        <a:t>—</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ctr" indent="0" marL="0">
                        <a:buNone/>
                      </a:pPr>
                      <a:r>
                        <a:rPr lang="en-US" sz="1500" b="1" dirty="0">
                          <a:solidFill>
                            <a:srgbClr val="1F3A45"/>
                          </a:solidFill>
                        </a:rPr>
                        <a:t>19</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ctr" indent="0" marL="0">
                        <a:buNone/>
                      </a:pPr>
                      <a:r>
                        <a:rPr lang="en-US" sz="1500" dirty="0">
                          <a:solidFill>
                            <a:srgbClr val="1F2A30"/>
                          </a:solidFill>
                        </a:rPr>
                        <a:t>—</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ctr" indent="0" marL="0">
                        <a:buNone/>
                      </a:pPr>
                      <a:r>
                        <a:rPr lang="en-US" sz="1500" b="1" dirty="0">
                          <a:solidFill>
                            <a:srgbClr val="1F3A45"/>
                          </a:solidFill>
                        </a:rPr>
                        <a:t>14</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ctr" indent="0" marL="0">
                        <a:buNone/>
                      </a:pPr>
                      <a:r>
                        <a:rPr lang="en-US" sz="1500" dirty="0">
                          <a:solidFill>
                            <a:srgbClr val="1F2A30"/>
                          </a:solidFill>
                        </a:rPr>
                        <a:t>—</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ctr" indent="0" marL="0">
                        <a:buNone/>
                      </a:pPr>
                      <a:r>
                        <a:rPr lang="en-US" sz="1500" b="1" dirty="0">
                          <a:solidFill>
                            <a:srgbClr val="1F3A45"/>
                          </a:solidFill>
                        </a:rPr>
                        <a:t>20</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457200">
                <a:tc>
                  <a:txBody>
                    <a:bodyPr/>
                    <a:lstStyle/>
                    <a:p>
                      <a:pPr indent="0" marL="0">
                        <a:buNone/>
                      </a:pPr>
                      <a:r>
                        <a:rPr lang="en-US" sz="1500" b="1" dirty="0">
                          <a:solidFill>
                            <a:srgbClr val="1F2A30"/>
                          </a:solidFill>
                        </a:rPr>
                        <a:t>esito del pacco</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ctr" indent="0" marL="0">
                        <a:buNone/>
                      </a:pPr>
                      <a:r>
                        <a:rPr lang="en-US" sz="1500" dirty="0">
                          <a:solidFill>
                            <a:srgbClr val="1F2A30"/>
                          </a:solidFill>
                        </a:rPr>
                        <a:t>caduto</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ctr" indent="0" marL="0">
                        <a:buNone/>
                      </a:pPr>
                      <a:r>
                        <a:rPr lang="en-US" sz="1500" b="1" dirty="0">
                          <a:solidFill>
                            <a:srgbClr val="1F3A45"/>
                          </a:solidFill>
                        </a:rPr>
                        <a:t>resta</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ctr" indent="0" marL="0">
                        <a:buNone/>
                      </a:pPr>
                      <a:r>
                        <a:rPr lang="en-US" sz="1500" dirty="0">
                          <a:solidFill>
                            <a:srgbClr val="1F2A30"/>
                          </a:solidFill>
                        </a:rPr>
                        <a:t>al limite</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ctr" indent="0" marL="0">
                        <a:buNone/>
                      </a:pPr>
                      <a:r>
                        <a:rPr lang="en-US" sz="1500" b="1" dirty="0">
                          <a:solidFill>
                            <a:srgbClr val="1F3A45"/>
                          </a:solidFill>
                        </a:rPr>
                        <a:t>resta</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ctr" indent="0" marL="0">
                        <a:buNone/>
                      </a:pPr>
                      <a:r>
                        <a:rPr lang="en-US" sz="1500" dirty="0">
                          <a:solidFill>
                            <a:srgbClr val="1F2A30"/>
                          </a:solidFill>
                        </a:rPr>
                        <a:t>al limite</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ctr" indent="0" marL="0">
                        <a:buNone/>
                      </a:pPr>
                      <a:r>
                        <a:rPr lang="en-US" sz="1500" b="1" dirty="0">
                          <a:solidFill>
                            <a:srgbClr val="1F3A45"/>
                          </a:solidFill>
                        </a:rPr>
                        <a:t>resta</a:t>
                      </a:r>
                      <a:endParaRPr lang="en-US" sz="1500" dirty="0"/>
                    </a:p>
                  </a:txBody>
                  <a:tcPr marL="76200" marR="76200" marT="25400" marB="2540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bl>
          </a:graphicData>
        </a:graphic>
      </p:graphicFrame>
      <p:sp>
        <p:nvSpPr>
          <p:cNvPr id="5" name="Text 1"/>
          <p:cNvSpPr txBox="1"/>
          <p:nvPr/>
        </p:nvSpPr>
        <p:spPr>
          <a:xfrm>
            <a:off x="548640" y="5120640"/>
            <a:ext cx="11094415" cy="548640"/>
          </a:xfrm>
          <a:prstGeom prst="rect">
            <a:avLst/>
          </a:prstGeom>
          <a:noFill/>
          <a:ln/>
        </p:spPr>
        <p:txBody>
          <a:bodyPr wrap="square" lIns="0" tIns="0" rIns="0" bIns="0" rtlCol="0" anchor="ctr"/>
          <a:lstStyle/>
          <a:p>
            <a:pPr indent="0" marL="0">
              <a:buNone/>
            </a:pPr>
            <a:r>
              <a:rPr lang="en-US" sz="1600" b="1" dirty="0">
                <a:solidFill>
                  <a:schemeClr val="tx2"/>
                </a:solidFill>
              </a:rPr>
              <a:t>Stessa locomozione (distanza entro il 2%, stessa coppia): cambia solo il destino del pacco.</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chemeClr val="tx2"/>
                </a:solidFill>
              </a:rPr>
              <a:t>Il pacco sulla rampa (T4)</a:t>
            </a:r>
            <a:endParaRPr lang="en-US" sz="3000" dirty="0"/>
          </a:p>
        </p:txBody>
      </p:sp>
      <p:sp>
        <p:nvSpPr>
          <p:cNvPr id="4" name="IMG pacco_T4_en.png"/>
          <p:cNvSpPr/>
          <p:nvPr/>
        </p:nvSpPr>
        <p:spPr>
          <a:xfrm>
            <a:off x="548640" y="1280160"/>
            <a:ext cx="11094415" cy="4206240"/>
          </a:xfrm>
          <a:prstGeom prst="roundRect">
            <a:avLst>
              <a:gd name="adj" fmla="val 1739"/>
            </a:avLst>
          </a:prstGeom>
          <a:solidFill>
            <a:srgbClr val="F2F4F5"/>
          </a:solidFill>
          <a:ln w="15875">
            <a:solidFill>
              <a:srgbClr val="6F7F86"/>
            </a:solidFill>
            <a:prstDash val="dash"/>
          </a:ln>
        </p:spPr>
      </p:sp>
      <p:sp>
        <p:nvSpPr>
          <p:cNvPr id="5" name="Text 2"/>
          <p:cNvSpPr txBox="1"/>
          <p:nvPr/>
        </p:nvSpPr>
        <p:spPr>
          <a:xfrm>
            <a:off x="685800" y="1371600"/>
            <a:ext cx="10820095" cy="4023360"/>
          </a:xfrm>
          <a:prstGeom prst="rect">
            <a:avLst/>
          </a:prstGeom>
          <a:noFill/>
          <a:ln/>
        </p:spPr>
        <p:txBody>
          <a:bodyPr wrap="square" lIns="0" tIns="0" rIns="0" bIns="0" rtlCol="0" anchor="ctr"/>
          <a:lstStyle/>
          <a:p>
            <a:pPr algn="ctr" indent="0" marL="0">
              <a:buNone/>
            </a:pPr>
            <a:r>
              <a:rPr lang="en-US" sz="1600" b="1" dirty="0">
                <a:solidFill>
                  <a:schemeClr val="accent3"/>
                </a:solidFill>
              </a:rPr>
              <a:t>IMMAGINE</a:t>
            </a:r>
            <a:endParaRPr lang="en-US" sz="1500" dirty="0"/>
          </a:p>
          <a:p>
            <a:pPr algn="ctr" indent="0" marL="0">
              <a:buNone/>
            </a:pPr>
            <a:r>
              <a:rPr lang="en-US" sz="1400" dirty="0">
                <a:solidFill>
                  <a:schemeClr val="tx1"/>
                </a:solidFill>
              </a:rPr>
              <a:t>pacco_T4_en.png</a:t>
            </a:r>
            <a:endParaRPr lang="en-US" sz="1500" dirty="0"/>
          </a:p>
          <a:p>
            <a:pPr algn="ctr" indent="0" marL="0">
              <a:buNone/>
            </a:pPr>
            <a:r>
              <a:rPr lang="en-US" sz="1300" i="1" dirty="0">
                <a:solidFill>
                  <a:schemeClr val="accent3"/>
                </a:solidFill>
              </a:rPr>
              <a:t>Spostamento del pacco dal riferimento; fascia grigia oltre il gioco di 50 mm</a:t>
            </a:r>
            <a:endParaRPr lang="en-US" sz="1500" dirty="0"/>
          </a:p>
        </p:txBody>
      </p:sp>
      <p:sp>
        <p:nvSpPr>
          <p:cNvPr id="6" name="Text 3"/>
          <p:cNvSpPr txBox="1"/>
          <p:nvPr/>
        </p:nvSpPr>
        <p:spPr>
          <a:xfrm>
            <a:off x="548640" y="5623560"/>
            <a:ext cx="11094415" cy="548640"/>
          </a:xfrm>
          <a:prstGeom prst="rect">
            <a:avLst/>
          </a:prstGeom>
          <a:noFill/>
          <a:ln/>
        </p:spPr>
        <p:txBody>
          <a:bodyPr wrap="square" lIns="0" tIns="0" rIns="0" bIns="0" rtlCol="0" anchor="ctr"/>
          <a:lstStyle/>
          <a:p>
            <a:pPr indent="0" marL="0">
              <a:buNone/>
            </a:pPr>
            <a:r>
              <a:rPr lang="en-US" sz="1600" b="1" dirty="0">
                <a:solidFill>
                  <a:schemeClr val="tx2"/>
                </a:solidFill>
              </a:rPr>
              <a:t>C2P supera il gioco a 8.4 s e non rientra: il cubo cade. C3P resta sotto 20 mm.</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chemeClr val="tx2"/>
                </a:solidFill>
              </a:rPr>
              <a:t>Il pacco sul percorso a ostacoli (T6)</a:t>
            </a:r>
            <a:endParaRPr lang="en-US" sz="3000" dirty="0"/>
          </a:p>
        </p:txBody>
      </p:sp>
      <p:sp>
        <p:nvSpPr>
          <p:cNvPr id="4" name="IMG pacco_T6_en.png"/>
          <p:cNvSpPr/>
          <p:nvPr/>
        </p:nvSpPr>
        <p:spPr>
          <a:xfrm>
            <a:off x="548640" y="1280160"/>
            <a:ext cx="11094415" cy="4206240"/>
          </a:xfrm>
          <a:prstGeom prst="roundRect">
            <a:avLst>
              <a:gd name="adj" fmla="val 1739"/>
            </a:avLst>
          </a:prstGeom>
          <a:solidFill>
            <a:srgbClr val="F2F4F5"/>
          </a:solidFill>
          <a:ln w="15875">
            <a:solidFill>
              <a:srgbClr val="6F7F86"/>
            </a:solidFill>
            <a:prstDash val="dash"/>
          </a:ln>
        </p:spPr>
      </p:sp>
      <p:sp>
        <p:nvSpPr>
          <p:cNvPr id="5" name="Text 2"/>
          <p:cNvSpPr txBox="1"/>
          <p:nvPr/>
        </p:nvSpPr>
        <p:spPr>
          <a:xfrm>
            <a:off x="685800" y="1371600"/>
            <a:ext cx="10820095" cy="4023360"/>
          </a:xfrm>
          <a:prstGeom prst="rect">
            <a:avLst/>
          </a:prstGeom>
          <a:noFill/>
          <a:ln/>
        </p:spPr>
        <p:txBody>
          <a:bodyPr wrap="square" lIns="0" tIns="0" rIns="0" bIns="0" rtlCol="0" anchor="ctr"/>
          <a:lstStyle/>
          <a:p>
            <a:pPr algn="ctr" indent="0" marL="0">
              <a:buNone/>
            </a:pPr>
            <a:r>
              <a:rPr lang="en-US" sz="1600" b="1" dirty="0">
                <a:solidFill>
                  <a:schemeClr val="accent3"/>
                </a:solidFill>
              </a:rPr>
              <a:t>IMMAGINE</a:t>
            </a:r>
            <a:endParaRPr lang="en-US" sz="1500" dirty="0"/>
          </a:p>
          <a:p>
            <a:pPr algn="ctr" indent="0" marL="0">
              <a:buNone/>
            </a:pPr>
            <a:r>
              <a:rPr lang="en-US" sz="1400" dirty="0">
                <a:solidFill>
                  <a:schemeClr val="tx1"/>
                </a:solidFill>
              </a:rPr>
              <a:t>pacco_T6_en.png</a:t>
            </a:r>
            <a:endParaRPr lang="en-US" sz="1500" dirty="0"/>
          </a:p>
          <a:p>
            <a:pPr algn="ctr" indent="0" marL="0">
              <a:buNone/>
            </a:pPr>
            <a:r>
              <a:rPr lang="en-US" sz="1300" i="1" dirty="0">
                <a:solidFill>
                  <a:schemeClr val="accent3"/>
                </a:solidFill>
              </a:rPr>
              <a:t>Stessa misura, fino al bordo del pavimento</a:t>
            </a:r>
            <a:endParaRPr lang="en-US" sz="1500" dirty="0"/>
          </a:p>
        </p:txBody>
      </p:sp>
      <p:sp>
        <p:nvSpPr>
          <p:cNvPr id="6" name="Text 3"/>
          <p:cNvSpPr txBox="1"/>
          <p:nvPr/>
        </p:nvSpPr>
        <p:spPr>
          <a:xfrm>
            <a:off x="548640" y="5623560"/>
            <a:ext cx="11094415" cy="548640"/>
          </a:xfrm>
          <a:prstGeom prst="rect">
            <a:avLst/>
          </a:prstGeom>
          <a:noFill/>
          <a:ln/>
        </p:spPr>
        <p:txBody>
          <a:bodyPr wrap="square" lIns="0" tIns="0" rIns="0" bIns="0" rtlCol="0" anchor="ctr"/>
          <a:lstStyle/>
          <a:p>
            <a:pPr indent="0" marL="0">
              <a:buNone/>
            </a:pPr>
            <a:r>
              <a:rPr lang="en-US" sz="1600" b="1" dirty="0">
                <a:solidFill>
                  <a:schemeClr val="tx2"/>
                </a:solidFill>
              </a:rPr>
              <a:t>C2P esce e rientra cinque volte e chiude a 91 mm: non consegnato. C3P non raggiunge mai la soglia.</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chemeClr val="tx2"/>
                </a:solidFill>
              </a:rPr>
              <a:t>Il trasporto in simulazione</a:t>
            </a:r>
            <a:endParaRPr lang="en-US" sz="3000" dirty="0"/>
          </a:p>
        </p:txBody>
      </p:sp>
      <p:sp>
        <p:nvSpPr>
          <p:cNvPr id="4" name="VIDEO T4 con pacco: C2P e C3P affiancati"/>
          <p:cNvSpPr/>
          <p:nvPr/>
        </p:nvSpPr>
        <p:spPr>
          <a:xfrm>
            <a:off x="548640" y="1280160"/>
            <a:ext cx="11094415" cy="4206240"/>
          </a:xfrm>
          <a:prstGeom prst="roundRect">
            <a:avLst>
              <a:gd name="adj" fmla="val 1739"/>
            </a:avLst>
          </a:prstGeom>
          <a:solidFill>
            <a:srgbClr val="FBEFE8"/>
          </a:solidFill>
          <a:ln w="15875">
            <a:solidFill>
              <a:srgbClr val="C4581E"/>
            </a:solidFill>
            <a:prstDash val="dash"/>
          </a:ln>
        </p:spPr>
      </p:sp>
      <p:sp>
        <p:nvSpPr>
          <p:cNvPr id="5" name="Text 2"/>
          <p:cNvSpPr txBox="1"/>
          <p:nvPr/>
        </p:nvSpPr>
        <p:spPr>
          <a:xfrm>
            <a:off x="685800" y="1371600"/>
            <a:ext cx="10820095" cy="4023360"/>
          </a:xfrm>
          <a:prstGeom prst="rect">
            <a:avLst/>
          </a:prstGeom>
          <a:noFill/>
          <a:ln/>
        </p:spPr>
        <p:txBody>
          <a:bodyPr wrap="square" lIns="0" tIns="0" rIns="0" bIns="0" rtlCol="0" anchor="ctr"/>
          <a:lstStyle/>
          <a:p>
            <a:pPr algn="ctr" indent="0" marL="0">
              <a:buNone/>
            </a:pPr>
            <a:r>
              <a:rPr lang="en-US" sz="1600" b="1" dirty="0">
                <a:solidFill>
                  <a:schemeClr val="accent1"/>
                </a:solidFill>
              </a:rPr>
              <a:t>▶  VIDEO</a:t>
            </a:r>
            <a:endParaRPr lang="en-US" sz="1500" dirty="0"/>
          </a:p>
          <a:p>
            <a:pPr algn="ctr" indent="0" marL="0">
              <a:buNone/>
            </a:pPr>
            <a:r>
              <a:rPr lang="en-US" sz="1300" i="1" dirty="0">
                <a:solidFill>
                  <a:schemeClr val="accent3"/>
                </a:solidFill>
              </a:rPr>
              <a:t>T4 con pacco: C2P e C3P affiancati</a:t>
            </a:r>
            <a:endParaRPr lang="en-US" sz="1500" dirty="0"/>
          </a:p>
        </p:txBody>
      </p:sp>
      <p:sp>
        <p:nvSpPr>
          <p:cNvPr id="6" name="Text 3"/>
          <p:cNvSpPr txBox="1"/>
          <p:nvPr/>
        </p:nvSpPr>
        <p:spPr>
          <a:xfrm>
            <a:off x="548640" y="5623560"/>
            <a:ext cx="11094415" cy="548640"/>
          </a:xfrm>
          <a:prstGeom prst="rect">
            <a:avLst/>
          </a:prstGeom>
          <a:noFill/>
          <a:ln/>
        </p:spPr>
        <p:txBody>
          <a:bodyPr wrap="square" lIns="0" tIns="0" rIns="0" bIns="0" rtlCol="0" anchor="ctr"/>
          <a:lstStyle/>
          <a:p>
            <a:pPr indent="0" marL="0">
              <a:buNone/>
            </a:pPr>
            <a:r>
              <a:rPr lang="en-US" sz="1600" b="1" dirty="0">
                <a:solidFill>
                  <a:schemeClr val="tx2"/>
                </a:solidFill>
              </a:rPr>
              <a:t>Dodici gradi di beccheggio bastano a far camminare il cubo fino al bordo.</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chemeClr val="tx2"/>
                </a:solidFill>
              </a:rPr>
              <a:t>Stabilità: lo ZMP conferma l'ipotesi statica</a:t>
            </a:r>
            <a:endParaRPr lang="en-US" sz="3000" dirty="0"/>
          </a:p>
        </p:txBody>
      </p:sp>
      <p:sp>
        <p:nvSpPr>
          <p:cNvPr id="4" name="IMG zmp_en.png"/>
          <p:cNvSpPr/>
          <p:nvPr/>
        </p:nvSpPr>
        <p:spPr>
          <a:xfrm>
            <a:off x="548640" y="1280160"/>
            <a:ext cx="8138160" cy="3657600"/>
          </a:xfrm>
          <a:prstGeom prst="roundRect">
            <a:avLst>
              <a:gd name="adj" fmla="val 2000"/>
            </a:avLst>
          </a:prstGeom>
          <a:solidFill>
            <a:srgbClr val="F2F4F5"/>
          </a:solidFill>
          <a:ln w="15875">
            <a:solidFill>
              <a:srgbClr val="6F7F86"/>
            </a:solidFill>
            <a:prstDash val="dash"/>
          </a:ln>
        </p:spPr>
      </p:sp>
      <p:sp>
        <p:nvSpPr>
          <p:cNvPr id="5" name="Text 2"/>
          <p:cNvSpPr txBox="1"/>
          <p:nvPr/>
        </p:nvSpPr>
        <p:spPr>
          <a:xfrm>
            <a:off x="685800" y="1371600"/>
            <a:ext cx="7863840" cy="3474720"/>
          </a:xfrm>
          <a:prstGeom prst="rect">
            <a:avLst/>
          </a:prstGeom>
          <a:noFill/>
          <a:ln/>
        </p:spPr>
        <p:txBody>
          <a:bodyPr wrap="square" lIns="0" tIns="0" rIns="0" bIns="0" rtlCol="0" anchor="ctr"/>
          <a:lstStyle/>
          <a:p>
            <a:pPr algn="ctr" indent="0" marL="0">
              <a:buNone/>
            </a:pPr>
            <a:r>
              <a:rPr lang="en-US" sz="1600" b="1" dirty="0">
                <a:solidFill>
                  <a:schemeClr val="accent3"/>
                </a:solidFill>
              </a:rPr>
              <a:t>IMMAGINE</a:t>
            </a:r>
            <a:endParaRPr lang="en-US" sz="1500" dirty="0"/>
          </a:p>
          <a:p>
            <a:pPr algn="ctr" indent="0" marL="0">
              <a:buNone/>
            </a:pPr>
            <a:r>
              <a:rPr lang="en-US" sz="1400" dirty="0">
                <a:solidFill>
                  <a:schemeClr val="tx1"/>
                </a:solidFill>
              </a:rPr>
              <a:t>zmp_en.png</a:t>
            </a:r>
            <a:endParaRPr lang="en-US" sz="1500" dirty="0"/>
          </a:p>
          <a:p>
            <a:pPr algn="ctr" indent="0" marL="0">
              <a:buNone/>
            </a:pPr>
            <a:r>
              <a:rPr lang="en-US" sz="1300" i="1" dirty="0">
                <a:solidFill>
                  <a:schemeClr val="accent3"/>
                </a:solidFill>
              </a:rPr>
              <a:t>Margine di stabilità di C2 in piano, 10 cicli</a:t>
            </a:r>
            <a:endParaRPr lang="en-US" sz="1500" dirty="0"/>
          </a:p>
        </p:txBody>
      </p:sp>
      <p:sp>
        <p:nvSpPr>
          <p:cNvPr id="6" name="Text 3"/>
          <p:cNvSpPr txBox="1"/>
          <p:nvPr/>
        </p:nvSpPr>
        <p:spPr>
          <a:xfrm>
            <a:off x="9006840" y="1280160"/>
            <a:ext cx="2633472" cy="68580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0</a:t>
            </a:r>
            <a:endParaRPr lang="en-US" sz="3000" dirty="0"/>
          </a:p>
        </p:txBody>
      </p:sp>
      <p:sp>
        <p:nvSpPr>
          <p:cNvPr id="7" name="Text 4"/>
          <p:cNvSpPr txBox="1"/>
          <p:nvPr/>
        </p:nvSpPr>
        <p:spPr>
          <a:xfrm>
            <a:off x="9006840" y="1993392"/>
            <a:ext cx="2633472" cy="548640"/>
          </a:xfrm>
          <a:prstGeom prst="rect">
            <a:avLst/>
          </a:prstGeom>
          <a:noFill/>
          <a:ln/>
        </p:spPr>
        <p:txBody>
          <a:bodyPr wrap="square" lIns="0" tIns="0" rIns="0" bIns="0" rtlCol="0" anchor="t"/>
          <a:lstStyle/>
          <a:p>
            <a:pPr indent="0" marL="0">
              <a:buNone/>
            </a:pPr>
            <a:r>
              <a:rPr lang="en-US" sz="1300" dirty="0">
                <a:solidFill>
                  <a:schemeClr val="tx1"/>
                </a:solidFill>
              </a:rPr>
              <a:t>campioni con margine negativo</a:t>
            </a:r>
            <a:endParaRPr lang="en-US" sz="1300" dirty="0"/>
          </a:p>
        </p:txBody>
      </p:sp>
      <p:sp>
        <p:nvSpPr>
          <p:cNvPr id="8" name="Text 5"/>
          <p:cNvSpPr txBox="1"/>
          <p:nvPr/>
        </p:nvSpPr>
        <p:spPr>
          <a:xfrm>
            <a:off x="9006840" y="2697480"/>
            <a:ext cx="2633472" cy="68580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0.115 m</a:t>
            </a:r>
            <a:endParaRPr lang="en-US" sz="3000" dirty="0"/>
          </a:p>
        </p:txBody>
      </p:sp>
      <p:sp>
        <p:nvSpPr>
          <p:cNvPr id="9" name="Text 6"/>
          <p:cNvSpPr txBox="1"/>
          <p:nvPr/>
        </p:nvSpPr>
        <p:spPr>
          <a:xfrm>
            <a:off x="9006840" y="3410712"/>
            <a:ext cx="2633472" cy="548640"/>
          </a:xfrm>
          <a:prstGeom prst="rect">
            <a:avLst/>
          </a:prstGeom>
          <a:noFill/>
          <a:ln/>
        </p:spPr>
        <p:txBody>
          <a:bodyPr wrap="square" lIns="0" tIns="0" rIns="0" bIns="0" rtlCol="0" anchor="t"/>
          <a:lstStyle/>
          <a:p>
            <a:pPr indent="0" marL="0">
              <a:buNone/>
            </a:pPr>
            <a:r>
              <a:rPr lang="en-US" sz="1300" dirty="0">
                <a:solidFill>
                  <a:schemeClr val="tx1"/>
                </a:solidFill>
              </a:rPr>
              <a:t>margine mediano, contro 0.118 m previsti dalla geometria</a:t>
            </a:r>
            <a:endParaRPr lang="en-US" sz="1300" dirty="0"/>
          </a:p>
        </p:txBody>
      </p:sp>
      <p:sp>
        <p:nvSpPr>
          <p:cNvPr id="10" name="Text 7"/>
          <p:cNvSpPr txBox="1"/>
          <p:nvPr/>
        </p:nvSpPr>
        <p:spPr>
          <a:xfrm>
            <a:off x="9006840" y="4114800"/>
            <a:ext cx="2633472" cy="685800"/>
          </a:xfrm>
          <a:prstGeom prst="rect">
            <a:avLst/>
          </a:prstGeom>
          <a:noFill/>
          <a:ln/>
        </p:spPr>
        <p:txBody>
          <a:bodyPr wrap="square" lIns="0" tIns="0" rIns="0" bIns="0" rtlCol="0" anchor="t"/>
          <a:lstStyle/>
          <a:p>
            <a:pPr indent="0" marL="0">
              <a:buNone/>
            </a:pPr>
            <a:r>
              <a:rPr lang="en-US" sz="3000" b="1" dirty="0">
                <a:solidFill>
                  <a:schemeClr val="accent3"/>
                </a:solidFill>
                <a:latin typeface="Cambria" pitchFamily="34" charset="0"/>
                <a:ea typeface="Cambria" pitchFamily="34" charset="-122"/>
                <a:cs typeface="Cambria" pitchFamily="34" charset="-120"/>
              </a:rPr>
              <a:t>90%</a:t>
            </a:r>
            <a:endParaRPr lang="en-US" sz="3000" dirty="0"/>
          </a:p>
        </p:txBody>
      </p:sp>
      <p:sp>
        <p:nvSpPr>
          <p:cNvPr id="11" name="Text 8"/>
          <p:cNvSpPr txBox="1"/>
          <p:nvPr/>
        </p:nvSpPr>
        <p:spPr>
          <a:xfrm>
            <a:off x="9006840" y="4828032"/>
            <a:ext cx="2633472" cy="548640"/>
          </a:xfrm>
          <a:prstGeom prst="rect">
            <a:avLst/>
          </a:prstGeom>
          <a:noFill/>
          <a:ln/>
        </p:spPr>
        <p:txBody>
          <a:bodyPr wrap="square" lIns="0" tIns="0" rIns="0" bIns="0" rtlCol="0" anchor="t"/>
          <a:lstStyle/>
          <a:p>
            <a:pPr indent="0" marL="0">
              <a:buNone/>
            </a:pPr>
            <a:r>
              <a:rPr lang="en-US" sz="1300" dirty="0">
                <a:solidFill>
                  <a:schemeClr val="tx1"/>
                </a:solidFill>
              </a:rPr>
              <a:t>del tempo con margine calcolabile</a:t>
            </a:r>
            <a:endParaRPr lang="en-US" sz="1300" dirty="0"/>
          </a:p>
        </p:txBody>
      </p:sp>
      <p:sp>
        <p:nvSpPr>
          <p:cNvPr id="12" name="Text 9"/>
          <p:cNvSpPr txBox="1"/>
          <p:nvPr/>
        </p:nvSpPr>
        <p:spPr>
          <a:xfrm>
            <a:off x="548640" y="5120640"/>
            <a:ext cx="11094415" cy="731520"/>
          </a:xfrm>
          <a:prstGeom prst="rect">
            <a:avLst/>
          </a:prstGeom>
          <a:noFill/>
          <a:ln/>
        </p:spPr>
        <p:txBody>
          <a:bodyPr wrap="square" lIns="0" tIns="0" rIns="0" bIns="0" rtlCol="0" anchor="t"/>
          <a:lstStyle/>
          <a:p>
            <a:pPr indent="0" marL="0">
              <a:buNone/>
            </a:pPr>
            <a:r>
              <a:rPr lang="en-US" sz="1500" dirty="0">
                <a:solidFill>
                  <a:schemeClr val="tx2"/>
                </a:solidFill>
              </a:rPr>
              <a:t>Non calcolabile = meno di tre piedi sopra Fmin = 2 N, solo al cambio di tripode: limite della misura, non perdita d'appoggio.</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822960" y="548640"/>
            <a:ext cx="10515600" cy="822960"/>
          </a:xfrm>
          <a:prstGeom prst="rect">
            <a:avLst/>
          </a:prstGeom>
          <a:noFill/>
          <a:ln/>
        </p:spPr>
        <p:txBody>
          <a:bodyPr wrap="square" lIns="0" tIns="0" rIns="0" bIns="0" rtlCol="0" anchor="ctr"/>
          <a:lstStyle/>
          <a:p>
            <a:pPr indent="0" marL="0">
              <a:buNone/>
            </a:pPr>
            <a:r>
              <a:rPr lang="en-US" sz="4000" b="1" dirty="0">
                <a:solidFill>
                  <a:schemeClr val="bg1"/>
                </a:solidFill>
                <a:latin typeface="Cambria" pitchFamily="34" charset="0"/>
                <a:ea typeface="Cambria" pitchFamily="34" charset="-122"/>
                <a:cs typeface="Cambria" pitchFamily="34" charset="-120"/>
              </a:rPr>
              <a:t>Conclusioni</a:t>
            </a:r>
            <a:endParaRPr lang="en-US" sz="4000" dirty="0"/>
          </a:p>
        </p:txBody>
      </p:sp>
      <p:sp>
        <p:nvSpPr>
          <p:cNvPr id="3" name="concl 0"/>
          <p:cNvSpPr/>
          <p:nvPr/>
        </p:nvSpPr>
        <p:spPr>
          <a:xfrm>
            <a:off x="822960" y="1737360"/>
            <a:ext cx="3337560" cy="3108960"/>
          </a:xfrm>
          <a:prstGeom prst="rect">
            <a:avLst/>
          </a:prstGeom>
          <a:solidFill>
            <a:srgbClr val="2A4C59"/>
          </a:solidFill>
          <a:ln w="12700">
            <a:solidFill>
              <a:srgbClr val="2A4C59"/>
            </a:solidFill>
            <a:prstDash val="solid"/>
          </a:ln>
        </p:spPr>
      </p:sp>
      <p:sp>
        <p:nvSpPr>
          <p:cNvPr id="4" name="Text 2"/>
          <p:cNvSpPr txBox="1"/>
          <p:nvPr/>
        </p:nvSpPr>
        <p:spPr>
          <a:xfrm>
            <a:off x="1097280" y="1965960"/>
            <a:ext cx="2788920" cy="457200"/>
          </a:xfrm>
          <a:prstGeom prst="rect">
            <a:avLst/>
          </a:prstGeom>
          <a:noFill/>
          <a:ln/>
        </p:spPr>
        <p:txBody>
          <a:bodyPr wrap="square" lIns="0" tIns="0" rIns="0" bIns="0" rtlCol="0" anchor="t"/>
          <a:lstStyle/>
          <a:p>
            <a:pPr indent="0" marL="0">
              <a:buNone/>
            </a:pPr>
            <a:r>
              <a:rPr lang="en-US" sz="1900" b="1" dirty="0">
                <a:solidFill>
                  <a:srgbClr val="E88B5A"/>
                </a:solidFill>
                <a:latin typeface="Cambria" pitchFamily="34" charset="0"/>
                <a:ea typeface="Cambria" pitchFamily="34" charset="-122"/>
                <a:cs typeface="Cambria" pitchFamily="34" charset="-120"/>
              </a:rPr>
              <a:t>Ricerca del terreno</a:t>
            </a:r>
            <a:endParaRPr lang="en-US" sz="1900" dirty="0"/>
          </a:p>
        </p:txBody>
      </p:sp>
      <p:sp>
        <p:nvSpPr>
          <p:cNvPr id="5" name="Text 3"/>
          <p:cNvSpPr txBox="1"/>
          <p:nvPr/>
        </p:nvSpPr>
        <p:spPr>
          <a:xfrm>
            <a:off x="1097280" y="2560320"/>
            <a:ext cx="2788920" cy="2103120"/>
          </a:xfrm>
          <a:prstGeom prst="rect">
            <a:avLst/>
          </a:prstGeom>
          <a:noFill/>
          <a:ln/>
        </p:spPr>
        <p:txBody>
          <a:bodyPr wrap="square" lIns="0" tIns="0" rIns="0" bIns="0" rtlCol="0" anchor="t"/>
          <a:lstStyle/>
          <a:p>
            <a:pPr indent="0" marL="0">
              <a:buNone/>
            </a:pPr>
            <a:r>
              <a:rPr lang="en-US" sz="1600" dirty="0">
                <a:solidFill>
                  <a:schemeClr val="bg1"/>
                </a:solidFill>
              </a:rPr>
              <a:t>Costo sul terreno noto (beccheggio +219–279%), vantaggio sulle discontinuità (costo di trasporto −7/−10%).</a:t>
            </a:r>
            <a:endParaRPr lang="en-US" sz="1600" dirty="0"/>
          </a:p>
        </p:txBody>
      </p:sp>
      <p:sp>
        <p:nvSpPr>
          <p:cNvPr id="6" name="concl 1"/>
          <p:cNvSpPr/>
          <p:nvPr/>
        </p:nvSpPr>
        <p:spPr>
          <a:xfrm>
            <a:off x="4434840" y="1737360"/>
            <a:ext cx="3337560" cy="3108960"/>
          </a:xfrm>
          <a:prstGeom prst="rect">
            <a:avLst/>
          </a:prstGeom>
          <a:solidFill>
            <a:srgbClr val="2A4C59"/>
          </a:solidFill>
          <a:ln w="12700">
            <a:solidFill>
              <a:srgbClr val="2A4C59"/>
            </a:solidFill>
            <a:prstDash val="solid"/>
          </a:ln>
        </p:spPr>
      </p:sp>
      <p:sp>
        <p:nvSpPr>
          <p:cNvPr id="7" name="Text 5"/>
          <p:cNvSpPr txBox="1"/>
          <p:nvPr/>
        </p:nvSpPr>
        <p:spPr>
          <a:xfrm>
            <a:off x="4709160" y="1965960"/>
            <a:ext cx="2788920" cy="457200"/>
          </a:xfrm>
          <a:prstGeom prst="rect">
            <a:avLst/>
          </a:prstGeom>
          <a:noFill/>
          <a:ln/>
        </p:spPr>
        <p:txBody>
          <a:bodyPr wrap="square" lIns="0" tIns="0" rIns="0" bIns="0" rtlCol="0" anchor="t"/>
          <a:lstStyle/>
          <a:p>
            <a:pPr indent="0" marL="0">
              <a:buNone/>
            </a:pPr>
            <a:r>
              <a:rPr lang="en-US" sz="1900" b="1" dirty="0">
                <a:solidFill>
                  <a:srgbClr val="8FC1A4"/>
                </a:solidFill>
                <a:latin typeface="Cambria" pitchFamily="34" charset="0"/>
                <a:ea typeface="Cambria" pitchFamily="34" charset="-122"/>
                <a:cs typeface="Cambria" pitchFamily="34" charset="-120"/>
              </a:rPr>
              <a:t>Anello d'assetto</a:t>
            </a:r>
            <a:endParaRPr lang="en-US" sz="1900" dirty="0"/>
          </a:p>
        </p:txBody>
      </p:sp>
      <p:sp>
        <p:nvSpPr>
          <p:cNvPr id="8" name="Text 6"/>
          <p:cNvSpPr txBox="1"/>
          <p:nvPr/>
        </p:nvSpPr>
        <p:spPr>
          <a:xfrm>
            <a:off x="4709160" y="2560320"/>
            <a:ext cx="2788920" cy="2103120"/>
          </a:xfrm>
          <a:prstGeom prst="rect">
            <a:avLst/>
          </a:prstGeom>
          <a:noFill/>
          <a:ln/>
        </p:spPr>
        <p:txBody>
          <a:bodyPr wrap="square" lIns="0" tIns="0" rIns="0" bIns="0" rtlCol="0" anchor="t"/>
          <a:lstStyle/>
          <a:p>
            <a:pPr indent="0" marL="0">
              <a:buNone/>
            </a:pPr>
            <a:r>
              <a:rPr lang="en-US" sz="1600" dirty="0">
                <a:solidFill>
                  <a:schemeClr val="bg1"/>
                </a:solidFill>
              </a:rPr>
              <a:t>Beccheggio −73/−82% su ogni task, +28–40% di energia. Con un carico, rende possibile il trasporto.</a:t>
            </a:r>
            <a:endParaRPr lang="en-US" sz="1600" dirty="0"/>
          </a:p>
        </p:txBody>
      </p:sp>
      <p:sp>
        <p:nvSpPr>
          <p:cNvPr id="9" name="concl 2"/>
          <p:cNvSpPr/>
          <p:nvPr/>
        </p:nvSpPr>
        <p:spPr>
          <a:xfrm>
            <a:off x="8046720" y="1737360"/>
            <a:ext cx="3337560" cy="3108960"/>
          </a:xfrm>
          <a:prstGeom prst="rect">
            <a:avLst/>
          </a:prstGeom>
          <a:solidFill>
            <a:srgbClr val="2A4C59"/>
          </a:solidFill>
          <a:ln w="12700">
            <a:solidFill>
              <a:srgbClr val="2A4C59"/>
            </a:solidFill>
            <a:prstDash val="solid"/>
          </a:ln>
        </p:spPr>
      </p:sp>
      <p:sp>
        <p:nvSpPr>
          <p:cNvPr id="10" name="Text 8"/>
          <p:cNvSpPr txBox="1"/>
          <p:nvPr/>
        </p:nvSpPr>
        <p:spPr>
          <a:xfrm>
            <a:off x="8321040" y="1965960"/>
            <a:ext cx="2788920" cy="457200"/>
          </a:xfrm>
          <a:prstGeom prst="rect">
            <a:avLst/>
          </a:prstGeom>
          <a:noFill/>
          <a:ln/>
        </p:spPr>
        <p:txBody>
          <a:bodyPr wrap="square" lIns="0" tIns="0" rIns="0" bIns="0" rtlCol="0" anchor="t"/>
          <a:lstStyle/>
          <a:p>
            <a:pPr indent="0" marL="0">
              <a:buNone/>
            </a:pPr>
            <a:r>
              <a:rPr lang="en-US" sz="1900" b="1" dirty="0">
                <a:solidFill>
                  <a:srgbClr val="C9D4D8"/>
                </a:solidFill>
                <a:latin typeface="Cambria" pitchFamily="34" charset="0"/>
                <a:ea typeface="Cambria" pitchFamily="34" charset="-122"/>
                <a:cs typeface="Cambria" pitchFamily="34" charset="-120"/>
              </a:rPr>
              <a:t>Limiti</a:t>
            </a:r>
            <a:endParaRPr lang="en-US" sz="1900" dirty="0"/>
          </a:p>
        </p:txBody>
      </p:sp>
      <p:sp>
        <p:nvSpPr>
          <p:cNvPr id="11" name="Text 9"/>
          <p:cNvSpPr txBox="1"/>
          <p:nvPr/>
        </p:nvSpPr>
        <p:spPr>
          <a:xfrm>
            <a:off x="8321040" y="2560320"/>
            <a:ext cx="2788920" cy="2103120"/>
          </a:xfrm>
          <a:prstGeom prst="rect">
            <a:avLst/>
          </a:prstGeom>
          <a:noFill/>
          <a:ln/>
        </p:spPr>
        <p:txBody>
          <a:bodyPr wrap="square" lIns="0" tIns="0" rIns="0" bIns="0" rtlCol="0" anchor="t"/>
          <a:lstStyle/>
          <a:p>
            <a:pPr indent="0" marL="0">
              <a:buNone/>
            </a:pPr>
            <a:r>
              <a:rPr lang="en-US" sz="1600" dirty="0">
                <a:solidFill>
                  <a:schemeClr val="bg1"/>
                </a:solidFill>
              </a:rPr>
              <a:t>Impulso laterale non recuperato da nessuno; sui servo reali coppie oltre il carico raccomandato.</a:t>
            </a:r>
            <a:endParaRPr lang="en-US" sz="1600" dirty="0"/>
          </a:p>
        </p:txBody>
      </p:sp>
      <p:sp>
        <p:nvSpPr>
          <p:cNvPr id="12" name="Text 10"/>
          <p:cNvSpPr txBox="1"/>
          <p:nvPr/>
        </p:nvSpPr>
        <p:spPr>
          <a:xfrm>
            <a:off x="822960" y="5349240"/>
            <a:ext cx="10515600" cy="640080"/>
          </a:xfrm>
          <a:prstGeom prst="rect">
            <a:avLst/>
          </a:prstGeom>
          <a:noFill/>
          <a:ln/>
        </p:spPr>
        <p:txBody>
          <a:bodyPr wrap="square" lIns="0" tIns="0" rIns="0" bIns="0" rtlCol="0" anchor="t"/>
          <a:lstStyle/>
          <a:p>
            <a:pPr indent="0" marL="0">
              <a:buNone/>
            </a:pPr>
            <a:r>
              <a:rPr lang="en-US" sz="2400" b="1" dirty="0">
                <a:solidFill>
                  <a:schemeClr val="bg1"/>
                </a:solidFill>
                <a:latin typeface="Cambria" pitchFamily="34" charset="0"/>
                <a:ea typeface="Cambria" pitchFamily="34" charset="-122"/>
                <a:cs typeface="Cambria" pitchFamily="34" charset="-120"/>
              </a:rPr>
              <a:t>Grazie per l'attenzione</a:t>
            </a:r>
            <a:endParaRPr lang="en-US" sz="2400" dirty="0"/>
          </a:p>
        </p:txBody>
      </p:sp>
      <p:sp>
        <p:nvSpPr>
          <p:cNvPr id="14" name="Text 0"/>
          <p:cNvSpPr/>
          <p:nvPr>
            <p:ph idx="100" type="title" hasCustomPrompt="1"/>
          </p:nvPr>
        </p:nvSpPr>
        <p:spPr>
          <a:xfrm>
            <a:off x="822960" y="1554480"/>
            <a:ext cx="10515600" cy="1737360"/>
          </a:xfrm>
          <a:prstGeom prst="rect">
            <a:avLst/>
          </a:prstGeom>
          <a:noFill/>
          <a:ln/>
        </p:spPr>
        <p:txBody>
          <a:bodyPr wrap="square" lIns="0" tIns="0" rIns="0" bIns="0" rtlCol="0" anchor="b"/>
          <a:lstStyle/>
          <a:p>
            <a:pPr indent="0" marL="0">
              <a:buNone/>
            </a:pPr>
            <a:endParaRPr lang="en-US" sz="4000" dirty="0"/>
          </a:p>
        </p:txBody>
      </p:sp>
      <p:sp>
        <p:nvSpPr>
          <p:cNvPr id="15" name="Text 0"/>
          <p:cNvSpPr/>
          <p:nvPr>
            <p:ph idx="101" type="body" hasCustomPrompt="1"/>
          </p:nvPr>
        </p:nvSpPr>
        <p:spPr>
          <a:xfrm>
            <a:off x="822960" y="3429000"/>
            <a:ext cx="10515600" cy="731520"/>
          </a:xfrm>
          <a:prstGeom prst="rect">
            <a:avLst/>
          </a:prstGeom>
          <a:noFill/>
          <a:ln/>
        </p:spPr>
        <p:txBody>
          <a:bodyPr wrap="square" lIns="0" tIns="0" rIns="0" bIns="0" rtlCol="0" anchor="t"/>
          <a:lstStyle/>
          <a:p>
            <a:pPr indent="0" marL="0">
              <a:buNone/>
            </a:pPr>
            <a:endParaRPr lang="en-US" sz="2000" dirty="0"/>
          </a:p>
        </p:txBody>
      </p:sp>
    </p:spTree>
  </p:cSld>
  <p:clrMapOvr>
    <a:masterClrMapping/>
  </p:clrMapOvr>
</p:sld>
</file>

<file path=ppt/theme/theme1.xml><?xml version="1.0" encoding="utf-8"?>
<a:theme xmlns:a="http://schemas.openxmlformats.org/drawingml/2006/main" name="FSR PhantomX">
  <a:themeElements>
    <a:clrScheme name="FSR PhantomX">
      <a:dk1>
        <a:srgbClr val="1F2A30"/>
      </a:dk1>
      <a:lt1>
        <a:srgbClr val="FFFFFF"/>
      </a:lt1>
      <a:dk2>
        <a:srgbClr val="1F3A45"/>
      </a:dk2>
      <a:lt2>
        <a:srgbClr val="EEF2F3"/>
      </a:lt2>
      <a:accent1>
        <a:srgbClr val="C4581E"/>
      </a:accent1>
      <a:accent2>
        <a:srgbClr val="4E7F64"/>
      </a:accent2>
      <a:accent3>
        <a:srgbClr val="6F7F86"/>
      </a:accent3>
      <a:accent4>
        <a:srgbClr val="2E6F8E"/>
      </a:accent4>
      <a:accent5>
        <a:srgbClr val="B9C6CB"/>
      </a:accent5>
      <a:accent6>
        <a:srgbClr val="E3B23C"/>
      </a:accent6>
      <a:hlink>
        <a:srgbClr val="2E6F8E"/>
      </a:hlink>
      <a:folHlink>
        <a:srgbClr val="6F7F86"/>
      </a:folHlink>
    </a:clrScheme>
    <a:fontScheme name="FSR PhantomX">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Controllo con interazione col terreno di un robot esapode</dc:title>
  <dc:subject>PptxGenJS Presentation</dc:subject>
  <dc:creator>Eros Cribello, Andrea Russo</dc:creator>
  <cp:lastModifiedBy>Eros Cribello, Andrea Russo</cp:lastModifiedBy>
  <cp:revision>1</cp:revision>
  <dcterms:created xsi:type="dcterms:W3CDTF">2026-10-08T20:46:56Z</dcterms:created>
  <dcterms:modified xsi:type="dcterms:W3CDTF">2026-10-08T20:46:56Z</dcterms:modified>
</cp:coreProperties>
</file>