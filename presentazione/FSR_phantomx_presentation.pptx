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8" r:id="rId3"/>
    <p:sldId id="257" r:id="rId4"/>
    <p:sldId id="259" r:id="rId5"/>
    <p:sldId id="286" r:id="rId6"/>
    <p:sldId id="287" r:id="rId7"/>
    <p:sldId id="288" r:id="rId8"/>
    <p:sldId id="260" r:id="rId9"/>
    <p:sldId id="263" r:id="rId10"/>
    <p:sldId id="261" r:id="rId11"/>
    <p:sldId id="262" r:id="rId12"/>
    <p:sldId id="264" r:id="rId13"/>
    <p:sldId id="265" r:id="rId14"/>
    <p:sldId id="266" r:id="rId15"/>
    <p:sldId id="267" r:id="rId16"/>
    <p:sldId id="268" r:id="rId17"/>
    <p:sldId id="269"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2339C87-F0B2-5869-4FFA-490771CC5ACA}">
          <p14:sldIdLst>
            <p14:sldId id="256"/>
            <p14:sldId id="258"/>
            <p14:sldId id="257"/>
            <p14:sldId id="259"/>
          </p14:sldIdLst>
        </p14:section>
        <p14:section name="Method" id="{13A2ACCC-FEF5-9C91-7673-2EEBE8FEBB67}">
          <p14:sldIdLst>
            <p14:sldId id="286"/>
            <p14:sldId id="287"/>
            <p14:sldId id="288"/>
            <p14:sldId id="260"/>
            <p14:sldId id="263"/>
            <p14:sldId id="261"/>
            <p14:sldId id="262"/>
          </p14:sldIdLst>
        </p14:section>
        <p14:section name="Results" id="{E47DB06F-3480-058A-BB26-A939CF120EA3}">
          <p14:sldIdLst>
            <p14:sldId id="264"/>
            <p14:sldId id="265"/>
            <p14:sldId id="266"/>
            <p14:sldId id="267"/>
            <p14:sldId id="268"/>
            <p14:sldId id="269"/>
            <p14:sldId id="271"/>
            <p14:sldId id="272"/>
            <p14:sldId id="273"/>
            <p14:sldId id="274"/>
            <p14:sldId id="275"/>
            <p14:sldId id="276"/>
          </p14:sldIdLst>
        </p14:section>
        <p14:section name="Feasibility" id="{3B833B88-BE68-FD29-5F03-451178A61C76}">
          <p14:sldIdLst>
            <p14:sldId id="277"/>
            <p14:sldId id="278"/>
          </p14:sldIdLst>
        </p14:section>
        <p14:section name="Load transport" id="{2F892E0B-5DB7-8722-7422-EF526B82AD63}">
          <p14:sldIdLst>
            <p14:sldId id="279"/>
            <p14:sldId id="280"/>
            <p14:sldId id="281"/>
            <p14:sldId id="282"/>
            <p14:sldId id="283"/>
          </p14:sldIdLst>
        </p14:section>
        <p14:section name="Stability" id="{A3396BB1-A3E5-77CC-982B-478EC4541849}">
          <p14:sldIdLst>
            <p14:sldId id="284"/>
          </p14:sldIdLst>
        </p14:section>
        <p14:section name="Conclusions" id="{62AF1DB7-B699-EDEC-5D3B-6B325C906469}">
          <p14:sldIdLst>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5" d="100"/>
          <a:sy n="75" d="100"/>
        </p:scale>
        <p:origin x="946" y="22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6246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Introduce ourselves and the course. The work compares three controllers for the PhantomX hexapod on the same Simscape plant.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The model comes from the public URDF. Joints are position-commanded, so torque is a reaction. Penalty contact with Coulomb friction, static penetration 4.3 mm.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Hardware without force sensors: everything goes through servo torque. The paper shows that terrain search helps on unmodelled terrain, but does not say how much it costs where the terrain is already known. That is our starting question.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Each controller adds a single mechanism to the previous one, on the same model, terrain and gait generator. So every comparison between adjacent controllers has a single cause. In C3 the foot height is the sum of terrain search and attitude correction.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Three of the five parameters are fixed by measured constraints; the period follows from step and speed. Froude 0.0095: the gait is quasi-static, which justifies the static stability assumption of the tripod. The seven tasks range from flat ground to obstacles to a lateral impulse.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In simulation everything is deterministic, but a lucky combination of impact instants can favour one controller. We perturb the stance depth by 0.2 mm, measure how much each metric oscillates, and declare a difference only if it is at least three times that oscillation.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The declared inertias place the trunk mass 1.79 m from its centre, for a 25 cm wide trunk. All 24 links have the same inertia. Dividing by a thousand makes everything plausible: a CAD export in grams. Effect on pitch: from 45 to 15 degrees.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We had corrected the inertias only in the simulated robot: the torque estimator still described the other one. An always-high flag was wrong as often as ours, so ours carried no information. After alignment the error drops to 0.6%. We then disabled the coxa threshold.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On terrain identical to what the generator expects, search worsens pitch almost fourfold, with no energy gain. The attitude loop cuts it by 82%, but uses 28% more energy.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Sweep of five factors, judged on body bounce with a 10 mm threshold set beforehand. The open-loop gait is stable between 1 and 1.2 times nominal speed; at 2 times the robot moves backwards.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On the curve almost all differences pass the threshold. Search worsens attitude but saves 2-3% energy; the attitude loop brings attitude back down and costs 28%.</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The three trajectories overlap: the yaw command is followed in the same way. The axes have different scales, so the lateral deviation looks larger than it is.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On bump and obstacle search reduces energy and cost of transport, and roll on the bump. This is the paper's result. Exception: on the bump C2 pitch worsens by 21%, because the body follows the gradient. The attitude loop cuts pitch by 81% and 73%.</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Outside the grey window the curves oscillate with the step. Inside, C1 and C2 pitch nose-up as the front legs climb and nose-down with the rear ones. C3 stays flat.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On the ramp the band is not measured, so no verdicts, but the difference is qualitative. C1 and C2 stay parallel to the ramp; C3 keeps the trunk horizontal, its objective. It costs 45% in cost of transport.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The first 4.5 s are on flat ground. Then C1 and C2 lie along the slope, C3 keeps the trunk horizontal. The sawtooth is the step oscillation.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Video: C2 parallel to the ramp, C3 horizontal.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All three cross the seven obstacles without rolling over, and drift stays below the threshold beyond which an obstacle would be bypassed. C3 cuts roll and pitch by about 70% and almost halves peak torque. Only C3 completes the course with a gait cycle of margin.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Video of the full course: note C1 and C2 roll on the lateral obstacles and the steadiness of C3's trunk.</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At large impulse none of the three recovers: the curves coincide within 2%. Neither search nor attitude acts on this disturbance: it is the clearest gap for a future controller.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The simulator grants any torque; here we measure what each controller demands. Walking sits at 39-46% of stall, 2.3 times the one fifth recommended by the manufacturer. Impact peaks exceed stall, up to 5 times, but on less than 1% of samples.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Same information as the table, graphically: RMS bars stay below stall, peaks exceed it only at impacts.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So far attitude was just a number to minimise. With a free load on the robot it becomes a requirement. To see whether the load needs the attitude loop we compare C3P with C2P: same model, same package, loop off.</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So far attitude was just a number to minimise. With a free load it becomes a requirement. With the loop off the robot still completes the paths with the same torque, but the package exceeds the clearance within the first nine seconds.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On the ramp the fall is clean: past the threshold, the cube leaves the robot. With the loop on it stays still on the tray.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Here there is no clean fall: the cube bangs back and forth well beyond the tray limits. By the criterion it is still not delivered.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Video: same path, same package. On the left without the attitude loop the cube slides and falls, on the right it stays on the tray. The attitude loop does not improve transport, it makes it possible.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The tripod is built on a static assumption. With Froude 0.0095 the ZMP coincides with the projection of the centre of mass, so measuring it verifies the assumption with the robot in motion. Margin never negative, median on the geometric prediction. The gaps are instants with fewer than three feet above 2 N, only at the tripod switch. The noise comes from unfiltered contact forces.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Three messages: terrain search has a measurable cost where it is not needed; the attitude loop is what makes the robot useful for transport; recovery from lateral disturbances remains open.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1554480"/>
            <a:ext cx="10515600" cy="1737360"/>
          </a:xfrm>
          <a:prstGeom prst="rect">
            <a:avLst/>
          </a:prstGeom>
          <a:noFill/>
          <a:ln/>
        </p:spPr>
        <p:txBody>
          <a:bodyPr wrap="square" rtlCol="0"/>
          <a:lstStyle>
            <a:lvl1pPr marL="0" indent="0">
              <a:buNone/>
              <a:defRPr lang="en-US" sz="4000" b="1" dirty="0">
                <a:solidFill>
                  <a:schemeClr val="bg1"/>
                </a:solidFill>
              </a:defRPr>
            </a:lvl1pPr>
          </a:lstStyle>
          <a:p>
            <a:pPr marL="0" indent="0">
              <a:buNone/>
            </a:pPr>
            <a:endParaRPr lang="en-US" sz="4000" dirty="0"/>
          </a:p>
        </p:txBody>
      </p:sp>
      <p:sp>
        <p:nvSpPr>
          <p:cNvPr id="3" name="Text 0"/>
          <p:cNvSpPr>
            <a:spLocks noGrp="1"/>
          </p:cNvSpPr>
          <p:nvPr>
            <p:ph type="body" idx="101" hasCustomPrompt="1"/>
          </p:nvPr>
        </p:nvSpPr>
        <p:spPr>
          <a:xfrm>
            <a:off x="822960" y="3429000"/>
            <a:ext cx="10515600" cy="731520"/>
          </a:xfrm>
          <a:prstGeom prst="rect">
            <a:avLst/>
          </a:prstGeom>
          <a:noFill/>
          <a:ln/>
        </p:spPr>
        <p:txBody>
          <a:bodyPr wrap="square" rtlCol="0"/>
          <a:lstStyle>
            <a:lvl1pPr marL="0" indent="0">
              <a:buNone/>
              <a:defRPr lang="en-US" sz="2000" dirty="0">
                <a:solidFill>
                  <a:schemeClr val="bg2"/>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rtlCol="0"/>
          <a:lstStyle>
            <a:lvl1pPr marL="0" indent="0">
              <a:buNone/>
              <a:defRPr lang="en-US" sz="3000" b="1" dirty="0">
                <a:solidFill>
                  <a:schemeClr val="tx2"/>
                </a:solidFill>
              </a:defRPr>
            </a:lvl1pPr>
          </a:lstStyle>
          <a:p>
            <a:pPr marL="0" indent="0">
              <a:buNone/>
            </a:pPr>
            <a:endParaRPr lang="en-US" sz="30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chemeClr val="accent3"/>
                </a:solidFill>
              </a:rPr>
              <a:t>FSR — PhantomX</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3.xml"/><Relationship Id="rId1" Type="http://schemas.openxmlformats.org/officeDocument/2006/relationships/themeOverride" Target="../theme/themeOverride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1554480"/>
            <a:ext cx="10515600" cy="1737360"/>
          </a:xfrm>
          <a:prstGeom prst="rect">
            <a:avLst/>
          </a:prstGeom>
          <a:noFill/>
          <a:ln/>
        </p:spPr>
        <p:txBody>
          <a:bodyPr wrap="square" lIns="0" tIns="0" rIns="0" bIns="0" rtlCol="0" anchor="b"/>
          <a:lstStyle/>
          <a:p>
            <a:pPr marL="0" indent="0">
              <a:buNone/>
            </a:pPr>
            <a:r>
              <a:rPr lang="en-US" sz="4000" b="1">
                <a:solidFill>
                  <a:schemeClr val="bg1"/>
                </a:solidFill>
              </a:rPr>
              <a:t>Terrain-interaction control of a hexapod robot</a:t>
            </a:r>
            <a:endParaRPr lang="en-US" sz="4000" dirty="0"/>
          </a:p>
        </p:txBody>
      </p:sp>
      <p:sp>
        <p:nvSpPr>
          <p:cNvPr id="3" name="Text 0"/>
          <p:cNvSpPr>
            <a:spLocks noGrp="1"/>
          </p:cNvSpPr>
          <p:nvPr>
            <p:ph type="body" idx="101" hasCustomPrompt="1"/>
          </p:nvPr>
        </p:nvSpPr>
        <p:spPr>
          <a:xfrm>
            <a:off x="822960" y="3429000"/>
            <a:ext cx="10515600" cy="731520"/>
          </a:xfrm>
          <a:prstGeom prst="rect">
            <a:avLst/>
          </a:prstGeom>
          <a:noFill/>
          <a:ln/>
        </p:spPr>
        <p:txBody>
          <a:bodyPr wrap="square" lIns="0" tIns="0" rIns="0" bIns="0" rtlCol="0" anchor="t"/>
          <a:lstStyle/>
          <a:p>
            <a:pPr marL="0" indent="0">
              <a:buNone/>
            </a:pPr>
            <a:r>
              <a:rPr lang="en-US" sz="2000" dirty="0">
                <a:solidFill>
                  <a:schemeClr val="bg2"/>
                </a:solidFill>
              </a:rPr>
              <a:t>A measured comparison of three controllers on a shared simulation plant</a:t>
            </a:r>
            <a:endParaRPr lang="en-US" sz="2000" dirty="0"/>
          </a:p>
        </p:txBody>
      </p:sp>
      <p:sp>
        <p:nvSpPr>
          <p:cNvPr id="4" name="Text 2"/>
          <p:cNvSpPr txBox="1"/>
          <p:nvPr/>
        </p:nvSpPr>
        <p:spPr>
          <a:xfrm>
            <a:off x="822960" y="4892040"/>
            <a:ext cx="7315200" cy="1097280"/>
          </a:xfrm>
          <a:prstGeom prst="rect">
            <a:avLst/>
          </a:prstGeom>
          <a:noFill/>
          <a:ln/>
        </p:spPr>
        <p:txBody>
          <a:bodyPr wrap="square" lIns="0" tIns="0" rIns="0" bIns="0" rtlCol="0" anchor="t"/>
          <a:lstStyle/>
          <a:p>
            <a:pPr marL="0" indent="0">
              <a:buNone/>
            </a:pPr>
            <a:r>
              <a:rPr lang="en-US" sz="1500" b="1">
                <a:solidFill>
                  <a:schemeClr val="bg1"/>
                </a:solidFill>
              </a:rPr>
              <a:t>Eros Cribello  ·  Andrea Russo</a:t>
            </a:r>
            <a:endParaRPr lang="en-US" sz="1500"/>
          </a:p>
          <a:p>
            <a:pPr marL="0" indent="0">
              <a:buNone/>
            </a:pPr>
            <a:r>
              <a:rPr lang="en-US" sz="1500">
                <a:solidFill>
                  <a:schemeClr val="bg1"/>
                </a:solidFill>
              </a:rPr>
              <a:t>Field and Service Robotics — A.Y. 2025/2026</a:t>
            </a:r>
            <a:endParaRPr lang="en-US" sz="1500"/>
          </a:p>
          <a:p>
            <a:pPr marL="0" indent="0">
              <a:buNone/>
            </a:pPr>
            <a:r>
              <a:rPr lang="en-US" sz="1500">
                <a:solidFill>
                  <a:schemeClr val="bg1"/>
                </a:solidFill>
              </a:rPr>
              <a:t>University of Naples Federico II</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41248" y="365760"/>
            <a:ext cx="10515600" cy="1325880"/>
          </a:xfrm>
        </p:spPr>
        <p:txBody>
          <a:bodyPr wrap="square" lIns="0" tIns="0" rIns="0" bIns="0" rtlCol="0" anchor="ctr">
            <a:normAutofit/>
          </a:bodyPr>
          <a:lstStyle/>
          <a:p>
            <a:pPr marL="0" indent="0">
              <a:buNone/>
            </a:pPr>
            <a:r>
              <a:rPr lang="en-US" b="1" dirty="0"/>
              <a:t>The robot that we used</a:t>
            </a:r>
            <a:endParaRPr lang="en-US" dirty="0"/>
          </a:p>
        </p:txBody>
      </p:sp>
      <p:sp>
        <p:nvSpPr>
          <p:cNvPr id="6" name="Text 3"/>
          <p:cNvSpPr txBox="1"/>
          <p:nvPr/>
        </p:nvSpPr>
        <p:spPr>
          <a:xfrm>
            <a:off x="401216" y="2493482"/>
            <a:ext cx="5694784" cy="4352544"/>
          </a:xfrm>
          <a:prstGeom prst="rect">
            <a:avLst/>
          </a:prstGeom>
          <a:noFill/>
          <a:ln/>
        </p:spPr>
        <p:txBody>
          <a:bodyPr lIns="0" tIns="0" rIns="0" bIns="0" rtlCol="0" anchor="t">
            <a:noAutofit/>
          </a:bodyPr>
          <a:lstStyle/>
          <a:p>
            <a:pPr marL="285750" indent="-285750">
              <a:spcAft>
                <a:spcPts val="600"/>
              </a:spcAft>
              <a:buFont typeface="Arial" panose="020B0604020202020204" pitchFamily="34" charset="0"/>
              <a:buChar char="•"/>
            </a:pPr>
            <a:r>
              <a:rPr lang="en-US" sz="2500" dirty="0">
                <a:solidFill>
                  <a:schemeClr val="tx2"/>
                </a:solidFill>
              </a:rPr>
              <a:t>25 rigid bodies: 1 trunk + 24 leg links</a:t>
            </a:r>
          </a:p>
          <a:p>
            <a:pPr marL="285750" indent="-285750">
              <a:spcAft>
                <a:spcPts val="600"/>
              </a:spcAft>
              <a:buFont typeface="Arial" panose="020B0604020202020204" pitchFamily="34" charset="0"/>
              <a:buChar char="•"/>
            </a:pPr>
            <a:r>
              <a:rPr lang="en-US" sz="2500" kern="1200" dirty="0">
                <a:solidFill>
                  <a:schemeClr val="tx2"/>
                </a:solidFill>
              </a:rPr>
              <a:t>18 position</a:t>
            </a:r>
            <a:r>
              <a:rPr lang="en-US" sz="2500" dirty="0">
                <a:solidFill>
                  <a:schemeClr val="tx2"/>
                </a:solidFill>
              </a:rPr>
              <a:t>-commanded revolute joints</a:t>
            </a:r>
          </a:p>
          <a:p>
            <a:pPr marL="285750" indent="-285750">
              <a:spcAft>
                <a:spcPts val="600"/>
              </a:spcAft>
              <a:buFont typeface="Arial" panose="020B0604020202020204" pitchFamily="34" charset="0"/>
              <a:buChar char="•"/>
            </a:pPr>
            <a:r>
              <a:rPr lang="en-US" sz="2500" kern="1200" dirty="0">
                <a:solidFill>
                  <a:schemeClr val="tx2"/>
                </a:solidFill>
              </a:rPr>
              <a:t>6 spherical contacts at the feet</a:t>
            </a:r>
          </a:p>
        </p:txBody>
      </p:sp>
      <p:pic>
        <p:nvPicPr>
          <p:cNvPr id="7" name="Immagine 6">
            <a:extLst>
              <a:ext uri="{FF2B5EF4-FFF2-40B4-BE49-F238E27FC236}">
                <a16:creationId xmlns:a16="http://schemas.microsoft.com/office/drawing/2014/main" id="{6A7DDFA0-B330-E8D1-CD75-0FC71A86354D}"/>
              </a:ext>
            </a:extLst>
          </p:cNvPr>
          <p:cNvPicPr>
            <a:picLocks noChangeAspect="1"/>
          </p:cNvPicPr>
          <p:nvPr/>
        </p:nvPicPr>
        <p:blipFill>
          <a:blip r:embed="rId3"/>
          <a:srcRect l="11177" r="13439" b="-1"/>
          <a:stretch>
            <a:fillRect/>
          </a:stretch>
        </p:blipFill>
        <p:spPr>
          <a:xfrm>
            <a:off x="6289548" y="1882140"/>
            <a:ext cx="5067300" cy="4352544"/>
          </a:xfrm>
          <a:prstGeom prst="rect">
            <a:avLst/>
          </a:prstGeom>
          <a:noFill/>
          <a:ln/>
        </p:spPr>
      </p:pic>
      <p:sp>
        <p:nvSpPr>
          <p:cNvPr id="25" name="Slide Number Placeholder 0" hidden="1"/>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spcAft>
                <a:spcPts val="600"/>
              </a:spcAft>
            </a:pPr>
            <a:fld id="{F7021451-1387-4CA6-816F-3879F97B5CBC}" type="slidenum">
              <a:rPr lang="en-US" b="0"/>
              <a:pPr algn="r">
                <a:spcAft>
                  <a:spcPts val="600"/>
                </a:spcAft>
              </a:pPr>
              <a:t>2</a:t>
            </a:fld>
            <a:endParaRPr lang="en-US"/>
          </a:p>
        </p:txBody>
      </p:sp>
      <p:sp>
        <p:nvSpPr>
          <p:cNvPr id="9" name="CasellaDiTesto 8">
            <a:extLst>
              <a:ext uri="{FF2B5EF4-FFF2-40B4-BE49-F238E27FC236}">
                <a16:creationId xmlns:a16="http://schemas.microsoft.com/office/drawing/2014/main" id="{A8A6E8C9-DE95-B0E2-2D4C-42E4BB866A0C}"/>
              </a:ext>
            </a:extLst>
          </p:cNvPr>
          <p:cNvSpPr txBox="1"/>
          <p:nvPr/>
        </p:nvSpPr>
        <p:spPr>
          <a:xfrm>
            <a:off x="401216" y="1737719"/>
            <a:ext cx="6097554" cy="430887"/>
          </a:xfrm>
          <a:prstGeom prst="rect">
            <a:avLst/>
          </a:prstGeom>
          <a:noFill/>
        </p:spPr>
        <p:txBody>
          <a:bodyPr wrap="square">
            <a:spAutoFit/>
          </a:bodyPr>
          <a:lstStyle/>
          <a:p>
            <a:r>
              <a:rPr lang="en-US" sz="2200" b="1" dirty="0" err="1">
                <a:solidFill>
                  <a:schemeClr val="tx1"/>
                </a:solidFill>
              </a:rPr>
              <a:t>PhantomX</a:t>
            </a:r>
            <a:r>
              <a:rPr lang="en-US" sz="2200" b="1" dirty="0">
                <a:solidFill>
                  <a:schemeClr val="tx1"/>
                </a:solidFill>
              </a:rPr>
              <a:t> AX Metal Hexapod Mark II</a:t>
            </a:r>
            <a:endParaRPr lang="it-IT" sz="22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dirty="0"/>
              <a:t>T</a:t>
            </a:r>
            <a:r>
              <a:rPr lang="en-US" sz="3000" b="1" dirty="0">
                <a:solidFill>
                  <a:schemeClr val="tx2"/>
                </a:solidFill>
              </a:rPr>
              <a:t>he reference work</a:t>
            </a:r>
            <a:endParaRPr lang="en-US" sz="3000" dirty="0"/>
          </a:p>
        </p:txBody>
      </p:sp>
      <p:sp>
        <p:nvSpPr>
          <p:cNvPr id="4" name="Text 1"/>
          <p:cNvSpPr txBox="1"/>
          <p:nvPr/>
        </p:nvSpPr>
        <p:spPr>
          <a:xfrm>
            <a:off x="6324289" y="1371600"/>
            <a:ext cx="5394960" cy="15544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No force sensors at the feet, no IMU</a:t>
            </a:r>
            <a:endParaRPr lang="en-US" sz="1800" dirty="0"/>
          </a:p>
          <a:p>
            <a:pPr marL="342900" indent="-342900">
              <a:spcAft>
                <a:spcPts val="1000"/>
              </a:spcAft>
              <a:buSzPct val="100000"/>
              <a:buChar char="•"/>
            </a:pPr>
            <a:r>
              <a:rPr lang="en-US" sz="1800" dirty="0">
                <a:solidFill>
                  <a:schemeClr val="tx1"/>
                </a:solidFill>
              </a:rPr>
              <a:t>Only feedback: position, load estimate of each servo</a:t>
            </a:r>
            <a:endParaRPr lang="en-US" sz="1800" dirty="0"/>
          </a:p>
        </p:txBody>
      </p:sp>
      <p:sp>
        <p:nvSpPr>
          <p:cNvPr id="5" name="card riferimento"/>
          <p:cNvSpPr/>
          <p:nvPr/>
        </p:nvSpPr>
        <p:spPr>
          <a:xfrm>
            <a:off x="328437" y="1371600"/>
            <a:ext cx="5330952" cy="1920240"/>
          </a:xfrm>
          <a:prstGeom prst="rect">
            <a:avLst/>
          </a:prstGeom>
          <a:solidFill>
            <a:schemeClr val="bg2"/>
          </a:solidFill>
          <a:ln w="12700">
            <a:solidFill>
              <a:schemeClr val="bg2"/>
            </a:solidFill>
            <a:prstDash val="solid"/>
          </a:ln>
        </p:spPr>
        <p:txBody>
          <a:bodyPr/>
          <a:lstStyle/>
          <a:p>
            <a:endParaRPr lang="it-IT"/>
          </a:p>
        </p:txBody>
      </p:sp>
      <p:sp>
        <p:nvSpPr>
          <p:cNvPr id="6" name="Text 3"/>
          <p:cNvSpPr txBox="1"/>
          <p:nvPr/>
        </p:nvSpPr>
        <p:spPr>
          <a:xfrm>
            <a:off x="557037" y="1554480"/>
            <a:ext cx="4873752" cy="1645920"/>
          </a:xfrm>
          <a:prstGeom prst="rect">
            <a:avLst/>
          </a:prstGeom>
          <a:noFill/>
          <a:ln/>
        </p:spPr>
        <p:txBody>
          <a:bodyPr wrap="square" lIns="0" tIns="0" rIns="0" bIns="0" rtlCol="0" anchor="t"/>
          <a:lstStyle/>
          <a:p>
            <a:pPr marL="0" indent="0">
              <a:buNone/>
            </a:pPr>
            <a:r>
              <a:rPr lang="en-US" sz="1600" b="1" dirty="0">
                <a:solidFill>
                  <a:schemeClr val="tx2"/>
                </a:solidFill>
              </a:rPr>
              <a:t>S. Arrigoni et al. “Control of a Hexapod Robot Considering Terrain Interaction,” Robotics, vol. 13, no. 10, art. 142, 2024.</a:t>
            </a:r>
          </a:p>
          <a:p>
            <a:pPr marL="0" indent="0">
              <a:buNone/>
            </a:pPr>
            <a:r>
              <a:rPr lang="en-US" sz="1600" dirty="0">
                <a:solidFill>
                  <a:schemeClr val="tx1"/>
                </a:solidFill>
              </a:rPr>
              <a:t>Foot–ground contact is detected from torque alone: measured versus predicted by inverse dynamics. The detection adapts the commanded foot height.</a:t>
            </a:r>
            <a:endParaRPr lang="en-US" sz="1600" dirty="0"/>
          </a:p>
        </p:txBody>
      </p:sp>
      <p:sp>
        <p:nvSpPr>
          <p:cNvPr id="9" name="Text 6"/>
          <p:cNvSpPr txBox="1"/>
          <p:nvPr/>
        </p:nvSpPr>
        <p:spPr>
          <a:xfrm>
            <a:off x="354563" y="4293014"/>
            <a:ext cx="11094415" cy="822960"/>
          </a:xfrm>
          <a:prstGeom prst="rect">
            <a:avLst/>
          </a:prstGeom>
          <a:noFill/>
          <a:ln/>
        </p:spPr>
        <p:txBody>
          <a:bodyPr wrap="square" lIns="0" tIns="0" rIns="0" bIns="0" rtlCol="0" anchor="ctr"/>
          <a:lstStyle/>
          <a:p>
            <a:pPr marL="0" indent="0">
              <a:buNone/>
            </a:pPr>
            <a:r>
              <a:rPr lang="en-US" sz="2000" b="1" i="1" dirty="0">
                <a:solidFill>
                  <a:schemeClr val="accent1"/>
                </a:solidFill>
              </a:rPr>
              <a:t>Our questions:</a:t>
            </a:r>
          </a:p>
          <a:p>
            <a:pPr marL="342900" indent="-342900">
              <a:buFont typeface="Arial" panose="020B0604020202020204" pitchFamily="34" charset="0"/>
              <a:buChar char="•"/>
            </a:pPr>
            <a:r>
              <a:rPr lang="en-US" sz="2000" b="1" i="1" dirty="0">
                <a:solidFill>
                  <a:schemeClr val="accent1"/>
                </a:solidFill>
              </a:rPr>
              <a:t>How much does the mechanism cost where there is no terrain to discover?</a:t>
            </a:r>
          </a:p>
          <a:p>
            <a:pPr marL="342900" indent="-342900">
              <a:buFont typeface="Arial" panose="020B0604020202020204" pitchFamily="34" charset="0"/>
              <a:buChar char="•"/>
            </a:pPr>
            <a:r>
              <a:rPr lang="en-US" sz="2000" b="1" i="1" dirty="0">
                <a:solidFill>
                  <a:schemeClr val="accent1"/>
                </a:solidFill>
              </a:rPr>
              <a:t>Will an attitude control improve the performances?</a:t>
            </a:r>
          </a:p>
          <a:p>
            <a:pPr marL="342900" indent="-342900">
              <a:buFont typeface="Arial" panose="020B0604020202020204" pitchFamily="34" charset="0"/>
              <a:buChar char="•"/>
            </a:pPr>
            <a:r>
              <a:rPr lang="en-US" sz="2000" b="1" i="1" dirty="0">
                <a:solidFill>
                  <a:schemeClr val="accent1"/>
                </a:solidFill>
              </a:rPr>
              <a:t>How would the robot behave with a payload?</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chemeClr val="tx2"/>
                </a:solidFill>
              </a:rPr>
              <a:t>The controllers</a:t>
            </a:r>
            <a:r>
              <a:rPr lang="en-US" dirty="0"/>
              <a:t> we implemented</a:t>
            </a:r>
            <a:endParaRPr lang="en-US" sz="3000" dirty="0"/>
          </a:p>
        </p:txBody>
      </p:sp>
      <p:sp>
        <p:nvSpPr>
          <p:cNvPr id="4" name="riga C1"/>
          <p:cNvSpPr/>
          <p:nvPr/>
        </p:nvSpPr>
        <p:spPr>
          <a:xfrm>
            <a:off x="548640" y="1371600"/>
            <a:ext cx="11094415" cy="1051560"/>
          </a:xfrm>
          <a:prstGeom prst="rect">
            <a:avLst/>
          </a:prstGeom>
          <a:solidFill>
            <a:schemeClr val="bg2"/>
          </a:solidFill>
          <a:ln w="12700">
            <a:solidFill>
              <a:schemeClr val="bg2"/>
            </a:solidFill>
            <a:prstDash val="solid"/>
          </a:ln>
        </p:spPr>
        <p:txBody>
          <a:bodyPr/>
          <a:lstStyle/>
          <a:p>
            <a:endParaRPr lang="it-IT"/>
          </a:p>
        </p:txBody>
      </p:sp>
      <p:sp>
        <p:nvSpPr>
          <p:cNvPr id="5" name="badge C1"/>
          <p:cNvSpPr/>
          <p:nvPr/>
        </p:nvSpPr>
        <p:spPr>
          <a:xfrm>
            <a:off x="777240" y="1581912"/>
            <a:ext cx="640080" cy="640080"/>
          </a:xfrm>
          <a:prstGeom prst="ellipse">
            <a:avLst/>
          </a:prstGeom>
          <a:solidFill>
            <a:schemeClr val="accent3"/>
          </a:solidFill>
          <a:ln w="12700">
            <a:solidFill>
              <a:schemeClr val="accent3"/>
            </a:solidFill>
            <a:prstDash val="solid"/>
          </a:ln>
        </p:spPr>
        <p:txBody>
          <a:bodyPr/>
          <a:lstStyle/>
          <a:p>
            <a:endParaRPr lang="it-IT"/>
          </a:p>
        </p:txBody>
      </p:sp>
      <p:sp>
        <p:nvSpPr>
          <p:cNvPr id="6" name="Text 3"/>
          <p:cNvSpPr txBox="1"/>
          <p:nvPr/>
        </p:nvSpPr>
        <p:spPr>
          <a:xfrm>
            <a:off x="777240" y="1581912"/>
            <a:ext cx="640080" cy="640080"/>
          </a:xfrm>
          <a:prstGeom prst="rect">
            <a:avLst/>
          </a:prstGeom>
          <a:noFill/>
          <a:ln/>
        </p:spPr>
        <p:txBody>
          <a:bodyPr wrap="square" lIns="0" tIns="0" rIns="0" bIns="0" rtlCol="0" anchor="ctr"/>
          <a:lstStyle/>
          <a:p>
            <a:pPr marL="0" indent="0" algn="ctr">
              <a:buNone/>
            </a:pPr>
            <a:r>
              <a:rPr lang="en-US" sz="1600" b="1" dirty="0">
                <a:solidFill>
                  <a:schemeClr val="bg1"/>
                </a:solidFill>
              </a:rPr>
              <a:t>C1</a:t>
            </a:r>
            <a:endParaRPr lang="en-US" sz="1600" dirty="0"/>
          </a:p>
        </p:txBody>
      </p:sp>
      <p:sp>
        <p:nvSpPr>
          <p:cNvPr id="7" name="Text 4"/>
          <p:cNvSpPr txBox="1"/>
          <p:nvPr/>
        </p:nvSpPr>
        <p:spPr>
          <a:xfrm>
            <a:off x="1645920" y="1554480"/>
            <a:ext cx="3108960" cy="731520"/>
          </a:xfrm>
          <a:prstGeom prst="rect">
            <a:avLst/>
          </a:prstGeom>
          <a:noFill/>
          <a:ln/>
        </p:spPr>
        <p:txBody>
          <a:bodyPr wrap="square" lIns="0" tIns="0" rIns="0" bIns="0" rtlCol="0" anchor="t"/>
          <a:lstStyle/>
          <a:p>
            <a:pPr marL="0" indent="0">
              <a:buNone/>
            </a:pPr>
            <a:r>
              <a:rPr lang="en-US" sz="1600" b="1" dirty="0">
                <a:solidFill>
                  <a:schemeClr val="tx2"/>
                </a:solidFill>
              </a:rPr>
              <a:t>Open-loop tripod</a:t>
            </a:r>
            <a:endParaRPr lang="en-US" sz="1600" dirty="0"/>
          </a:p>
          <a:p>
            <a:pPr marL="0" indent="0">
              <a:buNone/>
            </a:pPr>
            <a:r>
              <a:rPr lang="en-US" sz="1200" dirty="0">
                <a:solidFill>
                  <a:schemeClr val="accent3"/>
                </a:solidFill>
                <a:latin typeface="Courier New" pitchFamily="34" charset="0"/>
                <a:ea typeface="Courier New" pitchFamily="34" charset="-122"/>
                <a:cs typeface="Courier New" pitchFamily="34" charset="-120"/>
              </a:rPr>
              <a:t>sim_zero</a:t>
            </a:r>
            <a:endParaRPr lang="en-US" sz="1600" dirty="0"/>
          </a:p>
        </p:txBody>
      </p:sp>
      <p:sp>
        <p:nvSpPr>
          <p:cNvPr id="8" name="Text 5"/>
          <p:cNvSpPr txBox="1"/>
          <p:nvPr/>
        </p:nvSpPr>
        <p:spPr>
          <a:xfrm>
            <a:off x="4937760" y="1508760"/>
            <a:ext cx="6492240" cy="777240"/>
          </a:xfrm>
          <a:prstGeom prst="rect">
            <a:avLst/>
          </a:prstGeom>
          <a:noFill/>
          <a:ln/>
        </p:spPr>
        <p:txBody>
          <a:bodyPr wrap="square" lIns="0" tIns="0" rIns="0" bIns="0" rtlCol="0" anchor="ctr"/>
          <a:lstStyle/>
          <a:p>
            <a:pPr marL="0" indent="0">
              <a:buNone/>
            </a:pPr>
            <a:r>
              <a:rPr lang="en-US" sz="1400" dirty="0">
                <a:solidFill>
                  <a:schemeClr val="tx1"/>
                </a:solidFill>
              </a:rPr>
              <a:t>Foot trajectories from the gait parameters, per-leg inverse kinematics, position-commanded joints. No feedback.</a:t>
            </a:r>
            <a:endParaRPr lang="en-US" sz="1400" dirty="0"/>
          </a:p>
        </p:txBody>
      </p:sp>
      <p:sp>
        <p:nvSpPr>
          <p:cNvPr id="9" name="riga C2"/>
          <p:cNvSpPr/>
          <p:nvPr/>
        </p:nvSpPr>
        <p:spPr>
          <a:xfrm>
            <a:off x="548640" y="2578608"/>
            <a:ext cx="11094415" cy="1051560"/>
          </a:xfrm>
          <a:prstGeom prst="rect">
            <a:avLst/>
          </a:prstGeom>
          <a:solidFill>
            <a:schemeClr val="bg2"/>
          </a:solidFill>
          <a:ln w="12700">
            <a:solidFill>
              <a:schemeClr val="bg2"/>
            </a:solidFill>
            <a:prstDash val="solid"/>
          </a:ln>
        </p:spPr>
        <p:txBody>
          <a:bodyPr/>
          <a:lstStyle/>
          <a:p>
            <a:endParaRPr lang="it-IT"/>
          </a:p>
        </p:txBody>
      </p:sp>
      <p:sp>
        <p:nvSpPr>
          <p:cNvPr id="10" name="badge C2"/>
          <p:cNvSpPr/>
          <p:nvPr/>
        </p:nvSpPr>
        <p:spPr>
          <a:xfrm>
            <a:off x="777240" y="2788920"/>
            <a:ext cx="640080" cy="640080"/>
          </a:xfrm>
          <a:prstGeom prst="ellipse">
            <a:avLst/>
          </a:prstGeom>
          <a:solidFill>
            <a:schemeClr val="accent1"/>
          </a:solidFill>
          <a:ln w="12700">
            <a:solidFill>
              <a:schemeClr val="accent1"/>
            </a:solidFill>
            <a:prstDash val="solid"/>
          </a:ln>
        </p:spPr>
        <p:txBody>
          <a:bodyPr/>
          <a:lstStyle/>
          <a:p>
            <a:endParaRPr lang="it-IT"/>
          </a:p>
        </p:txBody>
      </p:sp>
      <p:sp>
        <p:nvSpPr>
          <p:cNvPr id="11" name="Text 8"/>
          <p:cNvSpPr txBox="1"/>
          <p:nvPr/>
        </p:nvSpPr>
        <p:spPr>
          <a:xfrm>
            <a:off x="777240" y="2788920"/>
            <a:ext cx="640080" cy="640080"/>
          </a:xfrm>
          <a:prstGeom prst="rect">
            <a:avLst/>
          </a:prstGeom>
          <a:noFill/>
          <a:ln/>
        </p:spPr>
        <p:txBody>
          <a:bodyPr wrap="square" lIns="0" tIns="0" rIns="0" bIns="0" rtlCol="0" anchor="ctr"/>
          <a:lstStyle/>
          <a:p>
            <a:pPr marL="0" indent="0" algn="ctr">
              <a:buNone/>
            </a:pPr>
            <a:r>
              <a:rPr lang="en-US" sz="1600" b="1" dirty="0">
                <a:solidFill>
                  <a:schemeClr val="bg1"/>
                </a:solidFill>
              </a:rPr>
              <a:t>C2</a:t>
            </a:r>
            <a:endParaRPr lang="en-US" sz="1600" dirty="0"/>
          </a:p>
        </p:txBody>
      </p:sp>
      <p:sp>
        <p:nvSpPr>
          <p:cNvPr id="12" name="Text 9"/>
          <p:cNvSpPr txBox="1"/>
          <p:nvPr/>
        </p:nvSpPr>
        <p:spPr>
          <a:xfrm>
            <a:off x="1645920" y="2761488"/>
            <a:ext cx="3108960" cy="731520"/>
          </a:xfrm>
          <a:prstGeom prst="rect">
            <a:avLst/>
          </a:prstGeom>
          <a:noFill/>
          <a:ln/>
        </p:spPr>
        <p:txBody>
          <a:bodyPr wrap="square" lIns="0" tIns="0" rIns="0" bIns="0" rtlCol="0" anchor="t"/>
          <a:lstStyle/>
          <a:p>
            <a:pPr marL="0" indent="0">
              <a:buNone/>
            </a:pPr>
            <a:r>
              <a:rPr lang="en-US" sz="1600" b="1" dirty="0">
                <a:solidFill>
                  <a:schemeClr val="tx2"/>
                </a:solidFill>
              </a:rPr>
              <a:t>C1 + terrain search</a:t>
            </a:r>
            <a:endParaRPr lang="en-US" sz="1600" dirty="0"/>
          </a:p>
          <a:p>
            <a:pPr marL="0" indent="0">
              <a:buNone/>
            </a:pPr>
            <a:r>
              <a:rPr lang="en-US" sz="1200" dirty="0">
                <a:solidFill>
                  <a:schemeClr val="accent3"/>
                </a:solidFill>
                <a:latin typeface="Courier New" pitchFamily="34" charset="0"/>
                <a:ea typeface="Courier New" pitchFamily="34" charset="-122"/>
                <a:cs typeface="Courier New" pitchFamily="34" charset="-120"/>
              </a:rPr>
              <a:t>sim_zero</a:t>
            </a:r>
            <a:endParaRPr lang="en-US" sz="1600" dirty="0"/>
          </a:p>
        </p:txBody>
      </p:sp>
      <p:sp>
        <p:nvSpPr>
          <p:cNvPr id="13" name="Text 10"/>
          <p:cNvSpPr txBox="1"/>
          <p:nvPr/>
        </p:nvSpPr>
        <p:spPr>
          <a:xfrm>
            <a:off x="4937760" y="2715768"/>
            <a:ext cx="6492240" cy="777240"/>
          </a:xfrm>
          <a:prstGeom prst="rect">
            <a:avLst/>
          </a:prstGeom>
          <a:noFill/>
          <a:ln/>
        </p:spPr>
        <p:txBody>
          <a:bodyPr wrap="square" lIns="0" tIns="0" rIns="0" bIns="0" rtlCol="0" anchor="ctr"/>
          <a:lstStyle/>
          <a:p>
            <a:pPr marL="0" indent="0">
              <a:buNone/>
            </a:pPr>
            <a:r>
              <a:rPr lang="en-US" sz="1400" dirty="0">
                <a:solidFill>
                  <a:schemeClr val="tx1"/>
                </a:solidFill>
              </a:rPr>
              <a:t>If the foot has reached the stance height but the flag is low, it keeps descending until the torque residual exceeds the threshold.</a:t>
            </a:r>
            <a:r>
              <a:rPr lang="en-US" sz="1400" dirty="0"/>
              <a:t> At the same time the foot can stop whenever it detects a contact with the terrain even before its complete descent.</a:t>
            </a:r>
            <a:endParaRPr lang="en-US" sz="1400" dirty="0">
              <a:solidFill>
                <a:schemeClr val="tx1"/>
              </a:solidFill>
            </a:endParaRPr>
          </a:p>
        </p:txBody>
      </p:sp>
      <p:sp>
        <p:nvSpPr>
          <p:cNvPr id="14" name="riga C3"/>
          <p:cNvSpPr/>
          <p:nvPr/>
        </p:nvSpPr>
        <p:spPr>
          <a:xfrm>
            <a:off x="548640" y="3785616"/>
            <a:ext cx="11094415" cy="1051560"/>
          </a:xfrm>
          <a:prstGeom prst="rect">
            <a:avLst/>
          </a:prstGeom>
          <a:solidFill>
            <a:schemeClr val="bg2"/>
          </a:solidFill>
          <a:ln w="12700">
            <a:solidFill>
              <a:schemeClr val="bg2"/>
            </a:solidFill>
            <a:prstDash val="solid"/>
          </a:ln>
        </p:spPr>
        <p:txBody>
          <a:bodyPr/>
          <a:lstStyle/>
          <a:p>
            <a:endParaRPr lang="it-IT"/>
          </a:p>
        </p:txBody>
      </p:sp>
      <p:sp>
        <p:nvSpPr>
          <p:cNvPr id="15" name="badge C3"/>
          <p:cNvSpPr/>
          <p:nvPr/>
        </p:nvSpPr>
        <p:spPr>
          <a:xfrm>
            <a:off x="777240" y="3995928"/>
            <a:ext cx="640080" cy="640080"/>
          </a:xfrm>
          <a:prstGeom prst="ellipse">
            <a:avLst/>
          </a:prstGeom>
          <a:solidFill>
            <a:schemeClr val="accent2"/>
          </a:solidFill>
          <a:ln w="12700">
            <a:solidFill>
              <a:schemeClr val="accent2"/>
            </a:solidFill>
            <a:prstDash val="solid"/>
          </a:ln>
        </p:spPr>
        <p:txBody>
          <a:bodyPr/>
          <a:lstStyle/>
          <a:p>
            <a:endParaRPr lang="it-IT"/>
          </a:p>
        </p:txBody>
      </p:sp>
      <p:sp>
        <p:nvSpPr>
          <p:cNvPr id="16" name="Text 13"/>
          <p:cNvSpPr txBox="1"/>
          <p:nvPr/>
        </p:nvSpPr>
        <p:spPr>
          <a:xfrm>
            <a:off x="777240" y="3995928"/>
            <a:ext cx="640080" cy="640080"/>
          </a:xfrm>
          <a:prstGeom prst="rect">
            <a:avLst/>
          </a:prstGeom>
          <a:noFill/>
          <a:ln/>
        </p:spPr>
        <p:txBody>
          <a:bodyPr wrap="square" lIns="0" tIns="0" rIns="0" bIns="0" rtlCol="0" anchor="ctr"/>
          <a:lstStyle/>
          <a:p>
            <a:pPr marL="0" indent="0" algn="ctr">
              <a:buNone/>
            </a:pPr>
            <a:r>
              <a:rPr lang="en-US" sz="1600" b="1" dirty="0">
                <a:solidFill>
                  <a:schemeClr val="bg1"/>
                </a:solidFill>
              </a:rPr>
              <a:t>C3</a:t>
            </a:r>
            <a:endParaRPr lang="en-US" sz="1600" dirty="0"/>
          </a:p>
        </p:txBody>
      </p:sp>
      <p:sp>
        <p:nvSpPr>
          <p:cNvPr id="17" name="Text 14"/>
          <p:cNvSpPr txBox="1"/>
          <p:nvPr/>
        </p:nvSpPr>
        <p:spPr>
          <a:xfrm>
            <a:off x="1645920" y="3968496"/>
            <a:ext cx="3108960" cy="731520"/>
          </a:xfrm>
          <a:prstGeom prst="rect">
            <a:avLst/>
          </a:prstGeom>
          <a:noFill/>
          <a:ln/>
        </p:spPr>
        <p:txBody>
          <a:bodyPr wrap="square" lIns="0" tIns="0" rIns="0" bIns="0" rtlCol="0" anchor="t"/>
          <a:lstStyle/>
          <a:p>
            <a:pPr marL="0" indent="0">
              <a:buNone/>
            </a:pPr>
            <a:r>
              <a:rPr lang="en-US" sz="1600" b="1" dirty="0">
                <a:solidFill>
                  <a:schemeClr val="tx2"/>
                </a:solidFill>
              </a:rPr>
              <a:t>C2 + attitude loop</a:t>
            </a:r>
            <a:endParaRPr lang="en-US" sz="1600" dirty="0"/>
          </a:p>
          <a:p>
            <a:pPr marL="0" indent="0">
              <a:buNone/>
            </a:pPr>
            <a:r>
              <a:rPr lang="en-US" sz="1200" dirty="0">
                <a:solidFill>
                  <a:schemeClr val="accent3"/>
                </a:solidFill>
                <a:latin typeface="Courier New" pitchFamily="34" charset="0"/>
                <a:ea typeface="Courier New" pitchFamily="34" charset="-122"/>
                <a:cs typeface="Courier New" pitchFamily="34" charset="-120"/>
              </a:rPr>
              <a:t>sim_attitude</a:t>
            </a:r>
            <a:endParaRPr lang="en-US" sz="1600" dirty="0"/>
          </a:p>
        </p:txBody>
      </p:sp>
      <p:sp>
        <p:nvSpPr>
          <p:cNvPr id="18" name="Text 15"/>
          <p:cNvSpPr txBox="1"/>
          <p:nvPr/>
        </p:nvSpPr>
        <p:spPr>
          <a:xfrm>
            <a:off x="4937760" y="3922776"/>
            <a:ext cx="6492240" cy="777240"/>
          </a:xfrm>
          <a:prstGeom prst="rect">
            <a:avLst/>
          </a:prstGeom>
          <a:noFill/>
          <a:ln/>
        </p:spPr>
        <p:txBody>
          <a:bodyPr wrap="square" lIns="0" tIns="0" rIns="0" bIns="0" rtlCol="0" anchor="ctr"/>
          <a:lstStyle/>
          <a:p>
            <a:pPr marL="0" indent="0">
              <a:buNone/>
            </a:pPr>
            <a:r>
              <a:rPr lang="en-US" sz="1400" dirty="0">
                <a:solidFill>
                  <a:schemeClr val="tx1"/>
                </a:solidFill>
              </a:rPr>
              <a:t>Two discrete PIs; outputs distributed over the six feet as an additive Δz.</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60118F63-B22E-8DD7-3C2E-FD1486FBF4DF}"/>
              </a:ext>
            </a:extLst>
          </p:cNvPr>
          <p:cNvSpPr txBox="1"/>
          <p:nvPr/>
        </p:nvSpPr>
        <p:spPr>
          <a:xfrm>
            <a:off x="548640" y="1109194"/>
            <a:ext cx="3840480" cy="365760"/>
          </a:xfrm>
          <a:prstGeom prst="rect">
            <a:avLst/>
          </a:prstGeom>
          <a:noFill/>
          <a:ln/>
        </p:spPr>
        <p:txBody>
          <a:bodyPr wrap="square" lIns="0" tIns="0" rIns="0" bIns="0" rtlCol="0" anchor="t"/>
          <a:lstStyle/>
          <a:p>
            <a:pPr marL="0" indent="0">
              <a:buNone/>
            </a:pPr>
            <a:r>
              <a:rPr lang="en-US" sz="2200" b="1" dirty="0">
                <a:solidFill>
                  <a:schemeClr val="tx2"/>
                </a:solidFill>
              </a:rPr>
              <a:t>Gait parameters</a:t>
            </a:r>
            <a:endParaRPr lang="en-US" sz="2200" dirty="0"/>
          </a:p>
        </p:txBody>
      </p:sp>
      <p:sp>
        <p:nvSpPr>
          <p:cNvPr id="5" name="param S">
            <a:extLst>
              <a:ext uri="{FF2B5EF4-FFF2-40B4-BE49-F238E27FC236}">
                <a16:creationId xmlns:a16="http://schemas.microsoft.com/office/drawing/2014/main" id="{82DAFA56-C205-F3A5-4495-B1CB58F8C0F8}"/>
              </a:ext>
            </a:extLst>
          </p:cNvPr>
          <p:cNvSpPr/>
          <p:nvPr/>
        </p:nvSpPr>
        <p:spPr>
          <a:xfrm>
            <a:off x="530287" y="1608627"/>
            <a:ext cx="1973425" cy="1031032"/>
          </a:xfrm>
          <a:prstGeom prst="rect">
            <a:avLst/>
          </a:prstGeom>
          <a:solidFill>
            <a:schemeClr val="bg2"/>
          </a:solidFill>
          <a:ln w="12700">
            <a:solidFill>
              <a:schemeClr val="bg2"/>
            </a:solidFill>
            <a:prstDash val="solid"/>
          </a:ln>
        </p:spPr>
        <p:txBody>
          <a:bodyPr/>
          <a:lstStyle/>
          <a:p>
            <a:endParaRPr lang="it-IT"/>
          </a:p>
        </p:txBody>
      </p:sp>
      <p:sp>
        <p:nvSpPr>
          <p:cNvPr id="7" name="Text 3">
            <a:extLst>
              <a:ext uri="{FF2B5EF4-FFF2-40B4-BE49-F238E27FC236}">
                <a16:creationId xmlns:a16="http://schemas.microsoft.com/office/drawing/2014/main" id="{98FBD9F1-DC12-9E46-2E9D-617BBA074BBE}"/>
              </a:ext>
            </a:extLst>
          </p:cNvPr>
          <p:cNvSpPr txBox="1"/>
          <p:nvPr/>
        </p:nvSpPr>
        <p:spPr>
          <a:xfrm>
            <a:off x="667447" y="1791506"/>
            <a:ext cx="1726747" cy="516773"/>
          </a:xfrm>
          <a:prstGeom prst="rect">
            <a:avLst/>
          </a:prstGeom>
          <a:noFill/>
          <a:ln/>
        </p:spPr>
        <p:txBody>
          <a:bodyPr wrap="square" lIns="0" tIns="0" rIns="0" bIns="0" rtlCol="0" anchor="t"/>
          <a:lstStyle/>
          <a:p>
            <a:pPr marL="0" indent="0">
              <a:buNone/>
            </a:pPr>
            <a:r>
              <a:rPr lang="en-US" sz="2000" b="1" dirty="0">
                <a:solidFill>
                  <a:schemeClr val="accent1"/>
                </a:solidFill>
                <a:latin typeface="Cambria" pitchFamily="34" charset="0"/>
                <a:ea typeface="Cambria" pitchFamily="34" charset="-122"/>
                <a:cs typeface="Cambria" pitchFamily="34" charset="-120"/>
              </a:rPr>
              <a:t>S = 0.06 m</a:t>
            </a:r>
            <a:endParaRPr lang="en-US" sz="2000" dirty="0"/>
          </a:p>
        </p:txBody>
      </p:sp>
      <p:sp>
        <p:nvSpPr>
          <p:cNvPr id="9" name="Text 4">
            <a:extLst>
              <a:ext uri="{FF2B5EF4-FFF2-40B4-BE49-F238E27FC236}">
                <a16:creationId xmlns:a16="http://schemas.microsoft.com/office/drawing/2014/main" id="{4839C049-7EED-2453-3115-2BD7F647EB88}"/>
              </a:ext>
            </a:extLst>
          </p:cNvPr>
          <p:cNvSpPr txBox="1"/>
          <p:nvPr/>
        </p:nvSpPr>
        <p:spPr>
          <a:xfrm>
            <a:off x="667447" y="2294427"/>
            <a:ext cx="1726747" cy="413418"/>
          </a:xfrm>
          <a:prstGeom prst="rect">
            <a:avLst/>
          </a:prstGeom>
          <a:noFill/>
          <a:ln/>
        </p:spPr>
        <p:txBody>
          <a:bodyPr wrap="square" lIns="0" tIns="0" rIns="0" bIns="0" rtlCol="0" anchor="t"/>
          <a:lstStyle/>
          <a:p>
            <a:pPr marL="0" indent="0">
              <a:buNone/>
            </a:pPr>
            <a:r>
              <a:rPr lang="en-US" sz="1300" dirty="0">
                <a:solidFill>
                  <a:schemeClr val="accent3"/>
                </a:solidFill>
              </a:rPr>
              <a:t>step</a:t>
            </a:r>
            <a:endParaRPr lang="en-US" sz="1300" dirty="0"/>
          </a:p>
        </p:txBody>
      </p:sp>
      <p:sp>
        <p:nvSpPr>
          <p:cNvPr id="11" name="param H">
            <a:extLst>
              <a:ext uri="{FF2B5EF4-FFF2-40B4-BE49-F238E27FC236}">
                <a16:creationId xmlns:a16="http://schemas.microsoft.com/office/drawing/2014/main" id="{0BA91E61-5577-AD7C-B123-D650EB6EAB1B}"/>
              </a:ext>
            </a:extLst>
          </p:cNvPr>
          <p:cNvSpPr/>
          <p:nvPr/>
        </p:nvSpPr>
        <p:spPr>
          <a:xfrm>
            <a:off x="511935" y="4082746"/>
            <a:ext cx="1973425" cy="1051561"/>
          </a:xfrm>
          <a:prstGeom prst="rect">
            <a:avLst/>
          </a:prstGeom>
          <a:solidFill>
            <a:schemeClr val="bg2"/>
          </a:solidFill>
          <a:ln w="12700">
            <a:solidFill>
              <a:schemeClr val="bg2"/>
            </a:solidFill>
            <a:prstDash val="solid"/>
          </a:ln>
        </p:spPr>
        <p:txBody>
          <a:bodyPr/>
          <a:lstStyle/>
          <a:p>
            <a:endParaRPr lang="it-IT"/>
          </a:p>
        </p:txBody>
      </p:sp>
      <p:sp>
        <p:nvSpPr>
          <p:cNvPr id="13" name="Text 6">
            <a:extLst>
              <a:ext uri="{FF2B5EF4-FFF2-40B4-BE49-F238E27FC236}">
                <a16:creationId xmlns:a16="http://schemas.microsoft.com/office/drawing/2014/main" id="{7F5C3B3E-D138-5FB8-D5AB-06C4AB34A39F}"/>
              </a:ext>
            </a:extLst>
          </p:cNvPr>
          <p:cNvSpPr txBox="1"/>
          <p:nvPr/>
        </p:nvSpPr>
        <p:spPr>
          <a:xfrm>
            <a:off x="649095" y="4265626"/>
            <a:ext cx="1726747" cy="516773"/>
          </a:xfrm>
          <a:prstGeom prst="rect">
            <a:avLst/>
          </a:prstGeom>
          <a:noFill/>
          <a:ln/>
        </p:spPr>
        <p:txBody>
          <a:bodyPr wrap="square" lIns="0" tIns="0" rIns="0" bIns="0" rtlCol="0" anchor="t"/>
          <a:lstStyle/>
          <a:p>
            <a:pPr marL="0" indent="0">
              <a:buNone/>
            </a:pPr>
            <a:r>
              <a:rPr lang="en-US" sz="2000" b="1" dirty="0">
                <a:solidFill>
                  <a:schemeClr val="accent1"/>
                </a:solidFill>
                <a:latin typeface="Cambria" pitchFamily="34" charset="0"/>
                <a:ea typeface="Cambria" pitchFamily="34" charset="-122"/>
                <a:cs typeface="Cambria" pitchFamily="34" charset="-120"/>
              </a:rPr>
              <a:t>H = 0.05 m</a:t>
            </a:r>
            <a:endParaRPr lang="en-US" sz="2000" dirty="0"/>
          </a:p>
        </p:txBody>
      </p:sp>
      <p:sp>
        <p:nvSpPr>
          <p:cNvPr id="15" name="Text 7">
            <a:extLst>
              <a:ext uri="{FF2B5EF4-FFF2-40B4-BE49-F238E27FC236}">
                <a16:creationId xmlns:a16="http://schemas.microsoft.com/office/drawing/2014/main" id="{7F549F55-3970-9CC9-4F12-83F3A3295C92}"/>
              </a:ext>
            </a:extLst>
          </p:cNvPr>
          <p:cNvSpPr txBox="1"/>
          <p:nvPr/>
        </p:nvSpPr>
        <p:spPr>
          <a:xfrm>
            <a:off x="649095" y="4768547"/>
            <a:ext cx="1726747" cy="413418"/>
          </a:xfrm>
          <a:prstGeom prst="rect">
            <a:avLst/>
          </a:prstGeom>
          <a:noFill/>
          <a:ln/>
        </p:spPr>
        <p:txBody>
          <a:bodyPr wrap="square" lIns="0" tIns="0" rIns="0" bIns="0" rtlCol="0" anchor="t"/>
          <a:lstStyle/>
          <a:p>
            <a:pPr marL="0" indent="0">
              <a:buNone/>
            </a:pPr>
            <a:r>
              <a:rPr lang="en-US" sz="1300" dirty="0">
                <a:solidFill>
                  <a:schemeClr val="accent3"/>
                </a:solidFill>
              </a:rPr>
              <a:t>height</a:t>
            </a:r>
            <a:endParaRPr lang="en-US" sz="1300" dirty="0"/>
          </a:p>
        </p:txBody>
      </p:sp>
      <p:sp>
        <p:nvSpPr>
          <p:cNvPr id="17" name="param T">
            <a:extLst>
              <a:ext uri="{FF2B5EF4-FFF2-40B4-BE49-F238E27FC236}">
                <a16:creationId xmlns:a16="http://schemas.microsoft.com/office/drawing/2014/main" id="{06C009AB-BF6A-5AD1-7691-7440A9912E7D}"/>
              </a:ext>
            </a:extLst>
          </p:cNvPr>
          <p:cNvSpPr/>
          <p:nvPr/>
        </p:nvSpPr>
        <p:spPr>
          <a:xfrm>
            <a:off x="530287" y="2880173"/>
            <a:ext cx="1973425" cy="1031032"/>
          </a:xfrm>
          <a:prstGeom prst="rect">
            <a:avLst/>
          </a:prstGeom>
          <a:solidFill>
            <a:schemeClr val="bg2"/>
          </a:solidFill>
          <a:ln w="12700">
            <a:solidFill>
              <a:schemeClr val="bg2"/>
            </a:solidFill>
            <a:prstDash val="solid"/>
          </a:ln>
        </p:spPr>
        <p:txBody>
          <a:bodyPr/>
          <a:lstStyle/>
          <a:p>
            <a:endParaRPr lang="it-IT"/>
          </a:p>
        </p:txBody>
      </p:sp>
      <p:sp>
        <p:nvSpPr>
          <p:cNvPr id="19" name="Text 9">
            <a:extLst>
              <a:ext uri="{FF2B5EF4-FFF2-40B4-BE49-F238E27FC236}">
                <a16:creationId xmlns:a16="http://schemas.microsoft.com/office/drawing/2014/main" id="{5FB5D8CD-D54A-92EE-FDCF-EFB53EB738AA}"/>
              </a:ext>
            </a:extLst>
          </p:cNvPr>
          <p:cNvSpPr txBox="1"/>
          <p:nvPr/>
        </p:nvSpPr>
        <p:spPr>
          <a:xfrm>
            <a:off x="667447" y="3063052"/>
            <a:ext cx="1726747" cy="516773"/>
          </a:xfrm>
          <a:prstGeom prst="rect">
            <a:avLst/>
          </a:prstGeom>
          <a:noFill/>
          <a:ln/>
        </p:spPr>
        <p:txBody>
          <a:bodyPr wrap="square" lIns="0" tIns="0" rIns="0" bIns="0" rtlCol="0" anchor="t"/>
          <a:lstStyle/>
          <a:p>
            <a:pPr marL="0" indent="0">
              <a:buNone/>
            </a:pPr>
            <a:r>
              <a:rPr lang="en-US" sz="2000" b="1" dirty="0">
                <a:solidFill>
                  <a:schemeClr val="accent1"/>
                </a:solidFill>
                <a:latin typeface="Cambria" pitchFamily="34" charset="0"/>
                <a:ea typeface="Cambria" pitchFamily="34" charset="-122"/>
                <a:cs typeface="Cambria" pitchFamily="34" charset="-120"/>
              </a:rPr>
              <a:t>T = 1.0 s</a:t>
            </a:r>
            <a:endParaRPr lang="en-US" sz="2000" dirty="0"/>
          </a:p>
        </p:txBody>
      </p:sp>
      <p:sp>
        <p:nvSpPr>
          <p:cNvPr id="21" name="Text 10">
            <a:extLst>
              <a:ext uri="{FF2B5EF4-FFF2-40B4-BE49-F238E27FC236}">
                <a16:creationId xmlns:a16="http://schemas.microsoft.com/office/drawing/2014/main" id="{F860204C-3E63-5250-6B15-C11CDBE3F9D7}"/>
              </a:ext>
            </a:extLst>
          </p:cNvPr>
          <p:cNvSpPr txBox="1"/>
          <p:nvPr/>
        </p:nvSpPr>
        <p:spPr>
          <a:xfrm>
            <a:off x="667447" y="3565973"/>
            <a:ext cx="1726747" cy="413418"/>
          </a:xfrm>
          <a:prstGeom prst="rect">
            <a:avLst/>
          </a:prstGeom>
          <a:noFill/>
          <a:ln/>
        </p:spPr>
        <p:txBody>
          <a:bodyPr wrap="square" lIns="0" tIns="0" rIns="0" bIns="0" rtlCol="0" anchor="t"/>
          <a:lstStyle/>
          <a:p>
            <a:pPr marL="0" indent="0">
              <a:buNone/>
            </a:pPr>
            <a:r>
              <a:rPr lang="en-US" sz="1300" dirty="0">
                <a:solidFill>
                  <a:schemeClr val="accent3"/>
                </a:solidFill>
              </a:rPr>
              <a:t>period</a:t>
            </a:r>
            <a:endParaRPr lang="en-US" sz="1300" dirty="0"/>
          </a:p>
        </p:txBody>
      </p:sp>
      <p:sp>
        <p:nvSpPr>
          <p:cNvPr id="23" name="param β">
            <a:extLst>
              <a:ext uri="{FF2B5EF4-FFF2-40B4-BE49-F238E27FC236}">
                <a16:creationId xmlns:a16="http://schemas.microsoft.com/office/drawing/2014/main" id="{839230BD-93DD-3A35-E498-075362523B84}"/>
              </a:ext>
            </a:extLst>
          </p:cNvPr>
          <p:cNvSpPr/>
          <p:nvPr/>
        </p:nvSpPr>
        <p:spPr>
          <a:xfrm>
            <a:off x="511935" y="5354292"/>
            <a:ext cx="1973425" cy="1031033"/>
          </a:xfrm>
          <a:prstGeom prst="rect">
            <a:avLst/>
          </a:prstGeom>
          <a:solidFill>
            <a:schemeClr val="bg2"/>
          </a:solidFill>
          <a:ln w="12700">
            <a:solidFill>
              <a:schemeClr val="bg2"/>
            </a:solidFill>
            <a:prstDash val="solid"/>
          </a:ln>
        </p:spPr>
        <p:txBody>
          <a:bodyPr/>
          <a:lstStyle/>
          <a:p>
            <a:endParaRPr lang="it-IT"/>
          </a:p>
        </p:txBody>
      </p:sp>
      <p:sp>
        <p:nvSpPr>
          <p:cNvPr id="25" name="Text 12">
            <a:extLst>
              <a:ext uri="{FF2B5EF4-FFF2-40B4-BE49-F238E27FC236}">
                <a16:creationId xmlns:a16="http://schemas.microsoft.com/office/drawing/2014/main" id="{63F12D7A-4A0A-15B6-1996-05A22727764A}"/>
              </a:ext>
            </a:extLst>
          </p:cNvPr>
          <p:cNvSpPr txBox="1"/>
          <p:nvPr/>
        </p:nvSpPr>
        <p:spPr>
          <a:xfrm>
            <a:off x="649095" y="5537172"/>
            <a:ext cx="1726747" cy="516773"/>
          </a:xfrm>
          <a:prstGeom prst="rect">
            <a:avLst/>
          </a:prstGeom>
          <a:noFill/>
          <a:ln/>
        </p:spPr>
        <p:txBody>
          <a:bodyPr wrap="square" lIns="0" tIns="0" rIns="0" bIns="0" rtlCol="0" anchor="t"/>
          <a:lstStyle/>
          <a:p>
            <a:pPr marL="0" indent="0">
              <a:buNone/>
            </a:pPr>
            <a:r>
              <a:rPr lang="en-US" sz="2000" b="1" dirty="0">
                <a:solidFill>
                  <a:schemeClr val="accent1"/>
                </a:solidFill>
                <a:latin typeface="Cambria" pitchFamily="34" charset="0"/>
                <a:ea typeface="Cambria" pitchFamily="34" charset="-122"/>
                <a:cs typeface="Cambria" pitchFamily="34" charset="-120"/>
              </a:rPr>
              <a:t>β = 0.50</a:t>
            </a:r>
            <a:endParaRPr lang="en-US" sz="2000" dirty="0"/>
          </a:p>
        </p:txBody>
      </p:sp>
      <p:sp>
        <p:nvSpPr>
          <p:cNvPr id="27" name="Text 13">
            <a:extLst>
              <a:ext uri="{FF2B5EF4-FFF2-40B4-BE49-F238E27FC236}">
                <a16:creationId xmlns:a16="http://schemas.microsoft.com/office/drawing/2014/main" id="{3EADB325-F7B7-6185-2576-44E5AB783035}"/>
              </a:ext>
            </a:extLst>
          </p:cNvPr>
          <p:cNvSpPr txBox="1"/>
          <p:nvPr/>
        </p:nvSpPr>
        <p:spPr>
          <a:xfrm>
            <a:off x="649095" y="6040093"/>
            <a:ext cx="1726747" cy="413418"/>
          </a:xfrm>
          <a:prstGeom prst="rect">
            <a:avLst/>
          </a:prstGeom>
          <a:noFill/>
          <a:ln/>
        </p:spPr>
        <p:txBody>
          <a:bodyPr wrap="square" lIns="0" tIns="0" rIns="0" bIns="0" rtlCol="0" anchor="t"/>
          <a:lstStyle/>
          <a:p>
            <a:pPr marL="0" indent="0">
              <a:buNone/>
            </a:pPr>
            <a:r>
              <a:rPr lang="en-US" sz="1300" dirty="0">
                <a:solidFill>
                  <a:schemeClr val="accent3"/>
                </a:solidFill>
              </a:rPr>
              <a:t>duty factor</a:t>
            </a:r>
            <a:endParaRPr lang="en-US" sz="1300" dirty="0"/>
          </a:p>
        </p:txBody>
      </p:sp>
      <p:sp>
        <p:nvSpPr>
          <p:cNvPr id="33" name="Text 0">
            <a:extLst>
              <a:ext uri="{FF2B5EF4-FFF2-40B4-BE49-F238E27FC236}">
                <a16:creationId xmlns:a16="http://schemas.microsoft.com/office/drawing/2014/main" id="{F321F8E3-D655-2DC6-FF8B-B37B9988E285}"/>
              </a:ext>
            </a:extLst>
          </p:cNvPr>
          <p:cNvSpPr txBox="1">
            <a:spLocks/>
          </p:cNvSpPr>
          <p:nvPr/>
        </p:nvSpPr>
        <p:spPr>
          <a:xfrm>
            <a:off x="548640" y="320040"/>
            <a:ext cx="11094415" cy="777240"/>
          </a:xfrm>
          <a:prstGeom prst="rect">
            <a:avLst/>
          </a:prstGeom>
          <a:noFill/>
          <a:ln/>
        </p:spPr>
        <p:txBody>
          <a:bodyPr wrap="square" lIns="0" tIns="0" rIns="0" bIns="0" rtlCol="0" anchor="ct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000" b="1" dirty="0">
                <a:solidFill>
                  <a:schemeClr val="tx2"/>
                </a:solidFill>
              </a:rPr>
              <a:t>C1: The gait</a:t>
            </a:r>
            <a:endParaRPr lang="en-US" sz="3000" dirty="0"/>
          </a:p>
        </p:txBody>
      </p:sp>
      <p:sp>
        <p:nvSpPr>
          <p:cNvPr id="43" name="Segnaposto numero diapositiva 42">
            <a:extLst>
              <a:ext uri="{FF2B5EF4-FFF2-40B4-BE49-F238E27FC236}">
                <a16:creationId xmlns:a16="http://schemas.microsoft.com/office/drawing/2014/main" id="{34662C94-A500-8659-0185-5236445A52A1}"/>
              </a:ext>
            </a:extLst>
          </p:cNvPr>
          <p:cNvSpPr>
            <a:spLocks noGrp="1"/>
          </p:cNvSpPr>
          <p:nvPr>
            <p:ph type="sldNum" sz="quarter" idx="4294967295"/>
          </p:nvPr>
        </p:nvSpPr>
        <p:spPr/>
        <p:txBody>
          <a:bodyPr/>
          <a:lstStyle/>
          <a:p>
            <a:pPr algn="r"/>
            <a:fld id="{F7021451-1387-4CA6-816F-3879F97B5CBC}" type="slidenum">
              <a:rPr lang="en-US" b="0" smtClean="0"/>
              <a:t>5</a:t>
            </a:fld>
            <a:endParaRPr lang="en-US"/>
          </a:p>
        </p:txBody>
      </p:sp>
      <p:pic>
        <p:nvPicPr>
          <p:cNvPr id="45" name="Immagine 44">
            <a:extLst>
              <a:ext uri="{FF2B5EF4-FFF2-40B4-BE49-F238E27FC236}">
                <a16:creationId xmlns:a16="http://schemas.microsoft.com/office/drawing/2014/main" id="{24D185F9-4DFF-13B9-531F-CB554216B6EF}"/>
              </a:ext>
            </a:extLst>
          </p:cNvPr>
          <p:cNvPicPr>
            <a:picLocks noChangeAspect="1"/>
          </p:cNvPicPr>
          <p:nvPr/>
        </p:nvPicPr>
        <p:blipFill>
          <a:blip r:embed="rId3"/>
          <a:stretch>
            <a:fillRect/>
          </a:stretch>
        </p:blipFill>
        <p:spPr>
          <a:xfrm>
            <a:off x="2984669" y="1203092"/>
            <a:ext cx="7157132" cy="4236692"/>
          </a:xfrm>
          <a:prstGeom prst="rect">
            <a:avLst/>
          </a:prstGeom>
        </p:spPr>
      </p:pic>
      <mc:AlternateContent xmlns:mc="http://schemas.openxmlformats.org/markup-compatibility/2006" xmlns:a14="http://schemas.microsoft.com/office/drawing/2010/main">
        <mc:Choice Requires="a14">
          <p:sp>
            <p:nvSpPr>
              <p:cNvPr id="39" name="Text 1">
                <a:extLst>
                  <a:ext uri="{FF2B5EF4-FFF2-40B4-BE49-F238E27FC236}">
                    <a16:creationId xmlns:a16="http://schemas.microsoft.com/office/drawing/2014/main" id="{C54BADE2-95BD-E0F1-A7E3-004F6D2C642E}"/>
                  </a:ext>
                </a:extLst>
              </p:cNvPr>
              <p:cNvSpPr txBox="1"/>
              <p:nvPr/>
            </p:nvSpPr>
            <p:spPr>
              <a:xfrm>
                <a:off x="8864999" y="4761199"/>
                <a:ext cx="3327001" cy="2123647"/>
              </a:xfrm>
              <a:prstGeom prst="rect">
                <a:avLst/>
              </a:prstGeom>
              <a:noFill/>
              <a:ln/>
            </p:spPr>
            <p:txBody>
              <a:bodyPr wrap="square" lIns="0" tIns="0" rIns="0" bIns="0" rtlCol="0" anchor="t"/>
              <a:lstStyle/>
              <a:p>
                <a:pPr>
                  <a:spcAft>
                    <a:spcPts val="1000"/>
                  </a:spcAft>
                  <a:buSzPct val="100000"/>
                </a:pPr>
                <a:r>
                  <a:rPr lang="en-US" sz="1800" dirty="0"/>
                  <a:t>The gait is considered quasi-static because of the Froude number:</a:t>
                </a:r>
              </a:p>
              <a:p>
                <a:pPr>
                  <a:spcAft>
                    <a:spcPts val="1000"/>
                  </a:spcAft>
                  <a:buSzPct val="100000"/>
                </a:pPr>
                <a14:m>
                  <m:oMathPara xmlns:m="http://schemas.openxmlformats.org/officeDocument/2006/math">
                    <m:oMath>
                      <m:sSub>
                        <m:sSubPr>
                          <m:ctrlPr>
                            <a:rPr lang="it-IT" sz="1800" b="0" i="1" smtClean="0">
                              <a:latin typeface="Cambria Math" panose="02040503050406030204" pitchFamily="18" charset="0"/>
                            </a:rPr>
                          </m:ctrlPr>
                        </m:sSubPr>
                        <m:e>
                          <m:r>
                            <a:rPr lang="it-IT" sz="1800" b="0" i="1" smtClean="0">
                              <a:latin typeface="Cambria Math" panose="02040503050406030204" pitchFamily="18" charset="0"/>
                            </a:rPr>
                            <m:t>𝐹</m:t>
                          </m:r>
                        </m:e>
                        <m:sub>
                          <m:r>
                            <a:rPr lang="it-IT" sz="1800" b="0" i="1" smtClean="0">
                              <a:latin typeface="Cambria Math" panose="02040503050406030204" pitchFamily="18" charset="0"/>
                            </a:rPr>
                            <m:t>𝑟</m:t>
                          </m:r>
                        </m:sub>
                      </m:sSub>
                      <m:r>
                        <a:rPr lang="it-IT" sz="1800" b="0" i="1" smtClean="0">
                          <a:latin typeface="Cambria Math" panose="02040503050406030204" pitchFamily="18" charset="0"/>
                        </a:rPr>
                        <m:t>=</m:t>
                      </m:r>
                      <m:f>
                        <m:fPr>
                          <m:ctrlPr>
                            <a:rPr lang="it-IT" sz="1800" b="0" i="1" smtClean="0">
                              <a:latin typeface="Cambria Math" panose="02040503050406030204" pitchFamily="18" charset="0"/>
                            </a:rPr>
                          </m:ctrlPr>
                        </m:fPr>
                        <m:num>
                          <m:sSup>
                            <m:sSupPr>
                              <m:ctrlPr>
                                <a:rPr lang="it-IT" sz="1800" b="0" i="1" smtClean="0">
                                  <a:latin typeface="Cambria Math" panose="02040503050406030204" pitchFamily="18" charset="0"/>
                                </a:rPr>
                              </m:ctrlPr>
                            </m:sSupPr>
                            <m:e>
                              <m:r>
                                <a:rPr lang="it-IT" sz="1800" b="0" i="1" smtClean="0">
                                  <a:latin typeface="Cambria Math" panose="02040503050406030204" pitchFamily="18" charset="0"/>
                                </a:rPr>
                                <m:t>𝑣</m:t>
                              </m:r>
                            </m:e>
                            <m:sup>
                              <m:r>
                                <a:rPr lang="it-IT" sz="1800" b="0" i="1" smtClean="0">
                                  <a:latin typeface="Cambria Math" panose="02040503050406030204" pitchFamily="18" charset="0"/>
                                </a:rPr>
                                <m:t>2</m:t>
                              </m:r>
                            </m:sup>
                          </m:sSup>
                        </m:num>
                        <m:den>
                          <m:r>
                            <a:rPr lang="it-IT" sz="1800" b="0" i="1" smtClean="0">
                              <a:latin typeface="Cambria Math" panose="02040503050406030204" pitchFamily="18" charset="0"/>
                            </a:rPr>
                            <m:t>𝑔ℎ</m:t>
                          </m:r>
                        </m:den>
                      </m:f>
                      <m:r>
                        <a:rPr lang="it-IT" sz="1800" b="0" i="1" smtClean="0">
                          <a:latin typeface="Cambria Math" panose="02040503050406030204" pitchFamily="18" charset="0"/>
                        </a:rPr>
                        <m:t>=0.0095</m:t>
                      </m:r>
                    </m:oMath>
                  </m:oMathPara>
                </a14:m>
                <a:endParaRPr lang="en-US" sz="1800" dirty="0"/>
              </a:p>
              <a:p>
                <a:pPr>
                  <a:spcAft>
                    <a:spcPts val="1000"/>
                  </a:spcAft>
                  <a:buSzPct val="100000"/>
                </a:pPr>
                <a:r>
                  <a:rPr lang="en-US" sz="1800" dirty="0"/>
                  <a:t>Considering </a:t>
                </a:r>
                <a14:m>
                  <m:oMath xmlns:m="http://schemas.openxmlformats.org/officeDocument/2006/math">
                    <m:r>
                      <a:rPr lang="it-IT" sz="1800" b="0" i="1" smtClean="0">
                        <a:latin typeface="Cambria Math" panose="02040503050406030204" pitchFamily="18" charset="0"/>
                      </a:rPr>
                      <m:t>𝑣</m:t>
                    </m:r>
                    <m:r>
                      <a:rPr lang="it-IT" sz="1800" b="0" i="1" smtClean="0">
                        <a:latin typeface="Cambria Math" panose="02040503050406030204" pitchFamily="18" charset="0"/>
                      </a:rPr>
                      <m:t>=0.12</m:t>
                    </m:r>
                  </m:oMath>
                </a14:m>
                <a:r>
                  <a:rPr lang="it-IT" sz="1800" b="0" dirty="0"/>
                  <a:t> m/s</a:t>
                </a:r>
              </a:p>
              <a:p>
                <a:pPr>
                  <a:spcAft>
                    <a:spcPts val="1000"/>
                  </a:spcAft>
                  <a:buSzPct val="100000"/>
                </a:pPr>
                <a:endParaRPr lang="en-US" sz="1800" dirty="0"/>
              </a:p>
            </p:txBody>
          </p:sp>
        </mc:Choice>
        <mc:Fallback xmlns="">
          <p:sp>
            <p:nvSpPr>
              <p:cNvPr id="39" name="Text 1">
                <a:extLst>
                  <a:ext uri="{FF2B5EF4-FFF2-40B4-BE49-F238E27FC236}">
                    <a16:creationId xmlns:a16="http://schemas.microsoft.com/office/drawing/2014/main" id="{C54BADE2-95BD-E0F1-A7E3-004F6D2C642E}"/>
                  </a:ext>
                </a:extLst>
              </p:cNvPr>
              <p:cNvSpPr txBox="1">
                <a:spLocks noRot="1" noChangeAspect="1" noMove="1" noResize="1" noEditPoints="1" noAdjustHandles="1" noChangeArrowheads="1" noChangeShapeType="1" noTextEdit="1"/>
              </p:cNvSpPr>
              <p:nvPr/>
            </p:nvSpPr>
            <p:spPr>
              <a:xfrm>
                <a:off x="8864999" y="4761199"/>
                <a:ext cx="3327001" cy="2123647"/>
              </a:xfrm>
              <a:prstGeom prst="rect">
                <a:avLst/>
              </a:prstGeom>
              <a:blipFill>
                <a:blip r:embed="rId4"/>
                <a:stretch>
                  <a:fillRect l="-4212" t="-3736"/>
                </a:stretch>
              </a:blipFill>
              <a:ln/>
            </p:spPr>
            <p:txBody>
              <a:bodyPr/>
              <a:lstStyle/>
              <a:p>
                <a:r>
                  <a:rPr lang="it-IT">
                    <a:noFill/>
                  </a:rPr>
                  <a:t> </a:t>
                </a:r>
              </a:p>
            </p:txBody>
          </p:sp>
        </mc:Fallback>
      </mc:AlternateContent>
    </p:spTree>
    <p:extLst>
      <p:ext uri="{BB962C8B-B14F-4D97-AF65-F5344CB8AC3E}">
        <p14:creationId xmlns:p14="http://schemas.microsoft.com/office/powerpoint/2010/main" val="3396580008"/>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4EA4D12-3A17-590B-3409-FBCB0B37F9A8}"/>
              </a:ext>
            </a:extLst>
          </p:cNvPr>
          <p:cNvSpPr>
            <a:spLocks noGrp="1"/>
          </p:cNvSpPr>
          <p:nvPr>
            <p:ph type="title" idx="100"/>
          </p:nvPr>
        </p:nvSpPr>
        <p:spPr/>
        <p:txBody>
          <a:bodyPr/>
          <a:lstStyle/>
          <a:p>
            <a:r>
              <a:rPr lang="it-IT" dirty="0"/>
              <a:t>C2: </a:t>
            </a:r>
            <a:r>
              <a:rPr lang="it-IT" dirty="0" err="1"/>
              <a:t>Adaptive</a:t>
            </a:r>
            <a:r>
              <a:rPr lang="it-IT" dirty="0"/>
              <a:t> </a:t>
            </a:r>
            <a:r>
              <a:rPr lang="it-IT" dirty="0" err="1"/>
              <a:t>gait</a:t>
            </a:r>
            <a:endParaRPr lang="it-IT" dirty="0"/>
          </a:p>
        </p:txBody>
      </p:sp>
      <p:sp>
        <p:nvSpPr>
          <p:cNvPr id="3" name="CasellaDiTesto 2">
            <a:extLst>
              <a:ext uri="{FF2B5EF4-FFF2-40B4-BE49-F238E27FC236}">
                <a16:creationId xmlns:a16="http://schemas.microsoft.com/office/drawing/2014/main" id="{7C0AB09B-DF0B-51CE-196E-D8D86B306E55}"/>
              </a:ext>
            </a:extLst>
          </p:cNvPr>
          <p:cNvSpPr txBox="1"/>
          <p:nvPr/>
        </p:nvSpPr>
        <p:spPr>
          <a:xfrm>
            <a:off x="433666" y="1491991"/>
            <a:ext cx="5662334" cy="1200329"/>
          </a:xfrm>
          <a:prstGeom prst="rect">
            <a:avLst/>
          </a:prstGeom>
          <a:noFill/>
        </p:spPr>
        <p:txBody>
          <a:bodyPr wrap="square" rtlCol="0">
            <a:spAutoFit/>
          </a:bodyPr>
          <a:lstStyle/>
          <a:p>
            <a:r>
              <a:rPr lang="it-IT" dirty="0"/>
              <a:t>The core of the C2 controller </a:t>
            </a:r>
            <a:r>
              <a:rPr lang="it-IT" dirty="0" err="1"/>
              <a:t>is</a:t>
            </a:r>
            <a:r>
              <a:rPr lang="it-IT" dirty="0"/>
              <a:t> the contact </a:t>
            </a:r>
            <a:r>
              <a:rPr lang="it-IT" dirty="0" err="1"/>
              <a:t>detection</a:t>
            </a:r>
            <a:r>
              <a:rPr lang="it-IT" dirty="0"/>
              <a:t> </a:t>
            </a:r>
            <a:r>
              <a:rPr lang="it-IT" dirty="0" err="1"/>
              <a:t>which</a:t>
            </a:r>
            <a:r>
              <a:rPr lang="it-IT" dirty="0"/>
              <a:t> </a:t>
            </a:r>
            <a:r>
              <a:rPr lang="it-IT" dirty="0" err="1"/>
              <a:t>is</a:t>
            </a:r>
            <a:r>
              <a:rPr lang="it-IT" dirty="0"/>
              <a:t> </a:t>
            </a:r>
            <a:r>
              <a:rPr lang="it-IT" dirty="0" err="1"/>
              <a:t>estimated</a:t>
            </a:r>
            <a:r>
              <a:rPr lang="it-IT" dirty="0"/>
              <a:t> </a:t>
            </a:r>
            <a:r>
              <a:rPr lang="it-IT" dirty="0" err="1"/>
              <a:t>using</a:t>
            </a:r>
            <a:r>
              <a:rPr lang="it-IT" dirty="0"/>
              <a:t> the </a:t>
            </a:r>
            <a:r>
              <a:rPr lang="it-IT" dirty="0" err="1"/>
              <a:t>torques</a:t>
            </a:r>
            <a:r>
              <a:rPr lang="it-IT" dirty="0"/>
              <a:t> </a:t>
            </a:r>
            <a:r>
              <a:rPr lang="it-IT" dirty="0" err="1"/>
              <a:t>measured</a:t>
            </a:r>
            <a:r>
              <a:rPr lang="it-IT" dirty="0"/>
              <a:t> </a:t>
            </a:r>
            <a:r>
              <a:rPr lang="it-IT" dirty="0" err="1"/>
              <a:t>at</a:t>
            </a:r>
            <a:r>
              <a:rPr lang="it-IT" dirty="0"/>
              <a:t> the </a:t>
            </a:r>
            <a:r>
              <a:rPr lang="it-IT" dirty="0" err="1"/>
              <a:t>legs</a:t>
            </a:r>
            <a:r>
              <a:rPr lang="it-IT" dirty="0"/>
              <a:t> joints and </a:t>
            </a:r>
            <a:r>
              <a:rPr lang="it-IT" dirty="0" err="1"/>
              <a:t>their</a:t>
            </a:r>
            <a:r>
              <a:rPr lang="it-IT" dirty="0"/>
              <a:t> </a:t>
            </a:r>
            <a:r>
              <a:rPr lang="it-IT" dirty="0" err="1"/>
              <a:t>estimations</a:t>
            </a:r>
            <a:r>
              <a:rPr lang="it-IT" dirty="0"/>
              <a:t>:</a:t>
            </a:r>
          </a:p>
          <a:p>
            <a:endParaRPr lang="it-IT" dirty="0"/>
          </a:p>
        </p:txBody>
      </p:sp>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564579C4-9F7D-69A6-F0FE-DB36906E3D2C}"/>
                  </a:ext>
                </a:extLst>
              </p:cNvPr>
              <p:cNvSpPr txBox="1"/>
              <p:nvPr/>
            </p:nvSpPr>
            <p:spPr>
              <a:xfrm>
                <a:off x="1665381" y="2965136"/>
                <a:ext cx="3198903" cy="414537"/>
              </a:xfrm>
              <a:prstGeom prst="rect">
                <a:avLst/>
              </a:prstGeom>
              <a:noFill/>
            </p:spPr>
            <p:txBody>
              <a:bodyPr wrap="square" lIns="0" tIns="0" rIns="0" bIns="0" rtlCol="0">
                <a:spAutoFit/>
              </a:bodyPr>
              <a:lstStyle/>
              <a:p>
                <a:pPr/>
                <a14:m>
                  <m:oMathPara xmlns:m="http://schemas.openxmlformats.org/officeDocument/2006/math">
                    <m:oMath>
                      <m:r>
                        <a:rPr lang="it-IT" b="0" i="1" smtClean="0">
                          <a:latin typeface="Cambria Math" panose="02040503050406030204" pitchFamily="18" charset="0"/>
                        </a:rPr>
                        <m:t>𝑂</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𝑅</m:t>
                          </m:r>
                        </m:e>
                        <m:sub>
                          <m:r>
                            <a:rPr lang="it-IT" b="0" i="1" smtClean="0">
                              <a:latin typeface="Cambria Math" panose="02040503050406030204" pitchFamily="18" charset="0"/>
                            </a:rPr>
                            <m:t>𝑗</m:t>
                          </m:r>
                        </m:sub>
                      </m:sSub>
                      <m:d>
                        <m:dPr>
                          <m:ctrlPr>
                            <a:rPr lang="it-IT" b="0" i="1" smtClean="0">
                              <a:latin typeface="Cambria Math" panose="02040503050406030204" pitchFamily="18" charset="0"/>
                            </a:rPr>
                          </m:ctrlPr>
                        </m:dPr>
                        <m:e>
                          <m:d>
                            <m:dPr>
                              <m:begChr m:val="|"/>
                              <m:endChr m:val="|"/>
                              <m:ctrlPr>
                                <a:rPr lang="it-IT" b="0" i="1" smtClean="0">
                                  <a:latin typeface="Cambria Math" panose="02040503050406030204" pitchFamily="18" charset="0"/>
                                </a:rPr>
                              </m:ctrlPr>
                            </m:dPr>
                            <m:e>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𝜏</m:t>
                                  </m:r>
                                </m:e>
                                <m:sub>
                                  <m:r>
                                    <a:rPr lang="it-IT" b="0" i="1" smtClean="0">
                                      <a:latin typeface="Cambria Math" panose="02040503050406030204" pitchFamily="18" charset="0"/>
                                    </a:rPr>
                                    <m:t>𝑗</m:t>
                                  </m:r>
                                </m:sub>
                                <m:sup>
                                  <m:r>
                                    <a:rPr lang="it-IT" b="0" i="1" smtClean="0">
                                      <a:latin typeface="Cambria Math" panose="02040503050406030204" pitchFamily="18" charset="0"/>
                                    </a:rPr>
                                    <m:t>𝑚𝑒𝑎𝑠</m:t>
                                  </m:r>
                                </m:sup>
                              </m:sSubSup>
                              <m:r>
                                <a:rPr lang="it-IT" b="0" i="1" smtClean="0">
                                  <a:latin typeface="Cambria Math" panose="02040503050406030204" pitchFamily="18" charset="0"/>
                                </a:rPr>
                                <m:t>−</m:t>
                              </m:r>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𝜏</m:t>
                                  </m:r>
                                </m:e>
                                <m:sub>
                                  <m:r>
                                    <a:rPr lang="it-IT" b="0" i="1" smtClean="0">
                                      <a:latin typeface="Cambria Math" panose="02040503050406030204" pitchFamily="18" charset="0"/>
                                    </a:rPr>
                                    <m:t>𝑗</m:t>
                                  </m:r>
                                </m:sub>
                                <m:sup>
                                  <m:r>
                                    <a:rPr lang="it-IT" b="0" i="1" smtClean="0">
                                      <a:latin typeface="Cambria Math" panose="02040503050406030204" pitchFamily="18" charset="0"/>
                                    </a:rPr>
                                    <m:t>𝑒𝑥𝑝</m:t>
                                  </m:r>
                                </m:sup>
                              </m:sSubSup>
                            </m:e>
                          </m:d>
                          <m:r>
                            <a:rPr lang="it-IT" b="0" i="1" smtClean="0">
                              <a:latin typeface="Cambria Math" panose="02040503050406030204" pitchFamily="18" charset="0"/>
                            </a:rPr>
                            <m:t>&gt;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𝜎</m:t>
                              </m:r>
                            </m:e>
                            <m:sub>
                              <m:r>
                                <a:rPr lang="it-IT" b="0" i="1" smtClean="0">
                                  <a:latin typeface="Cambria Math" panose="02040503050406030204" pitchFamily="18" charset="0"/>
                                </a:rPr>
                                <m:t>𝑗</m:t>
                              </m:r>
                            </m:sub>
                          </m:sSub>
                          <m:r>
                            <a:rPr lang="it-IT" b="0" i="1" smtClean="0">
                              <a:latin typeface="Cambria Math" panose="02040503050406030204" pitchFamily="18" charset="0"/>
                            </a:rPr>
                            <m:t> </m:t>
                          </m:r>
                        </m:e>
                      </m:d>
                    </m:oMath>
                  </m:oMathPara>
                </a14:m>
                <a:endParaRPr lang="it-IT" dirty="0"/>
              </a:p>
            </p:txBody>
          </p:sp>
        </mc:Choice>
        <mc:Fallback xmlns="">
          <p:sp>
            <p:nvSpPr>
              <p:cNvPr id="4" name="CasellaDiTesto 3">
                <a:extLst>
                  <a:ext uri="{FF2B5EF4-FFF2-40B4-BE49-F238E27FC236}">
                    <a16:creationId xmlns:a16="http://schemas.microsoft.com/office/drawing/2014/main" id="{564579C4-9F7D-69A6-F0FE-DB36906E3D2C}"/>
                  </a:ext>
                </a:extLst>
              </p:cNvPr>
              <p:cNvSpPr txBox="1">
                <a:spLocks noRot="1" noChangeAspect="1" noMove="1" noResize="1" noEditPoints="1" noAdjustHandles="1" noChangeArrowheads="1" noChangeShapeType="1" noTextEdit="1"/>
              </p:cNvSpPr>
              <p:nvPr/>
            </p:nvSpPr>
            <p:spPr>
              <a:xfrm>
                <a:off x="1665381" y="2965136"/>
                <a:ext cx="3198903" cy="414537"/>
              </a:xfrm>
              <a:prstGeom prst="rect">
                <a:avLst/>
              </a:prstGeom>
              <a:blipFill>
                <a:blip r:embed="rId2"/>
                <a:stretch>
                  <a:fillRect b="-11765"/>
                </a:stretch>
              </a:blipFill>
            </p:spPr>
            <p:txBody>
              <a:bodyPr/>
              <a:lstStyle/>
              <a:p>
                <a:r>
                  <a:rPr lang="it-IT">
                    <a:noFill/>
                  </a:rPr>
                  <a:t> </a:t>
                </a:r>
              </a:p>
            </p:txBody>
          </p:sp>
        </mc:Fallback>
      </mc:AlternateContent>
      <p:sp>
        <p:nvSpPr>
          <p:cNvPr id="5" name="CasellaDiTesto 4">
            <a:extLst>
              <a:ext uri="{FF2B5EF4-FFF2-40B4-BE49-F238E27FC236}">
                <a16:creationId xmlns:a16="http://schemas.microsoft.com/office/drawing/2014/main" id="{861D752A-A85F-391D-7C4E-CE8ACE8BF840}"/>
              </a:ext>
            </a:extLst>
          </p:cNvPr>
          <p:cNvSpPr txBox="1"/>
          <p:nvPr/>
        </p:nvSpPr>
        <p:spPr>
          <a:xfrm>
            <a:off x="548640" y="3892864"/>
            <a:ext cx="5547360" cy="1754326"/>
          </a:xfrm>
          <a:prstGeom prst="rect">
            <a:avLst/>
          </a:prstGeom>
          <a:noFill/>
        </p:spPr>
        <p:txBody>
          <a:bodyPr wrap="square" rtlCol="0">
            <a:spAutoFit/>
          </a:bodyPr>
          <a:lstStyle/>
          <a:p>
            <a:r>
              <a:rPr lang="it-IT" dirty="0"/>
              <a:t>Once the flag </a:t>
            </a:r>
            <a:r>
              <a:rPr lang="it-IT" dirty="0" err="1"/>
              <a:t>is</a:t>
            </a:r>
            <a:r>
              <a:rPr lang="it-IT" dirty="0"/>
              <a:t> up the foot </a:t>
            </a:r>
            <a:r>
              <a:rPr lang="it-IT" dirty="0" err="1"/>
              <a:t>is</a:t>
            </a:r>
            <a:r>
              <a:rPr lang="it-IT" dirty="0"/>
              <a:t> </a:t>
            </a:r>
            <a:r>
              <a:rPr lang="it-IT" dirty="0" err="1"/>
              <a:t>considered</a:t>
            </a:r>
            <a:r>
              <a:rPr lang="it-IT" dirty="0"/>
              <a:t> to be </a:t>
            </a:r>
            <a:r>
              <a:rPr lang="it-IT" dirty="0" err="1"/>
              <a:t>touching</a:t>
            </a:r>
            <a:r>
              <a:rPr lang="it-IT" dirty="0"/>
              <a:t> the ground and the </a:t>
            </a:r>
            <a:r>
              <a:rPr lang="it-IT" dirty="0" err="1"/>
              <a:t>leg</a:t>
            </a:r>
            <a:r>
              <a:rPr lang="it-IT" dirty="0"/>
              <a:t> </a:t>
            </a:r>
            <a:r>
              <a:rPr lang="it-IT" dirty="0" err="1"/>
              <a:t>stops</a:t>
            </a:r>
            <a:r>
              <a:rPr lang="it-IT" dirty="0"/>
              <a:t> </a:t>
            </a:r>
            <a:r>
              <a:rPr lang="it-IT" dirty="0" err="1"/>
              <a:t>moving</a:t>
            </a:r>
            <a:r>
              <a:rPr lang="it-IT" dirty="0"/>
              <a:t>.</a:t>
            </a:r>
          </a:p>
          <a:p>
            <a:endParaRPr lang="it-IT" dirty="0"/>
          </a:p>
          <a:p>
            <a:r>
              <a:rPr lang="it-IT" dirty="0" err="1"/>
              <a:t>If</a:t>
            </a:r>
            <a:r>
              <a:rPr lang="it-IT" dirty="0"/>
              <a:t> the </a:t>
            </a:r>
            <a:r>
              <a:rPr lang="it-IT" dirty="0" err="1"/>
              <a:t>nominal</a:t>
            </a:r>
            <a:r>
              <a:rPr lang="it-IT" dirty="0"/>
              <a:t> </a:t>
            </a:r>
            <a:r>
              <a:rPr lang="it-IT" dirty="0" err="1"/>
              <a:t>descent</a:t>
            </a:r>
            <a:r>
              <a:rPr lang="it-IT" dirty="0"/>
              <a:t> of the foot </a:t>
            </a:r>
            <a:r>
              <a:rPr lang="it-IT" dirty="0" err="1"/>
              <a:t>is</a:t>
            </a:r>
            <a:r>
              <a:rPr lang="it-IT" dirty="0"/>
              <a:t> </a:t>
            </a:r>
            <a:r>
              <a:rPr lang="it-IT" dirty="0" err="1"/>
              <a:t>completed</a:t>
            </a:r>
            <a:r>
              <a:rPr lang="it-IT" dirty="0"/>
              <a:t> </a:t>
            </a:r>
            <a:r>
              <a:rPr lang="it-IT" dirty="0" err="1"/>
              <a:t>but</a:t>
            </a:r>
            <a:r>
              <a:rPr lang="it-IT" dirty="0"/>
              <a:t> no contact </a:t>
            </a:r>
            <a:r>
              <a:rPr lang="it-IT" dirty="0" err="1"/>
              <a:t>is</a:t>
            </a:r>
            <a:r>
              <a:rPr lang="it-IT" dirty="0"/>
              <a:t> </a:t>
            </a:r>
            <a:r>
              <a:rPr lang="it-IT" dirty="0" err="1"/>
              <a:t>detected</a:t>
            </a:r>
            <a:r>
              <a:rPr lang="it-IT" dirty="0"/>
              <a:t> </a:t>
            </a:r>
            <a:r>
              <a:rPr lang="it-IT" dirty="0" err="1"/>
              <a:t>yet</a:t>
            </a:r>
            <a:r>
              <a:rPr lang="it-IT" dirty="0"/>
              <a:t> the foot </a:t>
            </a:r>
            <a:r>
              <a:rPr lang="it-IT" dirty="0" err="1"/>
              <a:t>will</a:t>
            </a:r>
            <a:r>
              <a:rPr lang="it-IT" dirty="0"/>
              <a:t> start </a:t>
            </a:r>
            <a:r>
              <a:rPr lang="it-IT" dirty="0" err="1"/>
              <a:t>moving</a:t>
            </a:r>
            <a:r>
              <a:rPr lang="it-IT" dirty="0"/>
              <a:t> down </a:t>
            </a:r>
            <a:r>
              <a:rPr lang="it-IT" dirty="0" err="1"/>
              <a:t>searching</a:t>
            </a:r>
            <a:r>
              <a:rPr lang="it-IT" dirty="0"/>
              <a:t> for the ground </a:t>
            </a:r>
            <a:r>
              <a:rPr lang="it-IT" dirty="0" err="1"/>
              <a:t>until</a:t>
            </a:r>
            <a:r>
              <a:rPr lang="it-IT" dirty="0"/>
              <a:t> </a:t>
            </a:r>
            <a:r>
              <a:rPr lang="it-IT" dirty="0" err="1"/>
              <a:t>it</a:t>
            </a:r>
            <a:r>
              <a:rPr lang="it-IT" dirty="0"/>
              <a:t> </a:t>
            </a:r>
            <a:r>
              <a:rPr lang="it-IT" dirty="0" err="1"/>
              <a:t>finds</a:t>
            </a:r>
            <a:r>
              <a:rPr lang="it-IT" dirty="0"/>
              <a:t> </a:t>
            </a:r>
            <a:r>
              <a:rPr lang="it-IT" dirty="0" err="1"/>
              <a:t>it</a:t>
            </a:r>
            <a:r>
              <a:rPr lang="it-IT" dirty="0"/>
              <a:t>.</a:t>
            </a:r>
          </a:p>
        </p:txBody>
      </p:sp>
      <p:pic>
        <p:nvPicPr>
          <p:cNvPr id="7" name="Immagine 6">
            <a:extLst>
              <a:ext uri="{FF2B5EF4-FFF2-40B4-BE49-F238E27FC236}">
                <a16:creationId xmlns:a16="http://schemas.microsoft.com/office/drawing/2014/main" id="{19B65266-CB52-7D62-176A-4A40C7A4ABDB}"/>
              </a:ext>
            </a:extLst>
          </p:cNvPr>
          <p:cNvPicPr>
            <a:picLocks noChangeAspect="1"/>
          </p:cNvPicPr>
          <p:nvPr/>
        </p:nvPicPr>
        <p:blipFill>
          <a:blip r:embed="rId3"/>
          <a:stretch>
            <a:fillRect/>
          </a:stretch>
        </p:blipFill>
        <p:spPr>
          <a:xfrm>
            <a:off x="6403410" y="1063604"/>
            <a:ext cx="5788590" cy="5535236"/>
          </a:xfrm>
          <a:prstGeom prst="rect">
            <a:avLst/>
          </a:prstGeom>
        </p:spPr>
      </p:pic>
      <p:sp>
        <p:nvSpPr>
          <p:cNvPr id="6" name="Segnaposto numero diapositiva 5">
            <a:extLst>
              <a:ext uri="{FF2B5EF4-FFF2-40B4-BE49-F238E27FC236}">
                <a16:creationId xmlns:a16="http://schemas.microsoft.com/office/drawing/2014/main" id="{DB0C5417-29DE-C444-E1D3-89F305A28F41}"/>
              </a:ext>
            </a:extLst>
          </p:cNvPr>
          <p:cNvSpPr>
            <a:spLocks noGrp="1"/>
          </p:cNvSpPr>
          <p:nvPr>
            <p:ph type="sldNum" sz="quarter" idx="4294967295"/>
          </p:nvPr>
        </p:nvSpPr>
        <p:spPr/>
        <p:txBody>
          <a:bodyPr/>
          <a:lstStyle/>
          <a:p>
            <a:pPr algn="r"/>
            <a:fld id="{F7021451-1387-4CA6-816F-3879F97B5CBC}" type="slidenum">
              <a:rPr lang="en-US" b="0" smtClean="0"/>
              <a:t>6</a:t>
            </a:fld>
            <a:endParaRPr lang="en-US"/>
          </a:p>
        </p:txBody>
      </p:sp>
    </p:spTree>
    <p:extLst>
      <p:ext uri="{BB962C8B-B14F-4D97-AF65-F5344CB8AC3E}">
        <p14:creationId xmlns:p14="http://schemas.microsoft.com/office/powerpoint/2010/main" val="2746032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91B5259-D6A7-4E15-BCFC-52019CFE2218}"/>
              </a:ext>
            </a:extLst>
          </p:cNvPr>
          <p:cNvSpPr>
            <a:spLocks noGrp="1"/>
          </p:cNvSpPr>
          <p:nvPr>
            <p:ph type="title" idx="100"/>
          </p:nvPr>
        </p:nvSpPr>
        <p:spPr/>
        <p:txBody>
          <a:bodyPr/>
          <a:lstStyle/>
          <a:p>
            <a:r>
              <a:rPr lang="it-IT" dirty="0"/>
              <a:t>C3: </a:t>
            </a:r>
            <a:r>
              <a:rPr lang="it-IT" dirty="0" err="1"/>
              <a:t>Attitude</a:t>
            </a:r>
            <a:r>
              <a:rPr lang="it-IT" dirty="0"/>
              <a:t> control</a:t>
            </a:r>
          </a:p>
        </p:txBody>
      </p:sp>
      <p:sp>
        <p:nvSpPr>
          <p:cNvPr id="3" name="CasellaDiTesto 2">
            <a:extLst>
              <a:ext uri="{FF2B5EF4-FFF2-40B4-BE49-F238E27FC236}">
                <a16:creationId xmlns:a16="http://schemas.microsoft.com/office/drawing/2014/main" id="{C02E681E-B757-AD1C-3516-0B1713749F6F}"/>
              </a:ext>
            </a:extLst>
          </p:cNvPr>
          <p:cNvSpPr txBox="1"/>
          <p:nvPr/>
        </p:nvSpPr>
        <p:spPr>
          <a:xfrm>
            <a:off x="4429760" y="2387600"/>
            <a:ext cx="184731" cy="369332"/>
          </a:xfrm>
          <a:prstGeom prst="rect">
            <a:avLst/>
          </a:prstGeom>
          <a:noFill/>
        </p:spPr>
        <p:txBody>
          <a:bodyPr wrap="none" rtlCol="0">
            <a:spAutoFit/>
          </a:bodyPr>
          <a:lstStyle/>
          <a:p>
            <a:endParaRPr lang="it-IT" dirty="0"/>
          </a:p>
        </p:txBody>
      </p:sp>
      <p:pic>
        <p:nvPicPr>
          <p:cNvPr id="6" name="Immagine 5">
            <a:extLst>
              <a:ext uri="{FF2B5EF4-FFF2-40B4-BE49-F238E27FC236}">
                <a16:creationId xmlns:a16="http://schemas.microsoft.com/office/drawing/2014/main" id="{EAECDD78-DB51-BE6C-29C1-C17610435FD0}"/>
              </a:ext>
            </a:extLst>
          </p:cNvPr>
          <p:cNvPicPr>
            <a:picLocks noChangeAspect="1"/>
          </p:cNvPicPr>
          <p:nvPr/>
        </p:nvPicPr>
        <p:blipFill>
          <a:blip r:embed="rId2"/>
          <a:stretch>
            <a:fillRect/>
          </a:stretch>
        </p:blipFill>
        <p:spPr>
          <a:xfrm>
            <a:off x="3794759" y="1243100"/>
            <a:ext cx="8232633" cy="4696199"/>
          </a:xfrm>
          <a:prstGeom prst="rect">
            <a:avLst/>
          </a:prstGeom>
        </p:spPr>
      </p:pic>
      <p:sp>
        <p:nvSpPr>
          <p:cNvPr id="7" name="CasellaDiTesto 6">
            <a:extLst>
              <a:ext uri="{FF2B5EF4-FFF2-40B4-BE49-F238E27FC236}">
                <a16:creationId xmlns:a16="http://schemas.microsoft.com/office/drawing/2014/main" id="{0E52DF3E-6FA4-4E80-C63C-7D8E99BE1D9E}"/>
              </a:ext>
            </a:extLst>
          </p:cNvPr>
          <p:cNvSpPr txBox="1"/>
          <p:nvPr/>
        </p:nvSpPr>
        <p:spPr>
          <a:xfrm>
            <a:off x="2245360" y="3423920"/>
            <a:ext cx="237566" cy="369332"/>
          </a:xfrm>
          <a:prstGeom prst="rect">
            <a:avLst/>
          </a:prstGeom>
          <a:noFill/>
        </p:spPr>
        <p:txBody>
          <a:bodyPr wrap="none" rtlCol="0">
            <a:spAutoFit/>
          </a:bodyPr>
          <a:lstStyle/>
          <a:p>
            <a:r>
              <a:rPr lang="it-IT" dirty="0"/>
              <a:t> </a:t>
            </a:r>
          </a:p>
        </p:txBody>
      </p:sp>
      <mc:AlternateContent xmlns:mc="http://schemas.openxmlformats.org/markup-compatibility/2006" xmlns:a14="http://schemas.microsoft.com/office/drawing/2010/main">
        <mc:Choice Requires="a14">
          <p:sp>
            <p:nvSpPr>
              <p:cNvPr id="8" name="CasellaDiTesto 7">
                <a:extLst>
                  <a:ext uri="{FF2B5EF4-FFF2-40B4-BE49-F238E27FC236}">
                    <a16:creationId xmlns:a16="http://schemas.microsoft.com/office/drawing/2014/main" id="{4FB86119-F793-FBBB-EF6B-300C9A7E7365}"/>
                  </a:ext>
                </a:extLst>
              </p:cNvPr>
              <p:cNvSpPr txBox="1"/>
              <p:nvPr/>
            </p:nvSpPr>
            <p:spPr>
              <a:xfrm>
                <a:off x="548640" y="1247169"/>
                <a:ext cx="3246119" cy="4573816"/>
              </a:xfrm>
              <a:prstGeom prst="rect">
                <a:avLst/>
              </a:prstGeom>
              <a:noFill/>
            </p:spPr>
            <p:txBody>
              <a:bodyPr wrap="square" rtlCol="0">
                <a:spAutoFit/>
              </a:bodyPr>
              <a:lstStyle/>
              <a:p>
                <a:r>
                  <a:rPr lang="it-IT" dirty="0"/>
                  <a:t>C3 controller </a:t>
                </a:r>
                <a:r>
                  <a:rPr lang="it-IT" dirty="0" err="1"/>
                  <a:t>is</a:t>
                </a:r>
                <a:r>
                  <a:rPr lang="it-IT" dirty="0"/>
                  <a:t> </a:t>
                </a:r>
                <a:r>
                  <a:rPr lang="it-IT" dirty="0" err="1"/>
                  <a:t>built</a:t>
                </a:r>
                <a:r>
                  <a:rPr lang="it-IT" dirty="0"/>
                  <a:t> on C2 and </a:t>
                </a:r>
                <a:r>
                  <a:rPr lang="it-IT" dirty="0" err="1"/>
                  <a:t>adds</a:t>
                </a:r>
                <a:r>
                  <a:rPr lang="it-IT" dirty="0"/>
                  <a:t> </a:t>
                </a:r>
                <a:r>
                  <a:rPr lang="it-IT" dirty="0" err="1"/>
                  <a:t>two</a:t>
                </a:r>
                <a:r>
                  <a:rPr lang="it-IT" dirty="0"/>
                  <a:t> PI controllers: </a:t>
                </a:r>
              </a:p>
              <a:p>
                <a:pPr marL="285750" indent="-285750">
                  <a:buFont typeface="Arial" panose="020B0604020202020204" pitchFamily="34" charset="0"/>
                  <a:buChar char="•"/>
                </a:pPr>
                <a:r>
                  <a:rPr lang="it-IT" dirty="0"/>
                  <a:t>On </a:t>
                </a:r>
                <a:r>
                  <a:rPr lang="en-US" dirty="0"/>
                  <a:t>pitch (P=10, I=1) </a:t>
                </a:r>
              </a:p>
              <a:p>
                <a:pPr marL="285750" indent="-285750">
                  <a:buFont typeface="Arial" panose="020B0604020202020204" pitchFamily="34" charset="0"/>
                  <a:buChar char="•"/>
                </a:pPr>
                <a:r>
                  <a:rPr lang="en-US" dirty="0"/>
                  <a:t>On roll (P=5, I=0.5)</a:t>
                </a:r>
              </a:p>
              <a:p>
                <a:endParaRPr lang="en-US" dirty="0"/>
              </a:p>
              <a:p>
                <a:r>
                  <a:rPr lang="en-US" dirty="0"/>
                  <a:t>The output of these controllers is used to compute the </a:t>
                </a:r>
                <a14:m>
                  <m:oMath xmlns:m="http://schemas.openxmlformats.org/officeDocument/2006/math">
                    <m:r>
                      <m:rPr>
                        <m:sty m:val="p"/>
                      </m:rPr>
                      <a:rPr lang="it-IT" b="0" i="0" smtClean="0">
                        <a:latin typeface="Cambria Math" panose="02040503050406030204" pitchFamily="18" charset="0"/>
                      </a:rPr>
                      <m:t>Δ</m:t>
                    </m:r>
                    <m:r>
                      <a:rPr lang="it-IT" b="0" i="1" smtClean="0">
                        <a:latin typeface="Cambria Math" panose="02040503050406030204" pitchFamily="18" charset="0"/>
                      </a:rPr>
                      <m:t>𝑧</m:t>
                    </m:r>
                  </m:oMath>
                </a14:m>
                <a:r>
                  <a:rPr lang="it-IT" dirty="0"/>
                  <a:t> for </a:t>
                </a:r>
                <a:r>
                  <a:rPr lang="it-IT" dirty="0" err="1"/>
                  <a:t>each</a:t>
                </a:r>
                <a:r>
                  <a:rPr lang="it-IT" dirty="0"/>
                  <a:t> foot </a:t>
                </a:r>
                <a:r>
                  <a:rPr lang="it-IT" dirty="0" err="1"/>
                  <a:t>according</a:t>
                </a:r>
                <a:r>
                  <a:rPr lang="it-IT" dirty="0"/>
                  <a:t> to the formula:</a:t>
                </a:r>
              </a:p>
              <a:p>
                <a:endParaRPr lang="it-IT" dirty="0"/>
              </a:p>
              <a:p>
                <a:pPr/>
                <a14:m>
                  <m:oMathPara xmlns:m="http://schemas.openxmlformats.org/officeDocument/2006/math">
                    <m:oMath>
                      <m:r>
                        <m:rPr>
                          <m:sty m:val="p"/>
                        </m:rPr>
                        <a:rPr lang="it-IT" b="0" i="0" smtClean="0">
                          <a:latin typeface="Cambria Math" panose="02040503050406030204" pitchFamily="18" charset="0"/>
                        </a:rPr>
                        <m:t>Δ</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𝑧</m:t>
                          </m:r>
                        </m:e>
                        <m:sub>
                          <m:r>
                            <a:rPr lang="it-IT" b="0" i="1" smtClean="0">
                              <a:latin typeface="Cambria Math" panose="02040503050406030204" pitchFamily="18" charset="0"/>
                            </a:rPr>
                            <m:t>𝑖</m:t>
                          </m:r>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𝑥</m:t>
                          </m:r>
                        </m:e>
                        <m:sub>
                          <m:r>
                            <a:rPr lang="it-IT" b="0" i="1" smtClean="0">
                              <a:latin typeface="Cambria Math" panose="02040503050406030204" pitchFamily="18" charset="0"/>
                            </a:rPr>
                            <m:t>𝑖</m:t>
                          </m:r>
                        </m:sub>
                      </m:sSub>
                      <m:sSub>
                        <m:sSubPr>
                          <m:ctrlPr>
                            <a:rPr lang="it-IT" b="0" i="1" smtClean="0">
                              <a:latin typeface="Cambria Math" panose="02040503050406030204" pitchFamily="18" charset="0"/>
                            </a:rPr>
                          </m:ctrlPr>
                        </m:sSubPr>
                        <m:e>
                          <m:r>
                            <a:rPr lang="it-IT" b="0" i="1" smtClean="0">
                              <a:latin typeface="Cambria Math" panose="02040503050406030204" pitchFamily="18" charset="0"/>
                            </a:rPr>
                            <m:t>𝑢</m:t>
                          </m:r>
                        </m:e>
                        <m:sub>
                          <m:r>
                            <a:rPr lang="it-IT" b="0" i="1" smtClean="0">
                              <a:latin typeface="Cambria Math" panose="02040503050406030204" pitchFamily="18" charset="0"/>
                            </a:rPr>
                            <m:t>𝜃</m:t>
                          </m:r>
                        </m:sub>
                      </m:sSub>
                      <m:r>
                        <a:rPr lang="it-IT" b="0" i="1" smtClean="0">
                          <a:latin typeface="Cambria Math" panose="02040503050406030204" pitchFamily="18" charset="0"/>
                        </a:rPr>
                        <m:t>+</m:t>
                      </m:r>
                      <m:r>
                        <a:rPr lang="it-IT" b="0" i="1" smtClean="0">
                          <a:latin typeface="Cambria Math" panose="02040503050406030204" pitchFamily="18" charset="0"/>
                        </a:rPr>
                        <m:t>𝑦</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𝑢</m:t>
                          </m:r>
                        </m:e>
                        <m:sub>
                          <m:r>
                            <a:rPr lang="it-IT" b="0" i="1" smtClean="0">
                              <a:latin typeface="Cambria Math" panose="02040503050406030204" pitchFamily="18" charset="0"/>
                            </a:rPr>
                            <m:t>𝜙</m:t>
                          </m:r>
                        </m:sub>
                      </m:sSub>
                    </m:oMath>
                  </m:oMathPara>
                </a14:m>
                <a:endParaRPr lang="it-IT" dirty="0"/>
              </a:p>
              <a:p>
                <a:endParaRPr lang="it-IT" dirty="0"/>
              </a:p>
              <a:p>
                <a:r>
                  <a:rPr lang="it-IT" dirty="0" err="1"/>
                  <a:t>Where</a:t>
                </a:r>
                <a:r>
                  <a:rPr lang="it-IT" dirty="0"/>
                  <a:t> (</a:t>
                </a: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𝑥</m:t>
                        </m:r>
                      </m:e>
                      <m:sub>
                        <m:r>
                          <a:rPr lang="it-IT" b="0" i="1" smtClean="0">
                            <a:latin typeface="Cambria Math" panose="02040503050406030204" pitchFamily="18" charset="0"/>
                          </a:rPr>
                          <m:t>𝑖</m:t>
                        </m:r>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𝑦</m:t>
                        </m:r>
                      </m:e>
                      <m:sub>
                        <m:r>
                          <a:rPr lang="it-IT" b="0" i="1" smtClean="0">
                            <a:latin typeface="Cambria Math" panose="02040503050406030204" pitchFamily="18" charset="0"/>
                          </a:rPr>
                          <m:t>𝑖</m:t>
                        </m:r>
                      </m:sub>
                    </m:sSub>
                  </m:oMath>
                </a14:m>
                <a:r>
                  <a:rPr lang="it-IT" dirty="0"/>
                  <a:t>) are the </a:t>
                </a:r>
                <a:r>
                  <a:rPr lang="it-IT" dirty="0" err="1"/>
                  <a:t>coordinates</a:t>
                </a:r>
                <a:r>
                  <a:rPr lang="it-IT" dirty="0"/>
                  <a:t> of the foot and </a:t>
                </a: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𝑢</m:t>
                        </m:r>
                      </m:e>
                      <m:sub>
                        <m:r>
                          <a:rPr lang="it-IT" b="0" i="1" smtClean="0">
                            <a:latin typeface="Cambria Math" panose="02040503050406030204" pitchFamily="18" charset="0"/>
                          </a:rPr>
                          <m:t>𝜃</m:t>
                        </m:r>
                      </m:sub>
                    </m:sSub>
                  </m:oMath>
                </a14:m>
                <a:r>
                  <a:rPr lang="it-IT" dirty="0"/>
                  <a:t> and </a:t>
                </a: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𝑢</m:t>
                        </m:r>
                      </m:e>
                      <m:sub>
                        <m:r>
                          <a:rPr lang="it-IT" b="0" i="1" smtClean="0">
                            <a:latin typeface="Cambria Math" panose="02040503050406030204" pitchFamily="18" charset="0"/>
                          </a:rPr>
                          <m:t>𝜙</m:t>
                        </m:r>
                      </m:sub>
                    </m:sSub>
                  </m:oMath>
                </a14:m>
                <a:r>
                  <a:rPr lang="it-IT" dirty="0"/>
                  <a:t> are the outputs of the PI controllers</a:t>
                </a:r>
              </a:p>
            </p:txBody>
          </p:sp>
        </mc:Choice>
        <mc:Fallback xmlns="">
          <p:sp>
            <p:nvSpPr>
              <p:cNvPr id="8" name="CasellaDiTesto 7">
                <a:extLst>
                  <a:ext uri="{FF2B5EF4-FFF2-40B4-BE49-F238E27FC236}">
                    <a16:creationId xmlns:a16="http://schemas.microsoft.com/office/drawing/2014/main" id="{4FB86119-F793-FBBB-EF6B-300C9A7E7365}"/>
                  </a:ext>
                </a:extLst>
              </p:cNvPr>
              <p:cNvSpPr txBox="1">
                <a:spLocks noRot="1" noChangeAspect="1" noMove="1" noResize="1" noEditPoints="1" noAdjustHandles="1" noChangeArrowheads="1" noChangeShapeType="1" noTextEdit="1"/>
              </p:cNvSpPr>
              <p:nvPr/>
            </p:nvSpPr>
            <p:spPr>
              <a:xfrm>
                <a:off x="548640" y="1247169"/>
                <a:ext cx="3246119" cy="4573816"/>
              </a:xfrm>
              <a:prstGeom prst="rect">
                <a:avLst/>
              </a:prstGeom>
              <a:blipFill>
                <a:blip r:embed="rId3"/>
                <a:stretch>
                  <a:fillRect l="-1504" t="-800" r="-1316" b="-1200"/>
                </a:stretch>
              </a:blipFill>
            </p:spPr>
            <p:txBody>
              <a:bodyPr/>
              <a:lstStyle/>
              <a:p>
                <a:r>
                  <a:rPr lang="it-IT">
                    <a:noFill/>
                  </a:rPr>
                  <a:t> </a:t>
                </a:r>
              </a:p>
            </p:txBody>
          </p:sp>
        </mc:Fallback>
      </mc:AlternateContent>
      <p:sp>
        <p:nvSpPr>
          <p:cNvPr id="4" name="Segnaposto numero diapositiva 3">
            <a:extLst>
              <a:ext uri="{FF2B5EF4-FFF2-40B4-BE49-F238E27FC236}">
                <a16:creationId xmlns:a16="http://schemas.microsoft.com/office/drawing/2014/main" id="{9D942BDA-8C9D-FE70-340D-CFA6A3AD33AE}"/>
              </a:ext>
            </a:extLst>
          </p:cNvPr>
          <p:cNvSpPr>
            <a:spLocks noGrp="1"/>
          </p:cNvSpPr>
          <p:nvPr>
            <p:ph type="sldNum" sz="quarter" idx="4294967295"/>
          </p:nvPr>
        </p:nvSpPr>
        <p:spPr/>
        <p:txBody>
          <a:bodyPr/>
          <a:lstStyle/>
          <a:p>
            <a:pPr algn="r"/>
            <a:fld id="{F7021451-1387-4CA6-816F-3879F97B5CBC}" type="slidenum">
              <a:rPr lang="en-US" b="0" smtClean="0"/>
              <a:t>7</a:t>
            </a:fld>
            <a:endParaRPr lang="en-US"/>
          </a:p>
        </p:txBody>
      </p:sp>
    </p:spTree>
    <p:extLst>
      <p:ext uri="{BB962C8B-B14F-4D97-AF65-F5344CB8AC3E}">
        <p14:creationId xmlns:p14="http://schemas.microsoft.com/office/powerpoint/2010/main" val="2337692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dirty="0"/>
              <a:t>The s</a:t>
            </a:r>
            <a:r>
              <a:rPr lang="en-US" sz="3000" b="1" dirty="0">
                <a:solidFill>
                  <a:schemeClr val="tx2"/>
                </a:solidFill>
              </a:rPr>
              <a:t>even tasks</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576264037"/>
              </p:ext>
            </p:extLst>
          </p:nvPr>
        </p:nvGraphicFramePr>
        <p:xfrm>
          <a:off x="1886635" y="1371600"/>
          <a:ext cx="8418424" cy="4665304"/>
        </p:xfrm>
        <a:graphic>
          <a:graphicData uri="http://schemas.openxmlformats.org/drawingml/2006/table">
            <a:tbl>
              <a:tblPr/>
              <a:tblGrid>
                <a:gridCol w="900366">
                  <a:extLst>
                    <a:ext uri="{9D8B030D-6E8A-4147-A177-3AD203B41FA5}">
                      <a16:colId xmlns:a16="http://schemas.microsoft.com/office/drawing/2014/main" val="20000"/>
                    </a:ext>
                  </a:extLst>
                </a:gridCol>
                <a:gridCol w="2926190">
                  <a:extLst>
                    <a:ext uri="{9D8B030D-6E8A-4147-A177-3AD203B41FA5}">
                      <a16:colId xmlns:a16="http://schemas.microsoft.com/office/drawing/2014/main" val="20001"/>
                    </a:ext>
                  </a:extLst>
                </a:gridCol>
                <a:gridCol w="4591868">
                  <a:extLst>
                    <a:ext uri="{9D8B030D-6E8A-4147-A177-3AD203B41FA5}">
                      <a16:colId xmlns:a16="http://schemas.microsoft.com/office/drawing/2014/main" val="20002"/>
                    </a:ext>
                  </a:extLst>
                </a:gridCol>
              </a:tblGrid>
              <a:tr h="583163">
                <a:tc>
                  <a:txBody>
                    <a:bodyPr/>
                    <a:lstStyle/>
                    <a:p>
                      <a:pPr marL="0" indent="0">
                        <a:buNone/>
                      </a:pPr>
                      <a:r>
                        <a:rPr lang="en-US" sz="1500" b="1" dirty="0">
                          <a:solidFill>
                            <a:srgbClr val="FFFFFF"/>
                          </a:solidFill>
                        </a:rPr>
                        <a:t>ID</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Task</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What it stresses</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extLst>
                  <a:ext uri="{0D108BD9-81ED-4DB2-BD59-A6C34878D82A}">
                    <a16:rowId xmlns:a16="http://schemas.microsoft.com/office/drawing/2014/main" val="10000"/>
                  </a:ext>
                </a:extLst>
              </a:tr>
              <a:tr h="583163">
                <a:tc>
                  <a:txBody>
                    <a:bodyPr/>
                    <a:lstStyle/>
                    <a:p>
                      <a:pPr marL="0" indent="0">
                        <a:buNone/>
                      </a:pPr>
                      <a:r>
                        <a:rPr lang="en-US" sz="1500" b="1" dirty="0">
                          <a:solidFill>
                            <a:srgbClr val="1F2A30"/>
                          </a:solidFill>
                        </a:rPr>
                        <a:t>T2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1F2A30"/>
                          </a:solidFill>
                        </a:rPr>
                        <a:t>flat, speed sweep</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1F2A30"/>
                          </a:solidFill>
                        </a:rPr>
                        <a:t>reference and speed envelope</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1"/>
                  </a:ext>
                </a:extLst>
              </a:tr>
              <a:tr h="583163">
                <a:tc>
                  <a:txBody>
                    <a:bodyPr/>
                    <a:lstStyle/>
                    <a:p>
                      <a:pPr marL="0" indent="0">
                        <a:buNone/>
                      </a:pPr>
                      <a:r>
                        <a:rPr lang="en-US" sz="1500" b="1" dirty="0">
                          <a:solidFill>
                            <a:srgbClr val="1F2A30"/>
                          </a:solidFill>
                        </a:rPr>
                        <a:t>T3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1F2A30"/>
                          </a:solidFill>
                        </a:rPr>
                        <a:t>curved path</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1F2A30"/>
                          </a:solidFill>
                        </a:rPr>
                        <a:t>yaw 0.1 rad/s</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2"/>
                  </a:ext>
                </a:extLst>
              </a:tr>
              <a:tr h="583163">
                <a:tc>
                  <a:txBody>
                    <a:bodyPr/>
                    <a:lstStyle/>
                    <a:p>
                      <a:pPr marL="0" indent="0">
                        <a:buNone/>
                      </a:pPr>
                      <a:r>
                        <a:rPr lang="en-US" sz="1500" b="1" dirty="0">
                          <a:solidFill>
                            <a:srgbClr val="1F2A30"/>
                          </a:solidFill>
                        </a:rPr>
                        <a:t>T4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1F2A30"/>
                          </a:solidFill>
                        </a:rPr>
                        <a:t>8° ramp</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1F2A30"/>
                          </a:solidFill>
                        </a:rPr>
                        <a:t>body attitude versus terrain</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3"/>
                  </a:ext>
                </a:extLst>
              </a:tr>
              <a:tr h="583163">
                <a:tc>
                  <a:txBody>
                    <a:bodyPr/>
                    <a:lstStyle/>
                    <a:p>
                      <a:pPr marL="0" indent="0">
                        <a:buNone/>
                      </a:pPr>
                      <a:r>
                        <a:rPr lang="en-US" sz="1500" b="1" dirty="0">
                          <a:solidFill>
                            <a:srgbClr val="1F2A30"/>
                          </a:solidFill>
                        </a:rPr>
                        <a:t>T4D</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1F2A30"/>
                          </a:solidFill>
                        </a:rPr>
                        <a:t>8°/8° bump</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1F2A30"/>
                          </a:solidFill>
                        </a:rPr>
                        <a:t>ascent and descent</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4"/>
                  </a:ext>
                </a:extLst>
              </a:tr>
              <a:tr h="583163">
                <a:tc>
                  <a:txBody>
                    <a:bodyPr/>
                    <a:lstStyle/>
                    <a:p>
                      <a:pPr marL="0" indent="0">
                        <a:buNone/>
                      </a:pPr>
                      <a:r>
                        <a:rPr lang="en-US" sz="1500" b="1" dirty="0">
                          <a:solidFill>
                            <a:srgbClr val="1F2A30"/>
                          </a:solidFill>
                        </a:rPr>
                        <a:t>T5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1F2A30"/>
                          </a:solidFill>
                        </a:rPr>
                        <a:t>single obstacle</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1F2A30"/>
                          </a:solidFill>
                        </a:rPr>
                        <a:t>unmodelled step, 32.8 mm</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5"/>
                  </a:ext>
                </a:extLst>
              </a:tr>
              <a:tr h="583163">
                <a:tc>
                  <a:txBody>
                    <a:bodyPr/>
                    <a:lstStyle/>
                    <a:p>
                      <a:pPr marL="0" indent="0">
                        <a:buNone/>
                      </a:pPr>
                      <a:r>
                        <a:rPr lang="en-US" sz="1500" b="1" dirty="0">
                          <a:solidFill>
                            <a:srgbClr val="1F2A30"/>
                          </a:solidFill>
                        </a:rPr>
                        <a:t>T6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1F2A30"/>
                          </a:solidFill>
                        </a:rPr>
                        <a:t>seven obstacles</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1F2A30"/>
                          </a:solidFill>
                        </a:rPr>
                        <a:t>four full-width, three lateral</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6"/>
                  </a:ext>
                </a:extLst>
              </a:tr>
              <a:tr h="583163">
                <a:tc>
                  <a:txBody>
                    <a:bodyPr/>
                    <a:lstStyle/>
                    <a:p>
                      <a:pPr marL="0" indent="0">
                        <a:buNone/>
                      </a:pPr>
                      <a:r>
                        <a:rPr lang="en-US" sz="1500" b="1" dirty="0">
                          <a:solidFill>
                            <a:srgbClr val="1F2A30"/>
                          </a:solidFill>
                        </a:rPr>
                        <a:t>T7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1F2A30"/>
                          </a:solidFill>
                        </a:rPr>
                        <a:t>lateral impulse</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1F2A30"/>
                          </a:solidFill>
                        </a:rPr>
                        <a:t>from 1% to 1600% of nominal</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chemeClr val="tx2"/>
                </a:solidFill>
              </a:rPr>
              <a:t>When a difference is a result</a:t>
            </a:r>
            <a:endParaRPr lang="en-US" sz="3000" dirty="0"/>
          </a:p>
        </p:txBody>
      </p:sp>
      <p:sp>
        <p:nvSpPr>
          <p:cNvPr id="4" name="step 1"/>
          <p:cNvSpPr/>
          <p:nvPr/>
        </p:nvSpPr>
        <p:spPr>
          <a:xfrm>
            <a:off x="548640" y="1417320"/>
            <a:ext cx="3429000" cy="1828800"/>
          </a:xfrm>
          <a:prstGeom prst="rect">
            <a:avLst/>
          </a:prstGeom>
          <a:solidFill>
            <a:schemeClr val="bg2"/>
          </a:solidFill>
          <a:ln w="12700">
            <a:solidFill>
              <a:schemeClr val="bg2"/>
            </a:solidFill>
            <a:prstDash val="solid"/>
          </a:ln>
        </p:spPr>
        <p:txBody>
          <a:bodyPr/>
          <a:lstStyle/>
          <a:p>
            <a:endParaRPr lang="it-IT"/>
          </a:p>
        </p:txBody>
      </p:sp>
      <p:sp>
        <p:nvSpPr>
          <p:cNvPr id="5" name="num 1"/>
          <p:cNvSpPr/>
          <p:nvPr/>
        </p:nvSpPr>
        <p:spPr>
          <a:xfrm>
            <a:off x="822960" y="1645920"/>
            <a:ext cx="548640" cy="548640"/>
          </a:xfrm>
          <a:prstGeom prst="ellipse">
            <a:avLst/>
          </a:prstGeom>
          <a:solidFill>
            <a:schemeClr val="tx2"/>
          </a:solidFill>
          <a:ln w="12700">
            <a:solidFill>
              <a:schemeClr val="tx2"/>
            </a:solidFill>
            <a:prstDash val="solid"/>
          </a:ln>
        </p:spPr>
        <p:txBody>
          <a:bodyPr/>
          <a:lstStyle/>
          <a:p>
            <a:endParaRPr lang="it-IT"/>
          </a:p>
        </p:txBody>
      </p:sp>
      <p:sp>
        <p:nvSpPr>
          <p:cNvPr id="6" name="Text 3"/>
          <p:cNvSpPr txBox="1"/>
          <p:nvPr/>
        </p:nvSpPr>
        <p:spPr>
          <a:xfrm>
            <a:off x="822960" y="16459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4"/>
          <p:cNvSpPr txBox="1"/>
          <p:nvPr/>
        </p:nvSpPr>
        <p:spPr>
          <a:xfrm>
            <a:off x="1508760" y="1645920"/>
            <a:ext cx="2286000" cy="548640"/>
          </a:xfrm>
          <a:prstGeom prst="rect">
            <a:avLst/>
          </a:prstGeom>
          <a:noFill/>
          <a:ln/>
        </p:spPr>
        <p:txBody>
          <a:bodyPr wrap="square" lIns="0" tIns="0" rIns="0" bIns="0" rtlCol="0" anchor="ctr"/>
          <a:lstStyle/>
          <a:p>
            <a:pPr marL="0" indent="0">
              <a:buNone/>
            </a:pPr>
            <a:r>
              <a:rPr lang="en-US" sz="1700" b="1" dirty="0">
                <a:solidFill>
                  <a:schemeClr val="tx2"/>
                </a:solidFill>
              </a:rPr>
              <a:t>Three runs per controller</a:t>
            </a:r>
            <a:endParaRPr lang="en-US" sz="1700" dirty="0"/>
          </a:p>
        </p:txBody>
      </p:sp>
      <p:sp>
        <p:nvSpPr>
          <p:cNvPr id="8" name="Text 5"/>
          <p:cNvSpPr txBox="1"/>
          <p:nvPr/>
        </p:nvSpPr>
        <p:spPr>
          <a:xfrm>
            <a:off x="822960" y="2377440"/>
            <a:ext cx="2880360" cy="731520"/>
          </a:xfrm>
          <a:prstGeom prst="rect">
            <a:avLst/>
          </a:prstGeom>
          <a:noFill/>
          <a:ln/>
        </p:spPr>
        <p:txBody>
          <a:bodyPr wrap="square" lIns="0" tIns="0" rIns="0" bIns="0" rtlCol="0" anchor="t"/>
          <a:lstStyle/>
          <a:p>
            <a:pPr marL="0" indent="0">
              <a:buNone/>
            </a:pPr>
            <a:r>
              <a:rPr lang="en-US" sz="1500" dirty="0">
                <a:solidFill>
                  <a:schemeClr val="tx1"/>
                </a:solidFill>
              </a:rPr>
              <a:t>nominal z0 ±0.2 mm, on four tasks</a:t>
            </a:r>
            <a:endParaRPr lang="en-US" sz="1500" dirty="0"/>
          </a:p>
        </p:txBody>
      </p:sp>
      <p:sp>
        <p:nvSpPr>
          <p:cNvPr id="9" name="freccia 0"/>
          <p:cNvSpPr/>
          <p:nvPr/>
        </p:nvSpPr>
        <p:spPr>
          <a:xfrm>
            <a:off x="4050792" y="2148840"/>
            <a:ext cx="219456" cy="365760"/>
          </a:xfrm>
          <a:prstGeom prst="chevron">
            <a:avLst/>
          </a:prstGeom>
          <a:solidFill>
            <a:schemeClr val="accent5"/>
          </a:solidFill>
          <a:ln w="12700">
            <a:solidFill>
              <a:schemeClr val="accent5"/>
            </a:solidFill>
            <a:prstDash val="solid"/>
          </a:ln>
        </p:spPr>
        <p:txBody>
          <a:bodyPr/>
          <a:lstStyle/>
          <a:p>
            <a:endParaRPr lang="it-IT"/>
          </a:p>
        </p:txBody>
      </p:sp>
      <p:sp>
        <p:nvSpPr>
          <p:cNvPr id="10" name="step 2"/>
          <p:cNvSpPr/>
          <p:nvPr/>
        </p:nvSpPr>
        <p:spPr>
          <a:xfrm>
            <a:off x="4343400" y="1417320"/>
            <a:ext cx="3429000" cy="1828800"/>
          </a:xfrm>
          <a:prstGeom prst="rect">
            <a:avLst/>
          </a:prstGeom>
          <a:solidFill>
            <a:schemeClr val="bg2"/>
          </a:solidFill>
          <a:ln w="12700">
            <a:solidFill>
              <a:schemeClr val="bg2"/>
            </a:solidFill>
            <a:prstDash val="solid"/>
          </a:ln>
        </p:spPr>
        <p:txBody>
          <a:bodyPr/>
          <a:lstStyle/>
          <a:p>
            <a:endParaRPr lang="it-IT"/>
          </a:p>
        </p:txBody>
      </p:sp>
      <p:sp>
        <p:nvSpPr>
          <p:cNvPr id="11" name="num 2"/>
          <p:cNvSpPr/>
          <p:nvPr/>
        </p:nvSpPr>
        <p:spPr>
          <a:xfrm>
            <a:off x="4617720" y="1645920"/>
            <a:ext cx="548640" cy="548640"/>
          </a:xfrm>
          <a:prstGeom prst="ellipse">
            <a:avLst/>
          </a:prstGeom>
          <a:solidFill>
            <a:schemeClr val="tx2"/>
          </a:solidFill>
          <a:ln w="12700">
            <a:solidFill>
              <a:schemeClr val="tx2"/>
            </a:solidFill>
            <a:prstDash val="solid"/>
          </a:ln>
        </p:spPr>
        <p:txBody>
          <a:bodyPr/>
          <a:lstStyle/>
          <a:p>
            <a:endParaRPr lang="it-IT"/>
          </a:p>
        </p:txBody>
      </p:sp>
      <p:sp>
        <p:nvSpPr>
          <p:cNvPr id="12" name="Text 9"/>
          <p:cNvSpPr txBox="1"/>
          <p:nvPr/>
        </p:nvSpPr>
        <p:spPr>
          <a:xfrm>
            <a:off x="4617720" y="16459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3" name="Text 10"/>
          <p:cNvSpPr txBox="1"/>
          <p:nvPr/>
        </p:nvSpPr>
        <p:spPr>
          <a:xfrm>
            <a:off x="5303520" y="1645920"/>
            <a:ext cx="2286000" cy="548640"/>
          </a:xfrm>
          <a:prstGeom prst="rect">
            <a:avLst/>
          </a:prstGeom>
          <a:noFill/>
          <a:ln/>
        </p:spPr>
        <p:txBody>
          <a:bodyPr wrap="square" lIns="0" tIns="0" rIns="0" bIns="0" rtlCol="0" anchor="ctr"/>
          <a:lstStyle/>
          <a:p>
            <a:pPr marL="0" indent="0">
              <a:buNone/>
            </a:pPr>
            <a:r>
              <a:rPr lang="en-US" sz="1700" b="1" dirty="0">
                <a:solidFill>
                  <a:schemeClr val="tx2"/>
                </a:solidFill>
              </a:rPr>
              <a:t>Variability band</a:t>
            </a:r>
            <a:endParaRPr lang="en-US" sz="1700" dirty="0"/>
          </a:p>
        </p:txBody>
      </p:sp>
      <p:sp>
        <p:nvSpPr>
          <p:cNvPr id="14" name="Text 11"/>
          <p:cNvSpPr txBox="1"/>
          <p:nvPr/>
        </p:nvSpPr>
        <p:spPr>
          <a:xfrm>
            <a:off x="4617720" y="2377440"/>
            <a:ext cx="2880360" cy="731520"/>
          </a:xfrm>
          <a:prstGeom prst="rect">
            <a:avLst/>
          </a:prstGeom>
          <a:noFill/>
          <a:ln/>
        </p:spPr>
        <p:txBody>
          <a:bodyPr wrap="square" lIns="0" tIns="0" rIns="0" bIns="0" rtlCol="0" anchor="t"/>
          <a:lstStyle/>
          <a:p>
            <a:pPr marL="0" indent="0">
              <a:buNone/>
            </a:pPr>
            <a:r>
              <a:rPr lang="en-US" sz="1500" dirty="0">
                <a:solidFill>
                  <a:schemeClr val="tx1"/>
                </a:solidFill>
              </a:rPr>
              <a:t>max − min of the metric across the three runs</a:t>
            </a:r>
            <a:endParaRPr lang="en-US" sz="1500" dirty="0"/>
          </a:p>
        </p:txBody>
      </p:sp>
      <p:sp>
        <p:nvSpPr>
          <p:cNvPr id="15" name="freccia 1"/>
          <p:cNvSpPr/>
          <p:nvPr/>
        </p:nvSpPr>
        <p:spPr>
          <a:xfrm>
            <a:off x="7845552" y="2148840"/>
            <a:ext cx="219456" cy="365760"/>
          </a:xfrm>
          <a:prstGeom prst="chevron">
            <a:avLst/>
          </a:prstGeom>
          <a:solidFill>
            <a:schemeClr val="accent5"/>
          </a:solidFill>
          <a:ln w="12700">
            <a:solidFill>
              <a:schemeClr val="accent5"/>
            </a:solidFill>
            <a:prstDash val="solid"/>
          </a:ln>
        </p:spPr>
        <p:txBody>
          <a:bodyPr/>
          <a:lstStyle/>
          <a:p>
            <a:endParaRPr lang="it-IT"/>
          </a:p>
        </p:txBody>
      </p:sp>
      <p:sp>
        <p:nvSpPr>
          <p:cNvPr id="16" name="step 3"/>
          <p:cNvSpPr/>
          <p:nvPr/>
        </p:nvSpPr>
        <p:spPr>
          <a:xfrm>
            <a:off x="8138160" y="1417320"/>
            <a:ext cx="3429000" cy="1828800"/>
          </a:xfrm>
          <a:prstGeom prst="rect">
            <a:avLst/>
          </a:prstGeom>
          <a:solidFill>
            <a:schemeClr val="bg2"/>
          </a:solidFill>
          <a:ln w="12700">
            <a:solidFill>
              <a:schemeClr val="bg2"/>
            </a:solidFill>
            <a:prstDash val="solid"/>
          </a:ln>
        </p:spPr>
        <p:txBody>
          <a:bodyPr/>
          <a:lstStyle/>
          <a:p>
            <a:endParaRPr lang="it-IT"/>
          </a:p>
        </p:txBody>
      </p:sp>
      <p:sp>
        <p:nvSpPr>
          <p:cNvPr id="17" name="num 3"/>
          <p:cNvSpPr/>
          <p:nvPr/>
        </p:nvSpPr>
        <p:spPr>
          <a:xfrm>
            <a:off x="8412480" y="1645920"/>
            <a:ext cx="548640" cy="548640"/>
          </a:xfrm>
          <a:prstGeom prst="ellipse">
            <a:avLst/>
          </a:prstGeom>
          <a:solidFill>
            <a:schemeClr val="tx2"/>
          </a:solidFill>
          <a:ln w="12700">
            <a:solidFill>
              <a:schemeClr val="tx2"/>
            </a:solidFill>
            <a:prstDash val="solid"/>
          </a:ln>
        </p:spPr>
        <p:txBody>
          <a:bodyPr/>
          <a:lstStyle/>
          <a:p>
            <a:endParaRPr lang="it-IT"/>
          </a:p>
        </p:txBody>
      </p:sp>
      <p:sp>
        <p:nvSpPr>
          <p:cNvPr id="18" name="Text 15"/>
          <p:cNvSpPr txBox="1"/>
          <p:nvPr/>
        </p:nvSpPr>
        <p:spPr>
          <a:xfrm>
            <a:off x="8412480" y="16459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9" name="Text 16"/>
          <p:cNvSpPr txBox="1"/>
          <p:nvPr/>
        </p:nvSpPr>
        <p:spPr>
          <a:xfrm>
            <a:off x="9098280" y="1645920"/>
            <a:ext cx="2286000" cy="548640"/>
          </a:xfrm>
          <a:prstGeom prst="rect">
            <a:avLst/>
          </a:prstGeom>
          <a:noFill/>
          <a:ln/>
        </p:spPr>
        <p:txBody>
          <a:bodyPr wrap="square" lIns="0" tIns="0" rIns="0" bIns="0" rtlCol="0" anchor="ctr"/>
          <a:lstStyle/>
          <a:p>
            <a:pPr marL="0" indent="0">
              <a:buNone/>
            </a:pPr>
            <a:r>
              <a:rPr lang="en-US" sz="1700" b="1" dirty="0">
                <a:solidFill>
                  <a:schemeClr val="tx2"/>
                </a:solidFill>
              </a:rPr>
              <a:t>The 3× rule</a:t>
            </a:r>
            <a:endParaRPr lang="en-US" sz="1700" dirty="0"/>
          </a:p>
        </p:txBody>
      </p:sp>
      <p:sp>
        <p:nvSpPr>
          <p:cNvPr id="20" name="Text 17"/>
          <p:cNvSpPr txBox="1"/>
          <p:nvPr/>
        </p:nvSpPr>
        <p:spPr>
          <a:xfrm>
            <a:off x="8412480" y="2377440"/>
            <a:ext cx="2880360" cy="731520"/>
          </a:xfrm>
          <a:prstGeom prst="rect">
            <a:avLst/>
          </a:prstGeom>
          <a:noFill/>
          <a:ln/>
        </p:spPr>
        <p:txBody>
          <a:bodyPr wrap="square" lIns="0" tIns="0" rIns="0" bIns="0" rtlCol="0" anchor="t"/>
          <a:lstStyle/>
          <a:p>
            <a:pPr marL="0" indent="0">
              <a:buNone/>
            </a:pPr>
            <a:r>
              <a:rPr lang="en-US" sz="1500" dirty="0">
                <a:solidFill>
                  <a:schemeClr val="tx1"/>
                </a:solidFill>
              </a:rPr>
              <a:t>difference ≥ 3 × the worse of the two bands</a:t>
            </a:r>
            <a:endParaRPr lang="en-US" sz="1500" dirty="0"/>
          </a:p>
        </p:txBody>
      </p:sp>
      <p:sp>
        <p:nvSpPr>
          <p:cNvPr id="21" name="regola"/>
          <p:cNvSpPr/>
          <p:nvPr/>
        </p:nvSpPr>
        <p:spPr>
          <a:xfrm>
            <a:off x="548640" y="3611880"/>
            <a:ext cx="11094415" cy="868680"/>
          </a:xfrm>
          <a:prstGeom prst="rect">
            <a:avLst/>
          </a:prstGeom>
          <a:solidFill>
            <a:schemeClr val="tx2"/>
          </a:solidFill>
          <a:ln w="12700">
            <a:solidFill>
              <a:schemeClr val="tx2"/>
            </a:solidFill>
            <a:prstDash val="solid"/>
          </a:ln>
        </p:spPr>
        <p:txBody>
          <a:bodyPr/>
          <a:lstStyle/>
          <a:p>
            <a:endParaRPr lang="it-IT"/>
          </a:p>
        </p:txBody>
      </p:sp>
      <mc:AlternateContent xmlns:mc="http://schemas.openxmlformats.org/markup-compatibility/2006" xmlns:a14="http://schemas.microsoft.com/office/drawing/2010/main">
        <mc:Choice Requires="a14">
          <p:sp>
            <p:nvSpPr>
              <p:cNvPr id="22" name="Text 19"/>
              <p:cNvSpPr txBox="1"/>
              <p:nvPr/>
            </p:nvSpPr>
            <p:spPr>
              <a:xfrm>
                <a:off x="548640" y="3611880"/>
                <a:ext cx="11094415" cy="868680"/>
              </a:xfrm>
              <a:prstGeom prst="rect">
                <a:avLst/>
              </a:prstGeom>
              <a:noFill/>
              <a:ln/>
            </p:spPr>
            <p:txBody>
              <a:bodyPr wrap="square" lIns="0" tIns="0" rIns="0" bIns="0" rtlCol="0" anchor="ctr"/>
              <a:lstStyle/>
              <a:p>
                <a:pPr marL="0" indent="0" algn="ctr">
                  <a:buNone/>
                </a:pPr>
                <a14:m>
                  <m:oMathPara xmlns:m="http://schemas.openxmlformats.org/officeDocument/2006/math">
                    <m:oMath>
                      <m:r>
                        <a:rPr lang="en-US" sz="2400" b="1" i="1" dirty="0" smtClean="0">
                          <a:solidFill>
                            <a:schemeClr val="bg1"/>
                          </a:solidFill>
                          <a:latin typeface="Cambria Math" panose="02040503050406030204" pitchFamily="18" charset="0"/>
                          <a:ea typeface="Cambria" pitchFamily="34" charset="-122"/>
                          <a:cs typeface="Cambria" pitchFamily="34" charset="-120"/>
                        </a:rPr>
                        <m:t>|</m:t>
                      </m:r>
                      <m:sSub>
                        <m:sSubPr>
                          <m:ctrlPr>
                            <a:rPr lang="en-US" sz="2400" b="1" i="1" dirty="0" smtClean="0">
                              <a:solidFill>
                                <a:schemeClr val="bg1"/>
                              </a:solidFill>
                              <a:latin typeface="Cambria Math" panose="02040503050406030204" pitchFamily="18" charset="0"/>
                              <a:ea typeface="Cambria" pitchFamily="34" charset="-122"/>
                              <a:cs typeface="Cambria" pitchFamily="34" charset="-120"/>
                            </a:rPr>
                          </m:ctrlPr>
                        </m:sSubPr>
                        <m:e>
                          <m:r>
                            <a:rPr lang="en-US" sz="2400" b="1" i="1" dirty="0" smtClean="0">
                              <a:solidFill>
                                <a:schemeClr val="bg1"/>
                              </a:solidFill>
                              <a:latin typeface="Cambria Math" panose="02040503050406030204" pitchFamily="18" charset="0"/>
                              <a:ea typeface="Cambria" pitchFamily="34" charset="-122"/>
                              <a:cs typeface="Cambria" pitchFamily="34" charset="-120"/>
                            </a:rPr>
                            <m:t>𝑴</m:t>
                          </m:r>
                        </m:e>
                        <m:sub>
                          <m:r>
                            <a:rPr lang="en-US" sz="2400" b="1" i="1" dirty="0" smtClean="0">
                              <a:solidFill>
                                <a:schemeClr val="bg1"/>
                              </a:solidFill>
                              <a:latin typeface="Cambria Math" panose="02040503050406030204" pitchFamily="18" charset="0"/>
                              <a:ea typeface="Cambria" pitchFamily="34" charset="-122"/>
                              <a:cs typeface="Cambria" pitchFamily="34" charset="-120"/>
                            </a:rPr>
                            <m:t>𝑨</m:t>
                          </m:r>
                        </m:sub>
                      </m:sSub>
                      <m:r>
                        <a:rPr lang="en-US" sz="2400" b="1" i="1" dirty="0" smtClean="0">
                          <a:solidFill>
                            <a:schemeClr val="bg1"/>
                          </a:solidFill>
                          <a:latin typeface="Cambria Math" panose="02040503050406030204" pitchFamily="18" charset="0"/>
                          <a:ea typeface="Cambria" pitchFamily="34" charset="-122"/>
                          <a:cs typeface="Cambria" pitchFamily="34" charset="-120"/>
                        </a:rPr>
                        <m:t> − </m:t>
                      </m:r>
                      <m:sSub>
                        <m:sSubPr>
                          <m:ctrlPr>
                            <a:rPr lang="en-US" sz="2400" b="1" i="1" dirty="0" smtClean="0">
                              <a:solidFill>
                                <a:schemeClr val="bg1"/>
                              </a:solidFill>
                              <a:latin typeface="Cambria Math" panose="02040503050406030204" pitchFamily="18" charset="0"/>
                              <a:ea typeface="Cambria" pitchFamily="34" charset="-122"/>
                              <a:cs typeface="Cambria" pitchFamily="34" charset="-120"/>
                            </a:rPr>
                          </m:ctrlPr>
                        </m:sSubPr>
                        <m:e>
                          <m:r>
                            <a:rPr lang="en-US" sz="2400" b="1" i="1" dirty="0" smtClean="0">
                              <a:solidFill>
                                <a:schemeClr val="bg1"/>
                              </a:solidFill>
                              <a:latin typeface="Cambria Math" panose="02040503050406030204" pitchFamily="18" charset="0"/>
                              <a:ea typeface="Cambria" pitchFamily="34" charset="-122"/>
                              <a:cs typeface="Cambria" pitchFamily="34" charset="-120"/>
                            </a:rPr>
                            <m:t>𝑴</m:t>
                          </m:r>
                        </m:e>
                        <m:sub>
                          <m:r>
                            <a:rPr lang="en-US" sz="2400" b="1" i="1" dirty="0" smtClean="0">
                              <a:solidFill>
                                <a:schemeClr val="bg1"/>
                              </a:solidFill>
                              <a:latin typeface="Cambria Math" panose="02040503050406030204" pitchFamily="18" charset="0"/>
                              <a:ea typeface="Cambria" pitchFamily="34" charset="-122"/>
                              <a:cs typeface="Cambria" pitchFamily="34" charset="-120"/>
                            </a:rPr>
                            <m:t>𝑩</m:t>
                          </m:r>
                        </m:sub>
                      </m:sSub>
                      <m:r>
                        <a:rPr lang="en-US" sz="2400" b="1" i="1" dirty="0" smtClean="0">
                          <a:solidFill>
                            <a:schemeClr val="bg1"/>
                          </a:solidFill>
                          <a:latin typeface="Cambria Math" panose="02040503050406030204" pitchFamily="18" charset="0"/>
                          <a:ea typeface="Cambria" pitchFamily="34" charset="-122"/>
                          <a:cs typeface="Cambria" pitchFamily="34" charset="-120"/>
                        </a:rPr>
                        <m:t>|  ≥  </m:t>
                      </m:r>
                      <m:r>
                        <a:rPr lang="en-US" sz="2400" b="1" i="1" dirty="0" smtClean="0">
                          <a:solidFill>
                            <a:schemeClr val="bg1"/>
                          </a:solidFill>
                          <a:latin typeface="Cambria Math" panose="02040503050406030204" pitchFamily="18" charset="0"/>
                          <a:ea typeface="Cambria" pitchFamily="34" charset="-122"/>
                          <a:cs typeface="Cambria" pitchFamily="34" charset="-120"/>
                        </a:rPr>
                        <m:t>𝟑</m:t>
                      </m:r>
                      <m:r>
                        <a:rPr lang="en-US" sz="2400" b="1" i="1" dirty="0" smtClean="0">
                          <a:solidFill>
                            <a:schemeClr val="bg1"/>
                          </a:solidFill>
                          <a:latin typeface="Cambria Math" panose="02040503050406030204" pitchFamily="18" charset="0"/>
                          <a:ea typeface="Cambria" pitchFamily="34" charset="-122"/>
                          <a:cs typeface="Cambria" pitchFamily="34" charset="-120"/>
                        </a:rPr>
                        <m:t> · </m:t>
                      </m:r>
                      <m:r>
                        <m:rPr>
                          <m:sty m:val="p"/>
                        </m:rPr>
                        <a:rPr lang="en-US" sz="2400" b="1" i="1" dirty="0" smtClean="0">
                          <a:solidFill>
                            <a:schemeClr val="bg1"/>
                          </a:solidFill>
                          <a:latin typeface="Cambria Math" panose="02040503050406030204" pitchFamily="18" charset="0"/>
                          <a:ea typeface="Cambria" pitchFamily="34" charset="-122"/>
                          <a:cs typeface="Cambria" pitchFamily="34" charset="-120"/>
                        </a:rPr>
                        <m:t>max</m:t>
                      </m:r>
                      <m:r>
                        <a:rPr lang="en-US" sz="2400" b="1" i="1" dirty="0" smtClean="0">
                          <a:solidFill>
                            <a:schemeClr val="bg1"/>
                          </a:solidFill>
                          <a:latin typeface="Cambria Math" panose="02040503050406030204" pitchFamily="18" charset="0"/>
                          <a:ea typeface="Cambria" pitchFamily="34" charset="-122"/>
                          <a:cs typeface="Cambria" pitchFamily="34" charset="-120"/>
                        </a:rPr>
                        <m:t>⁡( </m:t>
                      </m:r>
                      <m:r>
                        <a:rPr lang="en-US" sz="2400" b="1" i="1" dirty="0" smtClean="0">
                          <a:solidFill>
                            <a:schemeClr val="bg1"/>
                          </a:solidFill>
                          <a:latin typeface="Cambria Math" panose="02040503050406030204" pitchFamily="18" charset="0"/>
                          <a:ea typeface="Cambria" pitchFamily="34" charset="-122"/>
                          <a:cs typeface="Cambria" pitchFamily="34" charset="-120"/>
                        </a:rPr>
                        <m:t>𝒃𝒂𝒏</m:t>
                      </m:r>
                      <m:sSub>
                        <m:sSubPr>
                          <m:ctrlPr>
                            <a:rPr lang="en-US" sz="2400" b="1" i="1" dirty="0" smtClean="0">
                              <a:solidFill>
                                <a:schemeClr val="bg1"/>
                              </a:solidFill>
                              <a:latin typeface="Cambria Math" panose="02040503050406030204" pitchFamily="18" charset="0"/>
                              <a:ea typeface="Cambria" pitchFamily="34" charset="-122"/>
                              <a:cs typeface="Cambria" pitchFamily="34" charset="-120"/>
                            </a:rPr>
                          </m:ctrlPr>
                        </m:sSubPr>
                        <m:e>
                          <m:r>
                            <a:rPr lang="en-US" sz="2400" b="1" i="1" dirty="0" smtClean="0">
                              <a:solidFill>
                                <a:schemeClr val="bg1"/>
                              </a:solidFill>
                              <a:latin typeface="Cambria Math" panose="02040503050406030204" pitchFamily="18" charset="0"/>
                              <a:ea typeface="Cambria" pitchFamily="34" charset="-122"/>
                              <a:cs typeface="Cambria" pitchFamily="34" charset="-120"/>
                            </a:rPr>
                            <m:t>𝒅</m:t>
                          </m:r>
                        </m:e>
                        <m:sub>
                          <m:r>
                            <a:rPr lang="en-US" sz="2400" b="1" i="1" dirty="0" smtClean="0">
                              <a:solidFill>
                                <a:schemeClr val="bg1"/>
                              </a:solidFill>
                              <a:latin typeface="Cambria Math" panose="02040503050406030204" pitchFamily="18" charset="0"/>
                              <a:ea typeface="Cambria" pitchFamily="34" charset="-122"/>
                              <a:cs typeface="Cambria" pitchFamily="34" charset="-120"/>
                            </a:rPr>
                            <m:t>𝑨</m:t>
                          </m:r>
                        </m:sub>
                      </m:sSub>
                      <m:r>
                        <a:rPr lang="en-US" sz="2400" b="1" i="1" dirty="0" smtClean="0">
                          <a:solidFill>
                            <a:schemeClr val="bg1"/>
                          </a:solidFill>
                          <a:latin typeface="Cambria Math" panose="02040503050406030204" pitchFamily="18" charset="0"/>
                          <a:ea typeface="Cambria" pitchFamily="34" charset="-122"/>
                          <a:cs typeface="Cambria" pitchFamily="34" charset="-120"/>
                        </a:rPr>
                        <m:t> , </m:t>
                      </m:r>
                      <m:r>
                        <a:rPr lang="en-US" sz="2400" b="1" i="1" dirty="0" smtClean="0">
                          <a:solidFill>
                            <a:schemeClr val="bg1"/>
                          </a:solidFill>
                          <a:latin typeface="Cambria Math" panose="02040503050406030204" pitchFamily="18" charset="0"/>
                          <a:ea typeface="Cambria" pitchFamily="34" charset="-122"/>
                          <a:cs typeface="Cambria" pitchFamily="34" charset="-120"/>
                        </a:rPr>
                        <m:t>𝒃𝒂𝒏</m:t>
                      </m:r>
                      <m:sSub>
                        <m:sSubPr>
                          <m:ctrlPr>
                            <a:rPr lang="en-US" sz="2400" b="1" i="1" dirty="0" smtClean="0">
                              <a:solidFill>
                                <a:schemeClr val="bg1"/>
                              </a:solidFill>
                              <a:latin typeface="Cambria Math" panose="02040503050406030204" pitchFamily="18" charset="0"/>
                              <a:ea typeface="Cambria" pitchFamily="34" charset="-122"/>
                              <a:cs typeface="Cambria" pitchFamily="34" charset="-120"/>
                            </a:rPr>
                          </m:ctrlPr>
                        </m:sSubPr>
                        <m:e>
                          <m:r>
                            <a:rPr lang="en-US" sz="2400" b="1" i="1" dirty="0" smtClean="0">
                              <a:solidFill>
                                <a:schemeClr val="bg1"/>
                              </a:solidFill>
                              <a:latin typeface="Cambria Math" panose="02040503050406030204" pitchFamily="18" charset="0"/>
                              <a:ea typeface="Cambria" pitchFamily="34" charset="-122"/>
                              <a:cs typeface="Cambria" pitchFamily="34" charset="-120"/>
                            </a:rPr>
                            <m:t>𝒅</m:t>
                          </m:r>
                        </m:e>
                        <m:sub>
                          <m:r>
                            <a:rPr lang="en-US" sz="2400" b="1" i="1" dirty="0" smtClean="0">
                              <a:solidFill>
                                <a:schemeClr val="bg1"/>
                              </a:solidFill>
                              <a:latin typeface="Cambria Math" panose="02040503050406030204" pitchFamily="18" charset="0"/>
                              <a:ea typeface="Cambria" pitchFamily="34" charset="-122"/>
                              <a:cs typeface="Cambria" pitchFamily="34" charset="-120"/>
                            </a:rPr>
                            <m:t>𝑩</m:t>
                          </m:r>
                        </m:sub>
                      </m:sSub>
                      <m:r>
                        <a:rPr lang="en-US" sz="2400" b="1" i="1" dirty="0" smtClean="0">
                          <a:solidFill>
                            <a:schemeClr val="bg1"/>
                          </a:solidFill>
                          <a:latin typeface="Cambria Math" panose="02040503050406030204" pitchFamily="18" charset="0"/>
                          <a:ea typeface="Cambria" pitchFamily="34" charset="-122"/>
                          <a:cs typeface="Cambria" pitchFamily="34" charset="-120"/>
                        </a:rPr>
                        <m:t> )</m:t>
                      </m:r>
                    </m:oMath>
                  </m:oMathPara>
                </a14:m>
                <a:endParaRPr/>
              </a:p>
            </p:txBody>
          </p:sp>
        </mc:Choice>
        <mc:Fallback xmlns="">
          <p:sp>
            <p:nvSpPr>
              <p:cNvPr id="22" name="Text 19"/>
              <p:cNvSpPr txBox="1">
                <a:spLocks noRot="1" noChangeAspect="1" noMove="1" noResize="1" noEditPoints="1" noAdjustHandles="1" noChangeArrowheads="1" noChangeShapeType="1" noTextEdit="1"/>
              </p:cNvSpPr>
              <p:nvPr/>
            </p:nvSpPr>
            <p:spPr>
              <a:xfrm>
                <a:off x="548640" y="3611880"/>
                <a:ext cx="11094415" cy="868680"/>
              </a:xfrm>
              <a:prstGeom prst="rect">
                <a:avLst/>
              </a:prstGeom>
              <a:blipFill>
                <a:blip r:embed="rId3"/>
                <a:stretch>
                  <a:fillRect/>
                </a:stretch>
              </a:blipFill>
              <a:ln/>
            </p:spPr>
            <p:txBody>
              <a:bodyPr/>
              <a:lstStyle/>
              <a:p>
                <a:r>
                  <a:rPr lang="it-IT">
                    <a:noFill/>
                  </a:rPr>
                  <a:t> </a:t>
                </a:r>
              </a:p>
            </p:txBody>
          </p:sp>
        </mc:Fallback>
      </mc:AlternateContent>
      <p:sp>
        <p:nvSpPr>
          <p:cNvPr id="23" name="esito 0"/>
          <p:cNvSpPr/>
          <p:nvPr/>
        </p:nvSpPr>
        <p:spPr>
          <a:xfrm>
            <a:off x="548640" y="5052060"/>
            <a:ext cx="320040" cy="320040"/>
          </a:xfrm>
          <a:prstGeom prst="ellipse">
            <a:avLst/>
          </a:prstGeom>
          <a:solidFill>
            <a:schemeClr val="accent2"/>
          </a:solidFill>
          <a:ln w="12700">
            <a:solidFill>
              <a:schemeClr val="accent2"/>
            </a:solidFill>
            <a:prstDash val="solid"/>
          </a:ln>
        </p:spPr>
        <p:txBody>
          <a:bodyPr/>
          <a:lstStyle/>
          <a:p>
            <a:endParaRPr lang="it-IT"/>
          </a:p>
        </p:txBody>
      </p:sp>
      <p:sp>
        <p:nvSpPr>
          <p:cNvPr id="24" name="Text 21"/>
          <p:cNvSpPr txBox="1"/>
          <p:nvPr/>
        </p:nvSpPr>
        <p:spPr>
          <a:xfrm>
            <a:off x="1051560" y="4846320"/>
            <a:ext cx="4937760" cy="731520"/>
          </a:xfrm>
          <a:prstGeom prst="rect">
            <a:avLst/>
          </a:prstGeom>
          <a:noFill/>
          <a:ln/>
        </p:spPr>
        <p:txBody>
          <a:bodyPr wrap="square" lIns="0" tIns="0" rIns="0" bIns="0" rtlCol="0" anchor="ctr"/>
          <a:lstStyle/>
          <a:p>
            <a:pPr marL="0" indent="0">
              <a:buNone/>
            </a:pPr>
            <a:r>
              <a:rPr lang="en-US" sz="1500" dirty="0">
                <a:solidFill>
                  <a:schemeClr val="tx1"/>
                </a:solidFill>
              </a:rPr>
              <a:t>Above the threshold: valid difference, bold in the tables</a:t>
            </a:r>
            <a:endParaRPr lang="en-US" sz="1500" dirty="0"/>
          </a:p>
        </p:txBody>
      </p:sp>
      <p:sp>
        <p:nvSpPr>
          <p:cNvPr id="25" name="esito 1"/>
          <p:cNvSpPr/>
          <p:nvPr/>
        </p:nvSpPr>
        <p:spPr>
          <a:xfrm>
            <a:off x="6202682" y="5052060"/>
            <a:ext cx="320040" cy="320040"/>
          </a:xfrm>
          <a:prstGeom prst="ellipse">
            <a:avLst/>
          </a:prstGeom>
          <a:solidFill>
            <a:schemeClr val="accent3"/>
          </a:solidFill>
          <a:ln w="12700">
            <a:solidFill>
              <a:schemeClr val="accent3"/>
            </a:solidFill>
            <a:prstDash val="solid"/>
          </a:ln>
        </p:spPr>
        <p:txBody>
          <a:bodyPr/>
          <a:lstStyle/>
          <a:p>
            <a:endParaRPr lang="it-IT"/>
          </a:p>
        </p:txBody>
      </p:sp>
      <p:sp>
        <p:nvSpPr>
          <p:cNvPr id="26" name="Text 23"/>
          <p:cNvSpPr txBox="1"/>
          <p:nvPr/>
        </p:nvSpPr>
        <p:spPr>
          <a:xfrm>
            <a:off x="6693408" y="4846320"/>
            <a:ext cx="4937760" cy="731520"/>
          </a:xfrm>
          <a:prstGeom prst="rect">
            <a:avLst/>
          </a:prstGeom>
          <a:noFill/>
          <a:ln/>
        </p:spPr>
        <p:txBody>
          <a:bodyPr wrap="square" lIns="0" tIns="0" rIns="0" bIns="0" rtlCol="0" anchor="ctr"/>
          <a:lstStyle/>
          <a:p>
            <a:pPr marL="0" indent="0">
              <a:buNone/>
            </a:pPr>
            <a:r>
              <a:rPr lang="en-US" sz="1500" dirty="0">
                <a:solidFill>
                  <a:schemeClr val="tx1"/>
                </a:solidFill>
              </a:rPr>
              <a:t>Below: not conclusive (n.c.), not attributed to the controller</a:t>
            </a:r>
            <a:endParaRPr lang="en-US" sz="1500" dirty="0"/>
          </a:p>
        </p:txBody>
      </p:sp>
      <p:sp>
        <p:nvSpPr>
          <p:cNvPr id="3"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chemeClr val="tx2"/>
                </a:solidFill>
              </a:rPr>
              <a:t>Fixed issues 1: the URDF inertias</a:t>
            </a:r>
            <a:endParaRPr lang="en-US" sz="3000" dirty="0"/>
          </a:p>
        </p:txBody>
      </p:sp>
      <p:sp>
        <p:nvSpPr>
          <p:cNvPr id="4" name="stat 0"/>
          <p:cNvSpPr/>
          <p:nvPr/>
        </p:nvSpPr>
        <p:spPr>
          <a:xfrm>
            <a:off x="548640" y="1463040"/>
            <a:ext cx="3373120" cy="1581912"/>
          </a:xfrm>
          <a:prstGeom prst="rect">
            <a:avLst/>
          </a:prstGeom>
          <a:solidFill>
            <a:schemeClr val="bg2"/>
          </a:solidFill>
          <a:ln w="12700">
            <a:solidFill>
              <a:schemeClr val="bg2"/>
            </a:solidFill>
            <a:prstDash val="solid"/>
          </a:ln>
        </p:spPr>
        <p:txBody>
          <a:bodyPr/>
          <a:lstStyle/>
          <a:p>
            <a:endParaRPr lang="it-IT"/>
          </a:p>
        </p:txBody>
      </p:sp>
      <p:sp>
        <p:nvSpPr>
          <p:cNvPr id="5" name="Text 2"/>
          <p:cNvSpPr txBox="1"/>
          <p:nvPr/>
        </p:nvSpPr>
        <p:spPr>
          <a:xfrm>
            <a:off x="822960" y="1783080"/>
            <a:ext cx="2971800" cy="685800"/>
          </a:xfrm>
          <a:prstGeom prst="rect">
            <a:avLst/>
          </a:prstGeom>
          <a:noFill/>
          <a:ln/>
        </p:spPr>
        <p:txBody>
          <a:bodyPr wrap="square" lIns="0" tIns="0" rIns="0" bIns="0" rtlCol="0" anchor="t"/>
          <a:lstStyle/>
          <a:p>
            <a:pPr marL="0" indent="0">
              <a:buNone/>
            </a:pPr>
            <a:r>
              <a:rPr lang="en-US" sz="3000" b="1" dirty="0">
                <a:solidFill>
                  <a:schemeClr val="accent1"/>
                </a:solidFill>
                <a:latin typeface="Cambria" pitchFamily="34" charset="0"/>
                <a:ea typeface="Cambria" pitchFamily="34" charset="-122"/>
                <a:cs typeface="Cambria" pitchFamily="34" charset="-120"/>
              </a:rPr>
              <a:t>r = 1.79 m</a:t>
            </a:r>
            <a:endParaRPr lang="en-US" sz="3000" dirty="0"/>
          </a:p>
        </p:txBody>
      </p:sp>
      <p:sp>
        <p:nvSpPr>
          <p:cNvPr id="6" name="Text 3"/>
          <p:cNvSpPr txBox="1"/>
          <p:nvPr/>
        </p:nvSpPr>
        <p:spPr>
          <a:xfrm>
            <a:off x="807720" y="2402840"/>
            <a:ext cx="2971800" cy="548640"/>
          </a:xfrm>
          <a:prstGeom prst="rect">
            <a:avLst/>
          </a:prstGeom>
          <a:noFill/>
          <a:ln/>
        </p:spPr>
        <p:txBody>
          <a:bodyPr wrap="square" lIns="0" tIns="0" rIns="0" bIns="0" rtlCol="0" anchor="t"/>
          <a:lstStyle/>
          <a:p>
            <a:pPr marL="0" indent="0">
              <a:buNone/>
            </a:pPr>
            <a:r>
              <a:rPr lang="en-US" sz="1300" dirty="0">
                <a:solidFill>
                  <a:schemeClr val="tx1"/>
                </a:solidFill>
              </a:rPr>
              <a:t>declared radius of gyration for a 25 cm wide trunk</a:t>
            </a:r>
            <a:endParaRPr lang="en-US" sz="1300" dirty="0"/>
          </a:p>
        </p:txBody>
      </p:sp>
      <p:sp>
        <p:nvSpPr>
          <p:cNvPr id="7" name="stat 1"/>
          <p:cNvSpPr/>
          <p:nvPr/>
        </p:nvSpPr>
        <p:spPr>
          <a:xfrm>
            <a:off x="548640" y="3271520"/>
            <a:ext cx="3373120" cy="1581912"/>
          </a:xfrm>
          <a:prstGeom prst="rect">
            <a:avLst/>
          </a:prstGeom>
          <a:solidFill>
            <a:schemeClr val="bg2"/>
          </a:solidFill>
          <a:ln w="12700">
            <a:solidFill>
              <a:schemeClr val="bg2"/>
            </a:solidFill>
            <a:prstDash val="solid"/>
          </a:ln>
        </p:spPr>
        <p:txBody>
          <a:bodyPr/>
          <a:lstStyle/>
          <a:p>
            <a:endParaRPr lang="it-IT"/>
          </a:p>
        </p:txBody>
      </p:sp>
      <p:sp>
        <p:nvSpPr>
          <p:cNvPr id="8" name="Text 5"/>
          <p:cNvSpPr txBox="1"/>
          <p:nvPr/>
        </p:nvSpPr>
        <p:spPr>
          <a:xfrm>
            <a:off x="822960" y="3591560"/>
            <a:ext cx="2971800" cy="685800"/>
          </a:xfrm>
          <a:prstGeom prst="rect">
            <a:avLst/>
          </a:prstGeom>
          <a:noFill/>
          <a:ln/>
        </p:spPr>
        <p:txBody>
          <a:bodyPr wrap="square" lIns="0" tIns="0" rIns="0" bIns="0" rtlCol="0" anchor="t"/>
          <a:lstStyle/>
          <a:p>
            <a:pPr marL="0" indent="0">
              <a:buNone/>
            </a:pPr>
            <a:r>
              <a:rPr lang="en-US" sz="3000" b="1" dirty="0">
                <a:solidFill>
                  <a:schemeClr val="accent3"/>
                </a:solidFill>
                <a:latin typeface="Cambria" pitchFamily="34" charset="0"/>
                <a:ea typeface="Cambria" pitchFamily="34" charset="-122"/>
                <a:cs typeface="Cambria" pitchFamily="34" charset="-120"/>
              </a:rPr>
              <a:t>24 / 24</a:t>
            </a:r>
            <a:endParaRPr lang="en-US" sz="3000" dirty="0"/>
          </a:p>
        </p:txBody>
      </p:sp>
      <p:sp>
        <p:nvSpPr>
          <p:cNvPr id="9" name="Text 6"/>
          <p:cNvSpPr txBox="1"/>
          <p:nvPr/>
        </p:nvSpPr>
        <p:spPr>
          <a:xfrm>
            <a:off x="815187" y="4218432"/>
            <a:ext cx="2971800" cy="548640"/>
          </a:xfrm>
          <a:prstGeom prst="rect">
            <a:avLst/>
          </a:prstGeom>
          <a:noFill/>
          <a:ln/>
        </p:spPr>
        <p:txBody>
          <a:bodyPr wrap="square" lIns="0" tIns="0" rIns="0" bIns="0" rtlCol="0" anchor="t"/>
          <a:lstStyle/>
          <a:p>
            <a:pPr marL="0" indent="0">
              <a:buNone/>
            </a:pPr>
            <a:r>
              <a:rPr lang="en-US" sz="1300" dirty="0">
                <a:solidFill>
                  <a:schemeClr val="tx1"/>
                </a:solidFill>
              </a:rPr>
              <a:t>links with identical inertia, to the same decimal</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10</a:t>
            </a:fld>
            <a:endParaRPr lang="en-US"/>
          </a:p>
        </p:txBody>
      </p:sp>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5554EE1E-DABB-6BA3-A039-7EBC6C81687B}"/>
                  </a:ext>
                </a:extLst>
              </p:cNvPr>
              <p:cNvSpPr txBox="1"/>
              <p:nvPr/>
            </p:nvSpPr>
            <p:spPr>
              <a:xfrm>
                <a:off x="4835855" y="1387316"/>
                <a:ext cx="6258560" cy="1477328"/>
              </a:xfrm>
              <a:prstGeom prst="rect">
                <a:avLst/>
              </a:prstGeom>
              <a:noFill/>
            </p:spPr>
            <p:txBody>
              <a:bodyPr wrap="square" rtlCol="0">
                <a:spAutoFit/>
              </a:bodyPr>
              <a:lstStyle/>
              <a:p>
                <a:r>
                  <a:rPr lang="it-IT" dirty="0"/>
                  <a:t>We </a:t>
                </a:r>
                <a:r>
                  <a:rPr lang="it-IT" dirty="0" err="1"/>
                  <a:t>noticed</a:t>
                </a:r>
                <a:r>
                  <a:rPr lang="it-IT" dirty="0"/>
                  <a:t> </a:t>
                </a:r>
                <a:r>
                  <a:rPr lang="it-IT" dirty="0" err="1"/>
                  <a:t>that</a:t>
                </a:r>
                <a:r>
                  <a:rPr lang="it-IT" dirty="0"/>
                  <a:t> the </a:t>
                </a:r>
                <a:r>
                  <a:rPr lang="it-IT" dirty="0" err="1"/>
                  <a:t>needed</a:t>
                </a:r>
                <a:r>
                  <a:rPr lang="it-IT" dirty="0"/>
                  <a:t> </a:t>
                </a:r>
                <a:r>
                  <a:rPr lang="it-IT" dirty="0" err="1"/>
                  <a:t>torques</a:t>
                </a:r>
                <a:r>
                  <a:rPr lang="it-IT" dirty="0"/>
                  <a:t> for the </a:t>
                </a:r>
                <a:r>
                  <a:rPr lang="it-IT" dirty="0" err="1"/>
                  <a:t>actuators</a:t>
                </a:r>
                <a:r>
                  <a:rPr lang="it-IT" dirty="0"/>
                  <a:t> </a:t>
                </a:r>
                <a:r>
                  <a:rPr lang="it-IT" dirty="0" err="1"/>
                  <a:t>was</a:t>
                </a:r>
                <a:r>
                  <a:rPr lang="it-IT" dirty="0"/>
                  <a:t> 13X the </a:t>
                </a:r>
                <a:r>
                  <a:rPr lang="it-IT" dirty="0" err="1"/>
                  <a:t>reported</a:t>
                </a:r>
                <a:r>
                  <a:rPr lang="it-IT" dirty="0"/>
                  <a:t> </a:t>
                </a:r>
                <a:r>
                  <a:rPr lang="it-IT" dirty="0" err="1"/>
                  <a:t>ones</a:t>
                </a:r>
                <a:r>
                  <a:rPr lang="it-IT" dirty="0"/>
                  <a:t> in the datasheet so </a:t>
                </a:r>
                <a:r>
                  <a:rPr lang="it-IT" dirty="0" err="1"/>
                  <a:t>we</a:t>
                </a:r>
                <a:r>
                  <a:rPr lang="it-IT" dirty="0"/>
                  <a:t> </a:t>
                </a:r>
                <a:r>
                  <a:rPr lang="it-IT" dirty="0" err="1"/>
                  <a:t>fixed</a:t>
                </a:r>
                <a:r>
                  <a:rPr lang="it-IT" dirty="0"/>
                  <a:t> the moment of </a:t>
                </a:r>
                <a:r>
                  <a:rPr lang="it-IT" dirty="0" err="1"/>
                  <a:t>inertia</a:t>
                </a:r>
                <a:r>
                  <a:rPr lang="it-IT" dirty="0"/>
                  <a:t> of the bodies </a:t>
                </a:r>
                <a:r>
                  <a:rPr lang="it-IT" dirty="0" err="1"/>
                  <a:t>dividing</a:t>
                </a:r>
                <a:r>
                  <a:rPr lang="it-IT" dirty="0"/>
                  <a:t> </a:t>
                </a:r>
                <a:r>
                  <a:rPr lang="it-IT" dirty="0" err="1"/>
                  <a:t>it</a:t>
                </a:r>
                <a:r>
                  <a:rPr lang="it-IT" dirty="0"/>
                  <a:t> by </a:t>
                </a:r>
                <a14:m>
                  <m:oMath xmlns:m="http://schemas.openxmlformats.org/officeDocument/2006/math">
                    <m:sSup>
                      <m:sSupPr>
                        <m:ctrlPr>
                          <a:rPr lang="it-IT" b="0" i="1" smtClean="0">
                            <a:latin typeface="Cambria Math" panose="02040503050406030204" pitchFamily="18" charset="0"/>
                          </a:rPr>
                        </m:ctrlPr>
                      </m:sSupPr>
                      <m:e>
                        <m:r>
                          <a:rPr lang="it-IT" b="0" i="1" smtClean="0">
                            <a:latin typeface="Cambria Math" panose="02040503050406030204" pitchFamily="18" charset="0"/>
                          </a:rPr>
                          <m:t>10</m:t>
                        </m:r>
                      </m:e>
                      <m:sup>
                        <m:r>
                          <a:rPr lang="it-IT" b="0" i="1" smtClean="0">
                            <a:latin typeface="Cambria Math" panose="02040503050406030204" pitchFamily="18" charset="0"/>
                          </a:rPr>
                          <m:t>3</m:t>
                        </m:r>
                      </m:sup>
                    </m:sSup>
                  </m:oMath>
                </a14:m>
                <a:r>
                  <a:rPr lang="it-IT" dirty="0"/>
                  <a:t> </a:t>
                </a:r>
                <a:r>
                  <a:rPr lang="it-IT" dirty="0" err="1"/>
                  <a:t>because</a:t>
                </a:r>
                <a:r>
                  <a:rPr lang="it-IT" dirty="0"/>
                  <a:t> the masses </a:t>
                </a:r>
                <a:r>
                  <a:rPr lang="it-IT" dirty="0" err="1"/>
                  <a:t>used</a:t>
                </a:r>
                <a:r>
                  <a:rPr lang="it-IT" dirty="0"/>
                  <a:t> to compute the </a:t>
                </a:r>
                <a:r>
                  <a:rPr lang="it-IT" dirty="0" err="1"/>
                  <a:t>inertias</a:t>
                </a:r>
                <a:r>
                  <a:rPr lang="it-IT" dirty="0"/>
                  <a:t> </a:t>
                </a:r>
                <a:r>
                  <a:rPr lang="it-IT" dirty="0" err="1"/>
                  <a:t>were</a:t>
                </a:r>
                <a:r>
                  <a:rPr lang="it-IT" dirty="0"/>
                  <a:t> </a:t>
                </a:r>
                <a:r>
                  <a:rPr lang="it-IT" dirty="0" err="1"/>
                  <a:t>expressed</a:t>
                </a:r>
                <a:r>
                  <a:rPr lang="it-IT" dirty="0"/>
                  <a:t> in </a:t>
                </a:r>
                <a:r>
                  <a:rPr lang="it-IT" dirty="0" err="1"/>
                  <a:t>grams</a:t>
                </a:r>
                <a:r>
                  <a:rPr lang="it-IT" dirty="0"/>
                  <a:t>.</a:t>
                </a:r>
              </a:p>
              <a:p>
                <a:r>
                  <a:rPr lang="it-IT" dirty="0"/>
                  <a:t>After </a:t>
                </a:r>
                <a:r>
                  <a:rPr lang="it-IT" dirty="0" err="1"/>
                  <a:t>this</a:t>
                </a:r>
                <a:r>
                  <a:rPr lang="it-IT" dirty="0"/>
                  <a:t> fix </a:t>
                </a:r>
                <a:r>
                  <a:rPr lang="it-IT" dirty="0" err="1"/>
                  <a:t>we</a:t>
                </a:r>
                <a:r>
                  <a:rPr lang="it-IT" dirty="0"/>
                  <a:t> </a:t>
                </a:r>
                <a:r>
                  <a:rPr lang="it-IT" dirty="0" err="1"/>
                  <a:t>had</a:t>
                </a:r>
                <a:r>
                  <a:rPr lang="it-IT" dirty="0"/>
                  <a:t> </a:t>
                </a:r>
                <a:r>
                  <a:rPr lang="it-IT" dirty="0" err="1"/>
                  <a:t>better</a:t>
                </a:r>
                <a:r>
                  <a:rPr lang="it-IT" dirty="0"/>
                  <a:t> </a:t>
                </a:r>
                <a:r>
                  <a:rPr lang="it-IT" dirty="0" err="1"/>
                  <a:t>results</a:t>
                </a:r>
                <a:r>
                  <a:rPr lang="it-IT" dirty="0"/>
                  <a:t> </a:t>
                </a:r>
                <a:r>
                  <a:rPr lang="it-IT" dirty="0" err="1"/>
                  <a:t>overally</a:t>
                </a:r>
                <a:r>
                  <a:rPr lang="it-IT" dirty="0"/>
                  <a:t>.</a:t>
                </a:r>
              </a:p>
            </p:txBody>
          </p:sp>
        </mc:Choice>
        <mc:Fallback xmlns="">
          <p:sp>
            <p:nvSpPr>
              <p:cNvPr id="3" name="CasellaDiTesto 2">
                <a:extLst>
                  <a:ext uri="{FF2B5EF4-FFF2-40B4-BE49-F238E27FC236}">
                    <a16:creationId xmlns:a16="http://schemas.microsoft.com/office/drawing/2014/main" id="{5554EE1E-DABB-6BA3-A039-7EBC6C81687B}"/>
                  </a:ext>
                </a:extLst>
              </p:cNvPr>
              <p:cNvSpPr txBox="1">
                <a:spLocks noRot="1" noChangeAspect="1" noMove="1" noResize="1" noEditPoints="1" noAdjustHandles="1" noChangeArrowheads="1" noChangeShapeType="1" noTextEdit="1"/>
              </p:cNvSpPr>
              <p:nvPr/>
            </p:nvSpPr>
            <p:spPr>
              <a:xfrm>
                <a:off x="4835855" y="1387316"/>
                <a:ext cx="6258560" cy="1477328"/>
              </a:xfrm>
              <a:prstGeom prst="rect">
                <a:avLst/>
              </a:prstGeom>
              <a:blipFill>
                <a:blip r:embed="rId3"/>
                <a:stretch>
                  <a:fillRect l="-779" t="-2479" b="-5785"/>
                </a:stretch>
              </a:blipFill>
            </p:spPr>
            <p:txBody>
              <a:bodyPr/>
              <a:lstStyle/>
              <a:p>
                <a:r>
                  <a:rPr lang="it-IT">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chemeClr val="tx2"/>
                </a:solidFill>
              </a:rPr>
              <a:t>Fixed issues 2: slew limiter and saturator</a:t>
            </a: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11</a:t>
            </a:fld>
            <a:endParaRPr lang="en-US"/>
          </a:p>
        </p:txBody>
      </p:sp>
      <p:pic>
        <p:nvPicPr>
          <p:cNvPr id="9" name="Immagine 8">
            <a:extLst>
              <a:ext uri="{FF2B5EF4-FFF2-40B4-BE49-F238E27FC236}">
                <a16:creationId xmlns:a16="http://schemas.microsoft.com/office/drawing/2014/main" id="{325AC592-EAFA-0261-A312-6BD0D7C3ABE7}"/>
              </a:ext>
            </a:extLst>
          </p:cNvPr>
          <p:cNvPicPr>
            <a:picLocks noChangeAspect="1"/>
          </p:cNvPicPr>
          <p:nvPr/>
        </p:nvPicPr>
        <p:blipFill>
          <a:blip r:embed="rId3"/>
          <a:stretch>
            <a:fillRect/>
          </a:stretch>
        </p:blipFill>
        <p:spPr>
          <a:xfrm>
            <a:off x="3372814" y="1645920"/>
            <a:ext cx="8270241" cy="3383280"/>
          </a:xfrm>
          <a:prstGeom prst="rect">
            <a:avLst/>
          </a:prstGeom>
        </p:spPr>
      </p:pic>
      <mc:AlternateContent xmlns:mc="http://schemas.openxmlformats.org/markup-compatibility/2006" xmlns:a14="http://schemas.microsoft.com/office/drawing/2010/main">
        <mc:Choice Requires="a14">
          <p:sp>
            <p:nvSpPr>
              <p:cNvPr id="10" name="CasellaDiTesto 9">
                <a:extLst>
                  <a:ext uri="{FF2B5EF4-FFF2-40B4-BE49-F238E27FC236}">
                    <a16:creationId xmlns:a16="http://schemas.microsoft.com/office/drawing/2014/main" id="{ECA84205-50E5-9DFF-1380-2699CFB6B1D8}"/>
                  </a:ext>
                </a:extLst>
              </p:cNvPr>
              <p:cNvSpPr txBox="1"/>
              <p:nvPr/>
            </p:nvSpPr>
            <p:spPr>
              <a:xfrm>
                <a:off x="457200" y="1792069"/>
                <a:ext cx="2621279" cy="3416320"/>
              </a:xfrm>
              <a:prstGeom prst="rect">
                <a:avLst/>
              </a:prstGeom>
              <a:noFill/>
            </p:spPr>
            <p:txBody>
              <a:bodyPr wrap="square" rtlCol="0">
                <a:spAutoFit/>
              </a:bodyPr>
              <a:lstStyle/>
              <a:p>
                <a:r>
                  <a:rPr lang="it-IT" dirty="0"/>
                  <a:t>Adding C2 and C3 controllers </a:t>
                </a:r>
                <a:r>
                  <a:rPr lang="it-IT" dirty="0" err="1"/>
                  <a:t>introduced</a:t>
                </a:r>
                <a:r>
                  <a:rPr lang="it-IT" dirty="0"/>
                  <a:t> some </a:t>
                </a:r>
                <a:r>
                  <a:rPr lang="it-IT" dirty="0" err="1"/>
                  <a:t>problems</a:t>
                </a:r>
                <a:r>
                  <a:rPr lang="it-IT" dirty="0"/>
                  <a:t>:</a:t>
                </a:r>
              </a:p>
              <a:p>
                <a:pPr marL="285750" indent="-285750">
                  <a:buFont typeface="Arial" panose="020B0604020202020204" pitchFamily="34" charset="0"/>
                  <a:buChar char="•"/>
                </a:pPr>
                <a:r>
                  <a:rPr lang="it-IT" dirty="0"/>
                  <a:t>Both the controllers can </a:t>
                </a:r>
                <a:r>
                  <a:rPr lang="it-IT" dirty="0" err="1"/>
                  <a:t>add</a:t>
                </a:r>
                <a:r>
                  <a:rPr lang="it-IT" dirty="0"/>
                  <a:t> a </a:t>
                </a:r>
                <a:r>
                  <a:rPr lang="it-IT" dirty="0" err="1"/>
                  <a:t>undesired</a:t>
                </a:r>
                <a:r>
                  <a:rPr lang="it-IT" dirty="0"/>
                  <a:t> fast </a:t>
                </a:r>
                <a:r>
                  <a:rPr lang="it-IT" dirty="0" err="1"/>
                  <a:t>movements</a:t>
                </a:r>
                <a:r>
                  <a:rPr lang="it-IT" dirty="0"/>
                  <a:t> on the </a:t>
                </a:r>
                <a:r>
                  <a:rPr lang="it-IT" dirty="0" err="1"/>
                  <a:t>legs</a:t>
                </a:r>
                <a:r>
                  <a:rPr lang="it-IT" dirty="0"/>
                  <a:t>.</a:t>
                </a:r>
              </a:p>
              <a:p>
                <a:pPr marL="285750" indent="-285750">
                  <a:buFont typeface="Arial" panose="020B0604020202020204" pitchFamily="34" charset="0"/>
                  <a:buChar char="•"/>
                </a:pPr>
                <a:r>
                  <a:rPr lang="it-IT" dirty="0" err="1"/>
                  <a:t>Adding</a:t>
                </a:r>
                <a:r>
                  <a:rPr lang="it-IT" dirty="0"/>
                  <a:t> a </a:t>
                </a:r>
                <a14:m>
                  <m:oMath xmlns:m="http://schemas.openxmlformats.org/officeDocument/2006/math">
                    <m:r>
                      <m:rPr>
                        <m:sty m:val="p"/>
                      </m:rPr>
                      <a:rPr lang="it-IT" b="0" i="0" smtClean="0">
                        <a:latin typeface="Cambria Math" panose="02040503050406030204" pitchFamily="18" charset="0"/>
                      </a:rPr>
                      <m:t>Δ</m:t>
                    </m:r>
                    <m:r>
                      <a:rPr lang="it-IT" b="0" i="1" smtClean="0">
                        <a:latin typeface="Cambria Math" panose="02040503050406030204" pitchFamily="18" charset="0"/>
                      </a:rPr>
                      <m:t>𝑧</m:t>
                    </m:r>
                    <m:r>
                      <a:rPr lang="it-IT" b="0" i="1" smtClean="0">
                        <a:latin typeface="Cambria Math" panose="02040503050406030204" pitchFamily="18" charset="0"/>
                      </a:rPr>
                      <m:t> </m:t>
                    </m:r>
                  </m:oMath>
                </a14:m>
                <a:r>
                  <a:rPr lang="it-IT" dirty="0" err="1"/>
                  <a:t>adds</a:t>
                </a:r>
                <a:r>
                  <a:rPr lang="it-IT" dirty="0"/>
                  <a:t> an offset to </a:t>
                </a:r>
                <a:r>
                  <a:rPr lang="it-IT" dirty="0" err="1"/>
                  <a:t>all</a:t>
                </a:r>
                <a:r>
                  <a:rPr lang="it-IT" dirty="0"/>
                  <a:t> the </a:t>
                </a:r>
                <a:r>
                  <a:rPr lang="it-IT" dirty="0" err="1"/>
                  <a:t>trajectory</a:t>
                </a:r>
                <a:r>
                  <a:rPr lang="it-IT" dirty="0"/>
                  <a:t> </a:t>
                </a:r>
                <a:r>
                  <a:rPr lang="it-IT" dirty="0" err="1"/>
                  <a:t>which</a:t>
                </a:r>
                <a:r>
                  <a:rPr lang="it-IT" dirty="0"/>
                  <a:t> can cause </a:t>
                </a:r>
                <a:r>
                  <a:rPr lang="it-IT" dirty="0" err="1"/>
                  <a:t>unfeasable</a:t>
                </a:r>
                <a:r>
                  <a:rPr lang="it-IT" dirty="0"/>
                  <a:t> </a:t>
                </a:r>
                <a:r>
                  <a:rPr lang="it-IT" dirty="0" err="1"/>
                  <a:t>movements</a:t>
                </a:r>
                <a:r>
                  <a:rPr lang="it-IT" dirty="0"/>
                  <a:t>.</a:t>
                </a:r>
              </a:p>
            </p:txBody>
          </p:sp>
        </mc:Choice>
        <mc:Fallback xmlns="">
          <p:sp>
            <p:nvSpPr>
              <p:cNvPr id="10" name="CasellaDiTesto 9">
                <a:extLst>
                  <a:ext uri="{FF2B5EF4-FFF2-40B4-BE49-F238E27FC236}">
                    <a16:creationId xmlns:a16="http://schemas.microsoft.com/office/drawing/2014/main" id="{ECA84205-50E5-9DFF-1380-2699CFB6B1D8}"/>
                  </a:ext>
                </a:extLst>
              </p:cNvPr>
              <p:cNvSpPr txBox="1">
                <a:spLocks noRot="1" noChangeAspect="1" noMove="1" noResize="1" noEditPoints="1" noAdjustHandles="1" noChangeArrowheads="1" noChangeShapeType="1" noTextEdit="1"/>
              </p:cNvSpPr>
              <p:nvPr/>
            </p:nvSpPr>
            <p:spPr>
              <a:xfrm>
                <a:off x="457200" y="1792069"/>
                <a:ext cx="2621279" cy="3416320"/>
              </a:xfrm>
              <a:prstGeom prst="rect">
                <a:avLst/>
              </a:prstGeom>
              <a:blipFill>
                <a:blip r:embed="rId4"/>
                <a:stretch>
                  <a:fillRect l="-1860" t="-1071" r="-3488" b="-1964"/>
                </a:stretch>
              </a:blipFill>
            </p:spPr>
            <p:txBody>
              <a:bodyPr/>
              <a:lstStyle/>
              <a:p>
                <a:r>
                  <a:rPr lang="it-IT">
                    <a:noFill/>
                  </a:rPr>
                  <a:t> </a:t>
                </a:r>
              </a:p>
            </p:txBody>
          </p:sp>
        </mc:Fallback>
      </mc:AlternateContent>
      <p:sp>
        <p:nvSpPr>
          <p:cNvPr id="11" name="CasellaDiTesto 10">
            <a:extLst>
              <a:ext uri="{FF2B5EF4-FFF2-40B4-BE49-F238E27FC236}">
                <a16:creationId xmlns:a16="http://schemas.microsoft.com/office/drawing/2014/main" id="{F9FB097A-4F90-EB1B-4DA2-AEF8BDFECC5E}"/>
              </a:ext>
            </a:extLst>
          </p:cNvPr>
          <p:cNvSpPr txBox="1"/>
          <p:nvPr/>
        </p:nvSpPr>
        <p:spPr>
          <a:xfrm>
            <a:off x="548640" y="5718512"/>
            <a:ext cx="7440178" cy="369332"/>
          </a:xfrm>
          <a:prstGeom prst="rect">
            <a:avLst/>
          </a:prstGeom>
          <a:noFill/>
        </p:spPr>
        <p:txBody>
          <a:bodyPr wrap="none" rtlCol="0">
            <a:spAutoFit/>
          </a:bodyPr>
          <a:lstStyle/>
          <a:p>
            <a:r>
              <a:rPr lang="it-IT" dirty="0"/>
              <a:t>To </a:t>
            </a:r>
            <a:r>
              <a:rPr lang="it-IT" dirty="0" err="1"/>
              <a:t>fixed</a:t>
            </a:r>
            <a:r>
              <a:rPr lang="it-IT" dirty="0"/>
              <a:t> </a:t>
            </a:r>
            <a:r>
              <a:rPr lang="it-IT" dirty="0" err="1"/>
              <a:t>this</a:t>
            </a:r>
            <a:r>
              <a:rPr lang="it-IT" dirty="0"/>
              <a:t> </a:t>
            </a:r>
            <a:r>
              <a:rPr lang="it-IT" dirty="0" err="1"/>
              <a:t>we</a:t>
            </a:r>
            <a:r>
              <a:rPr lang="it-IT" dirty="0"/>
              <a:t> </a:t>
            </a:r>
            <a:r>
              <a:rPr lang="it-IT" dirty="0" err="1"/>
              <a:t>added</a:t>
            </a:r>
            <a:r>
              <a:rPr lang="it-IT" dirty="0"/>
              <a:t> a </a:t>
            </a:r>
            <a:r>
              <a:rPr lang="it-IT" dirty="0" err="1"/>
              <a:t>saturator</a:t>
            </a:r>
            <a:r>
              <a:rPr lang="it-IT" dirty="0"/>
              <a:t> and a </a:t>
            </a:r>
            <a:r>
              <a:rPr lang="it-IT" dirty="0" err="1"/>
              <a:t>slew</a:t>
            </a:r>
            <a:r>
              <a:rPr lang="it-IT" dirty="0"/>
              <a:t> rate </a:t>
            </a:r>
            <a:r>
              <a:rPr lang="it-IT" dirty="0" err="1"/>
              <a:t>that</a:t>
            </a:r>
            <a:r>
              <a:rPr lang="it-IT" dirty="0"/>
              <a:t> </a:t>
            </a:r>
            <a:r>
              <a:rPr lang="it-IT" dirty="0" err="1"/>
              <a:t>improved</a:t>
            </a:r>
            <a:r>
              <a:rPr lang="it-IT" dirty="0"/>
              <a:t> the </a:t>
            </a:r>
            <a:r>
              <a:rPr lang="it-IT" dirty="0" err="1"/>
              <a:t>gait</a:t>
            </a:r>
            <a:r>
              <a:rPr lang="it-IT" dirty="0"/>
              <a:t> a </a:t>
            </a:r>
            <a:r>
              <a:rPr lang="it-IT" dirty="0" err="1"/>
              <a:t>lot</a:t>
            </a:r>
            <a:endParaRPr lang="it-IT"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chemeClr val="tx2"/>
                </a:solidFill>
              </a:rPr>
              <a:t>Flat ground (T2): terrain search has a cost</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3622416841"/>
              </p:ext>
            </p:extLst>
          </p:nvPr>
        </p:nvGraphicFramePr>
        <p:xfrm>
          <a:off x="548640" y="1325880"/>
          <a:ext cx="11091672" cy="3657600"/>
        </p:xfrm>
        <a:graphic>
          <a:graphicData uri="http://schemas.openxmlformats.org/drawingml/2006/table">
            <a:tbl>
              <a:tblPr/>
              <a:tblGrid>
                <a:gridCol w="306324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2295144">
                  <a:extLst>
                    <a:ext uri="{9D8B030D-6E8A-4147-A177-3AD203B41FA5}">
                      <a16:colId xmlns:a16="http://schemas.microsoft.com/office/drawing/2014/main" val="20004"/>
                    </a:ext>
                  </a:extLst>
                </a:gridCol>
                <a:gridCol w="2304288">
                  <a:extLst>
                    <a:ext uri="{9D8B030D-6E8A-4147-A177-3AD203B41FA5}">
                      <a16:colId xmlns:a16="http://schemas.microsoft.com/office/drawing/2014/main" val="20005"/>
                    </a:ext>
                  </a:extLst>
                </a:gridCol>
              </a:tblGrid>
              <a:tr h="457200">
                <a:tc>
                  <a:txBody>
                    <a:bodyPr/>
                    <a:lstStyle/>
                    <a:p>
                      <a:pPr marL="0" indent="0">
                        <a:buNone/>
                      </a:pP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C1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C2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C3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C1→C2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C2→C3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extLst>
                  <a:ext uri="{0D108BD9-81ED-4DB2-BD59-A6C34878D82A}">
                    <a16:rowId xmlns:a16="http://schemas.microsoft.com/office/drawing/2014/main" val="10000"/>
                  </a:ext>
                </a:extLst>
              </a:tr>
              <a:tr h="457200">
                <a:tc>
                  <a:txBody>
                    <a:bodyPr/>
                    <a:lstStyle/>
                    <a:p>
                      <a:pPr marL="0" indent="0">
                        <a:buNone/>
                      </a:pPr>
                      <a:r>
                        <a:rPr lang="en-US" sz="1500" b="1" dirty="0">
                          <a:solidFill>
                            <a:srgbClr val="1F2A30"/>
                          </a:solidFill>
                        </a:rPr>
                        <a:t>max pitch [deg]</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0.514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1.95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0.356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b="1" dirty="0">
                          <a:solidFill>
                            <a:srgbClr val="1F3A45"/>
                          </a:solidFill>
                        </a:rPr>
                        <a:t>+279% (16.3)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b="1" dirty="0">
                          <a:solidFill>
                            <a:srgbClr val="1F3A45"/>
                          </a:solidFill>
                        </a:rPr>
                        <a:t>−82% (18.1)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500" b="1" dirty="0">
                          <a:solidFill>
                            <a:srgbClr val="1F2A30"/>
                          </a:solidFill>
                        </a:rPr>
                        <a:t>max roll [deg]</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0.206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0.280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0.205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6F7F86"/>
                          </a:solidFill>
                        </a:rPr>
                        <a:t>+36% (n.c.)</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6F7F86"/>
                          </a:solidFill>
                        </a:rPr>
                        <a:t>−27% (n.c.)</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500" b="1" dirty="0">
                          <a:solidFill>
                            <a:srgbClr val="1F2A30"/>
                          </a:solidFill>
                        </a:rPr>
                        <a:t>cost of transport *</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0.888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0.865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1.11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6F7F86"/>
                          </a:solidFill>
                        </a:rPr>
                        <a:t>−3% (n.c.)</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b="1" dirty="0">
                          <a:solidFill>
                            <a:srgbClr val="1F3A45"/>
                          </a:solidFill>
                        </a:rPr>
                        <a:t>+28% (27.7)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500" b="1" dirty="0">
                          <a:solidFill>
                            <a:srgbClr val="1F2A30"/>
                          </a:solidFill>
                        </a:rPr>
                        <a:t>energy [J]</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18.6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18.2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23.3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6F7F86"/>
                          </a:solidFill>
                        </a:rPr>
                        <a:t>−2% (n.c.)</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b="1" dirty="0">
                          <a:solidFill>
                            <a:srgbClr val="1F3A45"/>
                          </a:solidFill>
                        </a:rPr>
                        <a:t>+28% (28.4)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500" b="1" dirty="0">
                          <a:solidFill>
                            <a:srgbClr val="1F2A30"/>
                          </a:solidFill>
                        </a:rPr>
                        <a:t>RMS torque [N·m]</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0.400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0.403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0.372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6F7F86"/>
                          </a:solidFill>
                        </a:rPr>
                        <a:t>+1% (n.c.)</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b="1" dirty="0">
                          <a:solidFill>
                            <a:srgbClr val="1F3A45"/>
                          </a:solidFill>
                        </a:rPr>
                        <a:t>−8% (8.0)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500" b="1" dirty="0">
                          <a:solidFill>
                            <a:srgbClr val="1F2A30"/>
                          </a:solidFill>
                        </a:rPr>
                        <a:t>peak torque [N·m]</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1.87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2.02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2.23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6F7F86"/>
                          </a:solidFill>
                        </a:rPr>
                        <a:t>+8% (n.c.)</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6F7F86"/>
                          </a:solidFill>
                        </a:rPr>
                        <a:t>+11% (n.c.)</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6"/>
                  </a:ext>
                </a:extLst>
              </a:tr>
              <a:tr h="457200">
                <a:tc>
                  <a:txBody>
                    <a:bodyPr/>
                    <a:lstStyle/>
                    <a:p>
                      <a:pPr marL="0" indent="0">
                        <a:buNone/>
                      </a:pPr>
                      <a:r>
                        <a:rPr lang="en-US" sz="1500" b="1" dirty="0">
                          <a:solidFill>
                            <a:srgbClr val="1F2A30"/>
                          </a:solidFill>
                        </a:rPr>
                        <a:t>mean speed [m/s]</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0.135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0.136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0.135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b="1" dirty="0">
                          <a:solidFill>
                            <a:srgbClr val="1F3A45"/>
                          </a:solidFill>
                        </a:rPr>
                        <a:t>+1% (6.9)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6F7F86"/>
                          </a:solidFill>
                        </a:rPr>
                        <a:t>−0% (n.c.)</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1"/>
          <p:cNvSpPr txBox="1"/>
          <p:nvPr/>
        </p:nvSpPr>
        <p:spPr>
          <a:xfrm>
            <a:off x="548640" y="5120640"/>
            <a:ext cx="11094415" cy="365760"/>
          </a:xfrm>
          <a:prstGeom prst="rect">
            <a:avLst/>
          </a:prstGeom>
          <a:noFill/>
          <a:ln/>
        </p:spPr>
        <p:txBody>
          <a:bodyPr wrap="square" lIns="0" tIns="0" rIns="0" bIns="0" rtlCol="0" anchor="t"/>
          <a:lstStyle/>
          <a:p>
            <a:pPr marL="0" indent="0">
              <a:buNone/>
            </a:pPr>
            <a:r>
              <a:rPr lang="en-US" sz="1200" i="1" dirty="0">
                <a:solidFill>
                  <a:schemeClr val="accent3"/>
                </a:solidFill>
              </a:rPr>
              <a:t>In parentheses the ratio to the variability band; valid verdicts (≥ 3×) in bold, not conclusive ones in grey.</a:t>
            </a:r>
            <a:endParaRPr lang="en-US" sz="1200" dirty="0"/>
          </a:p>
        </p:txBody>
      </p:sp>
      <p:sp>
        <p:nvSpPr>
          <p:cNvPr id="6" name="Text 2"/>
          <p:cNvSpPr txBox="1"/>
          <p:nvPr/>
        </p:nvSpPr>
        <p:spPr>
          <a:xfrm>
            <a:off x="548640" y="5349240"/>
            <a:ext cx="11094415" cy="548640"/>
          </a:xfrm>
          <a:prstGeom prst="rect">
            <a:avLst/>
          </a:prstGeom>
          <a:noFill/>
          <a:ln/>
        </p:spPr>
        <p:txBody>
          <a:bodyPr wrap="square" lIns="0" tIns="0" rIns="0" bIns="0" rtlCol="0" anchor="ctr"/>
          <a:lstStyle/>
          <a:p>
            <a:pPr marL="0" indent="0">
              <a:buNone/>
            </a:pPr>
            <a:r>
              <a:rPr lang="en-US" sz="1600" b="1" dirty="0">
                <a:solidFill>
                  <a:schemeClr val="tx2"/>
                </a:solidFill>
              </a:rPr>
              <a:t>The mechanism keeps working where there is nothing to find, and the body pays for it.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12</a:t>
            </a:fld>
            <a:endParaRPr lang="en-US"/>
          </a:p>
        </p:txBody>
      </p:sp>
      <mc:AlternateContent xmlns:mc="http://schemas.openxmlformats.org/markup-compatibility/2006">
        <mc:Choice xmlns:a14="http://schemas.microsoft.com/office/drawing/2010/main" Requires="a14">
          <p:sp>
            <p:nvSpPr>
              <p:cNvPr id="3" name="CasellaDiTesto 2">
                <a:extLst>
                  <a:ext uri="{FF2B5EF4-FFF2-40B4-BE49-F238E27FC236}">
                    <a16:creationId xmlns:a16="http://schemas.microsoft.com/office/drawing/2014/main" id="{58BB8D40-0A70-E4A9-6373-7310FC615E54}"/>
                  </a:ext>
                </a:extLst>
              </p:cNvPr>
              <p:cNvSpPr txBox="1"/>
              <p:nvPr/>
            </p:nvSpPr>
            <p:spPr>
              <a:xfrm>
                <a:off x="9278888" y="5818710"/>
                <a:ext cx="1233863" cy="567143"/>
              </a:xfrm>
              <a:prstGeom prst="rect">
                <a:avLst/>
              </a:prstGeom>
              <a:noFill/>
            </p:spPr>
            <p:txBody>
              <a:bodyPr wrap="none" lIns="0" tIns="0" rIns="0" bIns="0" rtlCol="0">
                <a:spAutoFit/>
              </a:bodyPr>
              <a:lstStyle/>
              <a:p>
                <a14:m>
                  <m:oMathPara xmlns:m="http://schemas.openxmlformats.org/officeDocument/2006/math">
                    <m:oMath>
                      <m:r>
                        <a:rPr lang="it-IT" b="0" i="1" smtClean="0">
                          <a:latin typeface="Cambria Math" panose="02040503050406030204" pitchFamily="18" charset="0"/>
                        </a:rPr>
                        <m:t>𝐶𝑜𝑇</m:t>
                      </m:r>
                      <m:r>
                        <a:rPr lang="it-IT" b="0" i="1" smtClean="0">
                          <a:latin typeface="Cambria Math" panose="02040503050406030204" pitchFamily="18" charset="0"/>
                        </a:rPr>
                        <m:t>=</m:t>
                      </m:r>
                      <m:f>
                        <m:fPr>
                          <m:ctrlPr>
                            <a:rPr lang="it-IT" b="0" i="1" smtClean="0">
                              <a:latin typeface="Cambria Math" panose="02040503050406030204" pitchFamily="18" charset="0"/>
                            </a:rPr>
                          </m:ctrlPr>
                        </m:fPr>
                        <m:num>
                          <m:r>
                            <a:rPr lang="it-IT" b="0" i="1" smtClean="0">
                              <a:latin typeface="Cambria Math" panose="02040503050406030204" pitchFamily="18" charset="0"/>
                            </a:rPr>
                            <m:t>𝐸</m:t>
                          </m:r>
                        </m:num>
                        <m:den>
                          <m:r>
                            <a:rPr lang="it-IT" b="0" i="1" smtClean="0">
                              <a:latin typeface="Cambria Math" panose="02040503050406030204" pitchFamily="18" charset="0"/>
                            </a:rPr>
                            <m:t>𝑚𝑔𝑑</m:t>
                          </m:r>
                        </m:den>
                      </m:f>
                    </m:oMath>
                  </m:oMathPara>
                </a14:m>
                <a:endParaRPr lang="it-IT" dirty="0"/>
              </a:p>
            </p:txBody>
          </p:sp>
        </mc:Choice>
        <mc:Fallback>
          <p:sp>
            <p:nvSpPr>
              <p:cNvPr id="3" name="CasellaDiTesto 2">
                <a:extLst>
                  <a:ext uri="{FF2B5EF4-FFF2-40B4-BE49-F238E27FC236}">
                    <a16:creationId xmlns:a16="http://schemas.microsoft.com/office/drawing/2014/main" id="{58BB8D40-0A70-E4A9-6373-7310FC615E54}"/>
                  </a:ext>
                </a:extLst>
              </p:cNvPr>
              <p:cNvSpPr txBox="1">
                <a:spLocks noRot="1" noChangeAspect="1" noMove="1" noResize="1" noEditPoints="1" noAdjustHandles="1" noChangeArrowheads="1" noChangeShapeType="1" noTextEdit="1"/>
              </p:cNvSpPr>
              <p:nvPr/>
            </p:nvSpPr>
            <p:spPr>
              <a:xfrm>
                <a:off x="9278888" y="5818710"/>
                <a:ext cx="1233863" cy="567143"/>
              </a:xfrm>
              <a:prstGeom prst="rect">
                <a:avLst/>
              </a:prstGeom>
              <a:blipFill>
                <a:blip r:embed="rId3"/>
                <a:stretch>
                  <a:fillRect/>
                </a:stretch>
              </a:blipFill>
            </p:spPr>
            <p:txBody>
              <a:bodyPr/>
              <a:lstStyle/>
              <a:p>
                <a:r>
                  <a:rPr lang="it-IT">
                    <a:noFill/>
                  </a:rPr>
                  <a:t> </a:t>
                </a:r>
              </a:p>
            </p:txBody>
          </p:sp>
        </mc:Fallback>
      </mc:AlternateContent>
      <p:sp>
        <p:nvSpPr>
          <p:cNvPr id="4" name="CasellaDiTesto 3">
            <a:extLst>
              <a:ext uri="{FF2B5EF4-FFF2-40B4-BE49-F238E27FC236}">
                <a16:creationId xmlns:a16="http://schemas.microsoft.com/office/drawing/2014/main" id="{D8D8503C-A64A-D5CC-309B-0FB6CDD72FFF}"/>
              </a:ext>
            </a:extLst>
          </p:cNvPr>
          <p:cNvSpPr txBox="1"/>
          <p:nvPr/>
        </p:nvSpPr>
        <p:spPr>
          <a:xfrm>
            <a:off x="9082366" y="5818710"/>
            <a:ext cx="300082" cy="369332"/>
          </a:xfrm>
          <a:prstGeom prst="rect">
            <a:avLst/>
          </a:prstGeom>
          <a:noFill/>
        </p:spPr>
        <p:txBody>
          <a:bodyPr wrap="none" rtlCol="0">
            <a:spAutoFit/>
          </a:bodyPr>
          <a:lstStyle/>
          <a:p>
            <a:r>
              <a:rPr lang="it-IT" dirty="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chemeClr val="tx2"/>
                </a:solidFill>
              </a:rPr>
              <a:t>Speed envelope (T2)</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3566160" cy="2794000"/>
        </p:xfrm>
        <a:graphic>
          <a:graphicData uri="http://schemas.openxmlformats.org/drawingml/2006/table">
            <a:tbl>
              <a:tblPr/>
              <a:tblGrid>
                <a:gridCol w="9144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457200">
                <a:tc>
                  <a:txBody>
                    <a:bodyPr/>
                    <a:lstStyle/>
                    <a:p>
                      <a:pPr marL="0" indent="0">
                        <a:buNone/>
                      </a:pPr>
                      <a:r>
                        <a:rPr lang="en-US" sz="1500" b="1" dirty="0">
                          <a:solidFill>
                            <a:srgbClr val="FFFFFF"/>
                          </a:solidFill>
                        </a:rPr>
                        <a:t>factor</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bounce [mm]</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extLst>
                  <a:ext uri="{0D108BD9-81ED-4DB2-BD59-A6C34878D82A}">
                    <a16:rowId xmlns:a16="http://schemas.microsoft.com/office/drawing/2014/main" val="10000"/>
                  </a:ext>
                </a:extLst>
              </a:tr>
              <a:tr h="457200">
                <a:tc>
                  <a:txBody>
                    <a:bodyPr/>
                    <a:lstStyle/>
                    <a:p>
                      <a:pPr marL="0" indent="0">
                        <a:buNone/>
                      </a:pPr>
                      <a:r>
                        <a:rPr lang="en-US" sz="1500" dirty="0">
                          <a:solidFill>
                            <a:srgbClr val="1F2A30"/>
                          </a:solidFill>
                        </a:rPr>
                        <a:t>0.50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28.5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1F2A30"/>
                          </a:solidFill>
                        </a:rPr>
                        <a:t>fails</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500" dirty="0">
                          <a:solidFill>
                            <a:srgbClr val="1F2A30"/>
                          </a:solidFill>
                        </a:rPr>
                        <a:t>1.00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b="1" dirty="0">
                          <a:solidFill>
                            <a:srgbClr val="1F3A45"/>
                          </a:solidFill>
                        </a:rPr>
                        <a:t>2.9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1F2A30"/>
                          </a:solidFill>
                        </a:rPr>
                        <a:t>nominal</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500" dirty="0">
                          <a:solidFill>
                            <a:srgbClr val="1F2A30"/>
                          </a:solidFill>
                        </a:rPr>
                        <a:t>1.20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b="1" dirty="0">
                          <a:solidFill>
                            <a:srgbClr val="1F3A45"/>
                          </a:solidFill>
                        </a:rPr>
                        <a:t>3.0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1F2A30"/>
                          </a:solidFill>
                        </a:rPr>
                        <a:t>last stable</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500" dirty="0">
                          <a:solidFill>
                            <a:srgbClr val="1F2A30"/>
                          </a:solidFill>
                        </a:rPr>
                        <a:t>1.50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32.4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1F2A30"/>
                          </a:solidFill>
                        </a:rPr>
                        <a:t>fails</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500" dirty="0">
                          <a:solidFill>
                            <a:srgbClr val="1F2A30"/>
                          </a:solidFill>
                        </a:rPr>
                        <a:t>2.00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58.9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1F2A30"/>
                          </a:solidFill>
                        </a:rPr>
                        <a:t>moves back</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1"/>
          <p:cNvSpPr txBox="1"/>
          <p:nvPr/>
        </p:nvSpPr>
        <p:spPr>
          <a:xfrm>
            <a:off x="548640" y="4206240"/>
            <a:ext cx="3566160" cy="548640"/>
          </a:xfrm>
          <a:prstGeom prst="rect">
            <a:avLst/>
          </a:prstGeom>
          <a:noFill/>
          <a:ln/>
        </p:spPr>
        <p:txBody>
          <a:bodyPr wrap="square" lIns="0" tIns="0" rIns="0" bIns="0" rtlCol="0" anchor="t"/>
          <a:lstStyle/>
          <a:p>
            <a:pPr marL="0" indent="0">
              <a:buNone/>
            </a:pPr>
            <a:r>
              <a:rPr lang="en-US" sz="1200" i="1" dirty="0">
                <a:solidFill>
                  <a:schemeClr val="accent3"/>
                </a:solidFill>
              </a:rPr>
              <a:t>C1, 10 mm threshold declared before the sweep</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13</a:t>
            </a:fld>
            <a:endParaRPr lang="en-US"/>
          </a:p>
        </p:txBody>
      </p:sp>
      <p:pic>
        <p:nvPicPr>
          <p:cNvPr id="10" name="Immagine 9">
            <a:extLst>
              <a:ext uri="{FF2B5EF4-FFF2-40B4-BE49-F238E27FC236}">
                <a16:creationId xmlns:a16="http://schemas.microsoft.com/office/drawing/2014/main" id="{9E8148EE-3D39-8A21-1463-754C210A458B}"/>
              </a:ext>
            </a:extLst>
          </p:cNvPr>
          <p:cNvPicPr>
            <a:picLocks noChangeAspect="1"/>
          </p:cNvPicPr>
          <p:nvPr/>
        </p:nvPicPr>
        <p:blipFill>
          <a:blip r:embed="rId3"/>
          <a:stretch>
            <a:fillRect/>
          </a:stretch>
        </p:blipFill>
        <p:spPr>
          <a:xfrm>
            <a:off x="4511034" y="1330960"/>
            <a:ext cx="6766566" cy="432984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chemeClr val="tx2"/>
                </a:solidFill>
              </a:rPr>
              <a:t>Curve (T3)</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3520440"/>
        </p:xfrm>
        <a:graphic>
          <a:graphicData uri="http://schemas.openxmlformats.org/drawingml/2006/table">
            <a:tbl>
              <a:tblPr/>
              <a:tblGrid>
                <a:gridCol w="306324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2295144">
                  <a:extLst>
                    <a:ext uri="{9D8B030D-6E8A-4147-A177-3AD203B41FA5}">
                      <a16:colId xmlns:a16="http://schemas.microsoft.com/office/drawing/2014/main" val="20004"/>
                    </a:ext>
                  </a:extLst>
                </a:gridCol>
                <a:gridCol w="2304288">
                  <a:extLst>
                    <a:ext uri="{9D8B030D-6E8A-4147-A177-3AD203B41FA5}">
                      <a16:colId xmlns:a16="http://schemas.microsoft.com/office/drawing/2014/main" val="20005"/>
                    </a:ext>
                  </a:extLst>
                </a:gridCol>
              </a:tblGrid>
              <a:tr h="502920">
                <a:tc>
                  <a:txBody>
                    <a:bodyPr/>
                    <a:lstStyle/>
                    <a:p>
                      <a:pPr marL="0" indent="0">
                        <a:buNone/>
                      </a:pP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C1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C2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C3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C1→C2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C2→C3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extLst>
                  <a:ext uri="{0D108BD9-81ED-4DB2-BD59-A6C34878D82A}">
                    <a16:rowId xmlns:a16="http://schemas.microsoft.com/office/drawing/2014/main" val="10000"/>
                  </a:ext>
                </a:extLst>
              </a:tr>
              <a:tr h="502920">
                <a:tc>
                  <a:txBody>
                    <a:bodyPr/>
                    <a:lstStyle/>
                    <a:p>
                      <a:pPr marL="0" indent="0">
                        <a:buNone/>
                      </a:pPr>
                      <a:r>
                        <a:rPr lang="en-US" sz="1500" b="1" dirty="0">
                          <a:solidFill>
                            <a:srgbClr val="1F2A30"/>
                          </a:solidFill>
                        </a:rPr>
                        <a:t>max pitch [deg]</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0.579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1.85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0.392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b="1" dirty="0">
                          <a:solidFill>
                            <a:srgbClr val="1F3A45"/>
                          </a:solidFill>
                        </a:rPr>
                        <a:t>+219% (40.0)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b="1" dirty="0">
                          <a:solidFill>
                            <a:srgbClr val="1F3A45"/>
                          </a:solidFill>
                        </a:rPr>
                        <a:t>−79% (45.9)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500" b="1" dirty="0">
                          <a:solidFill>
                            <a:srgbClr val="1F2A30"/>
                          </a:solidFill>
                        </a:rPr>
                        <a:t>max roll [deg]</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0.224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0.351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0.210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b="1" dirty="0">
                          <a:solidFill>
                            <a:srgbClr val="1F3A45"/>
                          </a:solidFill>
                        </a:rPr>
                        <a:t>+57% (4.6)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b="1" dirty="0">
                          <a:solidFill>
                            <a:srgbClr val="1F3A45"/>
                          </a:solidFill>
                        </a:rPr>
                        <a:t>−40% (5.1)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500" b="1" dirty="0">
                          <a:solidFill>
                            <a:srgbClr val="1F2A30"/>
                          </a:solidFill>
                        </a:rPr>
                        <a:t>cost of transport</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0.970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0.951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1.22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b="1" dirty="0">
                          <a:solidFill>
                            <a:srgbClr val="1F3A45"/>
                          </a:solidFill>
                        </a:rPr>
                        <a:t>−2% (3.6)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b="1" dirty="0">
                          <a:solidFill>
                            <a:srgbClr val="1F3A45"/>
                          </a:solidFill>
                        </a:rPr>
                        <a:t>+28% (24.3)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500" b="1" dirty="0">
                          <a:solidFill>
                            <a:srgbClr val="1F2A30"/>
                          </a:solidFill>
                        </a:rPr>
                        <a:t>energy [J]</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30.3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29.5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37.8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b="1" dirty="0">
                          <a:solidFill>
                            <a:srgbClr val="1F3A45"/>
                          </a:solidFill>
                        </a:rPr>
                        <a:t>−3% (6.4)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b="1" dirty="0">
                          <a:solidFill>
                            <a:srgbClr val="1F3A45"/>
                          </a:solidFill>
                        </a:rPr>
                        <a:t>+28% (22.5)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500" b="1" dirty="0">
                          <a:solidFill>
                            <a:srgbClr val="1F2A30"/>
                          </a:solidFill>
                        </a:rPr>
                        <a:t>RMS torque [N·m]</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0.398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0.389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0.376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b="1" dirty="0">
                          <a:solidFill>
                            <a:srgbClr val="1F3A45"/>
                          </a:solidFill>
                        </a:rPr>
                        <a:t>−2% (7.0)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b="1" dirty="0">
                          <a:solidFill>
                            <a:srgbClr val="1F3A45"/>
                          </a:solidFill>
                        </a:rPr>
                        <a:t>−3% (7.3)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5"/>
                  </a:ext>
                </a:extLst>
              </a:tr>
              <a:tr h="502920">
                <a:tc>
                  <a:txBody>
                    <a:bodyPr/>
                    <a:lstStyle/>
                    <a:p>
                      <a:pPr marL="0" indent="0">
                        <a:buNone/>
                      </a:pPr>
                      <a:r>
                        <a:rPr lang="en-US" sz="1500" b="1" dirty="0">
                          <a:solidFill>
                            <a:srgbClr val="1F2A30"/>
                          </a:solidFill>
                        </a:rPr>
                        <a:t>peak torque [N·m]</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1.91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2.11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2.43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6F7F86"/>
                          </a:solidFill>
                        </a:rPr>
                        <a:t>+10% (n.c.)</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500" dirty="0">
                          <a:solidFill>
                            <a:srgbClr val="6F7F86"/>
                          </a:solidFill>
                        </a:rPr>
                        <a:t>+15% (n.c.)</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1"/>
          <p:cNvSpPr txBox="1"/>
          <p:nvPr/>
        </p:nvSpPr>
        <p:spPr>
          <a:xfrm>
            <a:off x="548640" y="5029200"/>
            <a:ext cx="11094415" cy="365760"/>
          </a:xfrm>
          <a:prstGeom prst="rect">
            <a:avLst/>
          </a:prstGeom>
          <a:noFill/>
          <a:ln/>
        </p:spPr>
        <p:txBody>
          <a:bodyPr wrap="square" lIns="0" tIns="0" rIns="0" bIns="0" rtlCol="0" anchor="t"/>
          <a:lstStyle/>
          <a:p>
            <a:pPr marL="0" indent="0">
              <a:buNone/>
            </a:pPr>
            <a:r>
              <a:rPr lang="en-US" sz="1200" i="1" dirty="0">
                <a:solidFill>
                  <a:schemeClr val="accent3"/>
                </a:solidFill>
              </a:rPr>
              <a:t>In parentheses the ratio to the variability band; valid verdicts (≥ 3×) in bold, not conclusive ones in grey.</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chemeClr val="tx2"/>
                </a:solidFill>
              </a:rPr>
              <a:t>Curve (T3): same path for the three controllers</a:t>
            </a:r>
            <a:endParaRPr lang="en-US" sz="3000" dirty="0"/>
          </a:p>
        </p:txBody>
      </p:sp>
      <p:sp>
        <p:nvSpPr>
          <p:cNvPr id="6" name="Text 3"/>
          <p:cNvSpPr txBox="1"/>
          <p:nvPr/>
        </p:nvSpPr>
        <p:spPr>
          <a:xfrm>
            <a:off x="548640" y="5623560"/>
            <a:ext cx="11094415" cy="548640"/>
          </a:xfrm>
          <a:prstGeom prst="rect">
            <a:avLst/>
          </a:prstGeom>
          <a:noFill/>
          <a:ln/>
        </p:spPr>
        <p:txBody>
          <a:bodyPr wrap="square" lIns="0" tIns="0" rIns="0" bIns="0" rtlCol="0" anchor="ctr"/>
          <a:lstStyle/>
          <a:p>
            <a:pPr marL="0" indent="0">
              <a:buNone/>
            </a:pPr>
            <a:r>
              <a:rPr lang="en-US" sz="1600" b="1" dirty="0">
                <a:solidFill>
                  <a:schemeClr val="tx2"/>
                </a:solidFill>
              </a:rPr>
              <a:t>The differences concern attitude, not the path. Note: axes at different scales.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15</a:t>
            </a:fld>
            <a:endParaRPr lang="en-US"/>
          </a:p>
        </p:txBody>
      </p:sp>
      <p:pic>
        <p:nvPicPr>
          <p:cNvPr id="7" name="Immagine 6">
            <a:extLst>
              <a:ext uri="{FF2B5EF4-FFF2-40B4-BE49-F238E27FC236}">
                <a16:creationId xmlns:a16="http://schemas.microsoft.com/office/drawing/2014/main" id="{1B679B2A-40D1-5FF8-0FDF-BB3260B1DF00}"/>
              </a:ext>
            </a:extLst>
          </p:cNvPr>
          <p:cNvPicPr>
            <a:picLocks noChangeAspect="1"/>
          </p:cNvPicPr>
          <p:nvPr/>
        </p:nvPicPr>
        <p:blipFill>
          <a:blip r:embed="rId3"/>
          <a:stretch>
            <a:fillRect/>
          </a:stretch>
        </p:blipFill>
        <p:spPr>
          <a:xfrm>
            <a:off x="1394301" y="1299813"/>
            <a:ext cx="9403091" cy="405880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chemeClr val="tx2"/>
                </a:solidFill>
              </a:rPr>
              <a:t>Discontinuities (T4D, T5)</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4425696"/>
        </p:xfrm>
        <a:graphic>
          <a:graphicData uri="http://schemas.openxmlformats.org/drawingml/2006/table">
            <a:tbl>
              <a:tblPr/>
              <a:tblGrid>
                <a:gridCol w="306324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2295144">
                  <a:extLst>
                    <a:ext uri="{9D8B030D-6E8A-4147-A177-3AD203B41FA5}">
                      <a16:colId xmlns:a16="http://schemas.microsoft.com/office/drawing/2014/main" val="20004"/>
                    </a:ext>
                  </a:extLst>
                </a:gridCol>
                <a:gridCol w="2304288">
                  <a:extLst>
                    <a:ext uri="{9D8B030D-6E8A-4147-A177-3AD203B41FA5}">
                      <a16:colId xmlns:a16="http://schemas.microsoft.com/office/drawing/2014/main" val="20005"/>
                    </a:ext>
                  </a:extLst>
                </a:gridCol>
              </a:tblGrid>
              <a:tr h="402336">
                <a:tc>
                  <a:txBody>
                    <a:bodyPr/>
                    <a:lstStyle/>
                    <a:p>
                      <a:pPr marL="0" indent="0">
                        <a:buNone/>
                      </a:pP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400" b="1" dirty="0">
                          <a:solidFill>
                            <a:srgbClr val="FFFFFF"/>
                          </a:solidFill>
                        </a:rPr>
                        <a:t>C1</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400" b="1" dirty="0">
                          <a:solidFill>
                            <a:srgbClr val="FFFFFF"/>
                          </a:solidFill>
                        </a:rPr>
                        <a:t>C2</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400" b="1" dirty="0">
                          <a:solidFill>
                            <a:srgbClr val="FFFFFF"/>
                          </a:solidFill>
                        </a:rPr>
                        <a:t>C3</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400" b="1" dirty="0">
                          <a:solidFill>
                            <a:srgbClr val="FFFFFF"/>
                          </a:solidFill>
                        </a:rPr>
                        <a:t>C1→C2</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400" b="1" dirty="0">
                          <a:solidFill>
                            <a:srgbClr val="FFFFFF"/>
                          </a:solidFill>
                        </a:rPr>
                        <a:t>C2→C3</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extLst>
                  <a:ext uri="{0D108BD9-81ED-4DB2-BD59-A6C34878D82A}">
                    <a16:rowId xmlns:a16="http://schemas.microsoft.com/office/drawing/2014/main" val="10000"/>
                  </a:ext>
                </a:extLst>
              </a:tr>
              <a:tr h="402336">
                <a:tc gridSpan="6">
                  <a:txBody>
                    <a:bodyPr/>
                    <a:lstStyle/>
                    <a:p>
                      <a:pPr marL="0" indent="0">
                        <a:buNone/>
                      </a:pPr>
                      <a:r>
                        <a:rPr lang="en-US" sz="1400" b="1" i="1" dirty="0">
                          <a:solidFill>
                            <a:srgbClr val="1F3A45"/>
                          </a:solidFill>
                        </a:rPr>
                        <a:t>T4D — 8°/8° bump</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EF2F3"/>
                    </a:solidFill>
                  </a:tcPr>
                </a:tc>
                <a:tc hMerge="1">
                  <a:txBody>
                    <a:bodyPr/>
                    <a:lstStyle/>
                    <a:p>
                      <a:endParaRPr lang="it-IT"/>
                    </a:p>
                  </a:txBody>
                  <a:tcPr/>
                </a:tc>
                <a:tc hMerge="1">
                  <a:txBody>
                    <a:bodyPr/>
                    <a:lstStyle/>
                    <a:p>
                      <a:endParaRPr lang="it-IT"/>
                    </a:p>
                  </a:txBody>
                  <a:tcPr/>
                </a:tc>
                <a:tc hMerge="1">
                  <a:txBody>
                    <a:bodyPr/>
                    <a:lstStyle/>
                    <a:p>
                      <a:endParaRPr lang="it-IT"/>
                    </a:p>
                  </a:txBody>
                  <a:tcPr/>
                </a:tc>
                <a:tc hMerge="1">
                  <a:txBody>
                    <a:bodyPr/>
                    <a:lstStyle/>
                    <a:p>
                      <a:endParaRPr lang="it-IT"/>
                    </a:p>
                  </a:txBody>
                  <a:tcPr/>
                </a:tc>
                <a:tc hMerge="1">
                  <a:txBody>
                    <a:bodyPr/>
                    <a:lstStyle/>
                    <a:p>
                      <a:endParaRPr lang="it-IT"/>
                    </a:p>
                  </a:txBody>
                  <a:tcPr/>
                </a:tc>
                <a:extLst>
                  <a:ext uri="{0D108BD9-81ED-4DB2-BD59-A6C34878D82A}">
                    <a16:rowId xmlns:a16="http://schemas.microsoft.com/office/drawing/2014/main" val="10001"/>
                  </a:ext>
                </a:extLst>
              </a:tr>
              <a:tr h="402336">
                <a:tc>
                  <a:txBody>
                    <a:bodyPr/>
                    <a:lstStyle/>
                    <a:p>
                      <a:pPr marL="0" indent="0">
                        <a:buNone/>
                      </a:pPr>
                      <a:r>
                        <a:rPr lang="en-US" sz="1400" b="1" dirty="0">
                          <a:solidFill>
                            <a:srgbClr val="1F2A30"/>
                          </a:solidFill>
                        </a:rPr>
                        <a:t>max pitch [deg]</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8.65</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10.4</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1.98</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400" b="1" dirty="0">
                          <a:solidFill>
                            <a:srgbClr val="1F3A45"/>
                          </a:solidFill>
                        </a:rPr>
                        <a:t>+21% (19.8)</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400" b="1" dirty="0">
                          <a:solidFill>
                            <a:srgbClr val="1F3A45"/>
                          </a:solidFill>
                        </a:rPr>
                        <a:t>−81% (93.8)</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400" b="1" dirty="0">
                          <a:solidFill>
                            <a:srgbClr val="1F2A30"/>
                          </a:solidFill>
                        </a:rPr>
                        <a:t>max roll [deg]</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2.12</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1.49</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0.611</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400" b="1" dirty="0">
                          <a:solidFill>
                            <a:srgbClr val="1F3A45"/>
                          </a:solidFill>
                        </a:rPr>
                        <a:t>−30% (6.4)</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400" b="1" dirty="0">
                          <a:solidFill>
                            <a:srgbClr val="1F3A45"/>
                          </a:solidFill>
                        </a:rPr>
                        <a:t>−59% (7.6)</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400" b="1" dirty="0">
                          <a:solidFill>
                            <a:srgbClr val="1F2A30"/>
                          </a:solidFill>
                        </a:rPr>
                        <a:t>cost of transport</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1.12</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1.04</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1.45</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400" b="1" dirty="0">
                          <a:solidFill>
                            <a:srgbClr val="1F3A45"/>
                          </a:solidFill>
                        </a:rPr>
                        <a:t>−7% (5.1)</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400" b="1" dirty="0">
                          <a:solidFill>
                            <a:srgbClr val="1F3A45"/>
                          </a:solidFill>
                        </a:rPr>
                        <a:t>+40% (16.8)</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buNone/>
                      </a:pPr>
                      <a:r>
                        <a:rPr lang="en-US" sz="1400" b="1" dirty="0">
                          <a:solidFill>
                            <a:srgbClr val="1F2A30"/>
                          </a:solidFill>
                        </a:rPr>
                        <a:t>energy [J]</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64.1</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59.9</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83.6</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400" b="1" dirty="0">
                          <a:solidFill>
                            <a:srgbClr val="1F3A45"/>
                          </a:solidFill>
                        </a:rPr>
                        <a:t>−7% (3.5)</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400" b="1" dirty="0">
                          <a:solidFill>
                            <a:srgbClr val="1F3A45"/>
                          </a:solidFill>
                        </a:rPr>
                        <a:t>+40% (18.8)</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5"/>
                  </a:ext>
                </a:extLst>
              </a:tr>
              <a:tr h="402336">
                <a:tc gridSpan="6">
                  <a:txBody>
                    <a:bodyPr/>
                    <a:lstStyle/>
                    <a:p>
                      <a:pPr marL="0" indent="0">
                        <a:buNone/>
                      </a:pPr>
                      <a:r>
                        <a:rPr lang="en-US" sz="1400" b="1" i="1" dirty="0">
                          <a:solidFill>
                            <a:srgbClr val="1F3A45"/>
                          </a:solidFill>
                        </a:rPr>
                        <a:t>T5 — single obstacle</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EF2F3"/>
                    </a:solidFill>
                  </a:tcPr>
                </a:tc>
                <a:tc hMerge="1">
                  <a:txBody>
                    <a:bodyPr/>
                    <a:lstStyle/>
                    <a:p>
                      <a:endParaRPr lang="it-IT"/>
                    </a:p>
                  </a:txBody>
                  <a:tcPr/>
                </a:tc>
                <a:tc hMerge="1">
                  <a:txBody>
                    <a:bodyPr/>
                    <a:lstStyle/>
                    <a:p>
                      <a:endParaRPr lang="it-IT"/>
                    </a:p>
                  </a:txBody>
                  <a:tcPr/>
                </a:tc>
                <a:tc hMerge="1">
                  <a:txBody>
                    <a:bodyPr/>
                    <a:lstStyle/>
                    <a:p>
                      <a:endParaRPr lang="it-IT"/>
                    </a:p>
                  </a:txBody>
                  <a:tcPr/>
                </a:tc>
                <a:tc hMerge="1">
                  <a:txBody>
                    <a:bodyPr/>
                    <a:lstStyle/>
                    <a:p>
                      <a:endParaRPr lang="it-IT"/>
                    </a:p>
                  </a:txBody>
                  <a:tcPr/>
                </a:tc>
                <a:tc hMerge="1">
                  <a:txBody>
                    <a:bodyPr/>
                    <a:lstStyle/>
                    <a:p>
                      <a:endParaRPr lang="it-IT"/>
                    </a:p>
                  </a:txBody>
                  <a:tcPr/>
                </a:tc>
                <a:extLst>
                  <a:ext uri="{0D108BD9-81ED-4DB2-BD59-A6C34878D82A}">
                    <a16:rowId xmlns:a16="http://schemas.microsoft.com/office/drawing/2014/main" val="10006"/>
                  </a:ext>
                </a:extLst>
              </a:tr>
              <a:tr h="402336">
                <a:tc>
                  <a:txBody>
                    <a:bodyPr/>
                    <a:lstStyle/>
                    <a:p>
                      <a:pPr marL="0" indent="0">
                        <a:buNone/>
                      </a:pPr>
                      <a:r>
                        <a:rPr lang="en-US" sz="1400" b="1" dirty="0">
                          <a:solidFill>
                            <a:srgbClr val="1F2A30"/>
                          </a:solidFill>
                        </a:rPr>
                        <a:t>max pitch [deg]</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7.56</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6.41</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1.73</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400" b="1" dirty="0">
                          <a:solidFill>
                            <a:srgbClr val="1F3A45"/>
                          </a:solidFill>
                        </a:rPr>
                        <a:t>−15% (16.4)</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400" b="1" dirty="0">
                          <a:solidFill>
                            <a:srgbClr val="1F3A45"/>
                          </a:solidFill>
                        </a:rPr>
                        <a:t>−73% (19.8)</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7"/>
                  </a:ext>
                </a:extLst>
              </a:tr>
              <a:tr h="402336">
                <a:tc>
                  <a:txBody>
                    <a:bodyPr/>
                    <a:lstStyle/>
                    <a:p>
                      <a:pPr marL="0" indent="0">
                        <a:buNone/>
                      </a:pPr>
                      <a:r>
                        <a:rPr lang="en-US" sz="1400" b="1" dirty="0">
                          <a:solidFill>
                            <a:srgbClr val="1F2A30"/>
                          </a:solidFill>
                        </a:rPr>
                        <a:t>max roll [deg]</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4.49</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2.31</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1.13</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400" dirty="0">
                          <a:solidFill>
                            <a:srgbClr val="6F7F86"/>
                          </a:solidFill>
                        </a:rPr>
                        <a:t>−49% (n.c.)</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400" dirty="0">
                          <a:solidFill>
                            <a:srgbClr val="6F7F86"/>
                          </a:solidFill>
                        </a:rPr>
                        <a:t>−51% (n.c.)</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8"/>
                  </a:ext>
                </a:extLst>
              </a:tr>
              <a:tr h="402336">
                <a:tc>
                  <a:txBody>
                    <a:bodyPr/>
                    <a:lstStyle/>
                    <a:p>
                      <a:pPr marL="0" indent="0">
                        <a:buNone/>
                      </a:pPr>
                      <a:r>
                        <a:rPr lang="en-US" sz="1400" b="1" dirty="0">
                          <a:solidFill>
                            <a:srgbClr val="1F2A30"/>
                          </a:solidFill>
                        </a:rPr>
                        <a:t>cost of transport</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1.20</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1.08</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1.40</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400" b="1" dirty="0">
                          <a:solidFill>
                            <a:srgbClr val="1F3A45"/>
                          </a:solidFill>
                        </a:rPr>
                        <a:t>−10% (5.2)</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400" b="1" dirty="0">
                          <a:solidFill>
                            <a:srgbClr val="1F3A45"/>
                          </a:solidFill>
                        </a:rPr>
                        <a:t>+30% (17.1)</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9"/>
                  </a:ext>
                </a:extLst>
              </a:tr>
              <a:tr h="402336">
                <a:tc>
                  <a:txBody>
                    <a:bodyPr/>
                    <a:lstStyle/>
                    <a:p>
                      <a:pPr marL="0" indent="0">
                        <a:buNone/>
                      </a:pPr>
                      <a:r>
                        <a:rPr lang="en-US" sz="1400" b="1" dirty="0">
                          <a:solidFill>
                            <a:srgbClr val="1F2A30"/>
                          </a:solidFill>
                        </a:rPr>
                        <a:t>energy [J]</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48.1</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44.3</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57.5</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400" b="1" dirty="0">
                          <a:solidFill>
                            <a:srgbClr val="1F3A45"/>
                          </a:solidFill>
                        </a:rPr>
                        <a:t>−8% (3.6)</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buNone/>
                      </a:pPr>
                      <a:r>
                        <a:rPr lang="en-US" sz="1400" b="1" dirty="0">
                          <a:solidFill>
                            <a:srgbClr val="1F3A45"/>
                          </a:solidFill>
                        </a:rPr>
                        <a:t>+30% (17.2)</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5" name="Text 1"/>
          <p:cNvSpPr txBox="1"/>
          <p:nvPr/>
        </p:nvSpPr>
        <p:spPr>
          <a:xfrm>
            <a:off x="548640" y="5760720"/>
            <a:ext cx="11094415" cy="365760"/>
          </a:xfrm>
          <a:prstGeom prst="rect">
            <a:avLst/>
          </a:prstGeom>
          <a:noFill/>
          <a:ln/>
        </p:spPr>
        <p:txBody>
          <a:bodyPr wrap="square" lIns="0" tIns="0" rIns="0" bIns="0" rtlCol="0" anchor="t"/>
          <a:lstStyle/>
          <a:p>
            <a:pPr marL="0" indent="0">
              <a:buNone/>
            </a:pPr>
            <a:r>
              <a:rPr lang="en-US" sz="1200" i="1" dirty="0">
                <a:solidFill>
                  <a:schemeClr val="accent3"/>
                </a:solidFill>
              </a:rPr>
              <a:t>In parentheses the ratio to the variability band; valid verdicts (≥ 3×) in bold, not conclusive ones in grey. Full rows in the report (T4D/T5 table).</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chemeClr val="tx2"/>
                </a:solidFill>
              </a:rPr>
              <a:t>Single obstacle (T5): pitch</a:t>
            </a:r>
            <a:endParaRPr lang="en-US" sz="3000" dirty="0"/>
          </a:p>
        </p:txBody>
      </p:sp>
      <p:sp>
        <p:nvSpPr>
          <p:cNvPr id="6" name="Text 3"/>
          <p:cNvSpPr txBox="1"/>
          <p:nvPr/>
        </p:nvSpPr>
        <p:spPr>
          <a:xfrm>
            <a:off x="548640" y="5623560"/>
            <a:ext cx="11094415" cy="548640"/>
          </a:xfrm>
          <a:prstGeom prst="rect">
            <a:avLst/>
          </a:prstGeom>
          <a:noFill/>
          <a:ln/>
        </p:spPr>
        <p:txBody>
          <a:bodyPr wrap="square" lIns="0" tIns="0" rIns="0" bIns="0" rtlCol="0" anchor="ctr"/>
          <a:lstStyle/>
          <a:p>
            <a:pPr marL="0" indent="0">
              <a:buNone/>
            </a:pPr>
            <a:r>
              <a:rPr lang="en-US" sz="1600" b="1" dirty="0">
                <a:solidFill>
                  <a:schemeClr val="tx2"/>
                </a:solidFill>
              </a:rPr>
              <a:t>C1 and C2 swing several degrees over the step; C3 stays within about one degree (−73%).</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17</a:t>
            </a:fld>
            <a:endParaRPr lang="en-US"/>
          </a:p>
        </p:txBody>
      </p:sp>
      <p:pic>
        <p:nvPicPr>
          <p:cNvPr id="7" name="Immagine 6">
            <a:extLst>
              <a:ext uri="{FF2B5EF4-FFF2-40B4-BE49-F238E27FC236}">
                <a16:creationId xmlns:a16="http://schemas.microsoft.com/office/drawing/2014/main" id="{03074A2B-AB5C-9B47-38FD-508FAD668AE5}"/>
              </a:ext>
            </a:extLst>
          </p:cNvPr>
          <p:cNvPicPr>
            <a:picLocks noChangeAspect="1"/>
          </p:cNvPicPr>
          <p:nvPr/>
        </p:nvPicPr>
        <p:blipFill>
          <a:blip r:embed="rId3"/>
          <a:stretch>
            <a:fillRect/>
          </a:stretch>
        </p:blipFill>
        <p:spPr>
          <a:xfrm>
            <a:off x="1460007" y="1359380"/>
            <a:ext cx="9271679" cy="400207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chemeClr val="tx2"/>
                </a:solidFill>
              </a:rPr>
              <a:t>Ramp (T4): two different behaviours</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949440" cy="3017520"/>
        </p:xfrm>
        <a:graphic>
          <a:graphicData uri="http://schemas.openxmlformats.org/drawingml/2006/table">
            <a:tbl>
              <a:tblPr/>
              <a:tblGrid>
                <a:gridCol w="39319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502920">
                <a:tc>
                  <a:txBody>
                    <a:bodyPr/>
                    <a:lstStyle/>
                    <a:p>
                      <a:pPr marL="0" indent="0">
                        <a:buNone/>
                      </a:pP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C1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C2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C3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extLst>
                  <a:ext uri="{0D108BD9-81ED-4DB2-BD59-A6C34878D82A}">
                    <a16:rowId xmlns:a16="http://schemas.microsoft.com/office/drawing/2014/main" val="10000"/>
                  </a:ext>
                </a:extLst>
              </a:tr>
              <a:tr h="502920">
                <a:tc>
                  <a:txBody>
                    <a:bodyPr/>
                    <a:lstStyle/>
                    <a:p>
                      <a:pPr marL="0" indent="0">
                        <a:buNone/>
                      </a:pPr>
                      <a:r>
                        <a:rPr lang="en-US" sz="1500" b="1" dirty="0">
                          <a:solidFill>
                            <a:srgbClr val="1F2A30"/>
                          </a:solidFill>
                        </a:rPr>
                        <a:t>body attitude − ramp angle [deg]</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0.106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0.259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b="1" dirty="0">
                          <a:solidFill>
                            <a:srgbClr val="1F3A45"/>
                          </a:solidFill>
                        </a:rPr>
                        <a:t>−7.54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500" b="1" dirty="0">
                          <a:solidFill>
                            <a:srgbClr val="1F2A30"/>
                          </a:solidFill>
                        </a:rPr>
                        <a:t>peak-to-peak pitch on the ramp [deg]</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0.994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1.97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0.839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500" b="1" dirty="0">
                          <a:solidFill>
                            <a:srgbClr val="1F2A30"/>
                          </a:solidFill>
                        </a:rPr>
                        <a:t>roll on the ramp [deg]</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0.662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0.563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0.314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500" b="1" dirty="0">
                          <a:solidFill>
                            <a:srgbClr val="1F2A30"/>
                          </a:solidFill>
                        </a:rPr>
                        <a:t>cost of transport</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1.15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1.09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b="1" dirty="0">
                          <a:solidFill>
                            <a:srgbClr val="1F3A45"/>
                          </a:solidFill>
                        </a:rPr>
                        <a:t>1.58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500" b="1" dirty="0">
                          <a:solidFill>
                            <a:srgbClr val="1F2A30"/>
                          </a:solidFill>
                        </a:rPr>
                        <a:t>successful climb</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yes</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yes</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yes</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card rampa 0"/>
          <p:cNvSpPr/>
          <p:nvPr/>
        </p:nvSpPr>
        <p:spPr>
          <a:xfrm>
            <a:off x="7772400" y="1325880"/>
            <a:ext cx="3867912" cy="1417320"/>
          </a:xfrm>
          <a:prstGeom prst="rect">
            <a:avLst/>
          </a:prstGeom>
          <a:solidFill>
            <a:schemeClr val="bg2"/>
          </a:solidFill>
          <a:ln w="12700">
            <a:solidFill>
              <a:schemeClr val="bg2"/>
            </a:solidFill>
            <a:prstDash val="solid"/>
          </a:ln>
        </p:spPr>
        <p:txBody>
          <a:bodyPr/>
          <a:lstStyle/>
          <a:p>
            <a:endParaRPr lang="it-IT"/>
          </a:p>
        </p:txBody>
      </p:sp>
      <p:sp>
        <p:nvSpPr>
          <p:cNvPr id="6" name="Text 2"/>
          <p:cNvSpPr txBox="1"/>
          <p:nvPr/>
        </p:nvSpPr>
        <p:spPr>
          <a:xfrm>
            <a:off x="8001000" y="1463040"/>
            <a:ext cx="3429000" cy="365760"/>
          </a:xfrm>
          <a:prstGeom prst="rect">
            <a:avLst/>
          </a:prstGeom>
          <a:noFill/>
          <a:ln/>
        </p:spPr>
        <p:txBody>
          <a:bodyPr wrap="square" lIns="0" tIns="0" rIns="0" bIns="0" rtlCol="0" anchor="t"/>
          <a:lstStyle/>
          <a:p>
            <a:pPr marL="0" indent="0">
              <a:buNone/>
            </a:pPr>
            <a:r>
              <a:rPr lang="en-US" sz="1700" b="1" dirty="0">
                <a:solidFill>
                  <a:schemeClr val="accent3"/>
                </a:solidFill>
              </a:rPr>
              <a:t>C1 and C2</a:t>
            </a:r>
            <a:endParaRPr lang="en-US" sz="1700" dirty="0"/>
          </a:p>
        </p:txBody>
      </p:sp>
      <p:sp>
        <p:nvSpPr>
          <p:cNvPr id="7" name="Text 3"/>
          <p:cNvSpPr txBox="1"/>
          <p:nvPr/>
        </p:nvSpPr>
        <p:spPr>
          <a:xfrm>
            <a:off x="8001000" y="1828800"/>
            <a:ext cx="3429000" cy="822960"/>
          </a:xfrm>
          <a:prstGeom prst="rect">
            <a:avLst/>
          </a:prstGeom>
          <a:noFill/>
          <a:ln/>
        </p:spPr>
        <p:txBody>
          <a:bodyPr wrap="square" lIns="0" tIns="0" rIns="0" bIns="0" rtlCol="0" anchor="t"/>
          <a:lstStyle/>
          <a:p>
            <a:pPr marL="0" indent="0">
              <a:buNone/>
            </a:pPr>
            <a:r>
              <a:rPr lang="en-US" sz="1400" dirty="0">
                <a:solidFill>
                  <a:schemeClr val="tx1"/>
                </a:solidFill>
              </a:rPr>
              <a:t>Align the trunk with the ramp, within a few tenths of a degree</a:t>
            </a:r>
            <a:endParaRPr lang="en-US" sz="1400" dirty="0"/>
          </a:p>
        </p:txBody>
      </p:sp>
      <p:sp>
        <p:nvSpPr>
          <p:cNvPr id="8" name="card rampa 1"/>
          <p:cNvSpPr/>
          <p:nvPr/>
        </p:nvSpPr>
        <p:spPr>
          <a:xfrm>
            <a:off x="7772400" y="2926080"/>
            <a:ext cx="3867912" cy="1417320"/>
          </a:xfrm>
          <a:prstGeom prst="rect">
            <a:avLst/>
          </a:prstGeom>
          <a:solidFill>
            <a:schemeClr val="bg2"/>
          </a:solidFill>
          <a:ln w="12700">
            <a:solidFill>
              <a:schemeClr val="bg2"/>
            </a:solidFill>
            <a:prstDash val="solid"/>
          </a:ln>
        </p:spPr>
        <p:txBody>
          <a:bodyPr/>
          <a:lstStyle/>
          <a:p>
            <a:endParaRPr lang="it-IT"/>
          </a:p>
        </p:txBody>
      </p:sp>
      <p:sp>
        <p:nvSpPr>
          <p:cNvPr id="9" name="Text 5"/>
          <p:cNvSpPr txBox="1"/>
          <p:nvPr/>
        </p:nvSpPr>
        <p:spPr>
          <a:xfrm>
            <a:off x="8001000" y="3063240"/>
            <a:ext cx="3429000" cy="365760"/>
          </a:xfrm>
          <a:prstGeom prst="rect">
            <a:avLst/>
          </a:prstGeom>
          <a:noFill/>
          <a:ln/>
        </p:spPr>
        <p:txBody>
          <a:bodyPr wrap="square" lIns="0" tIns="0" rIns="0" bIns="0" rtlCol="0" anchor="t"/>
          <a:lstStyle/>
          <a:p>
            <a:pPr marL="0" indent="0">
              <a:buNone/>
            </a:pPr>
            <a:r>
              <a:rPr lang="en-US" sz="1700" b="1" dirty="0">
                <a:solidFill>
                  <a:schemeClr val="accent2"/>
                </a:solidFill>
              </a:rPr>
              <a:t>C3</a:t>
            </a:r>
            <a:endParaRPr lang="en-US" sz="1700" dirty="0"/>
          </a:p>
        </p:txBody>
      </p:sp>
      <p:sp>
        <p:nvSpPr>
          <p:cNvPr id="10" name="Text 6"/>
          <p:cNvSpPr txBox="1"/>
          <p:nvPr/>
        </p:nvSpPr>
        <p:spPr>
          <a:xfrm>
            <a:off x="8001000" y="3429000"/>
            <a:ext cx="3429000" cy="822960"/>
          </a:xfrm>
          <a:prstGeom prst="rect">
            <a:avLst/>
          </a:prstGeom>
          <a:noFill/>
          <a:ln/>
        </p:spPr>
        <p:txBody>
          <a:bodyPr wrap="square" lIns="0" tIns="0" rIns="0" bIns="0" rtlCol="0" anchor="t"/>
          <a:lstStyle/>
          <a:p>
            <a:pPr marL="0" indent="0">
              <a:buNone/>
            </a:pPr>
            <a:r>
              <a:rPr lang="en-US" sz="1400" dirty="0">
                <a:solidFill>
                  <a:schemeClr val="tx1"/>
                </a:solidFill>
              </a:rPr>
              <a:t>Keeps the trunk horizontal, within 0.5°</a:t>
            </a:r>
            <a:endParaRPr lang="en-US" sz="1400" dirty="0"/>
          </a:p>
        </p:txBody>
      </p:sp>
      <p:sp>
        <p:nvSpPr>
          <p:cNvPr id="11" name="Text 7"/>
          <p:cNvSpPr txBox="1"/>
          <p:nvPr/>
        </p:nvSpPr>
        <p:spPr>
          <a:xfrm>
            <a:off x="548640" y="4754880"/>
            <a:ext cx="11094415" cy="548640"/>
          </a:xfrm>
          <a:prstGeom prst="rect">
            <a:avLst/>
          </a:prstGeom>
          <a:noFill/>
          <a:ln/>
        </p:spPr>
        <p:txBody>
          <a:bodyPr wrap="square" lIns="0" tIns="0" rIns="0" bIns="0" rtlCol="0" anchor="ctr"/>
          <a:lstStyle/>
          <a:p>
            <a:pPr marL="0" indent="0">
              <a:buNone/>
            </a:pPr>
            <a:r>
              <a:rPr lang="en-US" sz="1600" b="1" dirty="0">
                <a:solidFill>
                  <a:schemeClr val="tx2"/>
                </a:solidFill>
              </a:rPr>
              <a:t>Price: C3 shows +45% cost of transport with respect to C2</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18</a:t>
            </a:fld>
            <a:endParaRPr lang="en-US"/>
          </a:p>
        </p:txBody>
      </p:sp>
      <p:sp>
        <p:nvSpPr>
          <p:cNvPr id="3" name="CasellaDiTesto 2">
            <a:extLst>
              <a:ext uri="{FF2B5EF4-FFF2-40B4-BE49-F238E27FC236}">
                <a16:creationId xmlns:a16="http://schemas.microsoft.com/office/drawing/2014/main" id="{71385EB4-2BE2-26A4-AC50-A47472D639B9}"/>
              </a:ext>
            </a:extLst>
          </p:cNvPr>
          <p:cNvSpPr txBox="1"/>
          <p:nvPr/>
        </p:nvSpPr>
        <p:spPr>
          <a:xfrm>
            <a:off x="5640355" y="2971800"/>
            <a:ext cx="65" cy="276999"/>
          </a:xfrm>
          <a:prstGeom prst="rect">
            <a:avLst/>
          </a:prstGeom>
          <a:noFill/>
        </p:spPr>
        <p:txBody>
          <a:bodyPr wrap="none" lIns="0" tIns="0" rIns="0" bIns="0" rtlCol="0">
            <a:spAutoFit/>
          </a:bodyPr>
          <a:lstStyle/>
          <a:p>
            <a:endParaRPr lang="it-IT"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chemeClr val="tx2"/>
                </a:solidFill>
              </a:rPr>
              <a:t>Ramp (T4): body inclination</a:t>
            </a:r>
            <a:endParaRPr lang="en-US" sz="3000" dirty="0"/>
          </a:p>
        </p:txBody>
      </p:sp>
      <p:sp>
        <p:nvSpPr>
          <p:cNvPr id="6" name="Text 3"/>
          <p:cNvSpPr txBox="1"/>
          <p:nvPr/>
        </p:nvSpPr>
        <p:spPr>
          <a:xfrm>
            <a:off x="548640" y="5623560"/>
            <a:ext cx="11094415" cy="548640"/>
          </a:xfrm>
          <a:prstGeom prst="rect">
            <a:avLst/>
          </a:prstGeom>
          <a:noFill/>
          <a:ln/>
        </p:spPr>
        <p:txBody>
          <a:bodyPr wrap="square" lIns="0" tIns="0" rIns="0" bIns="0" rtlCol="0" anchor="ctr"/>
          <a:lstStyle/>
          <a:p>
            <a:pPr marL="0" indent="0">
              <a:buNone/>
            </a:pPr>
            <a:r>
              <a:rPr lang="en-US" sz="1600" b="1" dirty="0">
                <a:solidFill>
                  <a:schemeClr val="tx2"/>
                </a:solidFill>
              </a:rPr>
              <a:t>C1 and C2 rise to 8° and stay parallel to the ground; C3 stops below 1.5°.</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19</a:t>
            </a:fld>
            <a:endParaRPr lang="en-US"/>
          </a:p>
        </p:txBody>
      </p:sp>
      <p:pic>
        <p:nvPicPr>
          <p:cNvPr id="9" name="Immagine 8">
            <a:extLst>
              <a:ext uri="{FF2B5EF4-FFF2-40B4-BE49-F238E27FC236}">
                <a16:creationId xmlns:a16="http://schemas.microsoft.com/office/drawing/2014/main" id="{CC473638-9E7D-C80D-F3D9-570DA7C4D380}"/>
              </a:ext>
            </a:extLst>
          </p:cNvPr>
          <p:cNvPicPr>
            <a:picLocks noChangeAspect="1"/>
          </p:cNvPicPr>
          <p:nvPr/>
        </p:nvPicPr>
        <p:blipFill>
          <a:blip r:embed="rId3"/>
          <a:stretch>
            <a:fillRect/>
          </a:stretch>
        </p:blipFill>
        <p:spPr>
          <a:xfrm>
            <a:off x="1902200" y="1174325"/>
            <a:ext cx="7739640" cy="437219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chemeClr val="tx2"/>
                </a:solidFill>
              </a:rPr>
              <a:t>Ramp (T4) in simulation</a:t>
            </a:r>
            <a:endParaRPr lang="en-US" sz="3000" dirty="0"/>
          </a:p>
        </p:txBody>
      </p:sp>
      <p:sp>
        <p:nvSpPr>
          <p:cNvPr id="4" name="VIDEO T4: C2 and C3 side by side, side view"/>
          <p:cNvSpPr/>
          <p:nvPr/>
        </p:nvSpPr>
        <p:spPr>
          <a:xfrm>
            <a:off x="548640" y="1280160"/>
            <a:ext cx="11094415" cy="4846320"/>
          </a:xfrm>
          <a:prstGeom prst="roundRect">
            <a:avLst>
              <a:gd name="adj" fmla="val 1509"/>
            </a:avLst>
          </a:prstGeom>
          <a:solidFill>
            <a:srgbClr val="FBEFE8"/>
          </a:solidFill>
          <a:ln w="15875">
            <a:solidFill>
              <a:srgbClr val="C4581E"/>
            </a:solidFill>
            <a:prstDash val="dash"/>
          </a:ln>
        </p:spPr>
        <p:txBody>
          <a:bodyPr/>
          <a:lstStyle/>
          <a:p>
            <a:endParaRPr lang="it-IT"/>
          </a:p>
        </p:txBody>
      </p:sp>
      <p:sp>
        <p:nvSpPr>
          <p:cNvPr id="5" name="Text 2"/>
          <p:cNvSpPr txBox="1"/>
          <p:nvPr/>
        </p:nvSpPr>
        <p:spPr>
          <a:xfrm>
            <a:off x="685800" y="1371600"/>
            <a:ext cx="10820095" cy="4663440"/>
          </a:xfrm>
          <a:prstGeom prst="rect">
            <a:avLst/>
          </a:prstGeom>
          <a:noFill/>
          <a:ln/>
        </p:spPr>
        <p:txBody>
          <a:bodyPr wrap="square" lIns="0" tIns="0" rIns="0" bIns="0" rtlCol="0" anchor="ctr"/>
          <a:lstStyle/>
          <a:p>
            <a:pPr marL="0" indent="0" algn="ctr">
              <a:buNone/>
            </a:pPr>
            <a:r>
              <a:rPr lang="en-US" sz="1600" b="1" dirty="0">
                <a:solidFill>
                  <a:schemeClr val="accent1"/>
                </a:solidFill>
              </a:rPr>
              <a:t>▶  VIDEO</a:t>
            </a:r>
            <a:endParaRPr lang="en-US" sz="1500" dirty="0"/>
          </a:p>
          <a:p>
            <a:pPr marL="0" indent="0" algn="ctr">
              <a:buNone/>
            </a:pPr>
            <a:r>
              <a:rPr lang="en-US" sz="1300" i="1" dirty="0">
                <a:solidFill>
                  <a:schemeClr val="accent3"/>
                </a:solidFill>
              </a:rPr>
              <a:t>T4: C2 and C3 side by side, side view</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chemeClr val="tx2"/>
                </a:solidFill>
              </a:rPr>
              <a:t>Obstacles(T6)</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949440" cy="4114800"/>
        </p:xfrm>
        <a:graphic>
          <a:graphicData uri="http://schemas.openxmlformats.org/drawingml/2006/table">
            <a:tbl>
              <a:tblPr/>
              <a:tblGrid>
                <a:gridCol w="39319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457200">
                <a:tc>
                  <a:txBody>
                    <a:bodyPr/>
                    <a:lstStyle/>
                    <a:p>
                      <a:pPr marL="0" indent="0">
                        <a:buNone/>
                      </a:pP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C1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C2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C3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extLst>
                  <a:ext uri="{0D108BD9-81ED-4DB2-BD59-A6C34878D82A}">
                    <a16:rowId xmlns:a16="http://schemas.microsoft.com/office/drawing/2014/main" val="10000"/>
                  </a:ext>
                </a:extLst>
              </a:tr>
              <a:tr h="457200">
                <a:tc>
                  <a:txBody>
                    <a:bodyPr/>
                    <a:lstStyle/>
                    <a:p>
                      <a:pPr marL="0" indent="0">
                        <a:buNone/>
                      </a:pPr>
                      <a:r>
                        <a:rPr lang="en-US" sz="1500" b="1" dirty="0">
                          <a:solidFill>
                            <a:srgbClr val="1F2A30"/>
                          </a:solidFill>
                        </a:rPr>
                        <a:t>obstacles crossed (out of 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500" b="1" dirty="0">
                          <a:solidFill>
                            <a:srgbClr val="1F2A30"/>
                          </a:solidFill>
                        </a:rPr>
                        <a:t>advance [m]</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3.65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3.68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3.72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500" b="1" dirty="0">
                          <a:solidFill>
                            <a:srgbClr val="1F2A30"/>
                          </a:solidFill>
                        </a:rPr>
                        <a:t>max lateral drift [m]</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0.067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0.104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0.058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500" b="1" dirty="0">
                          <a:solidFill>
                            <a:srgbClr val="1F2A30"/>
                          </a:solidFill>
                        </a:rPr>
                        <a:t>max roll [deg]</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9.44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10.0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b="1" dirty="0">
                          <a:solidFill>
                            <a:srgbClr val="1F3A45"/>
                          </a:solidFill>
                        </a:rPr>
                        <a:t>2.78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500" b="1" dirty="0">
                          <a:solidFill>
                            <a:srgbClr val="1F2A30"/>
                          </a:solidFill>
                        </a:rPr>
                        <a:t>max pitch [deg]</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14.7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13.6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b="1" dirty="0">
                          <a:solidFill>
                            <a:srgbClr val="1F3A45"/>
                          </a:solidFill>
                        </a:rPr>
                        <a:t>4.44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500" b="1" dirty="0">
                          <a:solidFill>
                            <a:srgbClr val="1F2A30"/>
                          </a:solidFill>
                        </a:rPr>
                        <a:t>peak torque [N·m]</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7.51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7.97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b="1" dirty="0">
                          <a:solidFill>
                            <a:srgbClr val="1F3A45"/>
                          </a:solidFill>
                        </a:rPr>
                        <a:t>4.18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6"/>
                  </a:ext>
                </a:extLst>
              </a:tr>
              <a:tr h="457200">
                <a:tc>
                  <a:txBody>
                    <a:bodyPr/>
                    <a:lstStyle/>
                    <a:p>
                      <a:pPr marL="0" indent="0">
                        <a:buNone/>
                      </a:pPr>
                      <a:r>
                        <a:rPr lang="en-US" sz="1500" b="1" dirty="0">
                          <a:solidFill>
                            <a:srgbClr val="1F2A30"/>
                          </a:solidFill>
                        </a:rPr>
                        <a:t>rollovers</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7"/>
                  </a:ext>
                </a:extLst>
              </a:tr>
              <a:tr h="457200">
                <a:tc>
                  <a:txBody>
                    <a:bodyPr/>
                    <a:lstStyle/>
                    <a:p>
                      <a:pPr marL="0" indent="0">
                        <a:buNone/>
                      </a:pPr>
                      <a:r>
                        <a:rPr lang="en-US" sz="1500" b="1" dirty="0">
                          <a:solidFill>
                            <a:srgbClr val="1F2A30"/>
                          </a:solidFill>
                        </a:rPr>
                        <a:t>course completed with margin</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no</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no</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b="1" dirty="0">
                          <a:solidFill>
                            <a:srgbClr val="1F3A45"/>
                          </a:solidFill>
                        </a:rPr>
                        <a:t>yes</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1"/>
          <p:cNvSpPr txBox="1"/>
          <p:nvPr/>
        </p:nvSpPr>
        <p:spPr>
          <a:xfrm>
            <a:off x="7863840" y="1371600"/>
            <a:ext cx="3776472" cy="685800"/>
          </a:xfrm>
          <a:prstGeom prst="rect">
            <a:avLst/>
          </a:prstGeom>
          <a:noFill/>
          <a:ln/>
        </p:spPr>
        <p:txBody>
          <a:bodyPr wrap="square" lIns="0" tIns="0" rIns="0" bIns="0" rtlCol="0" anchor="t"/>
          <a:lstStyle/>
          <a:p>
            <a:pPr marL="0" indent="0">
              <a:buNone/>
            </a:pPr>
            <a:r>
              <a:rPr lang="en-US" sz="3400" b="1" dirty="0">
                <a:solidFill>
                  <a:schemeClr val="accent2"/>
                </a:solidFill>
                <a:latin typeface="Cambria" pitchFamily="34" charset="0"/>
                <a:ea typeface="Cambria" pitchFamily="34" charset="-122"/>
                <a:cs typeface="Cambria" pitchFamily="34" charset="-120"/>
              </a:rPr>
              <a:t>−72% / −67%</a:t>
            </a:r>
            <a:endParaRPr lang="en-US" sz="3400" dirty="0"/>
          </a:p>
        </p:txBody>
      </p:sp>
      <p:sp>
        <p:nvSpPr>
          <p:cNvPr id="6" name="Text 2"/>
          <p:cNvSpPr txBox="1"/>
          <p:nvPr/>
        </p:nvSpPr>
        <p:spPr>
          <a:xfrm>
            <a:off x="7863840" y="2084832"/>
            <a:ext cx="3776472" cy="548640"/>
          </a:xfrm>
          <a:prstGeom prst="rect">
            <a:avLst/>
          </a:prstGeom>
          <a:noFill/>
          <a:ln/>
        </p:spPr>
        <p:txBody>
          <a:bodyPr wrap="square" lIns="0" tIns="0" rIns="0" bIns="0" rtlCol="0" anchor="t"/>
          <a:lstStyle/>
          <a:p>
            <a:pPr marL="0" indent="0">
              <a:buNone/>
            </a:pPr>
            <a:r>
              <a:rPr lang="en-US" sz="1300" dirty="0">
                <a:solidFill>
                  <a:schemeClr val="tx1"/>
                </a:solidFill>
              </a:rPr>
              <a:t>C3 roll / pitch with respect to C2</a:t>
            </a:r>
            <a:endParaRPr lang="en-US" sz="1300" dirty="0"/>
          </a:p>
        </p:txBody>
      </p:sp>
      <p:sp>
        <p:nvSpPr>
          <p:cNvPr id="7" name="Text 3"/>
          <p:cNvSpPr txBox="1"/>
          <p:nvPr/>
        </p:nvSpPr>
        <p:spPr>
          <a:xfrm>
            <a:off x="7863840" y="2926080"/>
            <a:ext cx="3776472" cy="685800"/>
          </a:xfrm>
          <a:prstGeom prst="rect">
            <a:avLst/>
          </a:prstGeom>
          <a:noFill/>
          <a:ln/>
        </p:spPr>
        <p:txBody>
          <a:bodyPr wrap="square" lIns="0" tIns="0" rIns="0" bIns="0" rtlCol="0" anchor="t"/>
          <a:lstStyle/>
          <a:p>
            <a:pPr marL="0" indent="0">
              <a:buNone/>
            </a:pPr>
            <a:r>
              <a:rPr lang="en-US" sz="3400" b="1" dirty="0">
                <a:solidFill>
                  <a:schemeClr val="accent2"/>
                </a:solidFill>
                <a:latin typeface="Cambria" pitchFamily="34" charset="0"/>
                <a:ea typeface="Cambria" pitchFamily="34" charset="-122"/>
                <a:cs typeface="Cambria" pitchFamily="34" charset="-120"/>
              </a:rPr>
              <a:t>−48%</a:t>
            </a:r>
            <a:endParaRPr lang="en-US" sz="3400" dirty="0"/>
          </a:p>
        </p:txBody>
      </p:sp>
      <p:sp>
        <p:nvSpPr>
          <p:cNvPr id="8" name="Text 4"/>
          <p:cNvSpPr txBox="1"/>
          <p:nvPr/>
        </p:nvSpPr>
        <p:spPr>
          <a:xfrm>
            <a:off x="7863840" y="3639312"/>
            <a:ext cx="3776472" cy="548640"/>
          </a:xfrm>
          <a:prstGeom prst="rect">
            <a:avLst/>
          </a:prstGeom>
          <a:noFill/>
          <a:ln/>
        </p:spPr>
        <p:txBody>
          <a:bodyPr wrap="square" lIns="0" tIns="0" rIns="0" bIns="0" rtlCol="0" anchor="t"/>
          <a:lstStyle/>
          <a:p>
            <a:pPr marL="0" indent="0">
              <a:buNone/>
            </a:pPr>
            <a:r>
              <a:rPr lang="en-US" sz="1300" dirty="0">
                <a:solidFill>
                  <a:schemeClr val="tx1"/>
                </a:solidFill>
              </a:rPr>
              <a:t>C3 peak torque with respect to C2</a:t>
            </a:r>
            <a:endParaRPr lang="en-US" sz="1300" dirty="0"/>
          </a:p>
        </p:txBody>
      </p:sp>
      <p:sp>
        <p:nvSpPr>
          <p:cNvPr id="9" name="Text 5"/>
          <p:cNvSpPr txBox="1"/>
          <p:nvPr/>
        </p:nvSpPr>
        <p:spPr>
          <a:xfrm>
            <a:off x="7863840" y="4480560"/>
            <a:ext cx="3776472" cy="822960"/>
          </a:xfrm>
          <a:prstGeom prst="rect">
            <a:avLst/>
          </a:prstGeom>
          <a:noFill/>
          <a:ln/>
        </p:spPr>
        <p:txBody>
          <a:bodyPr wrap="square" lIns="0" tIns="0" rIns="0" bIns="0" rtlCol="0" anchor="t"/>
          <a:lstStyle/>
          <a:p>
            <a:pPr marL="0" indent="0">
              <a:buNone/>
            </a:pPr>
            <a:r>
              <a:rPr lang="en-US" sz="1400" dirty="0">
                <a:solidFill>
                  <a:schemeClr val="accent3"/>
                </a:solidFill>
              </a:rPr>
              <a:t>Drift below the 0.183 m threshold for all: the three meet the same obstacles.</a:t>
            </a:r>
            <a:endParaRPr lang="en-US" sz="1400" dirty="0"/>
          </a:p>
        </p:txBody>
      </p:sp>
      <p:sp>
        <p:nvSpPr>
          <p:cNvPr id="10" name="Text 6"/>
          <p:cNvSpPr txBox="1"/>
          <p:nvPr/>
        </p:nvSpPr>
        <p:spPr>
          <a:xfrm>
            <a:off x="548640" y="5440680"/>
            <a:ext cx="11094415" cy="548640"/>
          </a:xfrm>
          <a:prstGeom prst="rect">
            <a:avLst/>
          </a:prstGeom>
          <a:noFill/>
          <a:ln/>
        </p:spPr>
        <p:txBody>
          <a:bodyPr wrap="square" lIns="0" tIns="0" rIns="0" bIns="0" rtlCol="0" anchor="ctr"/>
          <a:lstStyle/>
          <a:p>
            <a:pPr marL="0" indent="0">
              <a:buNone/>
            </a:pPr>
            <a:r>
              <a:rPr lang="en-US" sz="1600" b="1" dirty="0">
                <a:solidFill>
                  <a:schemeClr val="tx2"/>
                </a:solidFill>
              </a:rPr>
              <a:t>All three cross the seven obstacles; only C3 finishes with one cycle of margin.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chemeClr val="tx2"/>
                </a:solidFill>
              </a:rPr>
              <a:t>Obstacle course (T6) in simulation</a:t>
            </a:r>
            <a:endParaRPr lang="en-US" sz="3000" dirty="0"/>
          </a:p>
        </p:txBody>
      </p:sp>
      <p:sp>
        <p:nvSpPr>
          <p:cNvPr id="4" name="VIDEO T6 obstacle course, 30 s: C1, C2 and C3"/>
          <p:cNvSpPr/>
          <p:nvPr/>
        </p:nvSpPr>
        <p:spPr>
          <a:xfrm>
            <a:off x="548640" y="1280160"/>
            <a:ext cx="11094415" cy="4846320"/>
          </a:xfrm>
          <a:prstGeom prst="roundRect">
            <a:avLst>
              <a:gd name="adj" fmla="val 1509"/>
            </a:avLst>
          </a:prstGeom>
          <a:solidFill>
            <a:srgbClr val="FBEFE8"/>
          </a:solidFill>
          <a:ln w="15875">
            <a:solidFill>
              <a:srgbClr val="C4581E"/>
            </a:solidFill>
            <a:prstDash val="dash"/>
          </a:ln>
        </p:spPr>
        <p:txBody>
          <a:bodyPr/>
          <a:lstStyle/>
          <a:p>
            <a:endParaRPr lang="it-IT"/>
          </a:p>
        </p:txBody>
      </p:sp>
      <p:sp>
        <p:nvSpPr>
          <p:cNvPr id="5" name="Text 2"/>
          <p:cNvSpPr txBox="1"/>
          <p:nvPr/>
        </p:nvSpPr>
        <p:spPr>
          <a:xfrm>
            <a:off x="685800" y="1371600"/>
            <a:ext cx="10820095" cy="4663440"/>
          </a:xfrm>
          <a:prstGeom prst="rect">
            <a:avLst/>
          </a:prstGeom>
          <a:noFill/>
          <a:ln/>
        </p:spPr>
        <p:txBody>
          <a:bodyPr wrap="square" lIns="0" tIns="0" rIns="0" bIns="0" rtlCol="0" anchor="ctr"/>
          <a:lstStyle/>
          <a:p>
            <a:pPr marL="0" indent="0" algn="ctr">
              <a:buNone/>
            </a:pPr>
            <a:r>
              <a:rPr lang="en-US" sz="1600" b="1" dirty="0">
                <a:solidFill>
                  <a:schemeClr val="accent1"/>
                </a:solidFill>
              </a:rPr>
              <a:t>▶  VIDEO</a:t>
            </a:r>
            <a:endParaRPr lang="en-US" sz="1500" dirty="0"/>
          </a:p>
          <a:p>
            <a:pPr marL="0" indent="0" algn="ctr">
              <a:buNone/>
            </a:pPr>
            <a:r>
              <a:rPr lang="en-US" sz="1300" i="1" dirty="0">
                <a:solidFill>
                  <a:schemeClr val="accent3"/>
                </a:solidFill>
              </a:rPr>
              <a:t>T6 obstacle course, 30 s: C1, C2 and C3</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chemeClr val="tx2"/>
                </a:solidFill>
              </a:rPr>
              <a:t>Lateral impulse (T7)</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4206240" cy="2011680"/>
        </p:xfrm>
        <a:graphic>
          <a:graphicData uri="http://schemas.openxmlformats.org/drawingml/2006/table">
            <a:tbl>
              <a:tblPr/>
              <a:tblGrid>
                <a:gridCol w="228600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502920">
                <a:tc>
                  <a:txBody>
                    <a:bodyPr/>
                    <a:lstStyle/>
                    <a:p>
                      <a:pPr marL="0" indent="0">
                        <a:buNone/>
                      </a:pP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400" b="1" dirty="0">
                          <a:solidFill>
                            <a:srgbClr val="FFFFFF"/>
                          </a:solidFill>
                        </a:rPr>
                        <a:t>C1</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400" b="1" dirty="0">
                          <a:solidFill>
                            <a:srgbClr val="FFFFFF"/>
                          </a:solidFill>
                        </a:rPr>
                        <a:t>C2</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400" b="1" dirty="0">
                          <a:solidFill>
                            <a:srgbClr val="FFFFFF"/>
                          </a:solidFill>
                        </a:rPr>
                        <a:t>C3</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extLst>
                  <a:ext uri="{0D108BD9-81ED-4DB2-BD59-A6C34878D82A}">
                    <a16:rowId xmlns:a16="http://schemas.microsoft.com/office/drawing/2014/main" val="10000"/>
                  </a:ext>
                </a:extLst>
              </a:tr>
              <a:tr h="502920">
                <a:tc>
                  <a:txBody>
                    <a:bodyPr/>
                    <a:lstStyle/>
                    <a:p>
                      <a:pPr marL="0" indent="0">
                        <a:buNone/>
                      </a:pPr>
                      <a:r>
                        <a:rPr lang="en-US" sz="1400" b="1" dirty="0">
                          <a:solidFill>
                            <a:srgbClr val="1F2A30"/>
                          </a:solidFill>
                        </a:rPr>
                        <a:t>residual deviation, 1× [mm]</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1.34</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6.04</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0.164</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400" b="1" dirty="0">
                          <a:solidFill>
                            <a:srgbClr val="1F2A30"/>
                          </a:solidFill>
                        </a:rPr>
                        <a:t>residual deviation, 16× [mm]</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393</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400</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392</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400" b="1" dirty="0">
                          <a:solidFill>
                            <a:srgbClr val="1F2A30"/>
                          </a:solidFill>
                        </a:rPr>
                        <a:t>recovers at 16×</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no</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no</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400" dirty="0">
                          <a:solidFill>
                            <a:srgbClr val="1F2A30"/>
                          </a:solidFill>
                        </a:rPr>
                        <a:t>no</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1"/>
          <p:cNvSpPr txBox="1"/>
          <p:nvPr/>
        </p:nvSpPr>
        <p:spPr>
          <a:xfrm>
            <a:off x="548640" y="4114800"/>
            <a:ext cx="4206240" cy="1463040"/>
          </a:xfrm>
          <a:prstGeom prst="rect">
            <a:avLst/>
          </a:prstGeom>
          <a:noFill/>
          <a:ln/>
        </p:spPr>
        <p:txBody>
          <a:bodyPr wrap="square" lIns="0" tIns="0" rIns="0" bIns="0" rtlCol="0" anchor="t"/>
          <a:lstStyle/>
          <a:p>
            <a:pPr marL="0" indent="0">
              <a:buNone/>
            </a:pPr>
            <a:r>
              <a:rPr lang="en-US" sz="1600" b="1" dirty="0">
                <a:solidFill>
                  <a:schemeClr val="tx2"/>
                </a:solidFill>
              </a:rPr>
              <a:t>At 16× none of the three recovers: the curves coincide within 2%. Neither search nor attitude acts on this disturbance.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23</a:t>
            </a:fld>
            <a:endParaRPr lang="en-US"/>
          </a:p>
        </p:txBody>
      </p:sp>
      <p:pic>
        <p:nvPicPr>
          <p:cNvPr id="4" name="Immagine 3">
            <a:extLst>
              <a:ext uri="{FF2B5EF4-FFF2-40B4-BE49-F238E27FC236}">
                <a16:creationId xmlns:a16="http://schemas.microsoft.com/office/drawing/2014/main" id="{B4E65732-5AE0-6DA4-F81B-6C54A0C9E1FA}"/>
              </a:ext>
            </a:extLst>
          </p:cNvPr>
          <p:cNvPicPr>
            <a:picLocks noChangeAspect="1"/>
          </p:cNvPicPr>
          <p:nvPr/>
        </p:nvPicPr>
        <p:blipFill>
          <a:blip r:embed="rId3"/>
          <a:stretch>
            <a:fillRect/>
          </a:stretch>
        </p:blipFill>
        <p:spPr>
          <a:xfrm>
            <a:off x="4998716" y="1422400"/>
            <a:ext cx="7031555" cy="29972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chemeClr val="tx2"/>
                </a:solidFill>
              </a:rPr>
              <a:t>Feasibility on real AX-12A servos</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3703320"/>
        </p:xfrm>
        <a:graphic>
          <a:graphicData uri="http://schemas.openxmlformats.org/drawingml/2006/table">
            <a:tbl>
              <a:tblPr/>
              <a:tblGrid>
                <a:gridCol w="1216152">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gridCol w="1188720">
                  <a:extLst>
                    <a:ext uri="{9D8B030D-6E8A-4147-A177-3AD203B41FA5}">
                      <a16:colId xmlns:a16="http://schemas.microsoft.com/office/drawing/2014/main" val="20007"/>
                    </a:ext>
                  </a:extLst>
                </a:gridCol>
                <a:gridCol w="1188720">
                  <a:extLst>
                    <a:ext uri="{9D8B030D-6E8A-4147-A177-3AD203B41FA5}">
                      <a16:colId xmlns:a16="http://schemas.microsoft.com/office/drawing/2014/main" val="20008"/>
                    </a:ext>
                  </a:extLst>
                </a:gridCol>
                <a:gridCol w="1188720">
                  <a:extLst>
                    <a:ext uri="{9D8B030D-6E8A-4147-A177-3AD203B41FA5}">
                      <a16:colId xmlns:a16="http://schemas.microsoft.com/office/drawing/2014/main" val="20009"/>
                    </a:ext>
                  </a:extLst>
                </a:gridCol>
              </a:tblGrid>
              <a:tr h="411480">
                <a:tc>
                  <a:txBody>
                    <a:bodyPr/>
                    <a:lstStyle/>
                    <a:p>
                      <a:pPr marL="0" indent="0">
                        <a:buNone/>
                      </a:pP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gridSpan="3">
                  <a:txBody>
                    <a:bodyPr/>
                    <a:lstStyle/>
                    <a:p>
                      <a:pPr marL="0" indent="0" algn="ctr">
                        <a:buNone/>
                      </a:pPr>
                      <a:r>
                        <a:rPr lang="en-US" sz="1500" b="1" dirty="0">
                          <a:solidFill>
                            <a:srgbClr val="FFFFFF"/>
                          </a:solidFill>
                        </a:rPr>
                        <a:t>RMS / stall</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hMerge="1">
                  <a:txBody>
                    <a:bodyPr/>
                    <a:lstStyle/>
                    <a:p>
                      <a:endParaRPr lang="it-IT"/>
                    </a:p>
                  </a:txBody>
                  <a:tcPr/>
                </a:tc>
                <a:tc hMerge="1">
                  <a:txBody>
                    <a:bodyPr/>
                    <a:lstStyle/>
                    <a:p>
                      <a:endParaRPr lang="it-IT"/>
                    </a:p>
                  </a:txBody>
                  <a:tcPr/>
                </a:tc>
                <a:tc gridSpan="3">
                  <a:txBody>
                    <a:bodyPr/>
                    <a:lstStyle/>
                    <a:p>
                      <a:pPr marL="0" indent="0" algn="ctr">
                        <a:buNone/>
                      </a:pPr>
                      <a:r>
                        <a:rPr lang="en-US" sz="1500" b="1" dirty="0">
                          <a:solidFill>
                            <a:srgbClr val="FFFFFF"/>
                          </a:solidFill>
                        </a:rPr>
                        <a:t>peak / stall</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hMerge="1">
                  <a:txBody>
                    <a:bodyPr/>
                    <a:lstStyle/>
                    <a:p>
                      <a:endParaRPr lang="it-IT"/>
                    </a:p>
                  </a:txBody>
                  <a:tcPr/>
                </a:tc>
                <a:tc hMerge="1">
                  <a:txBody>
                    <a:bodyPr/>
                    <a:lstStyle/>
                    <a:p>
                      <a:endParaRPr lang="it-IT"/>
                    </a:p>
                  </a:txBody>
                  <a:tcPr/>
                </a:tc>
                <a:tc gridSpan="3">
                  <a:txBody>
                    <a:bodyPr/>
                    <a:lstStyle/>
                    <a:p>
                      <a:pPr marL="0" indent="0" algn="ctr">
                        <a:buNone/>
                      </a:pPr>
                      <a:r>
                        <a:rPr lang="en-US" sz="1500" b="1" dirty="0">
                          <a:solidFill>
                            <a:srgbClr val="FFFFFF"/>
                          </a:solidFill>
                        </a:rPr>
                        <a:t>samples over stall</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hMerge="1">
                  <a:txBody>
                    <a:bodyPr/>
                    <a:lstStyle/>
                    <a:p>
                      <a:endParaRPr lang="it-IT"/>
                    </a:p>
                  </a:txBody>
                  <a:tcPr/>
                </a:tc>
                <a:tc hMerge="1">
                  <a:txBody>
                    <a:bodyPr/>
                    <a:lstStyle/>
                    <a:p>
                      <a:endParaRPr lang="it-IT"/>
                    </a:p>
                  </a:txBody>
                  <a:tcPr/>
                </a:tc>
                <a:extLst>
                  <a:ext uri="{0D108BD9-81ED-4DB2-BD59-A6C34878D82A}">
                    <a16:rowId xmlns:a16="http://schemas.microsoft.com/office/drawing/2014/main" val="10000"/>
                  </a:ext>
                </a:extLst>
              </a:tr>
              <a:tr h="411480">
                <a:tc>
                  <a:txBody>
                    <a:bodyPr/>
                    <a:lstStyle/>
                    <a:p>
                      <a:pPr marL="0" indent="0">
                        <a:buNone/>
                      </a:pPr>
                      <a:r>
                        <a:rPr lang="en-US" sz="1500" b="1" dirty="0">
                          <a:solidFill>
                            <a:srgbClr val="FFFFFF"/>
                          </a:solidFill>
                        </a:rPr>
                        <a:t>task</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C1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C2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C3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C1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C2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C3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C1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C2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buNone/>
                      </a:pPr>
                      <a:r>
                        <a:rPr lang="en-US" sz="1500" b="1" dirty="0">
                          <a:solidFill>
                            <a:srgbClr val="FFFFFF"/>
                          </a:solidFill>
                        </a:rPr>
                        <a:t>C3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extLst>
                  <a:ext uri="{0D108BD9-81ED-4DB2-BD59-A6C34878D82A}">
                    <a16:rowId xmlns:a16="http://schemas.microsoft.com/office/drawing/2014/main" val="10001"/>
                  </a:ext>
                </a:extLst>
              </a:tr>
              <a:tr h="411480">
                <a:tc>
                  <a:txBody>
                    <a:bodyPr/>
                    <a:lstStyle/>
                    <a:p>
                      <a:pPr marL="0" indent="0">
                        <a:buNone/>
                      </a:pPr>
                      <a:r>
                        <a:rPr lang="en-US" sz="1500" b="1" dirty="0">
                          <a:solidFill>
                            <a:srgbClr val="1F2A30"/>
                          </a:solidFill>
                        </a:rPr>
                        <a:t>T2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46%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44%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39%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0.40%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0.45%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0.38%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500" b="1" dirty="0">
                          <a:solidFill>
                            <a:srgbClr val="1F2A30"/>
                          </a:solidFill>
                        </a:rPr>
                        <a:t>T3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46%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42%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39%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0.50%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0.40%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0.43%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buNone/>
                      </a:pPr>
                      <a:r>
                        <a:rPr lang="en-US" sz="1500" b="1" dirty="0">
                          <a:solidFill>
                            <a:srgbClr val="1F2A30"/>
                          </a:solidFill>
                        </a:rPr>
                        <a:t>T4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44%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44%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45%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2.3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0.39%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0.49%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0.48%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4"/>
                  </a:ext>
                </a:extLst>
              </a:tr>
              <a:tr h="411480">
                <a:tc>
                  <a:txBody>
                    <a:bodyPr/>
                    <a:lstStyle/>
                    <a:p>
                      <a:pPr marL="0" indent="0">
                        <a:buNone/>
                      </a:pPr>
                      <a:r>
                        <a:rPr lang="en-US" sz="1500" b="1" dirty="0">
                          <a:solidFill>
                            <a:srgbClr val="1F2A30"/>
                          </a:solidFill>
                        </a:rPr>
                        <a:t>T4D</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42%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42%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39%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2.7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2.1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0.45%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0.41%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0.49%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5"/>
                  </a:ext>
                </a:extLst>
              </a:tr>
              <a:tr h="411480">
                <a:tc>
                  <a:txBody>
                    <a:bodyPr/>
                    <a:lstStyle/>
                    <a:p>
                      <a:pPr marL="0" indent="0">
                        <a:buNone/>
                      </a:pPr>
                      <a:r>
                        <a:rPr lang="en-US" sz="1500" b="1" dirty="0">
                          <a:solidFill>
                            <a:srgbClr val="1F2A30"/>
                          </a:solidFill>
                        </a:rPr>
                        <a:t>T5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45%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44%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40%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3.0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5.6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2.7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0.61%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0.50%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0.51%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6"/>
                  </a:ext>
                </a:extLst>
              </a:tr>
              <a:tr h="411480">
                <a:tc>
                  <a:txBody>
                    <a:bodyPr/>
                    <a:lstStyle/>
                    <a:p>
                      <a:pPr marL="0" indent="0">
                        <a:buNone/>
                      </a:pPr>
                      <a:r>
                        <a:rPr lang="en-US" sz="1500" b="1" dirty="0">
                          <a:solidFill>
                            <a:srgbClr val="1F2A30"/>
                          </a:solidFill>
                        </a:rPr>
                        <a:t>T6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42%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43%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42%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5.0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4.9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2.8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0.91%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0.67%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0.81%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7"/>
                  </a:ext>
                </a:extLst>
              </a:tr>
              <a:tr h="411480">
                <a:tc>
                  <a:txBody>
                    <a:bodyPr/>
                    <a:lstStyle/>
                    <a:p>
                      <a:pPr marL="0" indent="0">
                        <a:buNone/>
                      </a:pPr>
                      <a:r>
                        <a:rPr lang="en-US" sz="1500" b="1" dirty="0">
                          <a:solidFill>
                            <a:srgbClr val="1F2A30"/>
                          </a:solidFill>
                        </a:rPr>
                        <a:t>T7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46%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44%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39%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1.5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0.41%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0.45%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r">
                        <a:buNone/>
                      </a:pPr>
                      <a:r>
                        <a:rPr lang="en-US" sz="1500" dirty="0">
                          <a:solidFill>
                            <a:srgbClr val="1F2A30"/>
                          </a:solidFill>
                        </a:rPr>
                        <a:t>0.38%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1"/>
          <p:cNvSpPr txBox="1"/>
          <p:nvPr/>
        </p:nvSpPr>
        <p:spPr>
          <a:xfrm>
            <a:off x="548640" y="5257800"/>
            <a:ext cx="11094415" cy="548640"/>
          </a:xfrm>
          <a:prstGeom prst="rect">
            <a:avLst/>
          </a:prstGeom>
          <a:noFill/>
          <a:ln/>
        </p:spPr>
        <p:txBody>
          <a:bodyPr wrap="square" lIns="0" tIns="0" rIns="0" bIns="0" rtlCol="0" anchor="ctr"/>
          <a:lstStyle/>
          <a:p>
            <a:pPr marL="0" indent="0">
              <a:buNone/>
            </a:pPr>
            <a:r>
              <a:rPr lang="en-US" sz="1600" b="1" dirty="0">
                <a:solidFill>
                  <a:schemeClr val="tx2"/>
                </a:solidFill>
              </a:rPr>
              <a:t>Stall 1.5 N·m, one fifth recommended: walking runs at 2.3× the recommended load, impact peaks up to 5× stall.</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chemeClr val="tx2"/>
                </a:solidFill>
              </a:rPr>
              <a:t>Demanded torque versus AX-12A limits</a:t>
            </a:r>
            <a:endParaRPr lang="en-US" sz="3000" dirty="0"/>
          </a:p>
        </p:txBody>
      </p:sp>
      <p:sp>
        <p:nvSpPr>
          <p:cNvPr id="6" name="Text 3"/>
          <p:cNvSpPr txBox="1"/>
          <p:nvPr/>
        </p:nvSpPr>
        <p:spPr>
          <a:xfrm>
            <a:off x="548640" y="5623560"/>
            <a:ext cx="11094415" cy="548640"/>
          </a:xfrm>
          <a:prstGeom prst="rect">
            <a:avLst/>
          </a:prstGeom>
          <a:noFill/>
          <a:ln/>
        </p:spPr>
        <p:txBody>
          <a:bodyPr wrap="square" lIns="0" tIns="0" rIns="0" bIns="0" rtlCol="0" anchor="ctr"/>
          <a:lstStyle/>
          <a:p>
            <a:pPr marL="0" indent="0">
              <a:buNone/>
            </a:pPr>
            <a:r>
              <a:rPr lang="en-US" sz="1600" b="1" dirty="0">
                <a:solidFill>
                  <a:schemeClr val="tx2"/>
                </a:solidFill>
              </a:rPr>
              <a:t>Two regimes: walking below stall but above the recommended load; peaks beyond stall at impacts.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25</a:t>
            </a:fld>
            <a:endParaRPr lang="en-US"/>
          </a:p>
        </p:txBody>
      </p:sp>
      <p:pic>
        <p:nvPicPr>
          <p:cNvPr id="7" name="Immagine 6">
            <a:extLst>
              <a:ext uri="{FF2B5EF4-FFF2-40B4-BE49-F238E27FC236}">
                <a16:creationId xmlns:a16="http://schemas.microsoft.com/office/drawing/2014/main" id="{295F1F4E-A7AB-9F21-1197-F96D4C2AD709}"/>
              </a:ext>
            </a:extLst>
          </p:cNvPr>
          <p:cNvPicPr>
            <a:picLocks noChangeAspect="1"/>
          </p:cNvPicPr>
          <p:nvPr/>
        </p:nvPicPr>
        <p:blipFill>
          <a:blip r:embed="rId3"/>
          <a:stretch>
            <a:fillRect/>
          </a:stretch>
        </p:blipFill>
        <p:spPr>
          <a:xfrm>
            <a:off x="1457174" y="1267611"/>
            <a:ext cx="9277345" cy="365729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chemeClr val="tx2"/>
                </a:solidFill>
              </a:rPr>
              <a:t>Load transport: C2P versus C3P</a:t>
            </a:r>
            <a:endParaRPr lang="en-US" sz="3000" dirty="0"/>
          </a:p>
        </p:txBody>
      </p:sp>
      <p:sp>
        <p:nvSpPr>
          <p:cNvPr id="4" name="setup 0"/>
          <p:cNvSpPr/>
          <p:nvPr/>
        </p:nvSpPr>
        <p:spPr>
          <a:xfrm>
            <a:off x="548640" y="1371600"/>
            <a:ext cx="3520440" cy="1828800"/>
          </a:xfrm>
          <a:prstGeom prst="rect">
            <a:avLst/>
          </a:prstGeom>
          <a:solidFill>
            <a:schemeClr val="bg2"/>
          </a:solidFill>
          <a:ln w="12700">
            <a:solidFill>
              <a:schemeClr val="bg2"/>
            </a:solidFill>
            <a:prstDash val="solid"/>
          </a:ln>
        </p:spPr>
        <p:txBody>
          <a:bodyPr/>
          <a:lstStyle/>
          <a:p>
            <a:endParaRPr lang="it-IT"/>
          </a:p>
        </p:txBody>
      </p:sp>
      <p:sp>
        <p:nvSpPr>
          <p:cNvPr id="5" name="Text 2"/>
          <p:cNvSpPr txBox="1"/>
          <p:nvPr/>
        </p:nvSpPr>
        <p:spPr>
          <a:xfrm>
            <a:off x="822960" y="1508760"/>
            <a:ext cx="2971800" cy="1554480"/>
          </a:xfrm>
          <a:prstGeom prst="rect">
            <a:avLst/>
          </a:prstGeom>
          <a:noFill/>
          <a:ln/>
        </p:spPr>
        <p:txBody>
          <a:bodyPr wrap="square" lIns="0" tIns="0" rIns="0" bIns="0" rtlCol="0" anchor="ctr"/>
          <a:lstStyle/>
          <a:p>
            <a:pPr marL="0" indent="0">
              <a:buNone/>
            </a:pPr>
            <a:r>
              <a:rPr lang="en-US" sz="1800" dirty="0">
                <a:solidFill>
                  <a:schemeClr val="tx1"/>
                </a:solidFill>
              </a:rPr>
              <a:t>1 kg cube free on a 0.1 kg tray: +69% mass</a:t>
            </a:r>
            <a:endParaRPr lang="en-US" sz="1800" dirty="0"/>
          </a:p>
        </p:txBody>
      </p:sp>
      <p:sp>
        <p:nvSpPr>
          <p:cNvPr id="6" name="setup 1"/>
          <p:cNvSpPr/>
          <p:nvPr/>
        </p:nvSpPr>
        <p:spPr>
          <a:xfrm>
            <a:off x="4343400" y="1371600"/>
            <a:ext cx="3520440" cy="1828800"/>
          </a:xfrm>
          <a:prstGeom prst="rect">
            <a:avLst/>
          </a:prstGeom>
          <a:solidFill>
            <a:schemeClr val="bg2"/>
          </a:solidFill>
          <a:ln w="12700">
            <a:solidFill>
              <a:schemeClr val="bg2"/>
            </a:solidFill>
            <a:prstDash val="solid"/>
          </a:ln>
        </p:spPr>
        <p:txBody>
          <a:bodyPr/>
          <a:lstStyle/>
          <a:p>
            <a:endParaRPr lang="it-IT"/>
          </a:p>
        </p:txBody>
      </p:sp>
      <p:sp>
        <p:nvSpPr>
          <p:cNvPr id="7" name="Text 4"/>
          <p:cNvSpPr txBox="1"/>
          <p:nvPr/>
        </p:nvSpPr>
        <p:spPr>
          <a:xfrm>
            <a:off x="4617720" y="1508760"/>
            <a:ext cx="2971800" cy="1554480"/>
          </a:xfrm>
          <a:prstGeom prst="rect">
            <a:avLst/>
          </a:prstGeom>
          <a:noFill/>
          <a:ln/>
        </p:spPr>
        <p:txBody>
          <a:bodyPr wrap="square" lIns="0" tIns="0" rIns="0" bIns="0" rtlCol="0" anchor="ctr"/>
          <a:lstStyle/>
          <a:p>
            <a:pPr marL="0" indent="0">
              <a:buNone/>
            </a:pPr>
            <a:r>
              <a:rPr lang="en-US" sz="1800" dirty="0">
                <a:solidFill>
                  <a:schemeClr val="tx1"/>
                </a:solidFill>
              </a:rPr>
              <a:t>C3P = C3 with the load;</a:t>
            </a:r>
          </a:p>
          <a:p>
            <a:pPr marL="0" indent="0">
              <a:buNone/>
            </a:pPr>
            <a:r>
              <a:rPr lang="en-US" sz="1800" dirty="0">
                <a:solidFill>
                  <a:schemeClr val="tx1"/>
                </a:solidFill>
              </a:rPr>
              <a:t>C2P = C3P with the PI gains set to zero</a:t>
            </a:r>
            <a:endParaRPr lang="en-US" sz="1800" dirty="0"/>
          </a:p>
        </p:txBody>
      </p:sp>
      <p:sp>
        <p:nvSpPr>
          <p:cNvPr id="8" name="setup 2"/>
          <p:cNvSpPr/>
          <p:nvPr/>
        </p:nvSpPr>
        <p:spPr>
          <a:xfrm>
            <a:off x="8138160" y="1371600"/>
            <a:ext cx="3520440" cy="1828800"/>
          </a:xfrm>
          <a:prstGeom prst="rect">
            <a:avLst/>
          </a:prstGeom>
          <a:solidFill>
            <a:schemeClr val="bg2"/>
          </a:solidFill>
          <a:ln w="12700">
            <a:solidFill>
              <a:schemeClr val="bg2"/>
            </a:solidFill>
            <a:prstDash val="solid"/>
          </a:ln>
        </p:spPr>
        <p:txBody>
          <a:bodyPr/>
          <a:lstStyle/>
          <a:p>
            <a:endParaRPr lang="it-IT"/>
          </a:p>
        </p:txBody>
      </p:sp>
      <p:sp>
        <p:nvSpPr>
          <p:cNvPr id="9" name="Text 6"/>
          <p:cNvSpPr txBox="1"/>
          <p:nvPr/>
        </p:nvSpPr>
        <p:spPr>
          <a:xfrm>
            <a:off x="8412480" y="1508760"/>
            <a:ext cx="2971800" cy="1554480"/>
          </a:xfrm>
          <a:prstGeom prst="rect">
            <a:avLst/>
          </a:prstGeom>
          <a:noFill/>
          <a:ln/>
        </p:spPr>
        <p:txBody>
          <a:bodyPr wrap="square" lIns="0" tIns="0" rIns="0" bIns="0" rtlCol="0" anchor="ctr"/>
          <a:lstStyle/>
          <a:p>
            <a:pPr marL="0" indent="0">
              <a:buNone/>
            </a:pPr>
            <a:r>
              <a:rPr lang="en-US" sz="1800" dirty="0">
                <a:solidFill>
                  <a:schemeClr val="tx1"/>
                </a:solidFill>
              </a:rPr>
              <a:t>The package must stay within 50 mm, the tray clearance</a:t>
            </a:r>
            <a:endParaRPr lang="en-US" sz="1800" dirty="0"/>
          </a:p>
        </p:txBody>
      </p:sp>
      <p:sp>
        <p:nvSpPr>
          <p:cNvPr id="10" name="criterio"/>
          <p:cNvSpPr/>
          <p:nvPr/>
        </p:nvSpPr>
        <p:spPr>
          <a:xfrm>
            <a:off x="548640" y="3520440"/>
            <a:ext cx="11094415" cy="1737360"/>
          </a:xfrm>
          <a:prstGeom prst="rect">
            <a:avLst/>
          </a:prstGeom>
          <a:solidFill>
            <a:schemeClr val="bg2"/>
          </a:solidFill>
          <a:ln w="12700">
            <a:solidFill>
              <a:schemeClr val="bg2"/>
            </a:solidFill>
            <a:prstDash val="solid"/>
          </a:ln>
        </p:spPr>
        <p:txBody>
          <a:bodyPr/>
          <a:lstStyle/>
          <a:p>
            <a:endParaRPr lang="it-IT"/>
          </a:p>
        </p:txBody>
      </p:sp>
      <p:sp>
        <p:nvSpPr>
          <p:cNvPr id="11" name="Text 8"/>
          <p:cNvSpPr txBox="1"/>
          <p:nvPr/>
        </p:nvSpPr>
        <p:spPr>
          <a:xfrm>
            <a:off x="822960" y="3657600"/>
            <a:ext cx="10545775" cy="1463040"/>
          </a:xfrm>
          <a:prstGeom prst="rect">
            <a:avLst/>
          </a:prstGeom>
          <a:noFill/>
          <a:ln/>
        </p:spPr>
        <p:txBody>
          <a:bodyPr wrap="square" lIns="0" tIns="0" rIns="0" bIns="0" rtlCol="0" anchor="t"/>
          <a:lstStyle/>
          <a:p>
            <a:pPr marL="0" indent="0">
              <a:spcAft>
                <a:spcPts val="600"/>
              </a:spcAft>
              <a:buNone/>
            </a:pPr>
            <a:r>
              <a:rPr lang="en-US" sz="1700" b="1" dirty="0">
                <a:solidFill>
                  <a:schemeClr val="tx2"/>
                </a:solidFill>
              </a:rPr>
              <a:t>Criterion, declared before the runs</a:t>
            </a:r>
            <a:endParaRPr lang="en-US" sz="1700" dirty="0"/>
          </a:p>
          <a:p>
            <a:pPr marL="0" indent="0">
              <a:spcAft>
                <a:spcPts val="600"/>
              </a:spcAft>
              <a:buNone/>
            </a:pPr>
            <a:r>
              <a:rPr lang="en-US" sz="1700" dirty="0">
                <a:solidFill>
                  <a:schemeClr val="tx1"/>
                </a:solidFill>
              </a:rPr>
              <a:t>1. Task completed: no rollover, drift within threshold, path crossed in full</a:t>
            </a:r>
            <a:endParaRPr lang="en-US" sz="1700" dirty="0"/>
          </a:p>
          <a:p>
            <a:pPr marL="0" indent="0">
              <a:spcAft>
                <a:spcPts val="600"/>
              </a:spcAft>
              <a:buNone/>
            </a:pPr>
            <a:r>
              <a:rPr lang="en-US" sz="1700" dirty="0">
                <a:solidFill>
                  <a:schemeClr val="tx1"/>
                </a:solidFill>
              </a:rPr>
              <a:t>2. Package on the tray: max displacement &lt; 50 mm (clearance); below 20 mm it is still</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chemeClr val="tx2"/>
                </a:solidFill>
              </a:rPr>
              <a:t>C2P versus C3P</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4" cy="3657600"/>
        </p:xfrm>
        <a:graphic>
          <a:graphicData uri="http://schemas.openxmlformats.org/drawingml/2006/table">
            <a:tbl>
              <a:tblPr/>
              <a:tblGrid>
                <a:gridCol w="3227832">
                  <a:extLst>
                    <a:ext uri="{9D8B030D-6E8A-4147-A177-3AD203B41FA5}">
                      <a16:colId xmlns:a16="http://schemas.microsoft.com/office/drawing/2014/main" val="20000"/>
                    </a:ext>
                  </a:extLst>
                </a:gridCol>
                <a:gridCol w="1311097">
                  <a:extLst>
                    <a:ext uri="{9D8B030D-6E8A-4147-A177-3AD203B41FA5}">
                      <a16:colId xmlns:a16="http://schemas.microsoft.com/office/drawing/2014/main" val="20001"/>
                    </a:ext>
                  </a:extLst>
                </a:gridCol>
                <a:gridCol w="1311097">
                  <a:extLst>
                    <a:ext uri="{9D8B030D-6E8A-4147-A177-3AD203B41FA5}">
                      <a16:colId xmlns:a16="http://schemas.microsoft.com/office/drawing/2014/main" val="20002"/>
                    </a:ext>
                  </a:extLst>
                </a:gridCol>
                <a:gridCol w="1311097">
                  <a:extLst>
                    <a:ext uri="{9D8B030D-6E8A-4147-A177-3AD203B41FA5}">
                      <a16:colId xmlns:a16="http://schemas.microsoft.com/office/drawing/2014/main" val="20003"/>
                    </a:ext>
                  </a:extLst>
                </a:gridCol>
                <a:gridCol w="1311097">
                  <a:extLst>
                    <a:ext uri="{9D8B030D-6E8A-4147-A177-3AD203B41FA5}">
                      <a16:colId xmlns:a16="http://schemas.microsoft.com/office/drawing/2014/main" val="20004"/>
                    </a:ext>
                  </a:extLst>
                </a:gridCol>
                <a:gridCol w="1311097">
                  <a:extLst>
                    <a:ext uri="{9D8B030D-6E8A-4147-A177-3AD203B41FA5}">
                      <a16:colId xmlns:a16="http://schemas.microsoft.com/office/drawing/2014/main" val="20005"/>
                    </a:ext>
                  </a:extLst>
                </a:gridCol>
                <a:gridCol w="1311097">
                  <a:extLst>
                    <a:ext uri="{9D8B030D-6E8A-4147-A177-3AD203B41FA5}">
                      <a16:colId xmlns:a16="http://schemas.microsoft.com/office/drawing/2014/main" val="20006"/>
                    </a:ext>
                  </a:extLst>
                </a:gridCol>
              </a:tblGrid>
              <a:tr h="457200">
                <a:tc>
                  <a:txBody>
                    <a:bodyPr/>
                    <a:lstStyle/>
                    <a:p>
                      <a:pPr marL="0" indent="0">
                        <a:buNone/>
                      </a:pP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gridSpan="2">
                  <a:txBody>
                    <a:bodyPr/>
                    <a:lstStyle/>
                    <a:p>
                      <a:pPr marL="0" indent="0" algn="ctr">
                        <a:buNone/>
                      </a:pPr>
                      <a:r>
                        <a:rPr lang="en-US" sz="1500" b="1" dirty="0">
                          <a:solidFill>
                            <a:srgbClr val="FFFFFF"/>
                          </a:solidFill>
                        </a:rPr>
                        <a:t>T4 — ramp</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hMerge="1">
                  <a:txBody>
                    <a:bodyPr/>
                    <a:lstStyle/>
                    <a:p>
                      <a:endParaRPr lang="it-IT"/>
                    </a:p>
                  </a:txBody>
                  <a:tcPr/>
                </a:tc>
                <a:tc gridSpan="2">
                  <a:txBody>
                    <a:bodyPr/>
                    <a:lstStyle/>
                    <a:p>
                      <a:pPr marL="0" indent="0" algn="ctr">
                        <a:buNone/>
                      </a:pPr>
                      <a:r>
                        <a:rPr lang="en-US" sz="1500" b="1" dirty="0">
                          <a:solidFill>
                            <a:srgbClr val="FFFFFF"/>
                          </a:solidFill>
                        </a:rPr>
                        <a:t>T4D — bump</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hMerge="1">
                  <a:txBody>
                    <a:bodyPr/>
                    <a:lstStyle/>
                    <a:p>
                      <a:endParaRPr lang="it-IT"/>
                    </a:p>
                  </a:txBody>
                  <a:tcPr/>
                </a:tc>
                <a:tc gridSpan="2">
                  <a:txBody>
                    <a:bodyPr/>
                    <a:lstStyle/>
                    <a:p>
                      <a:pPr marL="0" indent="0" algn="ctr">
                        <a:buNone/>
                      </a:pPr>
                      <a:r>
                        <a:rPr lang="en-US" sz="1500" b="1" dirty="0">
                          <a:solidFill>
                            <a:srgbClr val="FFFFFF"/>
                          </a:solidFill>
                        </a:rPr>
                        <a:t>T6 — obstacles</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hMerge="1">
                  <a:txBody>
                    <a:bodyPr/>
                    <a:lstStyle/>
                    <a:p>
                      <a:endParaRPr lang="it-IT"/>
                    </a:p>
                  </a:txBody>
                  <a:tcPr/>
                </a:tc>
                <a:extLst>
                  <a:ext uri="{0D108BD9-81ED-4DB2-BD59-A6C34878D82A}">
                    <a16:rowId xmlns:a16="http://schemas.microsoft.com/office/drawing/2014/main" val="10000"/>
                  </a:ext>
                </a:extLst>
              </a:tr>
              <a:tr h="457200">
                <a:tc>
                  <a:txBody>
                    <a:bodyPr/>
                    <a:lstStyle/>
                    <a:p>
                      <a:pPr marL="0" indent="0" algn="ctr">
                        <a:buNone/>
                      </a:pP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marL="0" indent="0" algn="ctr">
                        <a:buNone/>
                      </a:pPr>
                      <a:r>
                        <a:rPr lang="en-US" sz="1500" b="1" dirty="0">
                          <a:solidFill>
                            <a:srgbClr val="FFFFFF"/>
                          </a:solidFill>
                        </a:rPr>
                        <a:t>C2P</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C4581E"/>
                    </a:solidFill>
                  </a:tcPr>
                </a:tc>
                <a:tc>
                  <a:txBody>
                    <a:bodyPr/>
                    <a:lstStyle/>
                    <a:p>
                      <a:pPr marL="0" indent="0" algn="ctr">
                        <a:buNone/>
                      </a:pPr>
                      <a:r>
                        <a:rPr lang="en-US" sz="1500" b="1" dirty="0">
                          <a:solidFill>
                            <a:srgbClr val="FFFFFF"/>
                          </a:solidFill>
                        </a:rPr>
                        <a:t>C3P</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4E7F64"/>
                    </a:solidFill>
                  </a:tcPr>
                </a:tc>
                <a:tc>
                  <a:txBody>
                    <a:bodyPr/>
                    <a:lstStyle/>
                    <a:p>
                      <a:pPr marL="0" indent="0" algn="ctr">
                        <a:buNone/>
                      </a:pPr>
                      <a:r>
                        <a:rPr lang="en-US" sz="1500" b="1" dirty="0">
                          <a:solidFill>
                            <a:srgbClr val="FFFFFF"/>
                          </a:solidFill>
                        </a:rPr>
                        <a:t>C2P</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C4581E"/>
                    </a:solidFill>
                  </a:tcPr>
                </a:tc>
                <a:tc>
                  <a:txBody>
                    <a:bodyPr/>
                    <a:lstStyle/>
                    <a:p>
                      <a:pPr marL="0" indent="0" algn="ctr">
                        <a:buNone/>
                      </a:pPr>
                      <a:r>
                        <a:rPr lang="en-US" sz="1500" b="1" dirty="0">
                          <a:solidFill>
                            <a:srgbClr val="FFFFFF"/>
                          </a:solidFill>
                        </a:rPr>
                        <a:t>C3P</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4E7F64"/>
                    </a:solidFill>
                  </a:tcPr>
                </a:tc>
                <a:tc>
                  <a:txBody>
                    <a:bodyPr/>
                    <a:lstStyle/>
                    <a:p>
                      <a:pPr marL="0" indent="0" algn="ctr">
                        <a:buNone/>
                      </a:pPr>
                      <a:r>
                        <a:rPr lang="en-US" sz="1500" b="1" dirty="0">
                          <a:solidFill>
                            <a:srgbClr val="FFFFFF"/>
                          </a:solidFill>
                        </a:rPr>
                        <a:t>C2P</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C4581E"/>
                    </a:solidFill>
                  </a:tcPr>
                </a:tc>
                <a:tc>
                  <a:txBody>
                    <a:bodyPr/>
                    <a:lstStyle/>
                    <a:p>
                      <a:pPr marL="0" indent="0" algn="ctr">
                        <a:buNone/>
                      </a:pPr>
                      <a:r>
                        <a:rPr lang="en-US" sz="1500" b="1" dirty="0">
                          <a:solidFill>
                            <a:srgbClr val="FFFFFF"/>
                          </a:solidFill>
                        </a:rPr>
                        <a:t>C3P</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4E7F64"/>
                    </a:solidFill>
                  </a:tcPr>
                </a:tc>
                <a:extLst>
                  <a:ext uri="{0D108BD9-81ED-4DB2-BD59-A6C34878D82A}">
                    <a16:rowId xmlns:a16="http://schemas.microsoft.com/office/drawing/2014/main" val="10001"/>
                  </a:ext>
                </a:extLst>
              </a:tr>
              <a:tr h="457200">
                <a:tc>
                  <a:txBody>
                    <a:bodyPr/>
                    <a:lstStyle/>
                    <a:p>
                      <a:pPr marL="0" indent="0">
                        <a:buNone/>
                      </a:pPr>
                      <a:r>
                        <a:rPr lang="en-US" sz="1500" b="1" dirty="0">
                          <a:solidFill>
                            <a:srgbClr val="1F2A30"/>
                          </a:solidFill>
                        </a:rPr>
                        <a:t>distance travelled [m]</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2.39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2.35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3.70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3.71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3.67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3.72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500" b="1" dirty="0">
                          <a:solidFill>
                            <a:srgbClr val="1F2A30"/>
                          </a:solidFill>
                        </a:rPr>
                        <a:t>max pitch [deg]</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12.60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b="1" dirty="0">
                          <a:solidFill>
                            <a:srgbClr val="1F3A45"/>
                          </a:solidFill>
                        </a:rPr>
                        <a:t>1.33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12.15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b="1" dirty="0">
                          <a:solidFill>
                            <a:srgbClr val="1F3A45"/>
                          </a:solidFill>
                        </a:rPr>
                        <a:t>1.68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12.77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b="1" dirty="0">
                          <a:solidFill>
                            <a:srgbClr val="1F3A45"/>
                          </a:solidFill>
                        </a:rPr>
                        <a:t>3.53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500" b="1" dirty="0">
                          <a:solidFill>
                            <a:srgbClr val="1F2A30"/>
                          </a:solidFill>
                        </a:rPr>
                        <a:t>max roll [deg]</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1.00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0.44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1.47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0.45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11.13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b="1" dirty="0">
                          <a:solidFill>
                            <a:srgbClr val="1F3A45"/>
                          </a:solidFill>
                        </a:rPr>
                        <a:t>2.07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500" b="1" dirty="0">
                          <a:solidFill>
                            <a:srgbClr val="1F2A30"/>
                          </a:solidFill>
                        </a:rPr>
                        <a:t>RMS torque, worst joint [N·m]</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0.963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1.004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1.028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0.956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0.999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0.989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500" b="1" dirty="0">
                          <a:solidFill>
                            <a:srgbClr val="1F2A30"/>
                          </a:solidFill>
                        </a:rPr>
                        <a:t>max package displacement [mm]</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b="1" dirty="0">
                          <a:solidFill>
                            <a:srgbClr val="1F3A45"/>
                          </a:solidFill>
                        </a:rPr>
                        <a:t>19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b="1" dirty="0">
                          <a:solidFill>
                            <a:srgbClr val="1F3A45"/>
                          </a:solidFill>
                        </a:rPr>
                        <a:t>14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b="1" dirty="0">
                          <a:solidFill>
                            <a:srgbClr val="1F3A45"/>
                          </a:solidFill>
                        </a:rPr>
                        <a:t>20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6"/>
                  </a:ext>
                </a:extLst>
              </a:tr>
              <a:tr h="457200">
                <a:tc>
                  <a:txBody>
                    <a:bodyPr/>
                    <a:lstStyle/>
                    <a:p>
                      <a:pPr marL="0" indent="0">
                        <a:buNone/>
                      </a:pPr>
                      <a:r>
                        <a:rPr lang="en-US" sz="1500" b="1" dirty="0">
                          <a:solidFill>
                            <a:srgbClr val="1F2A30"/>
                          </a:solidFill>
                        </a:rPr>
                        <a:t>package outcome</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fallen</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b="1" dirty="0">
                          <a:solidFill>
                            <a:srgbClr val="1F3A45"/>
                          </a:solidFill>
                        </a:rPr>
                        <a:t>stays</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at the limit</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b="1" dirty="0">
                          <a:solidFill>
                            <a:srgbClr val="1F3A45"/>
                          </a:solidFill>
                        </a:rPr>
                        <a:t>stays</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dirty="0">
                          <a:solidFill>
                            <a:srgbClr val="1F2A30"/>
                          </a:solidFill>
                        </a:rPr>
                        <a:t>at the limit</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marL="0" indent="0" algn="ctr">
                        <a:buNone/>
                      </a:pPr>
                      <a:r>
                        <a:rPr lang="en-US" sz="1500" b="1" dirty="0">
                          <a:solidFill>
                            <a:srgbClr val="1F3A45"/>
                          </a:solidFill>
                        </a:rPr>
                        <a:t>stays</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1"/>
          <p:cNvSpPr txBox="1"/>
          <p:nvPr/>
        </p:nvSpPr>
        <p:spPr>
          <a:xfrm>
            <a:off x="548640" y="5120640"/>
            <a:ext cx="11094415" cy="548640"/>
          </a:xfrm>
          <a:prstGeom prst="rect">
            <a:avLst/>
          </a:prstGeom>
          <a:noFill/>
          <a:ln/>
        </p:spPr>
        <p:txBody>
          <a:bodyPr wrap="square" lIns="0" tIns="0" rIns="0" bIns="0" rtlCol="0" anchor="ctr"/>
          <a:lstStyle/>
          <a:p>
            <a:pPr marL="0" indent="0">
              <a:buNone/>
            </a:pPr>
            <a:r>
              <a:rPr lang="en-US" sz="1600" b="1" dirty="0">
                <a:solidFill>
                  <a:schemeClr val="tx2"/>
                </a:solidFill>
              </a:rPr>
              <a:t>Same locomotion (distance within 2%, same torque): only the fate of the package changes.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chemeClr val="tx2"/>
                </a:solidFill>
              </a:rPr>
              <a:t>The package on the ramp (T4)</a:t>
            </a:r>
            <a:endParaRPr lang="en-US" sz="3000" dirty="0"/>
          </a:p>
        </p:txBody>
      </p:sp>
      <p:sp>
        <p:nvSpPr>
          <p:cNvPr id="6" name="Text 3"/>
          <p:cNvSpPr txBox="1"/>
          <p:nvPr/>
        </p:nvSpPr>
        <p:spPr>
          <a:xfrm>
            <a:off x="548640" y="5623560"/>
            <a:ext cx="11094415" cy="548640"/>
          </a:xfrm>
          <a:prstGeom prst="rect">
            <a:avLst/>
          </a:prstGeom>
          <a:noFill/>
          <a:ln/>
        </p:spPr>
        <p:txBody>
          <a:bodyPr wrap="square" lIns="0" tIns="0" rIns="0" bIns="0" rtlCol="0" anchor="ctr"/>
          <a:lstStyle/>
          <a:p>
            <a:pPr marL="0" indent="0">
              <a:buNone/>
            </a:pPr>
            <a:r>
              <a:rPr lang="en-US" sz="1600" b="1" dirty="0">
                <a:solidFill>
                  <a:schemeClr val="tx2"/>
                </a:solidFill>
              </a:rPr>
              <a:t>C2P exceeds the clearance at 8.4 s and never returns: the cube falls. C3P stays below 20 mm.</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28</a:t>
            </a:fld>
            <a:endParaRPr lang="en-US"/>
          </a:p>
        </p:txBody>
      </p:sp>
      <p:pic>
        <p:nvPicPr>
          <p:cNvPr id="7" name="Immagine 6">
            <a:extLst>
              <a:ext uri="{FF2B5EF4-FFF2-40B4-BE49-F238E27FC236}">
                <a16:creationId xmlns:a16="http://schemas.microsoft.com/office/drawing/2014/main" id="{D6452D19-02C5-9B5D-D49D-992FCC357A84}"/>
              </a:ext>
            </a:extLst>
          </p:cNvPr>
          <p:cNvPicPr>
            <a:picLocks noChangeAspect="1"/>
          </p:cNvPicPr>
          <p:nvPr/>
        </p:nvPicPr>
        <p:blipFill>
          <a:blip r:embed="rId3"/>
          <a:stretch>
            <a:fillRect/>
          </a:stretch>
        </p:blipFill>
        <p:spPr>
          <a:xfrm>
            <a:off x="1270603" y="1226479"/>
            <a:ext cx="9650488" cy="4168481"/>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chemeClr val="tx2"/>
                </a:solidFill>
              </a:rPr>
              <a:t>The package on the obstacle course (T6)</a:t>
            </a:r>
            <a:endParaRPr lang="en-US" sz="3000" dirty="0"/>
          </a:p>
        </p:txBody>
      </p:sp>
      <p:sp>
        <p:nvSpPr>
          <p:cNvPr id="6" name="Text 3"/>
          <p:cNvSpPr txBox="1"/>
          <p:nvPr/>
        </p:nvSpPr>
        <p:spPr>
          <a:xfrm>
            <a:off x="548640" y="5623560"/>
            <a:ext cx="11094415" cy="548640"/>
          </a:xfrm>
          <a:prstGeom prst="rect">
            <a:avLst/>
          </a:prstGeom>
          <a:noFill/>
          <a:ln/>
        </p:spPr>
        <p:txBody>
          <a:bodyPr wrap="square" lIns="0" tIns="0" rIns="0" bIns="0" rtlCol="0" anchor="ctr"/>
          <a:lstStyle/>
          <a:p>
            <a:pPr marL="0" indent="0">
              <a:buNone/>
            </a:pPr>
            <a:r>
              <a:rPr lang="en-US" sz="1600" b="1" dirty="0">
                <a:solidFill>
                  <a:schemeClr val="tx2"/>
                </a:solidFill>
              </a:rPr>
              <a:t>C2P goes out and back a few times and ends at 91 mm: not delivered. C3P never reaches the threshold.</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29</a:t>
            </a:fld>
            <a:endParaRPr lang="en-US"/>
          </a:p>
        </p:txBody>
      </p:sp>
      <p:pic>
        <p:nvPicPr>
          <p:cNvPr id="7" name="Immagine 6">
            <a:extLst>
              <a:ext uri="{FF2B5EF4-FFF2-40B4-BE49-F238E27FC236}">
                <a16:creationId xmlns:a16="http://schemas.microsoft.com/office/drawing/2014/main" id="{8C53D287-AEF6-260A-D208-B0842060DEEA}"/>
              </a:ext>
            </a:extLst>
          </p:cNvPr>
          <p:cNvPicPr>
            <a:picLocks noChangeAspect="1"/>
          </p:cNvPicPr>
          <p:nvPr/>
        </p:nvPicPr>
        <p:blipFill>
          <a:blip r:embed="rId3"/>
          <a:stretch>
            <a:fillRect/>
          </a:stretch>
        </p:blipFill>
        <p:spPr>
          <a:xfrm>
            <a:off x="1346199" y="1365806"/>
            <a:ext cx="9499601" cy="412638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chemeClr val="tx2"/>
                </a:solidFill>
              </a:rPr>
              <a:t>Transport in simulation</a:t>
            </a:r>
            <a:endParaRPr lang="en-US" sz="3000" dirty="0"/>
          </a:p>
        </p:txBody>
      </p:sp>
      <p:sp>
        <p:nvSpPr>
          <p:cNvPr id="4" name="VIDEO T4 with package: C2P and C3P side by side"/>
          <p:cNvSpPr/>
          <p:nvPr/>
        </p:nvSpPr>
        <p:spPr>
          <a:xfrm>
            <a:off x="548640" y="1280160"/>
            <a:ext cx="11094415" cy="4206240"/>
          </a:xfrm>
          <a:prstGeom prst="roundRect">
            <a:avLst>
              <a:gd name="adj" fmla="val 1739"/>
            </a:avLst>
          </a:prstGeom>
          <a:solidFill>
            <a:srgbClr val="FBEFE8"/>
          </a:solidFill>
          <a:ln w="15875">
            <a:solidFill>
              <a:srgbClr val="C4581E"/>
            </a:solidFill>
            <a:prstDash val="dash"/>
          </a:ln>
        </p:spPr>
        <p:txBody>
          <a:bodyPr/>
          <a:lstStyle/>
          <a:p>
            <a:endParaRPr lang="it-IT"/>
          </a:p>
        </p:txBody>
      </p:sp>
      <p:sp>
        <p:nvSpPr>
          <p:cNvPr id="5" name="Text 2"/>
          <p:cNvSpPr txBox="1"/>
          <p:nvPr/>
        </p:nvSpPr>
        <p:spPr>
          <a:xfrm>
            <a:off x="685800" y="1371600"/>
            <a:ext cx="10820095" cy="4023360"/>
          </a:xfrm>
          <a:prstGeom prst="rect">
            <a:avLst/>
          </a:prstGeom>
          <a:noFill/>
          <a:ln/>
        </p:spPr>
        <p:txBody>
          <a:bodyPr wrap="square" lIns="0" tIns="0" rIns="0" bIns="0" rtlCol="0" anchor="ctr"/>
          <a:lstStyle/>
          <a:p>
            <a:pPr marL="0" indent="0" algn="ctr">
              <a:buNone/>
            </a:pPr>
            <a:r>
              <a:rPr lang="en-US" sz="1600" b="1" dirty="0">
                <a:solidFill>
                  <a:schemeClr val="accent1"/>
                </a:solidFill>
              </a:rPr>
              <a:t>▶  VIDEO</a:t>
            </a:r>
            <a:endParaRPr lang="en-US" sz="1500" dirty="0"/>
          </a:p>
          <a:p>
            <a:pPr marL="0" indent="0" algn="ctr">
              <a:buNone/>
            </a:pPr>
            <a:r>
              <a:rPr lang="en-US" sz="1300" i="1" dirty="0">
                <a:solidFill>
                  <a:schemeClr val="accent3"/>
                </a:solidFill>
              </a:rPr>
              <a:t>T4 with package: C2P and C3P side by side</a:t>
            </a:r>
            <a:endParaRPr lang="en-US" sz="1500" dirty="0"/>
          </a:p>
        </p:txBody>
      </p:sp>
      <p:sp>
        <p:nvSpPr>
          <p:cNvPr id="6" name="Text 3"/>
          <p:cNvSpPr txBox="1"/>
          <p:nvPr/>
        </p:nvSpPr>
        <p:spPr>
          <a:xfrm>
            <a:off x="548640" y="5623560"/>
            <a:ext cx="11094415" cy="548640"/>
          </a:xfrm>
          <a:prstGeom prst="rect">
            <a:avLst/>
          </a:prstGeom>
          <a:noFill/>
          <a:ln/>
        </p:spPr>
        <p:txBody>
          <a:bodyPr wrap="square" lIns="0" tIns="0" rIns="0" bIns="0" rtlCol="0" anchor="ctr"/>
          <a:lstStyle/>
          <a:p>
            <a:pPr marL="0" indent="0">
              <a:buNone/>
            </a:pPr>
            <a:r>
              <a:rPr lang="en-US" sz="1600" b="1" dirty="0">
                <a:solidFill>
                  <a:schemeClr val="tx2"/>
                </a:solidFill>
              </a:rPr>
              <a:t>Twelve degrees of pitch are enough to make the cube walk to the edge.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chemeClr val="tx2"/>
                </a:solidFill>
              </a:rPr>
              <a:t>Stability: the ZMP confirms the static assumption</a:t>
            </a:r>
            <a:endParaRPr lang="en-US" sz="3000" dirty="0"/>
          </a:p>
        </p:txBody>
      </p:sp>
      <p:sp>
        <p:nvSpPr>
          <p:cNvPr id="6" name="Text 3"/>
          <p:cNvSpPr txBox="1"/>
          <p:nvPr/>
        </p:nvSpPr>
        <p:spPr>
          <a:xfrm>
            <a:off x="9006840" y="1280160"/>
            <a:ext cx="2633472" cy="685800"/>
          </a:xfrm>
          <a:prstGeom prst="rect">
            <a:avLst/>
          </a:prstGeom>
          <a:noFill/>
          <a:ln/>
        </p:spPr>
        <p:txBody>
          <a:bodyPr wrap="square" lIns="0" tIns="0" rIns="0" bIns="0" rtlCol="0" anchor="t"/>
          <a:lstStyle/>
          <a:p>
            <a:pPr marL="0" indent="0">
              <a:buNone/>
            </a:pPr>
            <a:r>
              <a:rPr lang="en-US" sz="3000" b="1" dirty="0">
                <a:solidFill>
                  <a:schemeClr val="accent2"/>
                </a:solidFill>
                <a:latin typeface="Cambria" pitchFamily="34" charset="0"/>
                <a:ea typeface="Cambria" pitchFamily="34" charset="-122"/>
                <a:cs typeface="Cambria" pitchFamily="34" charset="-120"/>
              </a:rPr>
              <a:t>0</a:t>
            </a:r>
            <a:endParaRPr lang="en-US" sz="3000" dirty="0"/>
          </a:p>
        </p:txBody>
      </p:sp>
      <p:sp>
        <p:nvSpPr>
          <p:cNvPr id="7" name="Text 4"/>
          <p:cNvSpPr txBox="1"/>
          <p:nvPr/>
        </p:nvSpPr>
        <p:spPr>
          <a:xfrm>
            <a:off x="9006840" y="1993392"/>
            <a:ext cx="2633472" cy="548640"/>
          </a:xfrm>
          <a:prstGeom prst="rect">
            <a:avLst/>
          </a:prstGeom>
          <a:noFill/>
          <a:ln/>
        </p:spPr>
        <p:txBody>
          <a:bodyPr wrap="square" lIns="0" tIns="0" rIns="0" bIns="0" rtlCol="0" anchor="t"/>
          <a:lstStyle/>
          <a:p>
            <a:pPr marL="0" indent="0">
              <a:buNone/>
            </a:pPr>
            <a:r>
              <a:rPr lang="en-US" sz="1300" dirty="0">
                <a:solidFill>
                  <a:schemeClr val="tx1"/>
                </a:solidFill>
              </a:rPr>
              <a:t>samples with negative margin</a:t>
            </a:r>
            <a:endParaRPr lang="en-US" sz="1300" dirty="0"/>
          </a:p>
        </p:txBody>
      </p:sp>
      <p:sp>
        <p:nvSpPr>
          <p:cNvPr id="8" name="Text 5"/>
          <p:cNvSpPr txBox="1"/>
          <p:nvPr/>
        </p:nvSpPr>
        <p:spPr>
          <a:xfrm>
            <a:off x="9006840" y="2697480"/>
            <a:ext cx="2633472" cy="685800"/>
          </a:xfrm>
          <a:prstGeom prst="rect">
            <a:avLst/>
          </a:prstGeom>
          <a:noFill/>
          <a:ln/>
        </p:spPr>
        <p:txBody>
          <a:bodyPr wrap="square" lIns="0" tIns="0" rIns="0" bIns="0" rtlCol="0" anchor="t"/>
          <a:lstStyle/>
          <a:p>
            <a:pPr marL="0" indent="0">
              <a:buNone/>
            </a:pPr>
            <a:r>
              <a:rPr lang="en-US" sz="3000" b="1" dirty="0">
                <a:solidFill>
                  <a:schemeClr val="accent1"/>
                </a:solidFill>
                <a:latin typeface="Cambria" pitchFamily="34" charset="0"/>
                <a:ea typeface="Cambria" pitchFamily="34" charset="-122"/>
                <a:cs typeface="Cambria" pitchFamily="34" charset="-120"/>
              </a:rPr>
              <a:t>0.115 m</a:t>
            </a:r>
            <a:endParaRPr lang="en-US" sz="3000" dirty="0"/>
          </a:p>
        </p:txBody>
      </p:sp>
      <p:sp>
        <p:nvSpPr>
          <p:cNvPr id="9" name="Text 6"/>
          <p:cNvSpPr txBox="1"/>
          <p:nvPr/>
        </p:nvSpPr>
        <p:spPr>
          <a:xfrm>
            <a:off x="9006840" y="3410712"/>
            <a:ext cx="2633472" cy="548640"/>
          </a:xfrm>
          <a:prstGeom prst="rect">
            <a:avLst/>
          </a:prstGeom>
          <a:noFill/>
          <a:ln/>
        </p:spPr>
        <p:txBody>
          <a:bodyPr wrap="square" lIns="0" tIns="0" rIns="0" bIns="0" rtlCol="0" anchor="t"/>
          <a:lstStyle/>
          <a:p>
            <a:pPr marL="0" indent="0">
              <a:buNone/>
            </a:pPr>
            <a:r>
              <a:rPr lang="en-US" sz="1300" dirty="0">
                <a:solidFill>
                  <a:schemeClr val="tx1"/>
                </a:solidFill>
              </a:rPr>
              <a:t>median margin, versus 0.118 m predicted by geometry</a:t>
            </a:r>
            <a:endParaRPr lang="en-US" sz="1300" dirty="0"/>
          </a:p>
        </p:txBody>
      </p:sp>
      <p:sp>
        <p:nvSpPr>
          <p:cNvPr id="10" name="Text 7"/>
          <p:cNvSpPr txBox="1"/>
          <p:nvPr/>
        </p:nvSpPr>
        <p:spPr>
          <a:xfrm>
            <a:off x="9006840" y="4114800"/>
            <a:ext cx="2633472" cy="685800"/>
          </a:xfrm>
          <a:prstGeom prst="rect">
            <a:avLst/>
          </a:prstGeom>
          <a:noFill/>
          <a:ln/>
        </p:spPr>
        <p:txBody>
          <a:bodyPr wrap="square" lIns="0" tIns="0" rIns="0" bIns="0" rtlCol="0" anchor="t"/>
          <a:lstStyle/>
          <a:p>
            <a:pPr marL="0" indent="0">
              <a:buNone/>
            </a:pPr>
            <a:r>
              <a:rPr lang="en-US" sz="3000" b="1" dirty="0">
                <a:solidFill>
                  <a:schemeClr val="accent3"/>
                </a:solidFill>
                <a:latin typeface="Cambria" pitchFamily="34" charset="0"/>
                <a:ea typeface="Cambria" pitchFamily="34" charset="-122"/>
                <a:cs typeface="Cambria" pitchFamily="34" charset="-120"/>
              </a:rPr>
              <a:t>90%</a:t>
            </a:r>
            <a:endParaRPr lang="en-US" sz="3000" dirty="0"/>
          </a:p>
        </p:txBody>
      </p:sp>
      <p:sp>
        <p:nvSpPr>
          <p:cNvPr id="11" name="Text 8"/>
          <p:cNvSpPr txBox="1"/>
          <p:nvPr/>
        </p:nvSpPr>
        <p:spPr>
          <a:xfrm>
            <a:off x="9006840" y="4828032"/>
            <a:ext cx="2633472" cy="548640"/>
          </a:xfrm>
          <a:prstGeom prst="rect">
            <a:avLst/>
          </a:prstGeom>
          <a:noFill/>
          <a:ln/>
        </p:spPr>
        <p:txBody>
          <a:bodyPr wrap="square" lIns="0" tIns="0" rIns="0" bIns="0" rtlCol="0" anchor="t"/>
          <a:lstStyle/>
          <a:p>
            <a:pPr marL="0" indent="0">
              <a:buNone/>
            </a:pPr>
            <a:r>
              <a:rPr lang="en-US" sz="1300" dirty="0">
                <a:solidFill>
                  <a:schemeClr val="tx1"/>
                </a:solidFill>
              </a:rPr>
              <a:t>of the time with a computable margin</a:t>
            </a:r>
            <a:endParaRPr lang="en-US" sz="1300" dirty="0"/>
          </a:p>
        </p:txBody>
      </p:sp>
      <p:sp>
        <p:nvSpPr>
          <p:cNvPr id="12" name="Text 9"/>
          <p:cNvSpPr txBox="1"/>
          <p:nvPr/>
        </p:nvSpPr>
        <p:spPr>
          <a:xfrm>
            <a:off x="548640" y="5331968"/>
            <a:ext cx="11094415" cy="731520"/>
          </a:xfrm>
          <a:prstGeom prst="rect">
            <a:avLst/>
          </a:prstGeom>
          <a:noFill/>
          <a:ln/>
        </p:spPr>
        <p:txBody>
          <a:bodyPr wrap="square" lIns="0" tIns="0" rIns="0" bIns="0" rtlCol="0" anchor="t"/>
          <a:lstStyle/>
          <a:p>
            <a:pPr marL="0" indent="0">
              <a:buNone/>
            </a:pPr>
            <a:r>
              <a:rPr lang="en-US" sz="1500" dirty="0">
                <a:solidFill>
                  <a:schemeClr val="tx2"/>
                </a:solidFill>
              </a:rPr>
              <a:t>Not computable = fewer than three feet above Fmin = 2 N, only at the tripod switch: a limit of the measurement, not a loss of support.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31</a:t>
            </a:fld>
            <a:endParaRPr lang="en-US"/>
          </a:p>
        </p:txBody>
      </p:sp>
      <p:pic>
        <p:nvPicPr>
          <p:cNvPr id="15" name="Immagine 14">
            <a:extLst>
              <a:ext uri="{FF2B5EF4-FFF2-40B4-BE49-F238E27FC236}">
                <a16:creationId xmlns:a16="http://schemas.microsoft.com/office/drawing/2014/main" id="{84B1FB66-AA81-D08C-9698-13F91D55A9FC}"/>
              </a:ext>
            </a:extLst>
          </p:cNvPr>
          <p:cNvPicPr>
            <a:picLocks noChangeAspect="1"/>
          </p:cNvPicPr>
          <p:nvPr/>
        </p:nvPicPr>
        <p:blipFill>
          <a:blip r:embed="rId3"/>
          <a:stretch>
            <a:fillRect/>
          </a:stretch>
        </p:blipFill>
        <p:spPr>
          <a:xfrm>
            <a:off x="548639" y="1277112"/>
            <a:ext cx="8062925" cy="339648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822960" y="548640"/>
            <a:ext cx="10515600" cy="822960"/>
          </a:xfrm>
          <a:prstGeom prst="rect">
            <a:avLst/>
          </a:prstGeom>
          <a:noFill/>
          <a:ln/>
        </p:spPr>
        <p:txBody>
          <a:bodyPr wrap="square" lIns="0" tIns="0" rIns="0" bIns="0" rtlCol="0" anchor="ctr"/>
          <a:lstStyle/>
          <a:p>
            <a:pPr marL="0" indent="0">
              <a:buNone/>
            </a:pPr>
            <a:r>
              <a:rPr lang="en-US" sz="4000" b="1" dirty="0">
                <a:solidFill>
                  <a:schemeClr val="bg1"/>
                </a:solidFill>
                <a:latin typeface="Cambria" pitchFamily="34" charset="0"/>
                <a:ea typeface="Cambria" pitchFamily="34" charset="-122"/>
                <a:cs typeface="Cambria" pitchFamily="34" charset="-120"/>
              </a:rPr>
              <a:t>Conclusions</a:t>
            </a:r>
            <a:endParaRPr lang="en-US" sz="4000" dirty="0"/>
          </a:p>
        </p:txBody>
      </p:sp>
      <p:sp>
        <p:nvSpPr>
          <p:cNvPr id="3" name="concl 0"/>
          <p:cNvSpPr/>
          <p:nvPr/>
        </p:nvSpPr>
        <p:spPr>
          <a:xfrm>
            <a:off x="822960" y="1737360"/>
            <a:ext cx="3337560" cy="3108960"/>
          </a:xfrm>
          <a:prstGeom prst="rect">
            <a:avLst/>
          </a:prstGeom>
          <a:solidFill>
            <a:srgbClr val="2A4C59"/>
          </a:solidFill>
          <a:ln w="12700">
            <a:solidFill>
              <a:srgbClr val="2A4C59"/>
            </a:solidFill>
            <a:prstDash val="solid"/>
          </a:ln>
        </p:spPr>
        <p:txBody>
          <a:bodyPr/>
          <a:lstStyle/>
          <a:p>
            <a:endParaRPr lang="it-IT"/>
          </a:p>
        </p:txBody>
      </p:sp>
      <p:sp>
        <p:nvSpPr>
          <p:cNvPr id="4" name="Text 2"/>
          <p:cNvSpPr txBox="1"/>
          <p:nvPr/>
        </p:nvSpPr>
        <p:spPr>
          <a:xfrm>
            <a:off x="1097280" y="1965960"/>
            <a:ext cx="2788920" cy="457200"/>
          </a:xfrm>
          <a:prstGeom prst="rect">
            <a:avLst/>
          </a:prstGeom>
          <a:noFill/>
          <a:ln/>
        </p:spPr>
        <p:txBody>
          <a:bodyPr wrap="square" lIns="0" tIns="0" rIns="0" bIns="0" rtlCol="0" anchor="t"/>
          <a:lstStyle/>
          <a:p>
            <a:pPr marL="0" indent="0">
              <a:buNone/>
            </a:pPr>
            <a:r>
              <a:rPr lang="en-US" sz="1900" b="1" dirty="0">
                <a:solidFill>
                  <a:srgbClr val="E88B5A"/>
                </a:solidFill>
                <a:latin typeface="Cambria" pitchFamily="34" charset="0"/>
                <a:ea typeface="Cambria" pitchFamily="34" charset="-122"/>
                <a:cs typeface="Cambria" pitchFamily="34" charset="-120"/>
              </a:rPr>
              <a:t>Terrain search</a:t>
            </a:r>
            <a:endParaRPr lang="en-US" sz="1900" dirty="0"/>
          </a:p>
        </p:txBody>
      </p:sp>
      <p:sp>
        <p:nvSpPr>
          <p:cNvPr id="5" name="Text 3"/>
          <p:cNvSpPr txBox="1"/>
          <p:nvPr/>
        </p:nvSpPr>
        <p:spPr>
          <a:xfrm>
            <a:off x="1097280" y="2560320"/>
            <a:ext cx="2788920" cy="2103120"/>
          </a:xfrm>
          <a:prstGeom prst="rect">
            <a:avLst/>
          </a:prstGeom>
          <a:noFill/>
          <a:ln/>
        </p:spPr>
        <p:txBody>
          <a:bodyPr wrap="square" lIns="0" tIns="0" rIns="0" bIns="0" rtlCol="0" anchor="t"/>
          <a:lstStyle/>
          <a:p>
            <a:pPr marL="0" indent="0">
              <a:buNone/>
            </a:pPr>
            <a:r>
              <a:rPr lang="en-US" sz="1600" dirty="0">
                <a:solidFill>
                  <a:schemeClr val="bg1"/>
                </a:solidFill>
              </a:rPr>
              <a:t>Cost on known terrain (pitch +219–279%), benefit on discontinuities (cost of transport −7/−10%).</a:t>
            </a:r>
            <a:endParaRPr lang="en-US" sz="1600" dirty="0"/>
          </a:p>
        </p:txBody>
      </p:sp>
      <p:sp>
        <p:nvSpPr>
          <p:cNvPr id="6" name="concl 1"/>
          <p:cNvSpPr/>
          <p:nvPr/>
        </p:nvSpPr>
        <p:spPr>
          <a:xfrm>
            <a:off x="4434840" y="1737360"/>
            <a:ext cx="3337560" cy="3108960"/>
          </a:xfrm>
          <a:prstGeom prst="rect">
            <a:avLst/>
          </a:prstGeom>
          <a:solidFill>
            <a:srgbClr val="2A4C59"/>
          </a:solidFill>
          <a:ln w="12700">
            <a:solidFill>
              <a:srgbClr val="2A4C59"/>
            </a:solidFill>
            <a:prstDash val="solid"/>
          </a:ln>
        </p:spPr>
        <p:txBody>
          <a:bodyPr/>
          <a:lstStyle/>
          <a:p>
            <a:endParaRPr lang="it-IT"/>
          </a:p>
        </p:txBody>
      </p:sp>
      <p:sp>
        <p:nvSpPr>
          <p:cNvPr id="7" name="Text 5"/>
          <p:cNvSpPr txBox="1"/>
          <p:nvPr/>
        </p:nvSpPr>
        <p:spPr>
          <a:xfrm>
            <a:off x="4709160" y="1965960"/>
            <a:ext cx="2788920" cy="457200"/>
          </a:xfrm>
          <a:prstGeom prst="rect">
            <a:avLst/>
          </a:prstGeom>
          <a:noFill/>
          <a:ln/>
        </p:spPr>
        <p:txBody>
          <a:bodyPr wrap="square" lIns="0" tIns="0" rIns="0" bIns="0" rtlCol="0" anchor="t"/>
          <a:lstStyle/>
          <a:p>
            <a:pPr marL="0" indent="0">
              <a:buNone/>
            </a:pPr>
            <a:r>
              <a:rPr lang="en-US" sz="1900" b="1" dirty="0">
                <a:solidFill>
                  <a:srgbClr val="8FC1A4"/>
                </a:solidFill>
                <a:latin typeface="Cambria" pitchFamily="34" charset="0"/>
                <a:ea typeface="Cambria" pitchFamily="34" charset="-122"/>
                <a:cs typeface="Cambria" pitchFamily="34" charset="-120"/>
              </a:rPr>
              <a:t>Attitude loop</a:t>
            </a:r>
            <a:endParaRPr lang="en-US" sz="1900" dirty="0"/>
          </a:p>
        </p:txBody>
      </p:sp>
      <p:sp>
        <p:nvSpPr>
          <p:cNvPr id="8" name="Text 6"/>
          <p:cNvSpPr txBox="1"/>
          <p:nvPr/>
        </p:nvSpPr>
        <p:spPr>
          <a:xfrm>
            <a:off x="4709160" y="2560320"/>
            <a:ext cx="2788920" cy="2103120"/>
          </a:xfrm>
          <a:prstGeom prst="rect">
            <a:avLst/>
          </a:prstGeom>
          <a:noFill/>
          <a:ln/>
        </p:spPr>
        <p:txBody>
          <a:bodyPr wrap="square" lIns="0" tIns="0" rIns="0" bIns="0" rtlCol="0" anchor="t"/>
          <a:lstStyle/>
          <a:p>
            <a:pPr marL="0" indent="0">
              <a:buNone/>
            </a:pPr>
            <a:r>
              <a:rPr lang="en-US" sz="1600" dirty="0">
                <a:solidFill>
                  <a:schemeClr val="bg1"/>
                </a:solidFill>
              </a:rPr>
              <a:t>Pitch −73/−82% on every task, +28–40% energy. With a load, it makes transport possible.</a:t>
            </a:r>
            <a:endParaRPr lang="en-US" sz="1600" dirty="0"/>
          </a:p>
        </p:txBody>
      </p:sp>
      <p:sp>
        <p:nvSpPr>
          <p:cNvPr id="9" name="concl 2"/>
          <p:cNvSpPr/>
          <p:nvPr/>
        </p:nvSpPr>
        <p:spPr>
          <a:xfrm>
            <a:off x="8046720" y="1737360"/>
            <a:ext cx="3337560" cy="3108960"/>
          </a:xfrm>
          <a:prstGeom prst="rect">
            <a:avLst/>
          </a:prstGeom>
          <a:solidFill>
            <a:srgbClr val="2A4C59"/>
          </a:solidFill>
          <a:ln w="12700">
            <a:solidFill>
              <a:srgbClr val="2A4C59"/>
            </a:solidFill>
            <a:prstDash val="solid"/>
          </a:ln>
        </p:spPr>
        <p:txBody>
          <a:bodyPr/>
          <a:lstStyle/>
          <a:p>
            <a:endParaRPr lang="it-IT"/>
          </a:p>
        </p:txBody>
      </p:sp>
      <p:sp>
        <p:nvSpPr>
          <p:cNvPr id="10" name="Text 8"/>
          <p:cNvSpPr txBox="1"/>
          <p:nvPr/>
        </p:nvSpPr>
        <p:spPr>
          <a:xfrm>
            <a:off x="8321040" y="1965960"/>
            <a:ext cx="2788920" cy="457200"/>
          </a:xfrm>
          <a:prstGeom prst="rect">
            <a:avLst/>
          </a:prstGeom>
          <a:noFill/>
          <a:ln/>
        </p:spPr>
        <p:txBody>
          <a:bodyPr wrap="square" lIns="0" tIns="0" rIns="0" bIns="0" rtlCol="0" anchor="t"/>
          <a:lstStyle/>
          <a:p>
            <a:pPr marL="0" indent="0">
              <a:buNone/>
            </a:pPr>
            <a:r>
              <a:rPr lang="en-US" sz="1900" b="1" dirty="0">
                <a:solidFill>
                  <a:srgbClr val="C9D4D8"/>
                </a:solidFill>
                <a:latin typeface="Cambria" pitchFamily="34" charset="0"/>
                <a:ea typeface="Cambria" pitchFamily="34" charset="-122"/>
                <a:cs typeface="Cambria" pitchFamily="34" charset="-120"/>
              </a:rPr>
              <a:t>Limits</a:t>
            </a:r>
            <a:endParaRPr lang="en-US" sz="1900" dirty="0"/>
          </a:p>
        </p:txBody>
      </p:sp>
      <p:sp>
        <p:nvSpPr>
          <p:cNvPr id="11" name="Text 9"/>
          <p:cNvSpPr txBox="1"/>
          <p:nvPr/>
        </p:nvSpPr>
        <p:spPr>
          <a:xfrm>
            <a:off x="8321040" y="2560320"/>
            <a:ext cx="2788920" cy="2103120"/>
          </a:xfrm>
          <a:prstGeom prst="rect">
            <a:avLst/>
          </a:prstGeom>
          <a:noFill/>
          <a:ln/>
        </p:spPr>
        <p:txBody>
          <a:bodyPr wrap="square" lIns="0" tIns="0" rIns="0" bIns="0" rtlCol="0" anchor="t"/>
          <a:lstStyle/>
          <a:p>
            <a:pPr marL="0" indent="0">
              <a:buNone/>
            </a:pPr>
            <a:r>
              <a:rPr lang="en-US" sz="1600" dirty="0">
                <a:solidFill>
                  <a:schemeClr val="bg1"/>
                </a:solidFill>
              </a:rPr>
              <a:t>Lateral impulse recovered by none; on real servos, torques above the recommended load.</a:t>
            </a:r>
            <a:endParaRPr lang="en-US" sz="1600" dirty="0"/>
          </a:p>
        </p:txBody>
      </p:sp>
    </p:spTree>
  </p:cSld>
  <p:clrMapOvr>
    <a:masterClrMapping/>
  </p:clrMapOvr>
</p:sld>
</file>

<file path=ppt/theme/theme1.xml><?xml version="1.0" encoding="utf-8"?>
<a:theme xmlns:a="http://schemas.openxmlformats.org/drawingml/2006/main" name="FSR PhantomX">
  <a:themeElements>
    <a:clrScheme name="FSR PhantomX">
      <a:dk1>
        <a:srgbClr val="1F2A30"/>
      </a:dk1>
      <a:lt1>
        <a:srgbClr val="FFFFFF"/>
      </a:lt1>
      <a:dk2>
        <a:srgbClr val="1F3A45"/>
      </a:dk2>
      <a:lt2>
        <a:srgbClr val="EEF2F3"/>
      </a:lt2>
      <a:accent1>
        <a:srgbClr val="C4581E"/>
      </a:accent1>
      <a:accent2>
        <a:srgbClr val="4E7F64"/>
      </a:accent2>
      <a:accent3>
        <a:srgbClr val="6F7F86"/>
      </a:accent3>
      <a:accent4>
        <a:srgbClr val="2E6F8E"/>
      </a:accent4>
      <a:accent5>
        <a:srgbClr val="B9C6CB"/>
      </a:accent5>
      <a:accent6>
        <a:srgbClr val="E3B23C"/>
      </a:accent6>
      <a:hlink>
        <a:srgbClr val="2E6F8E"/>
      </a:hlink>
      <a:folHlink>
        <a:srgbClr val="6F7F86"/>
      </a:folHlink>
    </a:clrScheme>
    <a:fontScheme name="FSR PhantomX">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FSR PhantomX">
    <a:dk1>
      <a:srgbClr val="1F2A30"/>
    </a:dk1>
    <a:lt1>
      <a:srgbClr val="FFFFFF"/>
    </a:lt1>
    <a:dk2>
      <a:srgbClr val="1F3A45"/>
    </a:dk2>
    <a:lt2>
      <a:srgbClr val="EEF2F3"/>
    </a:lt2>
    <a:accent1>
      <a:srgbClr val="C4581E"/>
    </a:accent1>
    <a:accent2>
      <a:srgbClr val="4E7F64"/>
    </a:accent2>
    <a:accent3>
      <a:srgbClr val="6F7F86"/>
    </a:accent3>
    <a:accent4>
      <a:srgbClr val="2E6F8E"/>
    </a:accent4>
    <a:accent5>
      <a:srgbClr val="B9C6CB"/>
    </a:accent5>
    <a:accent6>
      <a:srgbClr val="E3B23C"/>
    </a:accent6>
    <a:hlink>
      <a:srgbClr val="2E6F8E"/>
    </a:hlink>
    <a:folHlink>
      <a:srgbClr val="6F7F86"/>
    </a:folHlink>
  </a:clrScheme>
</a:themeOverride>
</file>

<file path=docProps/app.xml><?xml version="1.0" encoding="utf-8"?>
<Properties xmlns="http://schemas.openxmlformats.org/officeDocument/2006/extended-properties" xmlns:vt="http://schemas.openxmlformats.org/officeDocument/2006/docPropsVTypes">
  <Template/>
  <TotalTime>92</TotalTime>
  <Words>3743</Words>
  <Application>Microsoft Office PowerPoint</Application>
  <PresentationFormat>Widescreen</PresentationFormat>
  <Paragraphs>642</Paragraphs>
  <Slides>32</Slides>
  <Notes>29</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32</vt:i4>
      </vt:variant>
    </vt:vector>
  </HeadingPairs>
  <TitlesOfParts>
    <vt:vector size="38" baseType="lpstr">
      <vt:lpstr>Arial</vt:lpstr>
      <vt:lpstr>Calibri</vt:lpstr>
      <vt:lpstr>Cambria</vt:lpstr>
      <vt:lpstr>Cambria Math</vt:lpstr>
      <vt:lpstr>Courier New</vt:lpstr>
      <vt:lpstr>FSR PhantomX</vt:lpstr>
      <vt:lpstr>Terrain-interaction control of a hexapod robot</vt:lpstr>
      <vt:lpstr>The robot that we used</vt:lpstr>
      <vt:lpstr>The reference work</vt:lpstr>
      <vt:lpstr>The controllers we implemented</vt:lpstr>
      <vt:lpstr>Presentazione standard di PowerPoint</vt:lpstr>
      <vt:lpstr>C2: Adaptive gait</vt:lpstr>
      <vt:lpstr>C3: Attitude control</vt:lpstr>
      <vt:lpstr>The seven tasks</vt:lpstr>
      <vt:lpstr>When a difference is a result</vt:lpstr>
      <vt:lpstr>Fixed issues 1: the URDF inertias</vt:lpstr>
      <vt:lpstr>Fixed issues 2: slew limiter and saturator</vt:lpstr>
      <vt:lpstr>Flat ground (T2): terrain search has a cost</vt:lpstr>
      <vt:lpstr>Speed envelope (T2)</vt:lpstr>
      <vt:lpstr>Curve (T3)</vt:lpstr>
      <vt:lpstr>Curve (T3): same path for the three controllers</vt:lpstr>
      <vt:lpstr>Discontinuities (T4D, T5)</vt:lpstr>
      <vt:lpstr>Single obstacle (T5): pitch</vt:lpstr>
      <vt:lpstr>Ramp (T4): two different behaviours</vt:lpstr>
      <vt:lpstr>Ramp (T4): body inclination</vt:lpstr>
      <vt:lpstr>Ramp (T4) in simulation</vt:lpstr>
      <vt:lpstr>Obstacles(T6)</vt:lpstr>
      <vt:lpstr>Obstacle course (T6) in simulation</vt:lpstr>
      <vt:lpstr>Lateral impulse (T7)</vt:lpstr>
      <vt:lpstr>Feasibility on real AX-12A servos</vt:lpstr>
      <vt:lpstr>Demanded torque versus AX-12A limits</vt:lpstr>
      <vt:lpstr>Load transport: C2P versus C3P</vt:lpstr>
      <vt:lpstr>C2P versus C3P</vt:lpstr>
      <vt:lpstr>The package on the ramp (T4)</vt:lpstr>
      <vt:lpstr>The package on the obstacle course (T6)</vt:lpstr>
      <vt:lpstr>Transport in simulation</vt:lpstr>
      <vt:lpstr>Stability: the ZMP confirms the static assumption</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Terrain-interaction control of a hexapod robot</dc:title>
  <dc:subject>PptxGenJS Presentation</dc:subject>
  <dc:creator>Eros Cribello, Andrea Russo</dc:creator>
  <cp:lastModifiedBy>EROS CRIBELLO</cp:lastModifiedBy>
  <cp:revision>8</cp:revision>
  <dcterms:created xsi:type="dcterms:W3CDTF">2026-10-08T20:46:56Z</dcterms:created>
  <dcterms:modified xsi:type="dcterms:W3CDTF">2026-10-09T11:50:16Z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d0b24d-6422-44b0-b3de-abb3a9e8c81a_Enabled">
    <vt:lpwstr>true</vt:lpwstr>
  </property>
  <property fmtid="{D5CDD505-2E9C-101B-9397-08002B2CF9AE}" pid="3" name="MSIP_Label_2ad0b24d-6422-44b0-b3de-abb3a9e8c81a_SetDate">
    <vt:lpwstr>2026-10-09T10:16:57Z</vt:lpwstr>
  </property>
  <property fmtid="{D5CDD505-2E9C-101B-9397-08002B2CF9AE}" pid="4" name="MSIP_Label_2ad0b24d-6422-44b0-b3de-abb3a9e8c81a_Method">
    <vt:lpwstr>Standard</vt:lpwstr>
  </property>
  <property fmtid="{D5CDD505-2E9C-101B-9397-08002B2CF9AE}" pid="5" name="MSIP_Label_2ad0b24d-6422-44b0-b3de-abb3a9e8c81a_Name">
    <vt:lpwstr>defa4170-0d19-0005-0004-bc88714345d2</vt:lpwstr>
  </property>
  <property fmtid="{D5CDD505-2E9C-101B-9397-08002B2CF9AE}" pid="6" name="MSIP_Label_2ad0b24d-6422-44b0-b3de-abb3a9e8c81a_SiteId">
    <vt:lpwstr>2fcfe26a-bb62-46b0-b1e3-28f9da0c45fd</vt:lpwstr>
  </property>
  <property fmtid="{D5CDD505-2E9C-101B-9397-08002B2CF9AE}" pid="7" name="MSIP_Label_2ad0b24d-6422-44b0-b3de-abb3a9e8c81a_ActionId">
    <vt:lpwstr>3a0d8370-b3e7-4479-bd21-39a3db9bb22b</vt:lpwstr>
  </property>
  <property fmtid="{D5CDD505-2E9C-101B-9397-08002B2CF9AE}" pid="8" name="MSIP_Label_2ad0b24d-6422-44b0-b3de-abb3a9e8c81a_ContentBits">
    <vt:lpwstr>0</vt:lpwstr>
  </property>
  <property fmtid="{D5CDD505-2E9C-101B-9397-08002B2CF9AE}" pid="9" name="MSIP_Label_2ad0b24d-6422-44b0-b3de-abb3a9e8c81a_Tag">
    <vt:lpwstr>10, 3, 0, 1</vt:lpwstr>
  </property>
</Properties>
</file>