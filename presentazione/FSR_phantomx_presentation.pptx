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2339c87-f0b2-5869-4ffa-490771cc5aca}">
          <p14:sldIdLst>
            <p14:sldId id="256"/>
            <p14:sldId id="257"/>
            <p14:sldId id="258"/>
            <p14:sldId id="259"/>
          </p14:sldIdLst>
        </p14:section>
        <p14:section name="Method" id="{13a2accc-fef5-9c91-7673-2eebe8febb67}">
          <p14:sldIdLst>
            <p14:sldId id="260"/>
            <p14:sldId id="261"/>
            <p14:sldId id="262"/>
            <p14:sldId id="263"/>
          </p14:sldIdLst>
        </p14:section>
        <p14:section name="Results" id="{e47db06f-3480-058a-bb26-a939cf120ea3}">
          <p14:sldIdLst>
            <p14:sldId id="264"/>
            <p14:sldId id="265"/>
            <p14:sldId id="266"/>
            <p14:sldId id="267"/>
            <p14:sldId id="268"/>
            <p14:sldId id="269"/>
            <p14:sldId id="270"/>
            <p14:sldId id="271"/>
            <p14:sldId id="272"/>
            <p14:sldId id="273"/>
            <p14:sldId id="274"/>
            <p14:sldId id="275"/>
            <p14:sldId id="276"/>
          </p14:sldIdLst>
        </p14:section>
        <p14:section name="Feasibility" id="{3b833b88-be68-fd29-5f03-451178a61c76}">
          <p14:sldIdLst>
            <p14:sldId id="277"/>
            <p14:sldId id="278"/>
          </p14:sldIdLst>
        </p14:section>
        <p14:section name="Load transport" id="{2f892e0b-5db7-8722-7422-ef526b82ad63}">
          <p14:sldIdLst>
            <p14:sldId id="279"/>
            <p14:sldId id="280"/>
            <p14:sldId id="281"/>
            <p14:sldId id="282"/>
            <p14:sldId id="283"/>
          </p14:sldIdLst>
        </p14:section>
        <p14:section name="Stability" id="{a3396bb1-a3e5-77cc-982b-478ec4541849}">
          <p14:sldIdLst>
            <p14:sldId id="284"/>
          </p14:sldIdLst>
        </p14:section>
        <p14:section name="Conclusions" id="{62af1db7-b699-edec-5d3b-6b325c906469}">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Introduce ourselves and the course. The work compares three controllers for the PhantomX hexapod on the same Simscape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Hardware without force sensors: everything goes through servo torque. The paper shows that terrain search helps on unmodelled terrain, but does not say how much it costs where the terrain is already known. That is our starting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The model comes from the public URDF. Joints are position-commanded, so torque is a reaction. Penalty contact with Coulomb friction, static penetration 4.3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Each controller adds a single mechanism to the previous one, on the same model, terrain and gait generator. So every comparison between adjacent controllers has a single cause. In C3 the foot height is the sum of terrain search and attitude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Three of the five parameters are fixed by measured constraints; the period follows from step and speed. Froude 0.0095: the gait is quasi-static, which justifies the static stability assumption of the tripod. The seven tasks range from flat ground to obstacles to a lateral impulse.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declared inertias place the trunk mass 1.79 m from its centre, for a 25 cm wide trunk. All 24 links have the same inertia. Dividing by a thousand makes everything plausible: a CAD export in grams. Effect on pitch: from 45 to 15 degrees.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We had corrected the inertias only in the simulated robot: the torque estimator still described the other one. An always-high flag was wrong as often as ours, so ours carried no information. After alignment the error drops to 0.6%. We then disabled the coxa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In simulation everything is deterministic, but a lucky combination of impact instants can favour one controller. We perturb the stance depth by 0.2 mm, measure how much each metric oscillates, and declare a difference only if it is at least three times that oscillation.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On terrain identical to what the generator expects, search worsens pitch almost fourfold, with no energy gain. The attitude loop cuts it by 82%, but uses 28% more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Sweep of five factors, judged on body bounce with a 10 mm threshold set beforehand. The open-loop gait is stable between 1 and 1.2 times nominal speed; at 2 times the robot moves backwards.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On the curve almost all differences pass the threshold. Search worsens attitude but saves 2-3% energy; the attitude loop brings attitude back down and costs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The three trajectories overlap: the yaw command is followed in the same way. The axes have different scales, so the lateral deviation looks larger than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On bump and obstacle search reduces energy and cost of transport, and roll on the bump. This is the paper's result. Exception: on the bump C2 pitch worsens by 21%, because the body follows the gradient. The attitude loop cuts pitch by 81% and 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Outside the grey window the curves oscillate with the step. Inside, C1 and C2 pitch nose-up as the front legs climb and nose-down with the rear ones. C3 stays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Video: compare the trunk inclination of C1 and C3 as they climb the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On the ramp the band is not measured, so no verdicts, but the difference is qualitative. C1 and C2 stay parallel to the ramp; C3 keeps the trunk horizontal, its objective. It costs 45% in cost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The first 4.5 s are on flat ground. Then C1 and C2 lie along the slope, C3 keeps the trunk horizontal. The sawtooth is the step oscillation.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Video: C2 parallel to the ramp, C3 horizontal.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All three cross the seven obstacles without rolling over, and drift stays below the threshold beyond which an obstacle would be bypassed. C3 cuts roll and pitch by about 70% and almost halves peak torque. Only C3 completes the course with a gait cycle of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Video of the full course: note C1 and C2 roll on the lateral obstacles and the steadiness of C3's trunk.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At large impulse none of the three recovers: the curves coincide within 2%. Neither search nor attitude acts on this disturbance: it is the clearest gap for a future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simulator grants any torque; here we measure what each controller demands. Walking sits at 39-46% of stall, 2.3 times the one fifth recommended by the manufacturer. Impact peaks exceed stall, up to 5 times, but on less than 1% of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Same information as the table, graphically: RMS bars stay below stall, peaks exceed it only at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So far attitude was just a number to minimise. With a free load on the robot it becomes a requirement. To see whether the load needs the attitude loop we compare C3P with C2P: same model, same package, loop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So far attitude was just a number to minimise. With a free load it becomes a requirement. With the loop off the robot still completes the paths with the same torque, but the package exceeds the clearance within the first nine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On the ramp the fall is clean: past the threshold, the cube leaves the robot. With the loop on it stays still on the tray.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Here there is no clean fall: the cube bangs back and forth well beyond the tray limits. By the criterion it is still not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Video: same path, same package. On the left without the attitude loop the cube slides and falls, on the right it stays on the tray. The attitude loop does not improve transport, it makes it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The tripod is built on a static assumption. With Froude 0.0095 the ZMP coincides with the projection of the centre of mass, so measuring it verifies the assumption with the robot in motion. Margin never negative, median on the geometric prediction. The gaps are instants with fewer than three feet above 2 N, only at the tripod switch. The noise comes from unfiltered contact 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Three messages: terrain search has a measurable cost where it is not needed; the attitude loop is what makes the robot useful for transport; recovery from lateral disturbances remains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1051560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822960" y="3429000"/>
            <a:ext cx="10515600" cy="73152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FSR — PhantomX</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10515600" cy="1737360"/>
          </a:xfrm>
          <a:prstGeom prst="rect">
            <a:avLst/>
          </a:prstGeom>
          <a:noFill/>
          <a:ln/>
        </p:spPr>
        <p:txBody>
          <a:bodyPr wrap="square" lIns="0" tIns="0" rIns="0" bIns="0" rtlCol="0" anchor="b"/>
          <a:lstStyle/>
          <a:p>
            <a:pPr indent="0" marL="0">
              <a:buNone/>
            </a:pPr>
            <a:r>
              <a:rPr lang="en-US" sz="4000" b="1" dirty="0">
                <a:solidFill>
                  <a:schemeClr val="bg1"/>
                </a:solidFill>
              </a:rPr>
              <a:t>Terrain-interaction control of a hexapod robot</a:t>
            </a:r>
            <a:endParaRPr lang="en-US" sz="4000" dirty="0"/>
          </a:p>
        </p:txBody>
      </p:sp>
      <p:sp>
        <p:nvSpPr>
          <p:cNvPr id="3" name="Text 0"/>
          <p:cNvSpPr/>
          <p:nvPr>
            <p:ph idx="101" type="body" hasCustomPrompt="1"/>
          </p:nvPr>
        </p:nvSpPr>
        <p:spPr>
          <a:xfrm>
            <a:off x="822960" y="3429000"/>
            <a:ext cx="10515600" cy="731520"/>
          </a:xfrm>
          <a:prstGeom prst="rect">
            <a:avLst/>
          </a:prstGeom>
          <a:noFill/>
          <a:ln/>
        </p:spPr>
        <p:txBody>
          <a:bodyPr wrap="square" lIns="0" tIns="0" rIns="0" bIns="0" rtlCol="0" anchor="t"/>
          <a:lstStyle/>
          <a:p>
            <a:pPr indent="0" marL="0">
              <a:buNone/>
            </a:pPr>
            <a:r>
              <a:rPr lang="en-US" sz="2000" dirty="0">
                <a:solidFill>
                  <a:schemeClr val="bg2"/>
                </a:solidFill>
              </a:rPr>
              <a:t>A measured comparison of three controllers on a shared simulation plant</a:t>
            </a:r>
            <a:endParaRPr lang="en-US" sz="2000" dirty="0"/>
          </a:p>
        </p:txBody>
      </p:sp>
      <p:sp>
        <p:nvSpPr>
          <p:cNvPr id="4" name="Text 2"/>
          <p:cNvSpPr txBox="1"/>
          <p:nvPr/>
        </p:nvSpPr>
        <p:spPr>
          <a:xfrm>
            <a:off x="822960" y="4892040"/>
            <a:ext cx="7315200" cy="1097280"/>
          </a:xfrm>
          <a:prstGeom prst="rect">
            <a:avLst/>
          </a:prstGeom>
          <a:noFill/>
          <a:ln/>
        </p:spPr>
        <p:txBody>
          <a:bodyPr wrap="square" lIns="0" tIns="0" rIns="0" bIns="0" rtlCol="0" anchor="t"/>
          <a:lstStyle/>
          <a:p>
            <a:pPr indent="0" marL="0">
              <a:buNone/>
            </a:pPr>
            <a:r>
              <a:rPr lang="en-US" sz="1500" b="1" dirty="0">
                <a:solidFill>
                  <a:schemeClr val="bg1"/>
                </a:solidFill>
              </a:rPr>
              <a:t>Eros Cribello  ·  Andrea Russo</a:t>
            </a:r>
            <a:endParaRPr lang="en-US" sz="1500" dirty="0"/>
          </a:p>
          <a:p>
            <a:pPr indent="0" marL="0">
              <a:buNone/>
            </a:pPr>
            <a:r>
              <a:rPr lang="en-US" sz="1500" dirty="0">
                <a:solidFill>
                  <a:schemeClr val="bg1"/>
                </a:solidFill>
              </a:rPr>
              <a:t>Field and Service Robotics — A.Y. 2025/2026</a:t>
            </a:r>
            <a:endParaRPr lang="en-US" sz="1500" dirty="0"/>
          </a:p>
          <a:p>
            <a:pPr indent="0" marL="0">
              <a:buNone/>
            </a:pPr>
            <a:r>
              <a:rPr lang="en-US" sz="1500" dirty="0">
                <a:solidFill>
                  <a:schemeClr val="bg1"/>
                </a:solidFill>
              </a:rPr>
              <a:t>University of Naples Federico II</a:t>
            </a:r>
            <a:endParaRPr lang="en-US" sz="1500" dirty="0"/>
          </a:p>
        </p:txBody>
      </p:sp>
      <p:sp>
        <p:nvSpPr>
          <p:cNvPr id="5" name="badge C1"/>
          <p:cNvSpPr/>
          <p:nvPr/>
        </p:nvSpPr>
        <p:spPr>
          <a:xfrm>
            <a:off x="9418320" y="5074920"/>
            <a:ext cx="640080" cy="640080"/>
          </a:xfrm>
          <a:prstGeom prst="ellipse">
            <a:avLst/>
          </a:prstGeom>
          <a:solidFill>
            <a:schemeClr val="accent3"/>
          </a:solidFill>
          <a:ln w="12700">
            <a:solidFill>
              <a:schemeClr val="accent3"/>
            </a:solidFill>
            <a:prstDash val="solid"/>
          </a:ln>
        </p:spPr>
      </p:sp>
      <p:sp>
        <p:nvSpPr>
          <p:cNvPr id="6" name="Text 4"/>
          <p:cNvSpPr txBox="1"/>
          <p:nvPr/>
        </p:nvSpPr>
        <p:spPr>
          <a:xfrm>
            <a:off x="9418320" y="507492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C1</a:t>
            </a:r>
            <a:endParaRPr lang="en-US" sz="1600" dirty="0"/>
          </a:p>
        </p:txBody>
      </p:sp>
      <p:sp>
        <p:nvSpPr>
          <p:cNvPr id="7" name="badge C2"/>
          <p:cNvSpPr/>
          <p:nvPr/>
        </p:nvSpPr>
        <p:spPr>
          <a:xfrm>
            <a:off x="10195560" y="5074920"/>
            <a:ext cx="640080" cy="640080"/>
          </a:xfrm>
          <a:prstGeom prst="ellipse">
            <a:avLst/>
          </a:prstGeom>
          <a:solidFill>
            <a:schemeClr val="accent1"/>
          </a:solidFill>
          <a:ln w="12700">
            <a:solidFill>
              <a:schemeClr val="accent1"/>
            </a:solidFill>
            <a:prstDash val="solid"/>
          </a:ln>
        </p:spPr>
      </p:sp>
      <p:sp>
        <p:nvSpPr>
          <p:cNvPr id="8" name="Text 6"/>
          <p:cNvSpPr txBox="1"/>
          <p:nvPr/>
        </p:nvSpPr>
        <p:spPr>
          <a:xfrm>
            <a:off x="10195560" y="507492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C2</a:t>
            </a:r>
            <a:endParaRPr lang="en-US" sz="1600" dirty="0"/>
          </a:p>
        </p:txBody>
      </p:sp>
      <p:sp>
        <p:nvSpPr>
          <p:cNvPr id="9" name="badge C3"/>
          <p:cNvSpPr/>
          <p:nvPr/>
        </p:nvSpPr>
        <p:spPr>
          <a:xfrm>
            <a:off x="10972800" y="5074920"/>
            <a:ext cx="640080" cy="640080"/>
          </a:xfrm>
          <a:prstGeom prst="ellipse">
            <a:avLst/>
          </a:prstGeom>
          <a:solidFill>
            <a:schemeClr val="accent2"/>
          </a:solidFill>
          <a:ln w="12700">
            <a:solidFill>
              <a:schemeClr val="accent2"/>
            </a:solidFill>
            <a:prstDash val="solid"/>
          </a:ln>
        </p:spPr>
      </p:sp>
      <p:sp>
        <p:nvSpPr>
          <p:cNvPr id="10" name="Text 8"/>
          <p:cNvSpPr txBox="1"/>
          <p:nvPr/>
        </p:nvSpPr>
        <p:spPr>
          <a:xfrm>
            <a:off x="10972800" y="507492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C3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The platform and the reference work</a:t>
            </a:r>
            <a:endParaRPr lang="en-US" sz="3000" dirty="0"/>
          </a:p>
        </p:txBody>
      </p:sp>
      <p:sp>
        <p:nvSpPr>
          <p:cNvPr id="4" name="Text 1"/>
          <p:cNvSpPr txBox="1"/>
          <p:nvPr/>
        </p:nvSpPr>
        <p:spPr>
          <a:xfrm>
            <a:off x="548640" y="1371600"/>
            <a:ext cx="5394960" cy="15544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PhantomX AX Metal Mark II: 18 Dynamixel AX-12A servos, three per leg</a:t>
            </a:r>
            <a:endParaRPr lang="en-US" sz="1800" dirty="0"/>
          </a:p>
          <a:p>
            <a:pPr marL="342900" indent="-342900">
              <a:spcAft>
                <a:spcPts val="1000"/>
              </a:spcAft>
              <a:buSzPct val="100000"/>
              <a:buChar char="•"/>
            </a:pPr>
            <a:r>
              <a:rPr lang="en-US" sz="1800" dirty="0">
                <a:solidFill>
                  <a:schemeClr val="tx1"/>
                </a:solidFill>
              </a:rPr>
              <a:t>No force sensors at the feet, no IMU</a:t>
            </a:r>
            <a:endParaRPr lang="en-US" sz="1800" dirty="0"/>
          </a:p>
          <a:p>
            <a:pPr marL="342900" indent="-342900">
              <a:spcAft>
                <a:spcPts val="1000"/>
              </a:spcAft>
              <a:buSzPct val="100000"/>
              <a:buChar char="•"/>
            </a:pPr>
            <a:r>
              <a:rPr lang="en-US" sz="1800" dirty="0">
                <a:solidFill>
                  <a:schemeClr val="tx1"/>
                </a:solidFill>
              </a:rPr>
              <a:t>Only feedback: position and load estimate of each servo</a:t>
            </a:r>
            <a:endParaRPr lang="en-US" sz="1800" dirty="0"/>
          </a:p>
        </p:txBody>
      </p:sp>
      <p:sp>
        <p:nvSpPr>
          <p:cNvPr id="5" name="card riferimento"/>
          <p:cNvSpPr/>
          <p:nvPr/>
        </p:nvSpPr>
        <p:spPr>
          <a:xfrm>
            <a:off x="6309360" y="1371600"/>
            <a:ext cx="5330952" cy="1920240"/>
          </a:xfrm>
          <a:prstGeom prst="rect">
            <a:avLst/>
          </a:prstGeom>
          <a:solidFill>
            <a:schemeClr val="bg2"/>
          </a:solidFill>
          <a:ln w="12700">
            <a:solidFill>
              <a:schemeClr val="bg2"/>
            </a:solidFill>
            <a:prstDash val="solid"/>
          </a:ln>
        </p:spPr>
      </p:sp>
      <p:sp>
        <p:nvSpPr>
          <p:cNvPr id="6" name="Text 3"/>
          <p:cNvSpPr txBox="1"/>
          <p:nvPr/>
        </p:nvSpPr>
        <p:spPr>
          <a:xfrm>
            <a:off x="6537960" y="1554480"/>
            <a:ext cx="4873752" cy="1645920"/>
          </a:xfrm>
          <a:prstGeom prst="rect">
            <a:avLst/>
          </a:prstGeom>
          <a:noFill/>
          <a:ln/>
        </p:spPr>
        <p:txBody>
          <a:bodyPr wrap="square" lIns="0" tIns="0" rIns="0" bIns="0" rtlCol="0" anchor="t"/>
          <a:lstStyle/>
          <a:p>
            <a:pPr indent="0" marL="0">
              <a:buNone/>
            </a:pPr>
            <a:r>
              <a:rPr lang="en-US" sz="1600" b="1" dirty="0">
                <a:solidFill>
                  <a:schemeClr val="tx2"/>
                </a:solidFill>
              </a:rPr>
              <a:t>Arrigoni et al., Robotics 2024</a:t>
            </a:r>
            <a:endParaRPr lang="en-US" sz="1600" dirty="0"/>
          </a:p>
          <a:p>
            <a:pPr indent="0" marL="0">
              <a:buNone/>
            </a:pPr>
            <a:r>
              <a:rPr lang="en-US" sz="1600" dirty="0">
                <a:solidFill>
                  <a:schemeClr val="tx1"/>
                </a:solidFill>
              </a:rPr>
              <a:t>Foot–ground contact is detected from torque alone: measured versus predicted by inverse dynamics. The detection adapts the commanded foot height.</a:t>
            </a:r>
            <a:endParaRPr lang="en-US" sz="1600" dirty="0"/>
          </a:p>
        </p:txBody>
      </p:sp>
      <p:sp>
        <p:nvSpPr>
          <p:cNvPr id="7" name="formula"/>
          <p:cNvSpPr/>
          <p:nvPr/>
        </p:nvSpPr>
        <p:spPr>
          <a:xfrm>
            <a:off x="548640" y="3657600"/>
            <a:ext cx="11094415" cy="731520"/>
          </a:xfrm>
          <a:prstGeom prst="rect">
            <a:avLst/>
          </a:prstGeom>
          <a:solidFill>
            <a:schemeClr val="tx2"/>
          </a:solidFill>
          <a:ln w="12700">
            <a:solidFill>
              <a:schemeClr val="tx2"/>
            </a:solidFill>
            <a:prstDash val="solid"/>
          </a:ln>
        </p:spPr>
      </p:sp>
      <p:sp>
        <p:nvSpPr>
          <p:cNvPr id="8" name="Text 5"/>
          <p:cNvSpPr txBox="1"/>
          <p:nvPr/>
        </p:nvSpPr>
        <p:spPr>
          <a:xfrm>
            <a:off x="548640" y="3657600"/>
            <a:ext cx="11094415" cy="731520"/>
          </a:xfrm>
          <a:prstGeom prst="rect">
            <a:avLst/>
          </a:prstGeom>
          <a:noFill/>
          <a:ln/>
        </p:spPr>
        <p:txBody>
          <a:bodyPr wrap="square" lIns="0" tIns="0" rIns="0" bIns="0" rtlCol="0" anchor="ctr"/>
          <a:lstStyle/>
          <a:p>
            <a:pPr algn="ctr" indent="0" marL="0">
              <a:buNone/>
            </a:pPr>
            <a:r>
              <a:rPr lang="en-US" sz="2200" b="1" dirty="0">
                <a:solidFill>
                  <a:schemeClr val="bg1"/>
                </a:solidFill>
              </a:rPr>
              <a:t>contact = OR_j ( |τ_meas − τ_exp| &gt; σ_j )</a:t>
            </a:r>
            <a:endParaRPr lang="en-US" sz="2200" dirty="0"/>
          </a:p>
        </p:txBody>
      </p:sp>
      <p:sp>
        <p:nvSpPr>
          <p:cNvPr id="9" name="Text 6"/>
          <p:cNvSpPr txBox="1"/>
          <p:nvPr/>
        </p:nvSpPr>
        <p:spPr>
          <a:xfrm>
            <a:off x="548640" y="4754880"/>
            <a:ext cx="11094415" cy="822960"/>
          </a:xfrm>
          <a:prstGeom prst="rect">
            <a:avLst/>
          </a:prstGeom>
          <a:noFill/>
          <a:ln/>
        </p:spPr>
        <p:txBody>
          <a:bodyPr wrap="square" lIns="0" tIns="0" rIns="0" bIns="0" rtlCol="0" anchor="ctr"/>
          <a:lstStyle/>
          <a:p>
            <a:pPr indent="0" marL="0">
              <a:buNone/>
            </a:pPr>
            <a:r>
              <a:rPr lang="en-US" sz="2000" b="1" i="1" dirty="0">
                <a:solidFill>
                  <a:schemeClr val="accent1"/>
                </a:solidFill>
              </a:rPr>
              <a:t>Our question: how much does the mechanism cost where there is no terrain to discover?</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The robot in Simscape Multibody</a:t>
            </a:r>
            <a:endParaRPr lang="en-US" sz="3000" dirty="0"/>
          </a:p>
        </p:txBody>
      </p:sp>
      <p:sp>
        <p:nvSpPr>
          <p:cNvPr id="4" name="IMG phantomx.png"/>
          <p:cNvSpPr/>
          <p:nvPr/>
        </p:nvSpPr>
        <p:spPr>
          <a:xfrm>
            <a:off x="548640" y="1280160"/>
            <a:ext cx="11094415" cy="4206240"/>
          </a:xfrm>
          <a:prstGeom prst="roundRect">
            <a:avLst>
              <a:gd name="adj" fmla="val 1739"/>
            </a:avLst>
          </a:prstGeom>
          <a:solidFill>
            <a:srgbClr val="F2F4F5"/>
          </a:solidFill>
          <a:ln w="15875">
            <a:solidFill>
              <a:srgbClr val="6F7F86"/>
            </a:solidFill>
            <a:prstDash val="dash"/>
          </a:ln>
        </p:spPr>
      </p:sp>
      <p:sp>
        <p:nvSpPr>
          <p:cNvPr id="5" name="Text 2"/>
          <p:cNvSpPr txBox="1"/>
          <p:nvPr/>
        </p:nvSpPr>
        <p:spPr>
          <a:xfrm>
            <a:off x="685800" y="1371600"/>
            <a:ext cx="10820095" cy="4023360"/>
          </a:xfrm>
          <a:prstGeom prst="rect">
            <a:avLst/>
          </a:prstGeom>
          <a:noFill/>
          <a:ln/>
        </p:spPr>
        <p:txBody>
          <a:bodyPr wrap="square" lIns="0" tIns="0" rIns="0" bIns="0" rtlCol="0" anchor="ctr"/>
          <a:lstStyle/>
          <a:p>
            <a:pPr algn="ctr" indent="0" marL="0">
              <a:buNone/>
            </a:pPr>
            <a:r>
              <a:rPr lang="en-US" sz="1600" b="1" dirty="0">
                <a:solidFill>
                  <a:schemeClr val="accent3"/>
                </a:solidFill>
              </a:rPr>
              <a:t>IMAGE</a:t>
            </a:r>
            <a:endParaRPr lang="en-US" sz="1500" dirty="0"/>
          </a:p>
          <a:p>
            <a:pPr algn="ctr" indent="0" marL="0">
              <a:buNone/>
            </a:pPr>
            <a:r>
              <a:rPr lang="en-US" sz="1400" dirty="0">
                <a:solidFill>
                  <a:schemeClr val="tx1"/>
                </a:solidFill>
              </a:rPr>
              <a:t>phantomx.png</a:t>
            </a:r>
            <a:endParaRPr lang="en-US" sz="1500" dirty="0"/>
          </a:p>
          <a:p>
            <a:pPr algn="ctr" indent="0" marL="0">
              <a:buNone/>
            </a:pPr>
            <a:r>
              <a:rPr lang="en-US" sz="1300" i="1" dirty="0">
                <a:solidFill>
                  <a:schemeClr val="accent3"/>
                </a:solidFill>
              </a:rPr>
              <a:t>as in the report</a:t>
            </a:r>
            <a:endParaRPr lang="en-US" sz="1500" dirty="0"/>
          </a:p>
        </p:txBody>
      </p:sp>
      <p:sp>
        <p:nvSpPr>
          <p:cNvPr id="6" name="Text 3"/>
          <p:cNvSpPr txBox="1"/>
          <p:nvPr/>
        </p:nvSpPr>
        <p:spPr>
          <a:xfrm>
            <a:off x="548640" y="562356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25 rigid bodies, 18 position-commanded revolute joints, 6 spherical contacts at the feet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Three controllers, one mechanism at a time</a:t>
            </a:r>
            <a:endParaRPr lang="en-US" sz="3000" dirty="0"/>
          </a:p>
        </p:txBody>
      </p:sp>
      <p:sp>
        <p:nvSpPr>
          <p:cNvPr id="4" name="riga C1"/>
          <p:cNvSpPr/>
          <p:nvPr/>
        </p:nvSpPr>
        <p:spPr>
          <a:xfrm>
            <a:off x="548640" y="1371600"/>
            <a:ext cx="11094415" cy="1051560"/>
          </a:xfrm>
          <a:prstGeom prst="rect">
            <a:avLst/>
          </a:prstGeom>
          <a:solidFill>
            <a:schemeClr val="bg2"/>
          </a:solidFill>
          <a:ln w="12700">
            <a:solidFill>
              <a:schemeClr val="bg2"/>
            </a:solidFill>
            <a:prstDash val="solid"/>
          </a:ln>
        </p:spPr>
      </p:sp>
      <p:sp>
        <p:nvSpPr>
          <p:cNvPr id="5" name="badge C1"/>
          <p:cNvSpPr/>
          <p:nvPr/>
        </p:nvSpPr>
        <p:spPr>
          <a:xfrm>
            <a:off x="777240" y="1581912"/>
            <a:ext cx="640080" cy="640080"/>
          </a:xfrm>
          <a:prstGeom prst="ellipse">
            <a:avLst/>
          </a:prstGeom>
          <a:solidFill>
            <a:schemeClr val="accent3"/>
          </a:solidFill>
          <a:ln w="12700">
            <a:solidFill>
              <a:schemeClr val="accent3"/>
            </a:solidFill>
            <a:prstDash val="solid"/>
          </a:ln>
        </p:spPr>
      </p:sp>
      <p:sp>
        <p:nvSpPr>
          <p:cNvPr id="6" name="Text 3"/>
          <p:cNvSpPr txBox="1"/>
          <p:nvPr/>
        </p:nvSpPr>
        <p:spPr>
          <a:xfrm>
            <a:off x="777240" y="1581912"/>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C1</a:t>
            </a:r>
            <a:endParaRPr lang="en-US" sz="1600" dirty="0"/>
          </a:p>
        </p:txBody>
      </p:sp>
      <p:sp>
        <p:nvSpPr>
          <p:cNvPr id="7" name="Text 4"/>
          <p:cNvSpPr txBox="1"/>
          <p:nvPr/>
        </p:nvSpPr>
        <p:spPr>
          <a:xfrm>
            <a:off x="1645920" y="1554480"/>
            <a:ext cx="3108960" cy="731520"/>
          </a:xfrm>
          <a:prstGeom prst="rect">
            <a:avLst/>
          </a:prstGeom>
          <a:noFill/>
          <a:ln/>
        </p:spPr>
        <p:txBody>
          <a:bodyPr wrap="square" lIns="0" tIns="0" rIns="0" bIns="0" rtlCol="0" anchor="t"/>
          <a:lstStyle/>
          <a:p>
            <a:pPr indent="0" marL="0">
              <a:buNone/>
            </a:pPr>
            <a:r>
              <a:rPr lang="en-US" sz="1600" b="1" dirty="0">
                <a:solidFill>
                  <a:schemeClr val="tx2"/>
                </a:solidFill>
              </a:rPr>
              <a:t>Open-loop tripod</a:t>
            </a:r>
            <a:endParaRPr lang="en-US" sz="1600" dirty="0"/>
          </a:p>
          <a:p>
            <a:pPr indent="0" marL="0">
              <a:buNone/>
            </a:pPr>
            <a:r>
              <a:rPr lang="en-US" sz="1200" dirty="0">
                <a:solidFill>
                  <a:schemeClr val="accent3"/>
                </a:solidFill>
                <a:latin typeface="Courier New" pitchFamily="34" charset="0"/>
                <a:ea typeface="Courier New" pitchFamily="34" charset="-122"/>
                <a:cs typeface="Courier New" pitchFamily="34" charset="-120"/>
              </a:rPr>
              <a:t>sim_zero</a:t>
            </a:r>
            <a:endParaRPr lang="en-US" sz="1600" dirty="0"/>
          </a:p>
        </p:txBody>
      </p:sp>
      <p:sp>
        <p:nvSpPr>
          <p:cNvPr id="8" name="Text 5"/>
          <p:cNvSpPr txBox="1"/>
          <p:nvPr/>
        </p:nvSpPr>
        <p:spPr>
          <a:xfrm>
            <a:off x="4937760" y="1508760"/>
            <a:ext cx="6492240" cy="777240"/>
          </a:xfrm>
          <a:prstGeom prst="rect">
            <a:avLst/>
          </a:prstGeom>
          <a:noFill/>
          <a:ln/>
        </p:spPr>
        <p:txBody>
          <a:bodyPr wrap="square" lIns="0" tIns="0" rIns="0" bIns="0" rtlCol="0" anchor="ctr"/>
          <a:lstStyle/>
          <a:p>
            <a:pPr indent="0" marL="0">
              <a:buNone/>
            </a:pPr>
            <a:r>
              <a:rPr lang="en-US" sz="1400" dirty="0">
                <a:solidFill>
                  <a:schemeClr val="tx1"/>
                </a:solidFill>
              </a:rPr>
              <a:t>Foot trajectories from the gait parameters, per-leg inverse kinematics, position-commanded joints. No feedback.</a:t>
            </a:r>
            <a:endParaRPr lang="en-US" sz="1400" dirty="0"/>
          </a:p>
        </p:txBody>
      </p:sp>
      <p:sp>
        <p:nvSpPr>
          <p:cNvPr id="9" name="riga C2"/>
          <p:cNvSpPr/>
          <p:nvPr/>
        </p:nvSpPr>
        <p:spPr>
          <a:xfrm>
            <a:off x="548640" y="2578608"/>
            <a:ext cx="11094415" cy="1051560"/>
          </a:xfrm>
          <a:prstGeom prst="rect">
            <a:avLst/>
          </a:prstGeom>
          <a:solidFill>
            <a:schemeClr val="bg2"/>
          </a:solidFill>
          <a:ln w="12700">
            <a:solidFill>
              <a:schemeClr val="bg2"/>
            </a:solidFill>
            <a:prstDash val="solid"/>
          </a:ln>
        </p:spPr>
      </p:sp>
      <p:sp>
        <p:nvSpPr>
          <p:cNvPr id="10" name="badge C2"/>
          <p:cNvSpPr/>
          <p:nvPr/>
        </p:nvSpPr>
        <p:spPr>
          <a:xfrm>
            <a:off x="777240" y="2788920"/>
            <a:ext cx="640080" cy="640080"/>
          </a:xfrm>
          <a:prstGeom prst="ellipse">
            <a:avLst/>
          </a:prstGeom>
          <a:solidFill>
            <a:schemeClr val="accent1"/>
          </a:solidFill>
          <a:ln w="12700">
            <a:solidFill>
              <a:schemeClr val="accent1"/>
            </a:solidFill>
            <a:prstDash val="solid"/>
          </a:ln>
        </p:spPr>
      </p:sp>
      <p:sp>
        <p:nvSpPr>
          <p:cNvPr id="11" name="Text 8"/>
          <p:cNvSpPr txBox="1"/>
          <p:nvPr/>
        </p:nvSpPr>
        <p:spPr>
          <a:xfrm>
            <a:off x="777240" y="278892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C2</a:t>
            </a:r>
            <a:endParaRPr lang="en-US" sz="1600" dirty="0"/>
          </a:p>
        </p:txBody>
      </p:sp>
      <p:sp>
        <p:nvSpPr>
          <p:cNvPr id="12" name="Text 9"/>
          <p:cNvSpPr txBox="1"/>
          <p:nvPr/>
        </p:nvSpPr>
        <p:spPr>
          <a:xfrm>
            <a:off x="1645920" y="2761488"/>
            <a:ext cx="3108960" cy="731520"/>
          </a:xfrm>
          <a:prstGeom prst="rect">
            <a:avLst/>
          </a:prstGeom>
          <a:noFill/>
          <a:ln/>
        </p:spPr>
        <p:txBody>
          <a:bodyPr wrap="square" lIns="0" tIns="0" rIns="0" bIns="0" rtlCol="0" anchor="t"/>
          <a:lstStyle/>
          <a:p>
            <a:pPr indent="0" marL="0">
              <a:buNone/>
            </a:pPr>
            <a:r>
              <a:rPr lang="en-US" sz="1600" b="1" dirty="0">
                <a:solidFill>
                  <a:schemeClr val="tx2"/>
                </a:solidFill>
              </a:rPr>
              <a:t>C1 + terrain search</a:t>
            </a:r>
            <a:endParaRPr lang="en-US" sz="1600" dirty="0"/>
          </a:p>
          <a:p>
            <a:pPr indent="0" marL="0">
              <a:buNone/>
            </a:pPr>
            <a:r>
              <a:rPr lang="en-US" sz="1200" dirty="0">
                <a:solidFill>
                  <a:schemeClr val="accent3"/>
                </a:solidFill>
                <a:latin typeface="Courier New" pitchFamily="34" charset="0"/>
                <a:ea typeface="Courier New" pitchFamily="34" charset="-122"/>
                <a:cs typeface="Courier New" pitchFamily="34" charset="-120"/>
              </a:rPr>
              <a:t>sim_zero</a:t>
            </a:r>
            <a:endParaRPr lang="en-US" sz="1600" dirty="0"/>
          </a:p>
        </p:txBody>
      </p:sp>
      <p:sp>
        <p:nvSpPr>
          <p:cNvPr id="13" name="Text 10"/>
          <p:cNvSpPr txBox="1"/>
          <p:nvPr/>
        </p:nvSpPr>
        <p:spPr>
          <a:xfrm>
            <a:off x="4937760" y="2715768"/>
            <a:ext cx="6492240" cy="777240"/>
          </a:xfrm>
          <a:prstGeom prst="rect">
            <a:avLst/>
          </a:prstGeom>
          <a:noFill/>
          <a:ln/>
        </p:spPr>
        <p:txBody>
          <a:bodyPr wrap="square" lIns="0" tIns="0" rIns="0" bIns="0" rtlCol="0" anchor="ctr"/>
          <a:lstStyle/>
          <a:p>
            <a:pPr indent="0" marL="0">
              <a:buNone/>
            </a:pPr>
            <a:r>
              <a:rPr lang="en-US" sz="1400" dirty="0">
                <a:solidFill>
                  <a:schemeClr val="tx1"/>
                </a:solidFill>
              </a:rPr>
              <a:t>If the foot has reached the stance height but the flag is low, it keeps descending until the torque residual exceeds the threshold.</a:t>
            </a:r>
            <a:endParaRPr lang="en-US" sz="1400" dirty="0"/>
          </a:p>
        </p:txBody>
      </p:sp>
      <p:sp>
        <p:nvSpPr>
          <p:cNvPr id="14" name="riga C3"/>
          <p:cNvSpPr/>
          <p:nvPr/>
        </p:nvSpPr>
        <p:spPr>
          <a:xfrm>
            <a:off x="548640" y="3785616"/>
            <a:ext cx="11094415" cy="1051560"/>
          </a:xfrm>
          <a:prstGeom prst="rect">
            <a:avLst/>
          </a:prstGeom>
          <a:solidFill>
            <a:schemeClr val="bg2"/>
          </a:solidFill>
          <a:ln w="12700">
            <a:solidFill>
              <a:schemeClr val="bg2"/>
            </a:solidFill>
            <a:prstDash val="solid"/>
          </a:ln>
        </p:spPr>
      </p:sp>
      <p:sp>
        <p:nvSpPr>
          <p:cNvPr id="15" name="badge C3"/>
          <p:cNvSpPr/>
          <p:nvPr/>
        </p:nvSpPr>
        <p:spPr>
          <a:xfrm>
            <a:off x="777240" y="3995928"/>
            <a:ext cx="640080" cy="640080"/>
          </a:xfrm>
          <a:prstGeom prst="ellipse">
            <a:avLst/>
          </a:prstGeom>
          <a:solidFill>
            <a:schemeClr val="accent2"/>
          </a:solidFill>
          <a:ln w="12700">
            <a:solidFill>
              <a:schemeClr val="accent2"/>
            </a:solidFill>
            <a:prstDash val="solid"/>
          </a:ln>
        </p:spPr>
      </p:sp>
      <p:sp>
        <p:nvSpPr>
          <p:cNvPr id="16" name="Text 13"/>
          <p:cNvSpPr txBox="1"/>
          <p:nvPr/>
        </p:nvSpPr>
        <p:spPr>
          <a:xfrm>
            <a:off x="777240" y="3995928"/>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C3</a:t>
            </a:r>
            <a:endParaRPr lang="en-US" sz="1600" dirty="0"/>
          </a:p>
        </p:txBody>
      </p:sp>
      <p:sp>
        <p:nvSpPr>
          <p:cNvPr id="17" name="Text 14"/>
          <p:cNvSpPr txBox="1"/>
          <p:nvPr/>
        </p:nvSpPr>
        <p:spPr>
          <a:xfrm>
            <a:off x="1645920" y="3968496"/>
            <a:ext cx="3108960" cy="731520"/>
          </a:xfrm>
          <a:prstGeom prst="rect">
            <a:avLst/>
          </a:prstGeom>
          <a:noFill/>
          <a:ln/>
        </p:spPr>
        <p:txBody>
          <a:bodyPr wrap="square" lIns="0" tIns="0" rIns="0" bIns="0" rtlCol="0" anchor="t"/>
          <a:lstStyle/>
          <a:p>
            <a:pPr indent="0" marL="0">
              <a:buNone/>
            </a:pPr>
            <a:r>
              <a:rPr lang="en-US" sz="1600" b="1" dirty="0">
                <a:solidFill>
                  <a:schemeClr val="tx2"/>
                </a:solidFill>
              </a:rPr>
              <a:t>C2 + attitude loop</a:t>
            </a:r>
            <a:endParaRPr lang="en-US" sz="1600" dirty="0"/>
          </a:p>
          <a:p>
            <a:pPr indent="0" marL="0">
              <a:buNone/>
            </a:pPr>
            <a:r>
              <a:rPr lang="en-US" sz="1200" dirty="0">
                <a:solidFill>
                  <a:schemeClr val="accent3"/>
                </a:solidFill>
                <a:latin typeface="Courier New" pitchFamily="34" charset="0"/>
                <a:ea typeface="Courier New" pitchFamily="34" charset="-122"/>
                <a:cs typeface="Courier New" pitchFamily="34" charset="-120"/>
              </a:rPr>
              <a:t>sim_attitude</a:t>
            </a:r>
            <a:endParaRPr lang="en-US" sz="1600" dirty="0"/>
          </a:p>
        </p:txBody>
      </p:sp>
      <p:sp>
        <p:nvSpPr>
          <p:cNvPr id="18" name="Text 15"/>
          <p:cNvSpPr txBox="1"/>
          <p:nvPr/>
        </p:nvSpPr>
        <p:spPr>
          <a:xfrm>
            <a:off x="4937760" y="3922776"/>
            <a:ext cx="6492240" cy="777240"/>
          </a:xfrm>
          <a:prstGeom prst="rect">
            <a:avLst/>
          </a:prstGeom>
          <a:noFill/>
          <a:ln/>
        </p:spPr>
        <p:txBody>
          <a:bodyPr wrap="square" lIns="0" tIns="0" rIns="0" bIns="0" rtlCol="0" anchor="ctr"/>
          <a:lstStyle/>
          <a:p>
            <a:pPr indent="0" marL="0">
              <a:buNone/>
            </a:pPr>
            <a:r>
              <a:rPr lang="en-US" sz="1400" dirty="0">
                <a:solidFill>
                  <a:schemeClr val="tx1"/>
                </a:solidFill>
              </a:rPr>
              <a:t>Two discrete PIs on pitch (P=10, I=1) and roll (P=5, I=0.5); outputs distributed over the six feet as an additive Δz.</a:t>
            </a:r>
            <a:endParaRPr lang="en-US" sz="1400" dirty="0"/>
          </a:p>
        </p:txBody>
      </p:sp>
      <p:sp>
        <p:nvSpPr>
          <p:cNvPr id="19" name="pipeline"/>
          <p:cNvSpPr/>
          <p:nvPr/>
        </p:nvSpPr>
        <p:spPr>
          <a:xfrm>
            <a:off x="548640" y="5074920"/>
            <a:ext cx="11094415" cy="548640"/>
          </a:xfrm>
          <a:prstGeom prst="rect">
            <a:avLst/>
          </a:prstGeom>
          <a:solidFill>
            <a:schemeClr val="tx2"/>
          </a:solidFill>
          <a:ln w="12700">
            <a:solidFill>
              <a:schemeClr val="tx2"/>
            </a:solidFill>
            <a:prstDash val="solid"/>
          </a:ln>
        </p:spPr>
      </p:sp>
      <p:sp>
        <p:nvSpPr>
          <p:cNvPr id="20" name="Text 17"/>
          <p:cNvSpPr txBox="1"/>
          <p:nvPr/>
        </p:nvSpPr>
        <p:spPr>
          <a:xfrm>
            <a:off x="548640" y="5074920"/>
            <a:ext cx="11094415" cy="548640"/>
          </a:xfrm>
          <a:prstGeom prst="rect">
            <a:avLst/>
          </a:prstGeom>
          <a:noFill/>
          <a:ln/>
        </p:spPr>
        <p:txBody>
          <a:bodyPr wrap="square" lIns="0" tIns="0" rIns="0" bIns="0" rtlCol="0" anchor="ctr"/>
          <a:lstStyle/>
          <a:p>
            <a:pPr algn="ctr" indent="0" marL="0">
              <a:buNone/>
            </a:pPr>
            <a:r>
              <a:rPr lang="en-US" sz="1500" b="1" dirty="0">
                <a:solidFill>
                  <a:schemeClr val="bg1"/>
                </a:solidFill>
                <a:latin typeface="Courier New" pitchFamily="34" charset="0"/>
                <a:ea typeface="Courier New" pitchFamily="34" charset="-122"/>
                <a:cs typeface="Courier New" pitchFamily="34" charset="-120"/>
              </a:rPr>
              <a:t>ricerca_terreno  →  z_i  →  Σ(+Δz_i)  →  Saturation  →  Rate Limiter  →  leg</a:t>
            </a:r>
            <a:endParaRPr lang="en-US" sz="1500" dirty="0"/>
          </a:p>
        </p:txBody>
      </p:sp>
      <p:sp>
        <p:nvSpPr>
          <p:cNvPr id="21" name="Text 18"/>
          <p:cNvSpPr txBox="1"/>
          <p:nvPr/>
        </p:nvSpPr>
        <p:spPr>
          <a:xfrm>
            <a:off x="548640" y="5760720"/>
            <a:ext cx="11094415" cy="365760"/>
          </a:xfrm>
          <a:prstGeom prst="rect">
            <a:avLst/>
          </a:prstGeom>
          <a:noFill/>
          <a:ln/>
        </p:spPr>
        <p:txBody>
          <a:bodyPr wrap="square" lIns="0" tIns="0" rIns="0" bIns="0" rtlCol="0" anchor="t"/>
          <a:lstStyle/>
          <a:p>
            <a:pPr algn="ctr" indent="0" marL="0">
              <a:buNone/>
            </a:pPr>
            <a:r>
              <a:rPr lang="en-US" sz="1400" dirty="0">
                <a:solidFill>
                  <a:schemeClr val="accent3"/>
                </a:solidFill>
              </a:rPr>
              <a:t>Δz = x·u_θ + y·u_φ        C1→C2 isolates terrain search   ·   C2→C3 isolates the attitude loop</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Gait and seven tasks</a:t>
            </a:r>
            <a:endParaRPr lang="en-US" sz="3000" dirty="0"/>
          </a:p>
        </p:txBody>
      </p:sp>
      <p:sp>
        <p:nvSpPr>
          <p:cNvPr id="4" name="Text 1"/>
          <p:cNvSpPr txBox="1"/>
          <p:nvPr/>
        </p:nvSpPr>
        <p:spPr>
          <a:xfrm>
            <a:off x="548640" y="1371600"/>
            <a:ext cx="3840480" cy="365760"/>
          </a:xfrm>
          <a:prstGeom prst="rect">
            <a:avLst/>
          </a:prstGeom>
          <a:noFill/>
          <a:ln/>
        </p:spPr>
        <p:txBody>
          <a:bodyPr wrap="square" lIns="0" tIns="0" rIns="0" bIns="0" rtlCol="0" anchor="t"/>
          <a:lstStyle/>
          <a:p>
            <a:pPr indent="0" marL="0">
              <a:buNone/>
            </a:pPr>
            <a:r>
              <a:rPr lang="en-US" sz="1800" b="1" dirty="0">
                <a:solidFill>
                  <a:schemeClr val="tx2"/>
                </a:solidFill>
              </a:rPr>
              <a:t>Gait parameters</a:t>
            </a:r>
            <a:endParaRPr lang="en-US" sz="1800" dirty="0"/>
          </a:p>
        </p:txBody>
      </p:sp>
      <p:sp>
        <p:nvSpPr>
          <p:cNvPr id="5" name="param S"/>
          <p:cNvSpPr/>
          <p:nvPr/>
        </p:nvSpPr>
        <p:spPr>
          <a:xfrm>
            <a:off x="548640" y="1874520"/>
            <a:ext cx="1828800" cy="1188720"/>
          </a:xfrm>
          <a:prstGeom prst="rect">
            <a:avLst/>
          </a:prstGeom>
          <a:solidFill>
            <a:schemeClr val="bg2"/>
          </a:solidFill>
          <a:ln w="12700">
            <a:solidFill>
              <a:schemeClr val="bg2"/>
            </a:solidFill>
            <a:prstDash val="solid"/>
          </a:ln>
        </p:spPr>
      </p:sp>
      <p:sp>
        <p:nvSpPr>
          <p:cNvPr id="6" name="Text 3"/>
          <p:cNvSpPr txBox="1"/>
          <p:nvPr/>
        </p:nvSpPr>
        <p:spPr>
          <a:xfrm>
            <a:off x="685800" y="2057400"/>
            <a:ext cx="160020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S = 0.06 m</a:t>
            </a:r>
            <a:endParaRPr lang="en-US" sz="2000" dirty="0"/>
          </a:p>
        </p:txBody>
      </p:sp>
      <p:sp>
        <p:nvSpPr>
          <p:cNvPr id="7" name="Text 4"/>
          <p:cNvSpPr txBox="1"/>
          <p:nvPr/>
        </p:nvSpPr>
        <p:spPr>
          <a:xfrm>
            <a:off x="685800" y="2560320"/>
            <a:ext cx="1600200" cy="365760"/>
          </a:xfrm>
          <a:prstGeom prst="rect">
            <a:avLst/>
          </a:prstGeom>
          <a:noFill/>
          <a:ln/>
        </p:spPr>
        <p:txBody>
          <a:bodyPr wrap="square" lIns="0" tIns="0" rIns="0" bIns="0" rtlCol="0" anchor="t"/>
          <a:lstStyle/>
          <a:p>
            <a:pPr indent="0" marL="0">
              <a:buNone/>
            </a:pPr>
            <a:r>
              <a:rPr lang="en-US" sz="1300" dirty="0">
                <a:solidFill>
                  <a:schemeClr val="accent3"/>
                </a:solidFill>
              </a:rPr>
              <a:t>step</a:t>
            </a:r>
            <a:endParaRPr lang="en-US" sz="1300" dirty="0"/>
          </a:p>
        </p:txBody>
      </p:sp>
      <p:sp>
        <p:nvSpPr>
          <p:cNvPr id="8" name="param H"/>
          <p:cNvSpPr/>
          <p:nvPr/>
        </p:nvSpPr>
        <p:spPr>
          <a:xfrm>
            <a:off x="2514600" y="1874520"/>
            <a:ext cx="1828800" cy="1188720"/>
          </a:xfrm>
          <a:prstGeom prst="rect">
            <a:avLst/>
          </a:prstGeom>
          <a:solidFill>
            <a:schemeClr val="bg2"/>
          </a:solidFill>
          <a:ln w="12700">
            <a:solidFill>
              <a:schemeClr val="bg2"/>
            </a:solidFill>
            <a:prstDash val="solid"/>
          </a:ln>
        </p:spPr>
      </p:sp>
      <p:sp>
        <p:nvSpPr>
          <p:cNvPr id="9" name="Text 6"/>
          <p:cNvSpPr txBox="1"/>
          <p:nvPr/>
        </p:nvSpPr>
        <p:spPr>
          <a:xfrm>
            <a:off x="2651760" y="2057400"/>
            <a:ext cx="160020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H = 0.05 m</a:t>
            </a:r>
            <a:endParaRPr lang="en-US" sz="2000" dirty="0"/>
          </a:p>
        </p:txBody>
      </p:sp>
      <p:sp>
        <p:nvSpPr>
          <p:cNvPr id="10" name="Text 7"/>
          <p:cNvSpPr txBox="1"/>
          <p:nvPr/>
        </p:nvSpPr>
        <p:spPr>
          <a:xfrm>
            <a:off x="2651760" y="2560320"/>
            <a:ext cx="1600200" cy="365760"/>
          </a:xfrm>
          <a:prstGeom prst="rect">
            <a:avLst/>
          </a:prstGeom>
          <a:noFill/>
          <a:ln/>
        </p:spPr>
        <p:txBody>
          <a:bodyPr wrap="square" lIns="0" tIns="0" rIns="0" bIns="0" rtlCol="0" anchor="t"/>
          <a:lstStyle/>
          <a:p>
            <a:pPr indent="0" marL="0">
              <a:buNone/>
            </a:pPr>
            <a:r>
              <a:rPr lang="en-US" sz="1300" dirty="0">
                <a:solidFill>
                  <a:schemeClr val="accent3"/>
                </a:solidFill>
              </a:rPr>
              <a:t>height</a:t>
            </a:r>
            <a:endParaRPr lang="en-US" sz="1300" dirty="0"/>
          </a:p>
        </p:txBody>
      </p:sp>
      <p:sp>
        <p:nvSpPr>
          <p:cNvPr id="11" name="param T"/>
          <p:cNvSpPr/>
          <p:nvPr/>
        </p:nvSpPr>
        <p:spPr>
          <a:xfrm>
            <a:off x="548640" y="3200400"/>
            <a:ext cx="1828800" cy="1188720"/>
          </a:xfrm>
          <a:prstGeom prst="rect">
            <a:avLst/>
          </a:prstGeom>
          <a:solidFill>
            <a:schemeClr val="bg2"/>
          </a:solidFill>
          <a:ln w="12700">
            <a:solidFill>
              <a:schemeClr val="bg2"/>
            </a:solidFill>
            <a:prstDash val="solid"/>
          </a:ln>
        </p:spPr>
      </p:sp>
      <p:sp>
        <p:nvSpPr>
          <p:cNvPr id="12" name="Text 9"/>
          <p:cNvSpPr txBox="1"/>
          <p:nvPr/>
        </p:nvSpPr>
        <p:spPr>
          <a:xfrm>
            <a:off x="685800" y="3383280"/>
            <a:ext cx="160020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T = 1.0 s</a:t>
            </a:r>
            <a:endParaRPr lang="en-US" sz="2000" dirty="0"/>
          </a:p>
        </p:txBody>
      </p:sp>
      <p:sp>
        <p:nvSpPr>
          <p:cNvPr id="13" name="Text 10"/>
          <p:cNvSpPr txBox="1"/>
          <p:nvPr/>
        </p:nvSpPr>
        <p:spPr>
          <a:xfrm>
            <a:off x="685800" y="3886200"/>
            <a:ext cx="1600200" cy="365760"/>
          </a:xfrm>
          <a:prstGeom prst="rect">
            <a:avLst/>
          </a:prstGeom>
          <a:noFill/>
          <a:ln/>
        </p:spPr>
        <p:txBody>
          <a:bodyPr wrap="square" lIns="0" tIns="0" rIns="0" bIns="0" rtlCol="0" anchor="t"/>
          <a:lstStyle/>
          <a:p>
            <a:pPr indent="0" marL="0">
              <a:buNone/>
            </a:pPr>
            <a:r>
              <a:rPr lang="en-US" sz="1300" dirty="0">
                <a:solidFill>
                  <a:schemeClr val="accent3"/>
                </a:solidFill>
              </a:rPr>
              <a:t>period</a:t>
            </a:r>
            <a:endParaRPr lang="en-US" sz="1300" dirty="0"/>
          </a:p>
        </p:txBody>
      </p:sp>
      <p:sp>
        <p:nvSpPr>
          <p:cNvPr id="14" name="param β"/>
          <p:cNvSpPr/>
          <p:nvPr/>
        </p:nvSpPr>
        <p:spPr>
          <a:xfrm>
            <a:off x="2514600" y="3200400"/>
            <a:ext cx="1828800" cy="1188720"/>
          </a:xfrm>
          <a:prstGeom prst="rect">
            <a:avLst/>
          </a:prstGeom>
          <a:solidFill>
            <a:schemeClr val="bg2"/>
          </a:solidFill>
          <a:ln w="12700">
            <a:solidFill>
              <a:schemeClr val="bg2"/>
            </a:solidFill>
            <a:prstDash val="solid"/>
          </a:ln>
        </p:spPr>
      </p:sp>
      <p:sp>
        <p:nvSpPr>
          <p:cNvPr id="15" name="Text 12"/>
          <p:cNvSpPr txBox="1"/>
          <p:nvPr/>
        </p:nvSpPr>
        <p:spPr>
          <a:xfrm>
            <a:off x="2651760" y="3383280"/>
            <a:ext cx="160020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β = 0.50</a:t>
            </a:r>
            <a:endParaRPr lang="en-US" sz="2000" dirty="0"/>
          </a:p>
        </p:txBody>
      </p:sp>
      <p:sp>
        <p:nvSpPr>
          <p:cNvPr id="16" name="Text 13"/>
          <p:cNvSpPr txBox="1"/>
          <p:nvPr/>
        </p:nvSpPr>
        <p:spPr>
          <a:xfrm>
            <a:off x="2651760" y="3886200"/>
            <a:ext cx="1600200" cy="365760"/>
          </a:xfrm>
          <a:prstGeom prst="rect">
            <a:avLst/>
          </a:prstGeom>
          <a:noFill/>
          <a:ln/>
        </p:spPr>
        <p:txBody>
          <a:bodyPr wrap="square" lIns="0" tIns="0" rIns="0" bIns="0" rtlCol="0" anchor="t"/>
          <a:lstStyle/>
          <a:p>
            <a:pPr indent="0" marL="0">
              <a:buNone/>
            </a:pPr>
            <a:r>
              <a:rPr lang="en-US" sz="1300" dirty="0">
                <a:solidFill>
                  <a:schemeClr val="accent3"/>
                </a:solidFill>
              </a:rPr>
              <a:t>duty factor</a:t>
            </a:r>
            <a:endParaRPr lang="en-US" sz="1300" dirty="0"/>
          </a:p>
        </p:txBody>
      </p:sp>
      <p:sp>
        <p:nvSpPr>
          <p:cNvPr id="17" name="Text 14"/>
          <p:cNvSpPr txBox="1"/>
          <p:nvPr/>
        </p:nvSpPr>
        <p:spPr>
          <a:xfrm>
            <a:off x="548640" y="4663440"/>
            <a:ext cx="3794760" cy="822960"/>
          </a:xfrm>
          <a:prstGeom prst="rect">
            <a:avLst/>
          </a:prstGeom>
          <a:noFill/>
          <a:ln/>
        </p:spPr>
        <p:txBody>
          <a:bodyPr wrap="square" lIns="0" tIns="0" rIns="0" bIns="0" rtlCol="0" anchor="t"/>
          <a:lstStyle/>
          <a:p>
            <a:pPr indent="0" marL="0">
              <a:buNone/>
            </a:pPr>
            <a:r>
              <a:rPr lang="en-US" sz="1400" i="1" dirty="0">
                <a:solidFill>
                  <a:schemeClr val="tx2"/>
                </a:solidFill>
              </a:rPr>
              <a:t>Fr = v²/(g·h) = 0.0095: quasi-static gait, v = 0.12 m/s</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800600" y="1371600"/>
          <a:ext cx="6839712" cy="914400"/>
        </p:xfrm>
        <a:graphic>
          <a:graphicData uri="http://schemas.openxmlformats.org/drawingml/2006/table">
            <a:tbl>
              <a:tblPr/>
              <a:tblGrid>
                <a:gridCol w="731520"/>
                <a:gridCol w="2377440"/>
                <a:gridCol w="3730752"/>
              </a:tblGrid>
              <a:tr h="457200">
                <a:tc>
                  <a:txBody>
                    <a:bodyPr/>
                    <a:lstStyle/>
                    <a:p>
                      <a:pPr indent="0" marL="0">
                        <a:buNone/>
                      </a:pPr>
                      <a:r>
                        <a:rPr lang="en-US" sz="1500" b="1" dirty="0">
                          <a:solidFill>
                            <a:srgbClr val="FFFFFF"/>
                          </a:solidFill>
                        </a:rPr>
                        <a:t>ID</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Task</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What it stresses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r>
              <a:tr h="457200">
                <a:tc>
                  <a:txBody>
                    <a:bodyPr/>
                    <a:lstStyle/>
                    <a:p>
                      <a:pPr indent="0" marL="0">
                        <a:buNone/>
                      </a:pPr>
                      <a:r>
                        <a:rPr lang="en-US" sz="1500" b="1" dirty="0">
                          <a:solidFill>
                            <a:srgbClr val="1F2A30"/>
                          </a:solidFill>
                        </a:rPr>
                        <a:t>T2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flat, speed sweep</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reference and speed envelope</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T3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curved path</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yaw 0.1 rad/s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T4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8° ramp</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body attitude versus terrain</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T4D</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8°/8° bump</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ascent and descent</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T5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single obstacle</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unmodelled step, 32.8 mm</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T6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seven obstacles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four full-width, three lateral</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T7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lateral impulse</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from 1% to 1600% of nominal</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Flaw 1: the URDF inertias</a:t>
            </a:r>
            <a:endParaRPr lang="en-US" sz="3000" dirty="0"/>
          </a:p>
        </p:txBody>
      </p:sp>
      <p:sp>
        <p:nvSpPr>
          <p:cNvPr id="4" name="stat 0"/>
          <p:cNvSpPr/>
          <p:nvPr/>
        </p:nvSpPr>
        <p:spPr>
          <a:xfrm>
            <a:off x="548640" y="1463040"/>
            <a:ext cx="3520440" cy="2743200"/>
          </a:xfrm>
          <a:prstGeom prst="rect">
            <a:avLst/>
          </a:prstGeom>
          <a:solidFill>
            <a:schemeClr val="bg2"/>
          </a:solidFill>
          <a:ln w="12700">
            <a:solidFill>
              <a:schemeClr val="bg2"/>
            </a:solidFill>
            <a:prstDash val="solid"/>
          </a:ln>
        </p:spPr>
      </p:sp>
      <p:sp>
        <p:nvSpPr>
          <p:cNvPr id="5" name="Text 2"/>
          <p:cNvSpPr txBox="1"/>
          <p:nvPr/>
        </p:nvSpPr>
        <p:spPr>
          <a:xfrm>
            <a:off x="822960" y="1783080"/>
            <a:ext cx="2971800" cy="685800"/>
          </a:xfrm>
          <a:prstGeom prst="rect">
            <a:avLst/>
          </a:prstGeom>
          <a:noFill/>
          <a:ln/>
        </p:spPr>
        <p:txBody>
          <a:bodyPr wrap="square" lIns="0" tIns="0" rIns="0" bIns="0" rtlCol="0" anchor="t"/>
          <a:lstStyle/>
          <a:p>
            <a:pPr indent="0" marL="0">
              <a:buNone/>
            </a:pPr>
            <a:r>
              <a:rPr lang="en-US" sz="3800" b="1" dirty="0">
                <a:solidFill>
                  <a:schemeClr val="accent1"/>
                </a:solidFill>
                <a:latin typeface="Cambria" pitchFamily="34" charset="0"/>
                <a:ea typeface="Cambria" pitchFamily="34" charset="-122"/>
                <a:cs typeface="Cambria" pitchFamily="34" charset="-120"/>
              </a:rPr>
              <a:t>r = 1.79 m</a:t>
            </a:r>
            <a:endParaRPr lang="en-US" sz="3800" dirty="0"/>
          </a:p>
        </p:txBody>
      </p:sp>
      <p:sp>
        <p:nvSpPr>
          <p:cNvPr id="6" name="Text 3"/>
          <p:cNvSpPr txBox="1"/>
          <p:nvPr/>
        </p:nvSpPr>
        <p:spPr>
          <a:xfrm>
            <a:off x="822960" y="2496312"/>
            <a:ext cx="2971800" cy="548640"/>
          </a:xfrm>
          <a:prstGeom prst="rect">
            <a:avLst/>
          </a:prstGeom>
          <a:noFill/>
          <a:ln/>
        </p:spPr>
        <p:txBody>
          <a:bodyPr wrap="square" lIns="0" tIns="0" rIns="0" bIns="0" rtlCol="0" anchor="t"/>
          <a:lstStyle/>
          <a:p>
            <a:pPr indent="0" marL="0">
              <a:buNone/>
            </a:pPr>
            <a:r>
              <a:rPr lang="en-US" sz="1300" dirty="0">
                <a:solidFill>
                  <a:schemeClr val="tx1"/>
                </a:solidFill>
              </a:rPr>
              <a:t>declared radius of gyration for a 25 cm wide trunk</a:t>
            </a:r>
            <a:endParaRPr lang="en-US" sz="1300" dirty="0"/>
          </a:p>
        </p:txBody>
      </p:sp>
      <p:sp>
        <p:nvSpPr>
          <p:cNvPr id="7" name="stat 1"/>
          <p:cNvSpPr/>
          <p:nvPr/>
        </p:nvSpPr>
        <p:spPr>
          <a:xfrm>
            <a:off x="4343400" y="1463040"/>
            <a:ext cx="3520440" cy="2743200"/>
          </a:xfrm>
          <a:prstGeom prst="rect">
            <a:avLst/>
          </a:prstGeom>
          <a:solidFill>
            <a:schemeClr val="bg2"/>
          </a:solidFill>
          <a:ln w="12700">
            <a:solidFill>
              <a:schemeClr val="bg2"/>
            </a:solidFill>
            <a:prstDash val="solid"/>
          </a:ln>
        </p:spPr>
      </p:sp>
      <p:sp>
        <p:nvSpPr>
          <p:cNvPr id="8" name="Text 5"/>
          <p:cNvSpPr txBox="1"/>
          <p:nvPr/>
        </p:nvSpPr>
        <p:spPr>
          <a:xfrm>
            <a:off x="4617720" y="1783080"/>
            <a:ext cx="2971800" cy="685800"/>
          </a:xfrm>
          <a:prstGeom prst="rect">
            <a:avLst/>
          </a:prstGeom>
          <a:noFill/>
          <a:ln/>
        </p:spPr>
        <p:txBody>
          <a:bodyPr wrap="square" lIns="0" tIns="0" rIns="0" bIns="0" rtlCol="0" anchor="t"/>
          <a:lstStyle/>
          <a:p>
            <a:pPr indent="0" marL="0">
              <a:buNone/>
            </a:pPr>
            <a:r>
              <a:rPr lang="en-US" sz="3800" b="1" dirty="0">
                <a:solidFill>
                  <a:schemeClr val="accent3"/>
                </a:solidFill>
                <a:latin typeface="Cambria" pitchFamily="34" charset="0"/>
                <a:ea typeface="Cambria" pitchFamily="34" charset="-122"/>
                <a:cs typeface="Cambria" pitchFamily="34" charset="-120"/>
              </a:rPr>
              <a:t>24 / 24</a:t>
            </a:r>
            <a:endParaRPr lang="en-US" sz="3800" dirty="0"/>
          </a:p>
        </p:txBody>
      </p:sp>
      <p:sp>
        <p:nvSpPr>
          <p:cNvPr id="9" name="Text 6"/>
          <p:cNvSpPr txBox="1"/>
          <p:nvPr/>
        </p:nvSpPr>
        <p:spPr>
          <a:xfrm>
            <a:off x="4617720" y="2496312"/>
            <a:ext cx="2971800" cy="548640"/>
          </a:xfrm>
          <a:prstGeom prst="rect">
            <a:avLst/>
          </a:prstGeom>
          <a:noFill/>
          <a:ln/>
        </p:spPr>
        <p:txBody>
          <a:bodyPr wrap="square" lIns="0" tIns="0" rIns="0" bIns="0" rtlCol="0" anchor="t"/>
          <a:lstStyle/>
          <a:p>
            <a:pPr indent="0" marL="0">
              <a:buNone/>
            </a:pPr>
            <a:r>
              <a:rPr lang="en-US" sz="1300" dirty="0">
                <a:solidFill>
                  <a:schemeClr val="tx1"/>
                </a:solidFill>
              </a:rPr>
              <a:t>links with identical inertia, to the same decimal</a:t>
            </a:r>
            <a:endParaRPr lang="en-US" sz="1300" dirty="0"/>
          </a:p>
        </p:txBody>
      </p:sp>
      <p:sp>
        <p:nvSpPr>
          <p:cNvPr id="10" name="stat 2"/>
          <p:cNvSpPr/>
          <p:nvPr/>
        </p:nvSpPr>
        <p:spPr>
          <a:xfrm>
            <a:off x="8138160" y="1463040"/>
            <a:ext cx="3520440" cy="2743200"/>
          </a:xfrm>
          <a:prstGeom prst="rect">
            <a:avLst/>
          </a:prstGeom>
          <a:solidFill>
            <a:schemeClr val="bg2"/>
          </a:solidFill>
          <a:ln w="12700">
            <a:solidFill>
              <a:schemeClr val="bg2"/>
            </a:solidFill>
            <a:prstDash val="solid"/>
          </a:ln>
        </p:spPr>
      </p:sp>
      <p:sp>
        <p:nvSpPr>
          <p:cNvPr id="11" name="Text 8"/>
          <p:cNvSpPr txBox="1"/>
          <p:nvPr/>
        </p:nvSpPr>
        <p:spPr>
          <a:xfrm>
            <a:off x="8412480" y="1783080"/>
            <a:ext cx="2971800" cy="685800"/>
          </a:xfrm>
          <a:prstGeom prst="rect">
            <a:avLst/>
          </a:prstGeom>
          <a:noFill/>
          <a:ln/>
        </p:spPr>
        <p:txBody>
          <a:bodyPr wrap="square" lIns="0" tIns="0" rIns="0" bIns="0" rtlCol="0" anchor="t"/>
          <a:lstStyle/>
          <a:p>
            <a:pPr indent="0" marL="0">
              <a:buNone/>
            </a:pPr>
            <a:r>
              <a:rPr lang="en-US" sz="3800" b="1" dirty="0">
                <a:solidFill>
                  <a:schemeClr val="accent2"/>
                </a:solidFill>
                <a:latin typeface="Cambria" pitchFamily="34" charset="0"/>
                <a:ea typeface="Cambria" pitchFamily="34" charset="-122"/>
                <a:cs typeface="Cambria" pitchFamily="34" charset="-120"/>
              </a:rPr>
              <a:t>45° → 15°</a:t>
            </a:r>
            <a:endParaRPr lang="en-US" sz="3800" dirty="0"/>
          </a:p>
        </p:txBody>
      </p:sp>
      <p:sp>
        <p:nvSpPr>
          <p:cNvPr id="12" name="Text 9"/>
          <p:cNvSpPr txBox="1"/>
          <p:nvPr/>
        </p:nvSpPr>
        <p:spPr>
          <a:xfrm>
            <a:off x="8412480" y="2496312"/>
            <a:ext cx="2971800" cy="548640"/>
          </a:xfrm>
          <a:prstGeom prst="rect">
            <a:avLst/>
          </a:prstGeom>
          <a:noFill/>
          <a:ln/>
        </p:spPr>
        <p:txBody>
          <a:bodyPr wrap="square" lIns="0" tIns="0" rIns="0" bIns="0" rtlCol="0" anchor="t"/>
          <a:lstStyle/>
          <a:p>
            <a:pPr indent="0" marL="0">
              <a:buNone/>
            </a:pPr>
            <a:r>
              <a:rPr lang="en-US" sz="1300" dirty="0">
                <a:solidFill>
                  <a:schemeClr val="tx1"/>
                </a:solidFill>
              </a:rPr>
              <a:t>C1 pitch on rough terrain, before and after ÷10³</a:t>
            </a:r>
            <a:endParaRPr lang="en-US" sz="1300" dirty="0"/>
          </a:p>
        </p:txBody>
      </p:sp>
      <p:sp>
        <p:nvSpPr>
          <p:cNvPr id="13" name="Text 10"/>
          <p:cNvSpPr txBox="1"/>
          <p:nvPr/>
        </p:nvSpPr>
        <p:spPr>
          <a:xfrm>
            <a:off x="548640" y="466344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Signature of a CAD export with masses in grams: dividing by 10³ makes everything physically plausible.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Flaw 2: the contact detector</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583680" cy="914400"/>
        </p:xfrm>
        <a:graphic>
          <a:graphicData uri="http://schemas.openxmlformats.org/drawingml/2006/table">
            <a:tbl>
              <a:tblPr/>
              <a:tblGrid>
                <a:gridCol w="3291840"/>
                <a:gridCol w="1737360"/>
                <a:gridCol w="1554480"/>
              </a:tblGrid>
              <a:tr h="502920">
                <a:tc>
                  <a:txBody>
                    <a:bodyPr/>
                    <a:lstStyle/>
                    <a:p>
                      <a:pPr indent="0" marL="0">
                        <a:buNone/>
                      </a:pP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600" b="1" dirty="0">
                          <a:solidFill>
                            <a:srgbClr val="FFFFFF"/>
                          </a:solidFill>
                        </a:rPr>
                        <a:t>misaligned estimator</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600" b="1" dirty="0">
                          <a:solidFill>
                            <a:srgbClr val="FFFFFF"/>
                          </a:solidFill>
                        </a:rPr>
                        <a:t>aligned</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r>
              <a:tr h="502920">
                <a:tc>
                  <a:txBody>
                    <a:bodyPr/>
                    <a:lstStyle/>
                    <a:p>
                      <a:pPr indent="0" marL="0">
                        <a:buNone/>
                      </a:pPr>
                      <a:r>
                        <a:rPr lang="en-US" sz="1600" b="1" dirty="0">
                          <a:solidFill>
                            <a:srgbClr val="1F2A30"/>
                          </a:solidFill>
                        </a:rPr>
                        <a:t>flag error during stance</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600" dirty="0">
                          <a:solidFill>
                            <a:srgbClr val="1F2A30"/>
                          </a:solidFill>
                        </a:rPr>
                        <a:t>7.0%</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600" b="1" dirty="0">
                          <a:solidFill>
                            <a:srgbClr val="1F3A45"/>
                          </a:solidFill>
                        </a:rPr>
                        <a:t>0.6%</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600" b="1" dirty="0">
                          <a:solidFill>
                            <a:srgbClr val="1F2A30"/>
                          </a:solidFill>
                        </a:rPr>
                        <a:t>error of an always-high flag</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600" dirty="0">
                          <a:solidFill>
                            <a:srgbClr val="1F2A30"/>
                          </a:solidFill>
                        </a:rPr>
                        <a:t>7.0%</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600" dirty="0">
                          <a:solidFill>
                            <a:srgbClr val="1F2A30"/>
                          </a:solidFill>
                        </a:rPr>
                        <a:t>3.2%</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600" b="1" dirty="0">
                          <a:solidFill>
                            <a:srgbClr val="1F2A30"/>
                          </a:solidFill>
                        </a:rPr>
                        <a:t>does the flag carry information?</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600" b="1" dirty="0">
                          <a:solidFill>
                            <a:srgbClr val="1F3A45"/>
                          </a:solidFill>
                        </a:rPr>
                        <a:t>no</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600" dirty="0">
                          <a:solidFill>
                            <a:srgbClr val="1F2A30"/>
                          </a:solidFill>
                        </a:rPr>
                        <a:t>yes</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600" b="1" dirty="0">
                          <a:solidFill>
                            <a:srgbClr val="1F2A30"/>
                          </a:solidFill>
                        </a:rPr>
                        <a:t>swings without search reset</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600" dirty="0">
                          <a:solidFill>
                            <a:srgbClr val="1F2A30"/>
                          </a:solidFill>
                        </a:rPr>
                        <a:t>20/60</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600" dirty="0">
                          <a:solidFill>
                            <a:srgbClr val="1F2A30"/>
                          </a:solidFill>
                        </a:rPr>
                        <a:t>2/60</a:t>
                      </a:r>
                      <a:endParaRPr lang="en-US" sz="16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5" name="card soglia"/>
          <p:cNvSpPr/>
          <p:nvPr/>
        </p:nvSpPr>
        <p:spPr>
          <a:xfrm>
            <a:off x="7498080" y="1417320"/>
            <a:ext cx="4142232" cy="2514600"/>
          </a:xfrm>
          <a:prstGeom prst="rect">
            <a:avLst/>
          </a:prstGeom>
          <a:solidFill>
            <a:schemeClr val="bg2"/>
          </a:solidFill>
          <a:ln w="12700">
            <a:solidFill>
              <a:schemeClr val="bg2"/>
            </a:solidFill>
            <a:prstDash val="solid"/>
          </a:ln>
        </p:spPr>
      </p:sp>
      <p:sp>
        <p:nvSpPr>
          <p:cNvPr id="6" name="Text 2"/>
          <p:cNvSpPr txBox="1"/>
          <p:nvPr/>
        </p:nvSpPr>
        <p:spPr>
          <a:xfrm>
            <a:off x="7726680" y="1600200"/>
            <a:ext cx="3685032" cy="219456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New threshold</a:t>
            </a:r>
            <a:endParaRPr lang="en-US" sz="1500" dirty="0"/>
          </a:p>
          <a:p>
            <a:pPr indent="0" marL="0">
              <a:spcAft>
                <a:spcPts val="600"/>
              </a:spcAft>
              <a:buNone/>
            </a:pPr>
            <a:r>
              <a:rPr lang="en-US" sz="1500" b="1" dirty="0">
                <a:solidFill>
                  <a:schemeClr val="accent1"/>
                </a:solidFill>
              </a:rPr>
              <a:t>[0.04, 0.1, 0.1] → [0.385, 0.136, 0.105]</a:t>
            </a:r>
            <a:endParaRPr lang="en-US" sz="1500" dirty="0"/>
          </a:p>
          <a:p>
            <a:pPr indent="0" marL="0">
              <a:spcAft>
                <a:spcPts val="600"/>
              </a:spcAft>
              <a:buNone/>
            </a:pPr>
            <a:r>
              <a:rPr lang="en-US" sz="1500" dirty="0">
                <a:solidFill>
                  <a:schemeClr val="tx1"/>
                </a:solidFill>
              </a:rPr>
              <a:t>The coxa receives no torque from the vertical contact: its threshold is disabled, the flag becomes an OR over two joints.</a:t>
            </a:r>
            <a:endParaRPr lang="en-US" sz="1500" dirty="0"/>
          </a:p>
        </p:txBody>
      </p:sp>
      <p:sp>
        <p:nvSpPr>
          <p:cNvPr id="7" name="Text 3"/>
          <p:cNvSpPr txBox="1"/>
          <p:nvPr/>
        </p:nvSpPr>
        <p:spPr>
          <a:xfrm>
            <a:off x="548640" y="434340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With the misaligned estimator the flag stayed high for over 95% of the swing.</a:t>
            </a:r>
            <a:endParaRPr lang="en-US" sz="1600" dirty="0"/>
          </a:p>
        </p:txBody>
      </p:sp>
      <p:sp>
        <p:nvSpPr>
          <p:cNvPr id="8" name="Text 4"/>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1400" dirty="0">
                <a:solidFill>
                  <a:schemeClr val="accent3"/>
                </a:solidFill>
              </a:rPr>
              <a:t>Also: coxa threshold disabled ([0.385, 0.136, 0.105]); ±0.4 m/s rate limiter and saturation on all controllers.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When a difference is a result</a:t>
            </a:r>
            <a:endParaRPr lang="en-US" sz="3000" dirty="0"/>
          </a:p>
        </p:txBody>
      </p:sp>
      <p:sp>
        <p:nvSpPr>
          <p:cNvPr id="4" name="step 1"/>
          <p:cNvSpPr/>
          <p:nvPr/>
        </p:nvSpPr>
        <p:spPr>
          <a:xfrm>
            <a:off x="548640" y="1417320"/>
            <a:ext cx="3429000" cy="1828800"/>
          </a:xfrm>
          <a:prstGeom prst="rect">
            <a:avLst/>
          </a:prstGeom>
          <a:solidFill>
            <a:schemeClr val="bg2"/>
          </a:solidFill>
          <a:ln w="12700">
            <a:solidFill>
              <a:schemeClr val="bg2"/>
            </a:solidFill>
            <a:prstDash val="solid"/>
          </a:ln>
        </p:spPr>
      </p:sp>
      <p:sp>
        <p:nvSpPr>
          <p:cNvPr id="5" name="num 1"/>
          <p:cNvSpPr/>
          <p:nvPr/>
        </p:nvSpPr>
        <p:spPr>
          <a:xfrm>
            <a:off x="822960" y="1645920"/>
            <a:ext cx="548640" cy="548640"/>
          </a:xfrm>
          <a:prstGeom prst="ellipse">
            <a:avLst/>
          </a:prstGeom>
          <a:solidFill>
            <a:schemeClr val="tx2"/>
          </a:solidFill>
          <a:ln w="12700">
            <a:solidFill>
              <a:schemeClr val="tx2"/>
            </a:solidFill>
            <a:prstDash val="solid"/>
          </a:ln>
        </p:spPr>
      </p:sp>
      <p:sp>
        <p:nvSpPr>
          <p:cNvPr id="6" name="Text 3"/>
          <p:cNvSpPr txBox="1"/>
          <p:nvPr/>
        </p:nvSpPr>
        <p:spPr>
          <a:xfrm>
            <a:off x="822960" y="1645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508760" y="164592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Three runs per controller</a:t>
            </a:r>
            <a:endParaRPr lang="en-US" sz="1700" dirty="0"/>
          </a:p>
        </p:txBody>
      </p:sp>
      <p:sp>
        <p:nvSpPr>
          <p:cNvPr id="8" name="Text 5"/>
          <p:cNvSpPr txBox="1"/>
          <p:nvPr/>
        </p:nvSpPr>
        <p:spPr>
          <a:xfrm>
            <a:off x="822960" y="2377440"/>
            <a:ext cx="2880360" cy="731520"/>
          </a:xfrm>
          <a:prstGeom prst="rect">
            <a:avLst/>
          </a:prstGeom>
          <a:noFill/>
          <a:ln/>
        </p:spPr>
        <p:txBody>
          <a:bodyPr wrap="square" lIns="0" tIns="0" rIns="0" bIns="0" rtlCol="0" anchor="t"/>
          <a:lstStyle/>
          <a:p>
            <a:pPr indent="0" marL="0">
              <a:buNone/>
            </a:pPr>
            <a:r>
              <a:rPr lang="en-US" sz="1500" dirty="0">
                <a:solidFill>
                  <a:schemeClr val="tx1"/>
                </a:solidFill>
              </a:rPr>
              <a:t>nominal z0 ±0.2 mm, on four tasks</a:t>
            </a:r>
            <a:endParaRPr lang="en-US" sz="1500" dirty="0"/>
          </a:p>
        </p:txBody>
      </p:sp>
      <p:sp>
        <p:nvSpPr>
          <p:cNvPr id="9" name="freccia 0"/>
          <p:cNvSpPr/>
          <p:nvPr/>
        </p:nvSpPr>
        <p:spPr>
          <a:xfrm>
            <a:off x="4050792" y="2148840"/>
            <a:ext cx="219456" cy="365760"/>
          </a:xfrm>
          <a:prstGeom prst="chevron">
            <a:avLst/>
          </a:prstGeom>
          <a:solidFill>
            <a:schemeClr val="accent5"/>
          </a:solidFill>
          <a:ln w="12700">
            <a:solidFill>
              <a:schemeClr val="accent5"/>
            </a:solidFill>
            <a:prstDash val="solid"/>
          </a:ln>
        </p:spPr>
      </p:sp>
      <p:sp>
        <p:nvSpPr>
          <p:cNvPr id="10" name="step 2"/>
          <p:cNvSpPr/>
          <p:nvPr/>
        </p:nvSpPr>
        <p:spPr>
          <a:xfrm>
            <a:off x="4343400" y="1417320"/>
            <a:ext cx="3429000" cy="1828800"/>
          </a:xfrm>
          <a:prstGeom prst="rect">
            <a:avLst/>
          </a:prstGeom>
          <a:solidFill>
            <a:schemeClr val="bg2"/>
          </a:solidFill>
          <a:ln w="12700">
            <a:solidFill>
              <a:schemeClr val="bg2"/>
            </a:solidFill>
            <a:prstDash val="solid"/>
          </a:ln>
        </p:spPr>
      </p:sp>
      <p:sp>
        <p:nvSpPr>
          <p:cNvPr id="11" name="num 2"/>
          <p:cNvSpPr/>
          <p:nvPr/>
        </p:nvSpPr>
        <p:spPr>
          <a:xfrm>
            <a:off x="4617720" y="1645920"/>
            <a:ext cx="548640" cy="548640"/>
          </a:xfrm>
          <a:prstGeom prst="ellipse">
            <a:avLst/>
          </a:prstGeom>
          <a:solidFill>
            <a:schemeClr val="tx2"/>
          </a:solidFill>
          <a:ln w="12700">
            <a:solidFill>
              <a:schemeClr val="tx2"/>
            </a:solidFill>
            <a:prstDash val="solid"/>
          </a:ln>
        </p:spPr>
      </p:sp>
      <p:sp>
        <p:nvSpPr>
          <p:cNvPr id="12" name="Text 9"/>
          <p:cNvSpPr txBox="1"/>
          <p:nvPr/>
        </p:nvSpPr>
        <p:spPr>
          <a:xfrm>
            <a:off x="4617720" y="1645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0"/>
          <p:cNvSpPr txBox="1"/>
          <p:nvPr/>
        </p:nvSpPr>
        <p:spPr>
          <a:xfrm>
            <a:off x="5303520" y="164592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Variability band</a:t>
            </a:r>
            <a:endParaRPr lang="en-US" sz="1700" dirty="0"/>
          </a:p>
        </p:txBody>
      </p:sp>
      <p:sp>
        <p:nvSpPr>
          <p:cNvPr id="14" name="Text 11"/>
          <p:cNvSpPr txBox="1"/>
          <p:nvPr/>
        </p:nvSpPr>
        <p:spPr>
          <a:xfrm>
            <a:off x="4617720" y="2377440"/>
            <a:ext cx="2880360" cy="731520"/>
          </a:xfrm>
          <a:prstGeom prst="rect">
            <a:avLst/>
          </a:prstGeom>
          <a:noFill/>
          <a:ln/>
        </p:spPr>
        <p:txBody>
          <a:bodyPr wrap="square" lIns="0" tIns="0" rIns="0" bIns="0" rtlCol="0" anchor="t"/>
          <a:lstStyle/>
          <a:p>
            <a:pPr indent="0" marL="0">
              <a:buNone/>
            </a:pPr>
            <a:r>
              <a:rPr lang="en-US" sz="1500" dirty="0">
                <a:solidFill>
                  <a:schemeClr val="tx1"/>
                </a:solidFill>
              </a:rPr>
              <a:t>max − min of the metric across the three runs</a:t>
            </a:r>
            <a:endParaRPr lang="en-US" sz="1500" dirty="0"/>
          </a:p>
        </p:txBody>
      </p:sp>
      <p:sp>
        <p:nvSpPr>
          <p:cNvPr id="15" name="freccia 1"/>
          <p:cNvSpPr/>
          <p:nvPr/>
        </p:nvSpPr>
        <p:spPr>
          <a:xfrm>
            <a:off x="7845552" y="2148840"/>
            <a:ext cx="219456" cy="365760"/>
          </a:xfrm>
          <a:prstGeom prst="chevron">
            <a:avLst/>
          </a:prstGeom>
          <a:solidFill>
            <a:schemeClr val="accent5"/>
          </a:solidFill>
          <a:ln w="12700">
            <a:solidFill>
              <a:schemeClr val="accent5"/>
            </a:solidFill>
            <a:prstDash val="solid"/>
          </a:ln>
        </p:spPr>
      </p:sp>
      <p:sp>
        <p:nvSpPr>
          <p:cNvPr id="16" name="step 3"/>
          <p:cNvSpPr/>
          <p:nvPr/>
        </p:nvSpPr>
        <p:spPr>
          <a:xfrm>
            <a:off x="8138160" y="1417320"/>
            <a:ext cx="3429000" cy="1828800"/>
          </a:xfrm>
          <a:prstGeom prst="rect">
            <a:avLst/>
          </a:prstGeom>
          <a:solidFill>
            <a:schemeClr val="bg2"/>
          </a:solidFill>
          <a:ln w="12700">
            <a:solidFill>
              <a:schemeClr val="bg2"/>
            </a:solidFill>
            <a:prstDash val="solid"/>
          </a:ln>
        </p:spPr>
      </p:sp>
      <p:sp>
        <p:nvSpPr>
          <p:cNvPr id="17" name="num 3"/>
          <p:cNvSpPr/>
          <p:nvPr/>
        </p:nvSpPr>
        <p:spPr>
          <a:xfrm>
            <a:off x="8412480" y="1645920"/>
            <a:ext cx="548640" cy="548640"/>
          </a:xfrm>
          <a:prstGeom prst="ellipse">
            <a:avLst/>
          </a:prstGeom>
          <a:solidFill>
            <a:schemeClr val="tx2"/>
          </a:solidFill>
          <a:ln w="12700">
            <a:solidFill>
              <a:schemeClr val="tx2"/>
            </a:solidFill>
            <a:prstDash val="solid"/>
          </a:ln>
        </p:spPr>
      </p:sp>
      <p:sp>
        <p:nvSpPr>
          <p:cNvPr id="18" name="Text 15"/>
          <p:cNvSpPr txBox="1"/>
          <p:nvPr/>
        </p:nvSpPr>
        <p:spPr>
          <a:xfrm>
            <a:off x="8412480" y="1645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6"/>
          <p:cNvSpPr txBox="1"/>
          <p:nvPr/>
        </p:nvSpPr>
        <p:spPr>
          <a:xfrm>
            <a:off x="9098280" y="164592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The 3× rule</a:t>
            </a:r>
            <a:endParaRPr lang="en-US" sz="1700" dirty="0"/>
          </a:p>
        </p:txBody>
      </p:sp>
      <p:sp>
        <p:nvSpPr>
          <p:cNvPr id="20" name="Text 17"/>
          <p:cNvSpPr txBox="1"/>
          <p:nvPr/>
        </p:nvSpPr>
        <p:spPr>
          <a:xfrm>
            <a:off x="8412480" y="2377440"/>
            <a:ext cx="2880360" cy="731520"/>
          </a:xfrm>
          <a:prstGeom prst="rect">
            <a:avLst/>
          </a:prstGeom>
          <a:noFill/>
          <a:ln/>
        </p:spPr>
        <p:txBody>
          <a:bodyPr wrap="square" lIns="0" tIns="0" rIns="0" bIns="0" rtlCol="0" anchor="t"/>
          <a:lstStyle/>
          <a:p>
            <a:pPr indent="0" marL="0">
              <a:buNone/>
            </a:pPr>
            <a:r>
              <a:rPr lang="en-US" sz="1500" dirty="0">
                <a:solidFill>
                  <a:schemeClr val="tx1"/>
                </a:solidFill>
              </a:rPr>
              <a:t>difference ≥ 3 × the worse of the two bands</a:t>
            </a:r>
            <a:endParaRPr lang="en-US" sz="1500" dirty="0"/>
          </a:p>
        </p:txBody>
      </p:sp>
      <p:sp>
        <p:nvSpPr>
          <p:cNvPr id="21" name="regola"/>
          <p:cNvSpPr/>
          <p:nvPr/>
        </p:nvSpPr>
        <p:spPr>
          <a:xfrm>
            <a:off x="548640" y="3611880"/>
            <a:ext cx="11094415" cy="868680"/>
          </a:xfrm>
          <a:prstGeom prst="rect">
            <a:avLst/>
          </a:prstGeom>
          <a:solidFill>
            <a:schemeClr val="tx2"/>
          </a:solidFill>
          <a:ln w="12700">
            <a:solidFill>
              <a:schemeClr val="tx2"/>
            </a:solidFill>
            <a:prstDash val="solid"/>
          </a:ln>
        </p:spPr>
      </p:sp>
      <p:sp>
        <p:nvSpPr>
          <p:cNvPr id="22" name="Text 19"/>
          <p:cNvSpPr txBox="1"/>
          <p:nvPr/>
        </p:nvSpPr>
        <p:spPr>
          <a:xfrm>
            <a:off x="548640" y="3611880"/>
            <a:ext cx="11094415"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|M_A − M_B|  ≥  3 · max( band_A , band_B )</a:t>
            </a:r>
            <a:endParaRPr lang="en-US" sz="2400" dirty="0"/>
          </a:p>
        </p:txBody>
      </p:sp>
      <p:sp>
        <p:nvSpPr>
          <p:cNvPr id="23" name="esito 0"/>
          <p:cNvSpPr/>
          <p:nvPr/>
        </p:nvSpPr>
        <p:spPr>
          <a:xfrm>
            <a:off x="548640" y="4937760"/>
            <a:ext cx="320040" cy="320040"/>
          </a:xfrm>
          <a:prstGeom prst="ellipse">
            <a:avLst/>
          </a:prstGeom>
          <a:solidFill>
            <a:schemeClr val="accent2"/>
          </a:solidFill>
          <a:ln w="12700">
            <a:solidFill>
              <a:schemeClr val="accent2"/>
            </a:solidFill>
            <a:prstDash val="solid"/>
          </a:ln>
        </p:spPr>
      </p:sp>
      <p:sp>
        <p:nvSpPr>
          <p:cNvPr id="24" name="Text 21"/>
          <p:cNvSpPr txBox="1"/>
          <p:nvPr/>
        </p:nvSpPr>
        <p:spPr>
          <a:xfrm>
            <a:off x="1051560" y="4846320"/>
            <a:ext cx="4937760" cy="731520"/>
          </a:xfrm>
          <a:prstGeom prst="rect">
            <a:avLst/>
          </a:prstGeom>
          <a:noFill/>
          <a:ln/>
        </p:spPr>
        <p:txBody>
          <a:bodyPr wrap="square" lIns="0" tIns="0" rIns="0" bIns="0" rtlCol="0" anchor="ctr"/>
          <a:lstStyle/>
          <a:p>
            <a:pPr indent="0" marL="0">
              <a:buNone/>
            </a:pPr>
            <a:r>
              <a:rPr lang="en-US" sz="1500" dirty="0">
                <a:solidFill>
                  <a:schemeClr val="tx1"/>
                </a:solidFill>
              </a:rPr>
              <a:t>Above the threshold: valid difference, bold in the tables</a:t>
            </a:r>
            <a:endParaRPr lang="en-US" sz="1500" dirty="0"/>
          </a:p>
        </p:txBody>
      </p:sp>
      <p:sp>
        <p:nvSpPr>
          <p:cNvPr id="25" name="esito 1"/>
          <p:cNvSpPr/>
          <p:nvPr/>
        </p:nvSpPr>
        <p:spPr>
          <a:xfrm>
            <a:off x="6190488" y="4937760"/>
            <a:ext cx="320040" cy="320040"/>
          </a:xfrm>
          <a:prstGeom prst="ellipse">
            <a:avLst/>
          </a:prstGeom>
          <a:solidFill>
            <a:schemeClr val="accent3"/>
          </a:solidFill>
          <a:ln w="12700">
            <a:solidFill>
              <a:schemeClr val="accent3"/>
            </a:solidFill>
            <a:prstDash val="solid"/>
          </a:ln>
        </p:spPr>
      </p:sp>
      <p:sp>
        <p:nvSpPr>
          <p:cNvPr id="26" name="Text 23"/>
          <p:cNvSpPr txBox="1"/>
          <p:nvPr/>
        </p:nvSpPr>
        <p:spPr>
          <a:xfrm>
            <a:off x="6693408" y="4846320"/>
            <a:ext cx="4937760" cy="731520"/>
          </a:xfrm>
          <a:prstGeom prst="rect">
            <a:avLst/>
          </a:prstGeom>
          <a:noFill/>
          <a:ln/>
        </p:spPr>
        <p:txBody>
          <a:bodyPr wrap="square" lIns="0" tIns="0" rIns="0" bIns="0" rtlCol="0" anchor="ctr"/>
          <a:lstStyle/>
          <a:p>
            <a:pPr indent="0" marL="0">
              <a:buNone/>
            </a:pPr>
            <a:r>
              <a:rPr lang="en-US" sz="1500" dirty="0">
                <a:solidFill>
                  <a:schemeClr val="tx1"/>
                </a:solidFill>
              </a:rPr>
              <a:t>Below: not conclusive (n.c.), not attributed to the controller</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Flat ground (T2): terrain search has a cost</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63240"/>
                <a:gridCol w="1143000"/>
                <a:gridCol w="1143000"/>
                <a:gridCol w="1143000"/>
                <a:gridCol w="2295144"/>
                <a:gridCol w="2304288"/>
              </a:tblGrid>
              <a:tr h="457200">
                <a:tc>
                  <a:txBody>
                    <a:bodyPr/>
                    <a:lstStyle/>
                    <a:p>
                      <a:pPr indent="0" marL="0">
                        <a:buNone/>
                      </a:pP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C1→C2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C2→C3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r>
              <a:tr h="457200">
                <a:tc>
                  <a:txBody>
                    <a:bodyPr/>
                    <a:lstStyle/>
                    <a:p>
                      <a:pPr indent="0" marL="0">
                        <a:buNone/>
                      </a:pPr>
                      <a:r>
                        <a:rPr lang="en-US" sz="1500" b="1" dirty="0">
                          <a:solidFill>
                            <a:srgbClr val="1F2A30"/>
                          </a:solidFill>
                        </a:rPr>
                        <a:t>max pitch [deg]</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0.514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1.95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0.356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+279% (16.3)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−82% (18.1)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max roll [deg]</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0.206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0.280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0.205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6F7F86"/>
                          </a:solidFill>
                        </a:rPr>
                        <a:t>+36% (n.c.)</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6F7F86"/>
                          </a:solidFill>
                        </a:rPr>
                        <a:t>−27% (n.c.)</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cost of transport</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0.888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0.865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1.11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6F7F86"/>
                          </a:solidFill>
                        </a:rPr>
                        <a:t>−3% (n.c.)</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+28% (27.7)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energy [J]</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18.6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18.2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23.3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6F7F86"/>
                          </a:solidFill>
                        </a:rPr>
                        <a:t>−2% (n.c.)</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+28% (28.4)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RMS torque [N·m]</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0.400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0.403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0.372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6F7F86"/>
                          </a:solidFill>
                        </a:rPr>
                        <a:t>+1% (n.c.)</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−8% (8.0)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peak torque [N·m]</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1.87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2.02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2.23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6F7F86"/>
                          </a:solidFill>
                        </a:rPr>
                        <a:t>+8% (n.c.)</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6F7F86"/>
                          </a:solidFill>
                        </a:rPr>
                        <a:t>+11% (n.c.)</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mean speed [m/s]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0.135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0.136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0.135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+1% (6.9)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6F7F86"/>
                          </a:solidFill>
                        </a:rPr>
                        <a:t>−0% (n.c.)</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5" name="Text 1"/>
          <p:cNvSpPr txBox="1"/>
          <p:nvPr/>
        </p:nvSpPr>
        <p:spPr>
          <a:xfrm>
            <a:off x="548640" y="512064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In parentheses the ratio to the variability band; valid verdicts (≥ 3×) in bold, not conclusive ones in grey.</a:t>
            </a:r>
            <a:endParaRPr lang="en-US" sz="1200" dirty="0"/>
          </a:p>
        </p:txBody>
      </p:sp>
      <p:sp>
        <p:nvSpPr>
          <p:cNvPr id="6" name="Text 2"/>
          <p:cNvSpPr txBox="1"/>
          <p:nvPr/>
        </p:nvSpPr>
        <p:spPr>
          <a:xfrm>
            <a:off x="548640" y="553212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The mechanism keeps working where there is nothing to find, and the body pays for it.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Speed envelope (T2)</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3566160" cy="914400"/>
        </p:xfrm>
        <a:graphic>
          <a:graphicData uri="http://schemas.openxmlformats.org/drawingml/2006/table">
            <a:tbl>
              <a:tblPr/>
              <a:tblGrid>
                <a:gridCol w="914400"/>
                <a:gridCol w="1188720"/>
                <a:gridCol w="1463040"/>
              </a:tblGrid>
              <a:tr h="457200">
                <a:tc>
                  <a:txBody>
                    <a:bodyPr/>
                    <a:lstStyle/>
                    <a:p>
                      <a:pPr indent="0" marL="0">
                        <a:buNone/>
                      </a:pPr>
                      <a:r>
                        <a:rPr lang="en-US" sz="1500" b="1" dirty="0">
                          <a:solidFill>
                            <a:srgbClr val="FFFFFF"/>
                          </a:solidFill>
                        </a:rPr>
                        <a:t>factor</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bounce [mm]</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r>
              <a:tr h="457200">
                <a:tc>
                  <a:txBody>
                    <a:bodyPr/>
                    <a:lstStyle/>
                    <a:p>
                      <a:pPr indent="0" marL="0">
                        <a:buNone/>
                      </a:pPr>
                      <a:r>
                        <a:rPr lang="en-US" sz="1500" dirty="0">
                          <a:solidFill>
                            <a:srgbClr val="1F2A30"/>
                          </a:solidFill>
                        </a:rPr>
                        <a:t>0.50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28.5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fails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dirty="0">
                          <a:solidFill>
                            <a:srgbClr val="1F2A30"/>
                          </a:solidFill>
                        </a:rPr>
                        <a:t>1.00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b="1" dirty="0">
                          <a:solidFill>
                            <a:srgbClr val="1F3A45"/>
                          </a:solidFill>
                        </a:rPr>
                        <a:t>2.9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nominal</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dirty="0">
                          <a:solidFill>
                            <a:srgbClr val="1F2A30"/>
                          </a:solidFill>
                        </a:rPr>
                        <a:t>1.20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b="1" dirty="0">
                          <a:solidFill>
                            <a:srgbClr val="1F3A45"/>
                          </a:solidFill>
                        </a:rPr>
                        <a:t>3.0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last stable</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dirty="0">
                          <a:solidFill>
                            <a:srgbClr val="1F2A30"/>
                          </a:solidFill>
                        </a:rPr>
                        <a:t>1.50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32.4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fails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dirty="0">
                          <a:solidFill>
                            <a:srgbClr val="1F2A30"/>
                          </a:solidFill>
                        </a:rPr>
                        <a:t>2.00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58.9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1F2A30"/>
                          </a:solidFill>
                        </a:rPr>
                        <a:t>moves back</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5" name="Text 1"/>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1200" i="1" dirty="0">
                <a:solidFill>
                  <a:schemeClr val="accent3"/>
                </a:solidFill>
              </a:rPr>
              <a:t>C1, 10 mm threshold declared before the sweep</a:t>
            </a:r>
            <a:endParaRPr lang="en-US" sz="1200" dirty="0"/>
          </a:p>
        </p:txBody>
      </p:sp>
      <p:sp>
        <p:nvSpPr>
          <p:cNvPr id="6" name="IMG inviluppo_en.pdf"/>
          <p:cNvSpPr/>
          <p:nvPr/>
        </p:nvSpPr>
        <p:spPr>
          <a:xfrm>
            <a:off x="4343400" y="1325880"/>
            <a:ext cx="7296912" cy="4800600"/>
          </a:xfrm>
          <a:prstGeom prst="roundRect">
            <a:avLst>
              <a:gd name="adj" fmla="val 1524"/>
            </a:avLst>
          </a:prstGeom>
          <a:solidFill>
            <a:srgbClr val="F2F4F5"/>
          </a:solidFill>
          <a:ln w="15875">
            <a:solidFill>
              <a:srgbClr val="6F7F86"/>
            </a:solidFill>
            <a:prstDash val="dash"/>
          </a:ln>
        </p:spPr>
      </p:sp>
      <p:sp>
        <p:nvSpPr>
          <p:cNvPr id="7" name="Text 3"/>
          <p:cNvSpPr txBox="1"/>
          <p:nvPr/>
        </p:nvSpPr>
        <p:spPr>
          <a:xfrm>
            <a:off x="4480560" y="1417320"/>
            <a:ext cx="7022592" cy="4617720"/>
          </a:xfrm>
          <a:prstGeom prst="rect">
            <a:avLst/>
          </a:prstGeom>
          <a:noFill/>
          <a:ln/>
        </p:spPr>
        <p:txBody>
          <a:bodyPr wrap="square" lIns="0" tIns="0" rIns="0" bIns="0" rtlCol="0" anchor="ctr"/>
          <a:lstStyle/>
          <a:p>
            <a:pPr algn="ctr" indent="0" marL="0">
              <a:buNone/>
            </a:pPr>
            <a:r>
              <a:rPr lang="en-US" sz="1600" b="1" dirty="0">
                <a:solidFill>
                  <a:schemeClr val="accent3"/>
                </a:solidFill>
              </a:rPr>
              <a:t>IMAGE</a:t>
            </a:r>
            <a:endParaRPr lang="en-US" sz="1500" dirty="0"/>
          </a:p>
          <a:p>
            <a:pPr algn="ctr" indent="0" marL="0">
              <a:buNone/>
            </a:pPr>
            <a:r>
              <a:rPr lang="en-US" sz="1400" dirty="0">
                <a:solidFill>
                  <a:schemeClr val="tx1"/>
                </a:solidFill>
              </a:rPr>
              <a:t>inviluppo_en.pdf</a:t>
            </a:r>
            <a:endParaRPr lang="en-US" sz="1500" dirty="0"/>
          </a:p>
          <a:p>
            <a:pPr algn="ctr" indent="0" marL="0">
              <a:buNone/>
            </a:pPr>
            <a:r>
              <a:rPr lang="en-US" sz="1300" i="1" dirty="0">
                <a:solidFill>
                  <a:schemeClr val="accent3"/>
                </a:solidFill>
              </a:rPr>
              <a:t>Bounce and task fraction versus speed factor</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Curve (T3): same picture, sharper differences</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63240"/>
                <a:gridCol w="1143000"/>
                <a:gridCol w="1143000"/>
                <a:gridCol w="1143000"/>
                <a:gridCol w="2295144"/>
                <a:gridCol w="2304288"/>
              </a:tblGrid>
              <a:tr h="502920">
                <a:tc>
                  <a:txBody>
                    <a:bodyPr/>
                    <a:lstStyle/>
                    <a:p>
                      <a:pPr indent="0" marL="0">
                        <a:buNone/>
                      </a:pP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C1→C2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C2→C3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r>
              <a:tr h="502920">
                <a:tc>
                  <a:txBody>
                    <a:bodyPr/>
                    <a:lstStyle/>
                    <a:p>
                      <a:pPr indent="0" marL="0">
                        <a:buNone/>
                      </a:pPr>
                      <a:r>
                        <a:rPr lang="en-US" sz="1500" b="1" dirty="0">
                          <a:solidFill>
                            <a:srgbClr val="1F2A30"/>
                          </a:solidFill>
                        </a:rPr>
                        <a:t>max pitch [deg]</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0.579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1.85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0.392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+219% (40.0)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−79% (45.9)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b="1" dirty="0">
                          <a:solidFill>
                            <a:srgbClr val="1F2A30"/>
                          </a:solidFill>
                        </a:rPr>
                        <a:t>max roll [deg]</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0.224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0.351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0.210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+57% (4.6)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−40% (5.1)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b="1" dirty="0">
                          <a:solidFill>
                            <a:srgbClr val="1F2A30"/>
                          </a:solidFill>
                        </a:rPr>
                        <a:t>cost of transport</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0.970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0.951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1.22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−2% (3.6)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+28% (24.3)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b="1" dirty="0">
                          <a:solidFill>
                            <a:srgbClr val="1F2A30"/>
                          </a:solidFill>
                        </a:rPr>
                        <a:t>energy [J]</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30.3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29.5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37.8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−3% (6.4)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+28% (22.5)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b="1" dirty="0">
                          <a:solidFill>
                            <a:srgbClr val="1F2A30"/>
                          </a:solidFill>
                        </a:rPr>
                        <a:t>RMS torque [N·m]</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0.398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0.389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0.376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−2% (7.0)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1F3A45"/>
                          </a:solidFill>
                        </a:rPr>
                        <a:t>−3% (7.3)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b="1" dirty="0">
                          <a:solidFill>
                            <a:srgbClr val="1F2A30"/>
                          </a:solidFill>
                        </a:rPr>
                        <a:t>peak torque [N·m]</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1.91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2.11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2.43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6F7F86"/>
                          </a:solidFill>
                        </a:rPr>
                        <a:t>+10% (n.c.)</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rgbClr val="6F7F86"/>
                          </a:solidFill>
                        </a:rPr>
                        <a:t>+15% (n.c.)</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5" name="Text 1"/>
          <p:cNvSpPr txBox="1"/>
          <p:nvPr/>
        </p:nvSpPr>
        <p:spPr>
          <a:xfrm>
            <a:off x="548640" y="502920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In parentheses the ratio to the variability band; valid verdicts (≥ 3×) in bold, not conclusive ones in grey.</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Curve (T3): same path for the three controllers</a:t>
            </a:r>
            <a:endParaRPr lang="en-US" sz="3000" dirty="0"/>
          </a:p>
        </p:txBody>
      </p:sp>
      <p:sp>
        <p:nvSpPr>
          <p:cNvPr id="4" name="IMG curva_en.pdf"/>
          <p:cNvSpPr/>
          <p:nvPr/>
        </p:nvSpPr>
        <p:spPr>
          <a:xfrm>
            <a:off x="548640" y="1280160"/>
            <a:ext cx="11094415" cy="4206240"/>
          </a:xfrm>
          <a:prstGeom prst="roundRect">
            <a:avLst>
              <a:gd name="adj" fmla="val 1739"/>
            </a:avLst>
          </a:prstGeom>
          <a:solidFill>
            <a:srgbClr val="F2F4F5"/>
          </a:solidFill>
          <a:ln w="15875">
            <a:solidFill>
              <a:srgbClr val="6F7F86"/>
            </a:solidFill>
            <a:prstDash val="dash"/>
          </a:ln>
        </p:spPr>
      </p:sp>
      <p:sp>
        <p:nvSpPr>
          <p:cNvPr id="5" name="Text 2"/>
          <p:cNvSpPr txBox="1"/>
          <p:nvPr/>
        </p:nvSpPr>
        <p:spPr>
          <a:xfrm>
            <a:off x="685800" y="1371600"/>
            <a:ext cx="10820095" cy="4023360"/>
          </a:xfrm>
          <a:prstGeom prst="rect">
            <a:avLst/>
          </a:prstGeom>
          <a:noFill/>
          <a:ln/>
        </p:spPr>
        <p:txBody>
          <a:bodyPr wrap="square" lIns="0" tIns="0" rIns="0" bIns="0" rtlCol="0" anchor="ctr"/>
          <a:lstStyle/>
          <a:p>
            <a:pPr algn="ctr" indent="0" marL="0">
              <a:buNone/>
            </a:pPr>
            <a:r>
              <a:rPr lang="en-US" sz="1600" b="1" dirty="0">
                <a:solidFill>
                  <a:schemeClr val="accent3"/>
                </a:solidFill>
              </a:rPr>
              <a:t>IMAGE</a:t>
            </a:r>
            <a:endParaRPr lang="en-US" sz="1500" dirty="0"/>
          </a:p>
          <a:p>
            <a:pPr algn="ctr" indent="0" marL="0">
              <a:buNone/>
            </a:pPr>
            <a:r>
              <a:rPr lang="en-US" sz="1400" dirty="0">
                <a:solidFill>
                  <a:schemeClr val="tx1"/>
                </a:solidFill>
              </a:rPr>
              <a:t>curva_en.pdf</a:t>
            </a:r>
            <a:endParaRPr lang="en-US" sz="1500" dirty="0"/>
          </a:p>
          <a:p>
            <a:pPr algn="ctr" indent="0" marL="0">
              <a:buNone/>
            </a:pPr>
            <a:r>
              <a:rPr lang="en-US" sz="1300" i="1" dirty="0">
                <a:solidFill>
                  <a:schemeClr val="accent3"/>
                </a:solidFill>
              </a:rPr>
              <a:t>Planar trajectory with +0.1 rad/s yaw</a:t>
            </a:r>
            <a:endParaRPr lang="en-US" sz="1500" dirty="0"/>
          </a:p>
        </p:txBody>
      </p:sp>
      <p:sp>
        <p:nvSpPr>
          <p:cNvPr id="6" name="Text 3"/>
          <p:cNvSpPr txBox="1"/>
          <p:nvPr/>
        </p:nvSpPr>
        <p:spPr>
          <a:xfrm>
            <a:off x="548640" y="562356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The differences concern attitude, not the path. Note: axes at different scales.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Discontinuities (T4D, T5): here search pays off</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063240"/>
                <a:gridCol w="1143000"/>
                <a:gridCol w="1143000"/>
                <a:gridCol w="1143000"/>
                <a:gridCol w="2295144"/>
                <a:gridCol w="2304288"/>
              </a:tblGrid>
              <a:tr h="402336">
                <a:tc>
                  <a:txBody>
                    <a:bodyPr/>
                    <a:lstStyle/>
                    <a:p>
                      <a:pPr indent="0" marL="0">
                        <a:buNone/>
                      </a:pP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400" b="1" dirty="0">
                          <a:solidFill>
                            <a:srgbClr val="FFFFFF"/>
                          </a:solidFill>
                        </a:rPr>
                        <a:t>C1</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400" b="1" dirty="0">
                          <a:solidFill>
                            <a:srgbClr val="FFFFFF"/>
                          </a:solidFill>
                        </a:rPr>
                        <a:t>C2</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400" b="1" dirty="0">
                          <a:solidFill>
                            <a:srgbClr val="FFFFFF"/>
                          </a:solidFill>
                        </a:rPr>
                        <a:t>C3</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400" b="1" dirty="0">
                          <a:solidFill>
                            <a:srgbClr val="FFFFFF"/>
                          </a:solidFill>
                        </a:rPr>
                        <a:t>C1→C2</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400" b="1" dirty="0">
                          <a:solidFill>
                            <a:srgbClr val="FFFFFF"/>
                          </a:solidFill>
                        </a:rPr>
                        <a:t>C2→C3</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r>
              <a:tr h="402336">
                <a:tc gridSpan="6">
                  <a:txBody>
                    <a:bodyPr/>
                    <a:lstStyle/>
                    <a:p>
                      <a:pPr indent="0" marL="0">
                        <a:buNone/>
                      </a:pPr>
                      <a:r>
                        <a:rPr lang="en-US" sz="1400" b="1" i="1" dirty="0">
                          <a:solidFill>
                            <a:srgbClr val="1F3A45"/>
                          </a:solidFill>
                        </a:rPr>
                        <a:t>T4D — 8°/8° bump</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EF2F3"/>
                    </a:solidFill>
                  </a:tcPr>
                </a:tc>
                <a:tc hMerge="1">
                  <a:tcPr/>
                </a:tc>
                <a:tc hMerge="1">
                  <a:tcPr/>
                </a:tc>
                <a:tc hMerge="1">
                  <a:tcPr/>
                </a:tc>
                <a:tc hMerge="1">
                  <a:tcPr/>
                </a:tc>
                <a:tc hMerge="1">
                  <a:tcPr/>
                </a:tc>
              </a:tr>
              <a:tr h="402336">
                <a:tc>
                  <a:txBody>
                    <a:bodyPr/>
                    <a:lstStyle/>
                    <a:p>
                      <a:pPr indent="0" marL="0">
                        <a:buNone/>
                      </a:pPr>
                      <a:r>
                        <a:rPr lang="en-US" sz="1400" b="1" dirty="0">
                          <a:solidFill>
                            <a:srgbClr val="1F2A30"/>
                          </a:solidFill>
                        </a:rPr>
                        <a:t>max pitch [deg]</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8.65</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10.4</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1.98</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+21% (19.8)</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−81% (93.8)</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02336">
                <a:tc>
                  <a:txBody>
                    <a:bodyPr/>
                    <a:lstStyle/>
                    <a:p>
                      <a:pPr indent="0" marL="0">
                        <a:buNone/>
                      </a:pPr>
                      <a:r>
                        <a:rPr lang="en-US" sz="1400" b="1" dirty="0">
                          <a:solidFill>
                            <a:srgbClr val="1F2A30"/>
                          </a:solidFill>
                        </a:rPr>
                        <a:t>max roll [deg]</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2.12</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1.49</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0.611</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−30% (6.4)</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−59% (7.6)</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02336">
                <a:tc>
                  <a:txBody>
                    <a:bodyPr/>
                    <a:lstStyle/>
                    <a:p>
                      <a:pPr indent="0" marL="0">
                        <a:buNone/>
                      </a:pPr>
                      <a:r>
                        <a:rPr lang="en-US" sz="1400" b="1" dirty="0">
                          <a:solidFill>
                            <a:srgbClr val="1F2A30"/>
                          </a:solidFill>
                        </a:rPr>
                        <a:t>cost of transport</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1.12</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1.04</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1.45</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−7% (5.1)</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+40% (16.8)</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02336">
                <a:tc>
                  <a:txBody>
                    <a:bodyPr/>
                    <a:lstStyle/>
                    <a:p>
                      <a:pPr indent="0" marL="0">
                        <a:buNone/>
                      </a:pPr>
                      <a:r>
                        <a:rPr lang="en-US" sz="1400" b="1" dirty="0">
                          <a:solidFill>
                            <a:srgbClr val="1F2A30"/>
                          </a:solidFill>
                        </a:rPr>
                        <a:t>energy [J]</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64.1</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59.9</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83.6</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−7% (3.5)</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+40% (18.8)</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02336">
                <a:tc gridSpan="6">
                  <a:txBody>
                    <a:bodyPr/>
                    <a:lstStyle/>
                    <a:p>
                      <a:pPr indent="0" marL="0">
                        <a:buNone/>
                      </a:pPr>
                      <a:r>
                        <a:rPr lang="en-US" sz="1400" b="1" i="1" dirty="0">
                          <a:solidFill>
                            <a:srgbClr val="1F3A45"/>
                          </a:solidFill>
                        </a:rPr>
                        <a:t>T5 — single obstacle</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EF2F3"/>
                    </a:solidFill>
                  </a:tcPr>
                </a:tc>
                <a:tc hMerge="1">
                  <a:tcPr/>
                </a:tc>
                <a:tc hMerge="1">
                  <a:tcPr/>
                </a:tc>
                <a:tc hMerge="1">
                  <a:tcPr/>
                </a:tc>
                <a:tc hMerge="1">
                  <a:tcPr/>
                </a:tc>
                <a:tc hMerge="1">
                  <a:tcPr/>
                </a:tc>
              </a:tr>
              <a:tr h="402336">
                <a:tc>
                  <a:txBody>
                    <a:bodyPr/>
                    <a:lstStyle/>
                    <a:p>
                      <a:pPr indent="0" marL="0">
                        <a:buNone/>
                      </a:pPr>
                      <a:r>
                        <a:rPr lang="en-US" sz="1400" b="1" dirty="0">
                          <a:solidFill>
                            <a:srgbClr val="1F2A30"/>
                          </a:solidFill>
                        </a:rPr>
                        <a:t>max pitch [deg]</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7.56</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6.41</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1.73</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−15% (16.4)</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−73% (19.8)</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02336">
                <a:tc>
                  <a:txBody>
                    <a:bodyPr/>
                    <a:lstStyle/>
                    <a:p>
                      <a:pPr indent="0" marL="0">
                        <a:buNone/>
                      </a:pPr>
                      <a:r>
                        <a:rPr lang="en-US" sz="1400" b="1" dirty="0">
                          <a:solidFill>
                            <a:srgbClr val="1F2A30"/>
                          </a:solidFill>
                        </a:rPr>
                        <a:t>max roll [deg]</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4.49</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2.31</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1.13</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rgbClr val="6F7F86"/>
                          </a:solidFill>
                        </a:rPr>
                        <a:t>−49% (n.c.)</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rgbClr val="6F7F86"/>
                          </a:solidFill>
                        </a:rPr>
                        <a:t>−51% (n.c.)</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02336">
                <a:tc>
                  <a:txBody>
                    <a:bodyPr/>
                    <a:lstStyle/>
                    <a:p>
                      <a:pPr indent="0" marL="0">
                        <a:buNone/>
                      </a:pPr>
                      <a:r>
                        <a:rPr lang="en-US" sz="1400" b="1" dirty="0">
                          <a:solidFill>
                            <a:srgbClr val="1F2A30"/>
                          </a:solidFill>
                        </a:rPr>
                        <a:t>cost of transport</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1.20</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1.08</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1.40</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−10% (5.2)</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+30% (17.1)</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02336">
                <a:tc>
                  <a:txBody>
                    <a:bodyPr/>
                    <a:lstStyle/>
                    <a:p>
                      <a:pPr indent="0" marL="0">
                        <a:buNone/>
                      </a:pPr>
                      <a:r>
                        <a:rPr lang="en-US" sz="1400" b="1" dirty="0">
                          <a:solidFill>
                            <a:srgbClr val="1F2A30"/>
                          </a:solidFill>
                        </a:rPr>
                        <a:t>energy [J]</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48.1</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44.3</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57.5</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−8% (3.6)</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rgbClr val="1F3A45"/>
                          </a:solidFill>
                        </a:rPr>
                        <a:t>+30% (17.2)</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5" name="Text 1"/>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In parentheses the ratio to the variability band; valid verdicts (≥ 3×) in bold, not conclusive ones in grey. Full rows in the report (T4D/T5 table).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Single obstacle (T5): pitch</a:t>
            </a:r>
            <a:endParaRPr lang="en-US" sz="3000" dirty="0"/>
          </a:p>
        </p:txBody>
      </p:sp>
      <p:sp>
        <p:nvSpPr>
          <p:cNvPr id="4" name="IMG ostacolo_en.pdf"/>
          <p:cNvSpPr/>
          <p:nvPr/>
        </p:nvSpPr>
        <p:spPr>
          <a:xfrm>
            <a:off x="548640" y="1280160"/>
            <a:ext cx="11094415" cy="4206240"/>
          </a:xfrm>
          <a:prstGeom prst="roundRect">
            <a:avLst>
              <a:gd name="adj" fmla="val 1739"/>
            </a:avLst>
          </a:prstGeom>
          <a:solidFill>
            <a:srgbClr val="F2F4F5"/>
          </a:solidFill>
          <a:ln w="15875">
            <a:solidFill>
              <a:srgbClr val="6F7F86"/>
            </a:solidFill>
            <a:prstDash val="dash"/>
          </a:ln>
        </p:spPr>
      </p:sp>
      <p:sp>
        <p:nvSpPr>
          <p:cNvPr id="5" name="Text 2"/>
          <p:cNvSpPr txBox="1"/>
          <p:nvPr/>
        </p:nvSpPr>
        <p:spPr>
          <a:xfrm>
            <a:off x="685800" y="1371600"/>
            <a:ext cx="10820095" cy="4023360"/>
          </a:xfrm>
          <a:prstGeom prst="rect">
            <a:avLst/>
          </a:prstGeom>
          <a:noFill/>
          <a:ln/>
        </p:spPr>
        <p:txBody>
          <a:bodyPr wrap="square" lIns="0" tIns="0" rIns="0" bIns="0" rtlCol="0" anchor="ctr"/>
          <a:lstStyle/>
          <a:p>
            <a:pPr algn="ctr" indent="0" marL="0">
              <a:buNone/>
            </a:pPr>
            <a:r>
              <a:rPr lang="en-US" sz="1600" b="1" dirty="0">
                <a:solidFill>
                  <a:schemeClr val="accent3"/>
                </a:solidFill>
              </a:rPr>
              <a:t>IMAGE</a:t>
            </a:r>
            <a:endParaRPr lang="en-US" sz="1500" dirty="0"/>
          </a:p>
          <a:p>
            <a:pPr algn="ctr" indent="0" marL="0">
              <a:buNone/>
            </a:pPr>
            <a:r>
              <a:rPr lang="en-US" sz="1400" dirty="0">
                <a:solidFill>
                  <a:schemeClr val="tx1"/>
                </a:solidFill>
              </a:rPr>
              <a:t>ostacolo_en.pdf</a:t>
            </a:r>
            <a:endParaRPr lang="en-US" sz="1500" dirty="0"/>
          </a:p>
          <a:p>
            <a:pPr algn="ctr" indent="0" marL="0">
              <a:buNone/>
            </a:pPr>
            <a:r>
              <a:rPr lang="en-US" sz="1300" i="1" dirty="0">
                <a:solidFill>
                  <a:schemeClr val="accent3"/>
                </a:solidFill>
              </a:rPr>
              <a:t>Pitch while crossing; in grey the window on the obstacle</a:t>
            </a:r>
            <a:endParaRPr lang="en-US" sz="1500" dirty="0"/>
          </a:p>
        </p:txBody>
      </p:sp>
      <p:sp>
        <p:nvSpPr>
          <p:cNvPr id="6" name="Text 3"/>
          <p:cNvSpPr txBox="1"/>
          <p:nvPr/>
        </p:nvSpPr>
        <p:spPr>
          <a:xfrm>
            <a:off x="548640" y="562356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C1 and C2 swing several degrees over the step; C3 stays within about one degree (−73%).</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Single obstacle (T5) in simulation</a:t>
            </a:r>
            <a:endParaRPr lang="en-US" sz="3000" dirty="0"/>
          </a:p>
        </p:txBody>
      </p:sp>
      <p:sp>
        <p:nvSpPr>
          <p:cNvPr id="4" name="VIDEO T5: C1 and C3 side by side, side view"/>
          <p:cNvSpPr/>
          <p:nvPr/>
        </p:nvSpPr>
        <p:spPr>
          <a:xfrm>
            <a:off x="548640" y="1280160"/>
            <a:ext cx="11094415" cy="4846320"/>
          </a:xfrm>
          <a:prstGeom prst="roundRect">
            <a:avLst>
              <a:gd name="adj" fmla="val 1509"/>
            </a:avLst>
          </a:prstGeom>
          <a:solidFill>
            <a:srgbClr val="FBEFE8"/>
          </a:solidFill>
          <a:ln w="15875">
            <a:solidFill>
              <a:srgbClr val="C4581E"/>
            </a:solidFill>
            <a:prstDash val="dash"/>
          </a:ln>
        </p:spPr>
      </p:sp>
      <p:sp>
        <p:nvSpPr>
          <p:cNvPr id="5" name="Text 2"/>
          <p:cNvSpPr txBox="1"/>
          <p:nvPr/>
        </p:nvSpPr>
        <p:spPr>
          <a:xfrm>
            <a:off x="685800" y="1371600"/>
            <a:ext cx="10820095" cy="4663440"/>
          </a:xfrm>
          <a:prstGeom prst="rect">
            <a:avLst/>
          </a:prstGeom>
          <a:noFill/>
          <a:ln/>
        </p:spPr>
        <p:txBody>
          <a:bodyPr wrap="square" lIns="0" tIns="0" rIns="0" bIns="0" rtlCol="0" anchor="ctr"/>
          <a:lstStyle/>
          <a:p>
            <a:pPr algn="ctr" indent="0" marL="0">
              <a:buNone/>
            </a:pPr>
            <a:r>
              <a:rPr lang="en-US" sz="1600" b="1" dirty="0">
                <a:solidFill>
                  <a:schemeClr val="accent1"/>
                </a:solidFill>
              </a:rPr>
              <a:t>▶  VIDEO</a:t>
            </a:r>
            <a:endParaRPr lang="en-US" sz="1500" dirty="0"/>
          </a:p>
          <a:p>
            <a:pPr algn="ctr" indent="0" marL="0">
              <a:buNone/>
            </a:pPr>
            <a:r>
              <a:rPr lang="en-US" sz="1300" i="1" dirty="0">
                <a:solidFill>
                  <a:schemeClr val="accent3"/>
                </a:solidFill>
              </a:rPr>
              <a:t>T5: C1 and C3 side by side, side view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Ramp (T4): two different behaviours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931920"/>
                <a:gridCol w="1005840"/>
                <a:gridCol w="1005840"/>
                <a:gridCol w="1005840"/>
              </a:tblGrid>
              <a:tr h="502920">
                <a:tc>
                  <a:txBody>
                    <a:bodyPr/>
                    <a:lstStyle/>
                    <a:p>
                      <a:pPr indent="0" marL="0">
                        <a:buNone/>
                      </a:pP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r>
              <a:tr h="502920">
                <a:tc>
                  <a:txBody>
                    <a:bodyPr/>
                    <a:lstStyle/>
                    <a:p>
                      <a:pPr indent="0" marL="0">
                        <a:buNone/>
                      </a:pPr>
                      <a:r>
                        <a:rPr lang="en-US" sz="1500" b="1" dirty="0">
                          <a:solidFill>
                            <a:srgbClr val="1F2A30"/>
                          </a:solidFill>
                        </a:rPr>
                        <a:t>body attitude − ramp angle [deg]</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0.106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0.259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b="1" dirty="0">
                          <a:solidFill>
                            <a:srgbClr val="1F3A45"/>
                          </a:solidFill>
                        </a:rPr>
                        <a:t>−7.54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b="1" dirty="0">
                          <a:solidFill>
                            <a:srgbClr val="1F2A30"/>
                          </a:solidFill>
                        </a:rPr>
                        <a:t>peak-to-peak pitch on the ramp [deg]</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0.994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1.97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0.839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b="1" dirty="0">
                          <a:solidFill>
                            <a:srgbClr val="1F2A30"/>
                          </a:solidFill>
                        </a:rPr>
                        <a:t>roll on the ramp [deg]</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0.662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0.563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0.314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b="1" dirty="0">
                          <a:solidFill>
                            <a:srgbClr val="1F2A30"/>
                          </a:solidFill>
                        </a:rPr>
                        <a:t>cost of transport</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1.15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1.09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b="1" dirty="0">
                          <a:solidFill>
                            <a:srgbClr val="1F3A45"/>
                          </a:solidFill>
                        </a:rPr>
                        <a:t>1.58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b="1" dirty="0">
                          <a:solidFill>
                            <a:srgbClr val="1F2A30"/>
                          </a:solidFill>
                        </a:rPr>
                        <a:t>successful climb</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yes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yes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yes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5" name="card rampa 0"/>
          <p:cNvSpPr/>
          <p:nvPr/>
        </p:nvSpPr>
        <p:spPr>
          <a:xfrm>
            <a:off x="7772400" y="1325880"/>
            <a:ext cx="3867912" cy="1417320"/>
          </a:xfrm>
          <a:prstGeom prst="rect">
            <a:avLst/>
          </a:prstGeom>
          <a:solidFill>
            <a:schemeClr val="bg2"/>
          </a:solidFill>
          <a:ln w="12700">
            <a:solidFill>
              <a:schemeClr val="bg2"/>
            </a:solidFill>
            <a:prstDash val="solid"/>
          </a:ln>
        </p:spPr>
      </p:sp>
      <p:sp>
        <p:nvSpPr>
          <p:cNvPr id="6" name="Text 2"/>
          <p:cNvSpPr txBox="1"/>
          <p:nvPr/>
        </p:nvSpPr>
        <p:spPr>
          <a:xfrm>
            <a:off x="8001000" y="1463040"/>
            <a:ext cx="3429000" cy="365760"/>
          </a:xfrm>
          <a:prstGeom prst="rect">
            <a:avLst/>
          </a:prstGeom>
          <a:noFill/>
          <a:ln/>
        </p:spPr>
        <p:txBody>
          <a:bodyPr wrap="square" lIns="0" tIns="0" rIns="0" bIns="0" rtlCol="0" anchor="t"/>
          <a:lstStyle/>
          <a:p>
            <a:pPr indent="0" marL="0">
              <a:buNone/>
            </a:pPr>
            <a:r>
              <a:rPr lang="en-US" sz="1700" b="1" dirty="0">
                <a:solidFill>
                  <a:schemeClr val="accent3"/>
                </a:solidFill>
              </a:rPr>
              <a:t>C1 and C2</a:t>
            </a:r>
            <a:endParaRPr lang="en-US" sz="1700" dirty="0"/>
          </a:p>
        </p:txBody>
      </p:sp>
      <p:sp>
        <p:nvSpPr>
          <p:cNvPr id="7" name="Text 3"/>
          <p:cNvSpPr txBox="1"/>
          <p:nvPr/>
        </p:nvSpPr>
        <p:spPr>
          <a:xfrm>
            <a:off x="8001000" y="1828800"/>
            <a:ext cx="3429000" cy="822960"/>
          </a:xfrm>
          <a:prstGeom prst="rect">
            <a:avLst/>
          </a:prstGeom>
          <a:noFill/>
          <a:ln/>
        </p:spPr>
        <p:txBody>
          <a:bodyPr wrap="square" lIns="0" tIns="0" rIns="0" bIns="0" rtlCol="0" anchor="t"/>
          <a:lstStyle/>
          <a:p>
            <a:pPr indent="0" marL="0">
              <a:buNone/>
            </a:pPr>
            <a:r>
              <a:rPr lang="en-US" sz="1400" dirty="0">
                <a:solidFill>
                  <a:schemeClr val="tx1"/>
                </a:solidFill>
              </a:rPr>
              <a:t>Align the trunk with the ramp, within a few tenths of a degree</a:t>
            </a:r>
            <a:endParaRPr lang="en-US" sz="1400" dirty="0"/>
          </a:p>
        </p:txBody>
      </p:sp>
      <p:sp>
        <p:nvSpPr>
          <p:cNvPr id="8" name="card rampa 1"/>
          <p:cNvSpPr/>
          <p:nvPr/>
        </p:nvSpPr>
        <p:spPr>
          <a:xfrm>
            <a:off x="7772400" y="2926080"/>
            <a:ext cx="3867912" cy="1417320"/>
          </a:xfrm>
          <a:prstGeom prst="rect">
            <a:avLst/>
          </a:prstGeom>
          <a:solidFill>
            <a:schemeClr val="bg2"/>
          </a:solidFill>
          <a:ln w="12700">
            <a:solidFill>
              <a:schemeClr val="bg2"/>
            </a:solidFill>
            <a:prstDash val="solid"/>
          </a:ln>
        </p:spPr>
      </p:sp>
      <p:sp>
        <p:nvSpPr>
          <p:cNvPr id="9" name="Text 5"/>
          <p:cNvSpPr txBox="1"/>
          <p:nvPr/>
        </p:nvSpPr>
        <p:spPr>
          <a:xfrm>
            <a:off x="8001000" y="3063240"/>
            <a:ext cx="3429000" cy="365760"/>
          </a:xfrm>
          <a:prstGeom prst="rect">
            <a:avLst/>
          </a:prstGeom>
          <a:noFill/>
          <a:ln/>
        </p:spPr>
        <p:txBody>
          <a:bodyPr wrap="square" lIns="0" tIns="0" rIns="0" bIns="0" rtlCol="0" anchor="t"/>
          <a:lstStyle/>
          <a:p>
            <a:pPr indent="0" marL="0">
              <a:buNone/>
            </a:pPr>
            <a:r>
              <a:rPr lang="en-US" sz="1700" b="1" dirty="0">
                <a:solidFill>
                  <a:schemeClr val="accent2"/>
                </a:solidFill>
              </a:rPr>
              <a:t>C3</a:t>
            </a:r>
            <a:endParaRPr lang="en-US" sz="1700" dirty="0"/>
          </a:p>
        </p:txBody>
      </p:sp>
      <p:sp>
        <p:nvSpPr>
          <p:cNvPr id="10" name="Text 6"/>
          <p:cNvSpPr txBox="1"/>
          <p:nvPr/>
        </p:nvSpPr>
        <p:spPr>
          <a:xfrm>
            <a:off x="8001000" y="3429000"/>
            <a:ext cx="3429000" cy="822960"/>
          </a:xfrm>
          <a:prstGeom prst="rect">
            <a:avLst/>
          </a:prstGeom>
          <a:noFill/>
          <a:ln/>
        </p:spPr>
        <p:txBody>
          <a:bodyPr wrap="square" lIns="0" tIns="0" rIns="0" bIns="0" rtlCol="0" anchor="t"/>
          <a:lstStyle/>
          <a:p>
            <a:pPr indent="0" marL="0">
              <a:buNone/>
            </a:pPr>
            <a:r>
              <a:rPr lang="en-US" sz="1400" dirty="0">
                <a:solidFill>
                  <a:schemeClr val="tx1"/>
                </a:solidFill>
              </a:rPr>
              <a:t>Keeps the trunk horizontal, within 0.5°: what a zero-reference loop is built for</a:t>
            </a:r>
            <a:endParaRPr lang="en-US" sz="1400" dirty="0"/>
          </a:p>
        </p:txBody>
      </p:sp>
      <p:sp>
        <p:nvSpPr>
          <p:cNvPr id="11" name="Text 7"/>
          <p:cNvSpPr txBox="1"/>
          <p:nvPr/>
        </p:nvSpPr>
        <p:spPr>
          <a:xfrm>
            <a:off x="548640" y="475488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Price: +45% cost of transport with respect to C2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Ramp (T4): body inclination</a:t>
            </a:r>
            <a:endParaRPr lang="en-US" sz="3000" dirty="0"/>
          </a:p>
        </p:txBody>
      </p:sp>
      <p:sp>
        <p:nvSpPr>
          <p:cNvPr id="4" name="IMG rampa_en.png"/>
          <p:cNvSpPr/>
          <p:nvPr/>
        </p:nvSpPr>
        <p:spPr>
          <a:xfrm>
            <a:off x="548640" y="1280160"/>
            <a:ext cx="11094415" cy="4206240"/>
          </a:xfrm>
          <a:prstGeom prst="roundRect">
            <a:avLst>
              <a:gd name="adj" fmla="val 1739"/>
            </a:avLst>
          </a:prstGeom>
          <a:solidFill>
            <a:srgbClr val="F2F4F5"/>
          </a:solidFill>
          <a:ln w="15875">
            <a:solidFill>
              <a:srgbClr val="6F7F86"/>
            </a:solidFill>
            <a:prstDash val="dash"/>
          </a:ln>
        </p:spPr>
      </p:sp>
      <p:sp>
        <p:nvSpPr>
          <p:cNvPr id="5" name="Text 2"/>
          <p:cNvSpPr txBox="1"/>
          <p:nvPr/>
        </p:nvSpPr>
        <p:spPr>
          <a:xfrm>
            <a:off x="685800" y="1371600"/>
            <a:ext cx="10820095" cy="4023360"/>
          </a:xfrm>
          <a:prstGeom prst="rect">
            <a:avLst/>
          </a:prstGeom>
          <a:noFill/>
          <a:ln/>
        </p:spPr>
        <p:txBody>
          <a:bodyPr wrap="square" lIns="0" tIns="0" rIns="0" bIns="0" rtlCol="0" anchor="ctr"/>
          <a:lstStyle/>
          <a:p>
            <a:pPr algn="ctr" indent="0" marL="0">
              <a:buNone/>
            </a:pPr>
            <a:r>
              <a:rPr lang="en-US" sz="1600" b="1" dirty="0">
                <a:solidFill>
                  <a:schemeClr val="accent3"/>
                </a:solidFill>
              </a:rPr>
              <a:t>IMAGE</a:t>
            </a:r>
            <a:endParaRPr lang="en-US" sz="1500" dirty="0"/>
          </a:p>
          <a:p>
            <a:pPr algn="ctr" indent="0" marL="0">
              <a:buNone/>
            </a:pPr>
            <a:r>
              <a:rPr lang="en-US" sz="1400" dirty="0">
                <a:solidFill>
                  <a:schemeClr val="tx1"/>
                </a:solidFill>
              </a:rPr>
              <a:t>rampa_en.png</a:t>
            </a:r>
            <a:endParaRPr lang="en-US" sz="1500" dirty="0"/>
          </a:p>
          <a:p>
            <a:pPr algn="ctr" indent="0" marL="0">
              <a:buNone/>
            </a:pPr>
            <a:r>
              <a:rPr lang="en-US" sz="1300" i="1" dirty="0">
                <a:solidFill>
                  <a:schemeClr val="accent3"/>
                </a:solidFill>
              </a:rPr>
              <a:t>Dashed line at 8° = ramp slope</a:t>
            </a:r>
            <a:endParaRPr lang="en-US" sz="1500" dirty="0"/>
          </a:p>
        </p:txBody>
      </p:sp>
      <p:sp>
        <p:nvSpPr>
          <p:cNvPr id="6" name="Text 3"/>
          <p:cNvSpPr txBox="1"/>
          <p:nvPr/>
        </p:nvSpPr>
        <p:spPr>
          <a:xfrm>
            <a:off x="548640" y="562356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C1 and C2 rise to 8° and stay parallel to the ground; C3 stops below 1.5°.</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Ramp (T4) in simulation</a:t>
            </a:r>
            <a:endParaRPr lang="en-US" sz="3000" dirty="0"/>
          </a:p>
        </p:txBody>
      </p:sp>
      <p:sp>
        <p:nvSpPr>
          <p:cNvPr id="4" name="VIDEO T4: C2 and C3 side by side, side view"/>
          <p:cNvSpPr/>
          <p:nvPr/>
        </p:nvSpPr>
        <p:spPr>
          <a:xfrm>
            <a:off x="548640" y="1280160"/>
            <a:ext cx="11094415" cy="4846320"/>
          </a:xfrm>
          <a:prstGeom prst="roundRect">
            <a:avLst>
              <a:gd name="adj" fmla="val 1509"/>
            </a:avLst>
          </a:prstGeom>
          <a:solidFill>
            <a:srgbClr val="FBEFE8"/>
          </a:solidFill>
          <a:ln w="15875">
            <a:solidFill>
              <a:srgbClr val="C4581E"/>
            </a:solidFill>
            <a:prstDash val="dash"/>
          </a:ln>
        </p:spPr>
      </p:sp>
      <p:sp>
        <p:nvSpPr>
          <p:cNvPr id="5" name="Text 2"/>
          <p:cNvSpPr txBox="1"/>
          <p:nvPr/>
        </p:nvSpPr>
        <p:spPr>
          <a:xfrm>
            <a:off x="685800" y="1371600"/>
            <a:ext cx="10820095" cy="4663440"/>
          </a:xfrm>
          <a:prstGeom prst="rect">
            <a:avLst/>
          </a:prstGeom>
          <a:noFill/>
          <a:ln/>
        </p:spPr>
        <p:txBody>
          <a:bodyPr wrap="square" lIns="0" tIns="0" rIns="0" bIns="0" rtlCol="0" anchor="ctr"/>
          <a:lstStyle/>
          <a:p>
            <a:pPr algn="ctr" indent="0" marL="0">
              <a:buNone/>
            </a:pPr>
            <a:r>
              <a:rPr lang="en-US" sz="1600" b="1" dirty="0">
                <a:solidFill>
                  <a:schemeClr val="accent1"/>
                </a:solidFill>
              </a:rPr>
              <a:t>▶  VIDEO</a:t>
            </a:r>
            <a:endParaRPr lang="en-US" sz="1500" dirty="0"/>
          </a:p>
          <a:p>
            <a:pPr algn="ctr" indent="0" marL="0">
              <a:buNone/>
            </a:pPr>
            <a:r>
              <a:rPr lang="en-US" sz="1300" i="1" dirty="0">
                <a:solidFill>
                  <a:schemeClr val="accent3"/>
                </a:solidFill>
              </a:rPr>
              <a:t>T4: C2 and C3 side by side, side view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Obstacle course (T6): where the attitude loop pays off most</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931920"/>
                <a:gridCol w="1005840"/>
                <a:gridCol w="1005840"/>
                <a:gridCol w="1005840"/>
              </a:tblGrid>
              <a:tr h="457200">
                <a:tc>
                  <a:txBody>
                    <a:bodyPr/>
                    <a:lstStyle/>
                    <a:p>
                      <a:pPr indent="0" marL="0">
                        <a:buNone/>
                      </a:pP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r>
              <a:tr h="457200">
                <a:tc>
                  <a:txBody>
                    <a:bodyPr/>
                    <a:lstStyle/>
                    <a:p>
                      <a:pPr indent="0" marL="0">
                        <a:buNone/>
                      </a:pPr>
                      <a:r>
                        <a:rPr lang="en-US" sz="1500" b="1" dirty="0">
                          <a:solidFill>
                            <a:srgbClr val="1F2A30"/>
                          </a:solidFill>
                        </a:rPr>
                        <a:t>obstacles crossed (out of 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advance [m]</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3.65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3.68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3.72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max lateral drift [m]</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0.067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0.104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0.058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max roll [deg]</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9.44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10.0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b="1" dirty="0">
                          <a:solidFill>
                            <a:srgbClr val="1F3A45"/>
                          </a:solidFill>
                        </a:rPr>
                        <a:t>2.78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max pitch [deg]</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14.7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13.6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b="1" dirty="0">
                          <a:solidFill>
                            <a:srgbClr val="1F3A45"/>
                          </a:solidFill>
                        </a:rPr>
                        <a:t>4.44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peak torque [N·m]</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7.51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7.97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b="1" dirty="0">
                          <a:solidFill>
                            <a:srgbClr val="1F3A45"/>
                          </a:solidFill>
                        </a:rPr>
                        <a:t>4.18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rollovers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course completed with margin</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no</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no</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b="1" dirty="0">
                          <a:solidFill>
                            <a:srgbClr val="1F3A45"/>
                          </a:solidFill>
                        </a:rPr>
                        <a:t>yes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5" name="Text 1"/>
          <p:cNvSpPr txBox="1"/>
          <p:nvPr/>
        </p:nvSpPr>
        <p:spPr>
          <a:xfrm>
            <a:off x="7863840" y="1371600"/>
            <a:ext cx="3776472" cy="68580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−72% / −67%</a:t>
            </a:r>
            <a:endParaRPr lang="en-US" sz="3400" dirty="0"/>
          </a:p>
        </p:txBody>
      </p:sp>
      <p:sp>
        <p:nvSpPr>
          <p:cNvPr id="6" name="Text 2"/>
          <p:cNvSpPr txBox="1"/>
          <p:nvPr/>
        </p:nvSpPr>
        <p:spPr>
          <a:xfrm>
            <a:off x="7863840" y="2084832"/>
            <a:ext cx="3776472" cy="548640"/>
          </a:xfrm>
          <a:prstGeom prst="rect">
            <a:avLst/>
          </a:prstGeom>
          <a:noFill/>
          <a:ln/>
        </p:spPr>
        <p:txBody>
          <a:bodyPr wrap="square" lIns="0" tIns="0" rIns="0" bIns="0" rtlCol="0" anchor="t"/>
          <a:lstStyle/>
          <a:p>
            <a:pPr indent="0" marL="0">
              <a:buNone/>
            </a:pPr>
            <a:r>
              <a:rPr lang="en-US" sz="1300" dirty="0">
                <a:solidFill>
                  <a:schemeClr val="tx1"/>
                </a:solidFill>
              </a:rPr>
              <a:t>C3 roll / pitch with respect to C2</a:t>
            </a:r>
            <a:endParaRPr lang="en-US" sz="1300" dirty="0"/>
          </a:p>
        </p:txBody>
      </p:sp>
      <p:sp>
        <p:nvSpPr>
          <p:cNvPr id="7" name="Text 3"/>
          <p:cNvSpPr txBox="1"/>
          <p:nvPr/>
        </p:nvSpPr>
        <p:spPr>
          <a:xfrm>
            <a:off x="7863840" y="2926080"/>
            <a:ext cx="3776472" cy="68580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−48%</a:t>
            </a:r>
            <a:endParaRPr lang="en-US" sz="3400" dirty="0"/>
          </a:p>
        </p:txBody>
      </p:sp>
      <p:sp>
        <p:nvSpPr>
          <p:cNvPr id="8" name="Text 4"/>
          <p:cNvSpPr txBox="1"/>
          <p:nvPr/>
        </p:nvSpPr>
        <p:spPr>
          <a:xfrm>
            <a:off x="7863840" y="3639312"/>
            <a:ext cx="3776472" cy="548640"/>
          </a:xfrm>
          <a:prstGeom prst="rect">
            <a:avLst/>
          </a:prstGeom>
          <a:noFill/>
          <a:ln/>
        </p:spPr>
        <p:txBody>
          <a:bodyPr wrap="square" lIns="0" tIns="0" rIns="0" bIns="0" rtlCol="0" anchor="t"/>
          <a:lstStyle/>
          <a:p>
            <a:pPr indent="0" marL="0">
              <a:buNone/>
            </a:pPr>
            <a:r>
              <a:rPr lang="en-US" sz="1300" dirty="0">
                <a:solidFill>
                  <a:schemeClr val="tx1"/>
                </a:solidFill>
              </a:rPr>
              <a:t>C3 peak torque with respect to C2</a:t>
            </a:r>
            <a:endParaRPr lang="en-US" sz="1300" dirty="0"/>
          </a:p>
        </p:txBody>
      </p:sp>
      <p:sp>
        <p:nvSpPr>
          <p:cNvPr id="9" name="Text 5"/>
          <p:cNvSpPr txBox="1"/>
          <p:nvPr/>
        </p:nvSpPr>
        <p:spPr>
          <a:xfrm>
            <a:off x="7863840" y="4480560"/>
            <a:ext cx="3776472" cy="822960"/>
          </a:xfrm>
          <a:prstGeom prst="rect">
            <a:avLst/>
          </a:prstGeom>
          <a:noFill/>
          <a:ln/>
        </p:spPr>
        <p:txBody>
          <a:bodyPr wrap="square" lIns="0" tIns="0" rIns="0" bIns="0" rtlCol="0" anchor="t"/>
          <a:lstStyle/>
          <a:p>
            <a:pPr indent="0" marL="0">
              <a:buNone/>
            </a:pPr>
            <a:r>
              <a:rPr lang="en-US" sz="1400" dirty="0">
                <a:solidFill>
                  <a:schemeClr val="accent3"/>
                </a:solidFill>
              </a:rPr>
              <a:t>Drift below the 0.183 m threshold for all: the three meet the same obstacles.</a:t>
            </a:r>
            <a:endParaRPr lang="en-US" sz="1400" dirty="0"/>
          </a:p>
        </p:txBody>
      </p:sp>
      <p:sp>
        <p:nvSpPr>
          <p:cNvPr id="10" name="Text 6"/>
          <p:cNvSpPr txBox="1"/>
          <p:nvPr/>
        </p:nvSpPr>
        <p:spPr>
          <a:xfrm>
            <a:off x="548640" y="544068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All three cross the seven obstacles; only C3 finishes with one cycle of margin.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Obstacle course (T6) in simulation</a:t>
            </a:r>
            <a:endParaRPr lang="en-US" sz="3000" dirty="0"/>
          </a:p>
        </p:txBody>
      </p:sp>
      <p:sp>
        <p:nvSpPr>
          <p:cNvPr id="4" name="VIDEO T6 obstacle course, 30 s: C1, C2 and C3"/>
          <p:cNvSpPr/>
          <p:nvPr/>
        </p:nvSpPr>
        <p:spPr>
          <a:xfrm>
            <a:off x="548640" y="1280160"/>
            <a:ext cx="11094415" cy="4846320"/>
          </a:xfrm>
          <a:prstGeom prst="roundRect">
            <a:avLst>
              <a:gd name="adj" fmla="val 1509"/>
            </a:avLst>
          </a:prstGeom>
          <a:solidFill>
            <a:srgbClr val="FBEFE8"/>
          </a:solidFill>
          <a:ln w="15875">
            <a:solidFill>
              <a:srgbClr val="C4581E"/>
            </a:solidFill>
            <a:prstDash val="dash"/>
          </a:ln>
        </p:spPr>
      </p:sp>
      <p:sp>
        <p:nvSpPr>
          <p:cNvPr id="5" name="Text 2"/>
          <p:cNvSpPr txBox="1"/>
          <p:nvPr/>
        </p:nvSpPr>
        <p:spPr>
          <a:xfrm>
            <a:off x="685800" y="1371600"/>
            <a:ext cx="10820095" cy="4663440"/>
          </a:xfrm>
          <a:prstGeom prst="rect">
            <a:avLst/>
          </a:prstGeom>
          <a:noFill/>
          <a:ln/>
        </p:spPr>
        <p:txBody>
          <a:bodyPr wrap="square" lIns="0" tIns="0" rIns="0" bIns="0" rtlCol="0" anchor="ctr"/>
          <a:lstStyle/>
          <a:p>
            <a:pPr algn="ctr" indent="0" marL="0">
              <a:buNone/>
            </a:pPr>
            <a:r>
              <a:rPr lang="en-US" sz="1600" b="1" dirty="0">
                <a:solidFill>
                  <a:schemeClr val="accent1"/>
                </a:solidFill>
              </a:rPr>
              <a:t>▶  VIDEO</a:t>
            </a:r>
            <a:endParaRPr lang="en-US" sz="1500" dirty="0"/>
          </a:p>
          <a:p>
            <a:pPr algn="ctr" indent="0" marL="0">
              <a:buNone/>
            </a:pPr>
            <a:r>
              <a:rPr lang="en-US" sz="1300" i="1" dirty="0">
                <a:solidFill>
                  <a:schemeClr val="accent3"/>
                </a:solidFill>
              </a:rPr>
              <a:t>T6 obstacle course, 30 s: C1, C2 and C3</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Lateral impulse (T7): a common limit</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206240" cy="914400"/>
        </p:xfrm>
        <a:graphic>
          <a:graphicData uri="http://schemas.openxmlformats.org/drawingml/2006/table">
            <a:tbl>
              <a:tblPr/>
              <a:tblGrid>
                <a:gridCol w="2286000"/>
                <a:gridCol w="640080"/>
                <a:gridCol w="640080"/>
                <a:gridCol w="640080"/>
              </a:tblGrid>
              <a:tr h="502920">
                <a:tc>
                  <a:txBody>
                    <a:bodyPr/>
                    <a:lstStyle/>
                    <a:p>
                      <a:pPr indent="0" marL="0">
                        <a:buNone/>
                      </a:pP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400" b="1" dirty="0">
                          <a:solidFill>
                            <a:srgbClr val="FFFFFF"/>
                          </a:solidFill>
                        </a:rPr>
                        <a:t>C1</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400" b="1" dirty="0">
                          <a:solidFill>
                            <a:srgbClr val="FFFFFF"/>
                          </a:solidFill>
                        </a:rPr>
                        <a:t>C2</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400" b="1" dirty="0">
                          <a:solidFill>
                            <a:srgbClr val="FFFFFF"/>
                          </a:solidFill>
                        </a:rPr>
                        <a:t>C3</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r>
              <a:tr h="502920">
                <a:tc>
                  <a:txBody>
                    <a:bodyPr/>
                    <a:lstStyle/>
                    <a:p>
                      <a:pPr indent="0" marL="0">
                        <a:buNone/>
                      </a:pPr>
                      <a:r>
                        <a:rPr lang="en-US" sz="1400" b="1" dirty="0">
                          <a:solidFill>
                            <a:srgbClr val="1F2A30"/>
                          </a:solidFill>
                        </a:rPr>
                        <a:t>residual deviation, 1× [mm]</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1.34</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6.04</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0.164</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400" b="1" dirty="0">
                          <a:solidFill>
                            <a:srgbClr val="1F2A30"/>
                          </a:solidFill>
                        </a:rPr>
                        <a:t>residual deviation, 16× [mm]</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393</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400</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392</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400" b="1" dirty="0">
                          <a:solidFill>
                            <a:srgbClr val="1F2A30"/>
                          </a:solidFill>
                        </a:rPr>
                        <a:t>recovers at 16×</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no</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no</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400" dirty="0">
                          <a:solidFill>
                            <a:srgbClr val="1F2A30"/>
                          </a:solidFill>
                        </a:rPr>
                        <a:t>no</a:t>
                      </a:r>
                      <a:endParaRPr lang="en-US" sz="14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5" name="Text 1"/>
          <p:cNvSpPr txBox="1"/>
          <p:nvPr/>
        </p:nvSpPr>
        <p:spPr>
          <a:xfrm>
            <a:off x="548640" y="4114800"/>
            <a:ext cx="4206240" cy="1463040"/>
          </a:xfrm>
          <a:prstGeom prst="rect">
            <a:avLst/>
          </a:prstGeom>
          <a:noFill/>
          <a:ln/>
        </p:spPr>
        <p:txBody>
          <a:bodyPr wrap="square" lIns="0" tIns="0" rIns="0" bIns="0" rtlCol="0" anchor="t"/>
          <a:lstStyle/>
          <a:p>
            <a:pPr indent="0" marL="0">
              <a:buNone/>
            </a:pPr>
            <a:r>
              <a:rPr lang="en-US" sz="1600" b="1" dirty="0">
                <a:solidFill>
                  <a:schemeClr val="tx2"/>
                </a:solidFill>
              </a:rPr>
              <a:t>At 16× none of the three recovers: the curves coincide within 2%. Neither search nor attitude acts on this disturbance.</a:t>
            </a:r>
            <a:endParaRPr lang="en-US" sz="1600" dirty="0"/>
          </a:p>
        </p:txBody>
      </p:sp>
      <p:sp>
        <p:nvSpPr>
          <p:cNvPr id="6" name="IMG impulso_en.pdf"/>
          <p:cNvSpPr/>
          <p:nvPr/>
        </p:nvSpPr>
        <p:spPr>
          <a:xfrm>
            <a:off x="4983480" y="1325880"/>
            <a:ext cx="6656832" cy="4800600"/>
          </a:xfrm>
          <a:prstGeom prst="roundRect">
            <a:avLst>
              <a:gd name="adj" fmla="val 1524"/>
            </a:avLst>
          </a:prstGeom>
          <a:solidFill>
            <a:srgbClr val="F2F4F5"/>
          </a:solidFill>
          <a:ln w="15875">
            <a:solidFill>
              <a:srgbClr val="6F7F86"/>
            </a:solidFill>
            <a:prstDash val="dash"/>
          </a:ln>
        </p:spPr>
      </p:sp>
      <p:sp>
        <p:nvSpPr>
          <p:cNvPr id="7" name="Text 3"/>
          <p:cNvSpPr txBox="1"/>
          <p:nvPr/>
        </p:nvSpPr>
        <p:spPr>
          <a:xfrm>
            <a:off x="5120640" y="1417320"/>
            <a:ext cx="6382512" cy="4617720"/>
          </a:xfrm>
          <a:prstGeom prst="rect">
            <a:avLst/>
          </a:prstGeom>
          <a:noFill/>
          <a:ln/>
        </p:spPr>
        <p:txBody>
          <a:bodyPr wrap="square" lIns="0" tIns="0" rIns="0" bIns="0" rtlCol="0" anchor="ctr"/>
          <a:lstStyle/>
          <a:p>
            <a:pPr algn="ctr" indent="0" marL="0">
              <a:buNone/>
            </a:pPr>
            <a:r>
              <a:rPr lang="en-US" sz="1600" b="1" dirty="0">
                <a:solidFill>
                  <a:schemeClr val="accent3"/>
                </a:solidFill>
              </a:rPr>
              <a:t>IMAGE</a:t>
            </a:r>
            <a:endParaRPr lang="en-US" sz="1500" dirty="0"/>
          </a:p>
          <a:p>
            <a:pPr algn="ctr" indent="0" marL="0">
              <a:buNone/>
            </a:pPr>
            <a:r>
              <a:rPr lang="en-US" sz="1400" dirty="0">
                <a:solidFill>
                  <a:schemeClr val="tx1"/>
                </a:solidFill>
              </a:rPr>
              <a:t>impulso_en.pdf</a:t>
            </a:r>
            <a:endParaRPr lang="en-US" sz="1500" dirty="0"/>
          </a:p>
          <a:p>
            <a:pPr algn="ctr" indent="0" marL="0">
              <a:buNone/>
            </a:pPr>
            <a:r>
              <a:rPr lang="en-US" sz="1300" i="1" dirty="0">
                <a:solidFill>
                  <a:schemeClr val="accent3"/>
                </a:solidFill>
              </a:rPr>
              <a:t>Max deviation versus impulse (log abscissa)</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Feasibility on real AX-12A servos</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216152"/>
                <a:gridCol w="1097280"/>
                <a:gridCol w="1097280"/>
                <a:gridCol w="1097280"/>
                <a:gridCol w="1005840"/>
                <a:gridCol w="1005840"/>
                <a:gridCol w="1005840"/>
                <a:gridCol w="1188720"/>
                <a:gridCol w="1188720"/>
                <a:gridCol w="1188720"/>
              </a:tblGrid>
              <a:tr h="411480">
                <a:tc>
                  <a:txBody>
                    <a:bodyPr/>
                    <a:lstStyle/>
                    <a:p>
                      <a:pPr indent="0" marL="0">
                        <a:buNone/>
                      </a:pP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gridSpan="3">
                  <a:txBody>
                    <a:bodyPr/>
                    <a:lstStyle/>
                    <a:p>
                      <a:pPr algn="ctr" indent="0" marL="0">
                        <a:buNone/>
                      </a:pPr>
                      <a:r>
                        <a:rPr lang="en-US" sz="1500" b="1" dirty="0">
                          <a:solidFill>
                            <a:srgbClr val="FFFFFF"/>
                          </a:solidFill>
                        </a:rPr>
                        <a:t>RMS / stall</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hMerge="1">
                  <a:tcPr/>
                </a:tc>
                <a:tc hMerge="1">
                  <a:tcPr/>
                </a:tc>
                <a:tc gridSpan="3">
                  <a:txBody>
                    <a:bodyPr/>
                    <a:lstStyle/>
                    <a:p>
                      <a:pPr algn="ctr" indent="0" marL="0">
                        <a:buNone/>
                      </a:pPr>
                      <a:r>
                        <a:rPr lang="en-US" sz="1500" b="1" dirty="0">
                          <a:solidFill>
                            <a:srgbClr val="FFFFFF"/>
                          </a:solidFill>
                        </a:rPr>
                        <a:t>peak / stall</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hMerge="1">
                  <a:tcPr/>
                </a:tc>
                <a:tc hMerge="1">
                  <a:tcPr/>
                </a:tc>
                <a:tc gridSpan="3">
                  <a:txBody>
                    <a:bodyPr/>
                    <a:lstStyle/>
                    <a:p>
                      <a:pPr algn="ctr" indent="0" marL="0">
                        <a:buNone/>
                      </a:pPr>
                      <a:r>
                        <a:rPr lang="en-US" sz="1500" b="1" dirty="0">
                          <a:solidFill>
                            <a:srgbClr val="FFFFFF"/>
                          </a:solidFill>
                        </a:rPr>
                        <a:t>samples over stall</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hMerge="1">
                  <a:tcPr/>
                </a:tc>
                <a:tc hMerge="1">
                  <a:tcPr/>
                </a:tc>
              </a:tr>
              <a:tr h="411480">
                <a:tc>
                  <a:txBody>
                    <a:bodyPr/>
                    <a:lstStyle/>
                    <a:p>
                      <a:pPr indent="0" marL="0">
                        <a:buNone/>
                      </a:pPr>
                      <a:r>
                        <a:rPr lang="en-US" sz="1500" b="1" dirty="0">
                          <a:solidFill>
                            <a:srgbClr val="FFFFFF"/>
                          </a:solidFill>
                        </a:rPr>
                        <a:t>task</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indent="0" marL="0">
                        <a:buNone/>
                      </a:pPr>
                      <a:r>
                        <a:rPr lang="en-US" sz="1500" b="1" dirty="0">
                          <a:solidFill>
                            <a:srgbClr val="FFFFFF"/>
                          </a:solidFill>
                        </a:rPr>
                        <a:t>C3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r>
              <a:tr h="411480">
                <a:tc>
                  <a:txBody>
                    <a:bodyPr/>
                    <a:lstStyle/>
                    <a:p>
                      <a:pPr indent="0" marL="0">
                        <a:buNone/>
                      </a:pPr>
                      <a:r>
                        <a:rPr lang="en-US" sz="1500" b="1" dirty="0">
                          <a:solidFill>
                            <a:srgbClr val="1F2A30"/>
                          </a:solidFill>
                        </a:rPr>
                        <a:t>T2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39%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0.38%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11480">
                <a:tc>
                  <a:txBody>
                    <a:bodyPr/>
                    <a:lstStyle/>
                    <a:p>
                      <a:pPr indent="0" marL="0">
                        <a:buNone/>
                      </a:pPr>
                      <a:r>
                        <a:rPr lang="en-US" sz="1500" b="1" dirty="0">
                          <a:solidFill>
                            <a:srgbClr val="1F2A30"/>
                          </a:solidFill>
                        </a:rPr>
                        <a:t>T3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39%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0.50%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11480">
                <a:tc>
                  <a:txBody>
                    <a:bodyPr/>
                    <a:lstStyle/>
                    <a:p>
                      <a:pPr indent="0" marL="0">
                        <a:buNone/>
                      </a:pPr>
                      <a:r>
                        <a:rPr lang="en-US" sz="1500" b="1" dirty="0">
                          <a:solidFill>
                            <a:srgbClr val="1F2A30"/>
                          </a:solidFill>
                        </a:rPr>
                        <a:t>T4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2.3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0.39%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11480">
                <a:tc>
                  <a:txBody>
                    <a:bodyPr/>
                    <a:lstStyle/>
                    <a:p>
                      <a:pPr indent="0" marL="0">
                        <a:buNone/>
                      </a:pPr>
                      <a:r>
                        <a:rPr lang="en-US" sz="1500" b="1" dirty="0">
                          <a:solidFill>
                            <a:srgbClr val="1F2A30"/>
                          </a:solidFill>
                        </a:rPr>
                        <a:t>T4D</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39%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2.7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2.1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11480">
                <a:tc>
                  <a:txBody>
                    <a:bodyPr/>
                    <a:lstStyle/>
                    <a:p>
                      <a:pPr indent="0" marL="0">
                        <a:buNone/>
                      </a:pPr>
                      <a:r>
                        <a:rPr lang="en-US" sz="1500" b="1" dirty="0">
                          <a:solidFill>
                            <a:srgbClr val="1F2A30"/>
                          </a:solidFill>
                        </a:rPr>
                        <a:t>T5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3.0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5.6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2.7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0.61%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0.50%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0.51%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11480">
                <a:tc>
                  <a:txBody>
                    <a:bodyPr/>
                    <a:lstStyle/>
                    <a:p>
                      <a:pPr indent="0" marL="0">
                        <a:buNone/>
                      </a:pPr>
                      <a:r>
                        <a:rPr lang="en-US" sz="1500" b="1" dirty="0">
                          <a:solidFill>
                            <a:srgbClr val="1F2A30"/>
                          </a:solidFill>
                        </a:rPr>
                        <a:t>T6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5.0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2.8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0.91%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0.67%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0.81%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11480">
                <a:tc>
                  <a:txBody>
                    <a:bodyPr/>
                    <a:lstStyle/>
                    <a:p>
                      <a:pPr indent="0" marL="0">
                        <a:buNone/>
                      </a:pPr>
                      <a:r>
                        <a:rPr lang="en-US" sz="1500" b="1" dirty="0">
                          <a:solidFill>
                            <a:srgbClr val="1F2A30"/>
                          </a:solidFill>
                        </a:rPr>
                        <a:t>T7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44%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39%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1.5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0.45%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r" indent="0" marL="0">
                        <a:buNone/>
                      </a:pPr>
                      <a:r>
                        <a:rPr lang="en-US" sz="1500" dirty="0">
                          <a:solidFill>
                            <a:srgbClr val="1F2A30"/>
                          </a:solidFill>
                        </a:rPr>
                        <a:t>0.38%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5" name="Text 1"/>
          <p:cNvSpPr txBox="1"/>
          <p:nvPr/>
        </p:nvSpPr>
        <p:spPr>
          <a:xfrm>
            <a:off x="548640" y="525780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Stall 1.5 N·m, one fifth recommended: walking runs at 2.3× the recommended load, impact peaks up to 5× stall.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Demanded torque versus AX-12A limits</a:t>
            </a:r>
            <a:endParaRPr lang="en-US" sz="3000" dirty="0"/>
          </a:p>
        </p:txBody>
      </p:sp>
      <p:sp>
        <p:nvSpPr>
          <p:cNvPr id="4" name="IMG fattibilita.png"/>
          <p:cNvSpPr/>
          <p:nvPr/>
        </p:nvSpPr>
        <p:spPr>
          <a:xfrm>
            <a:off x="548640" y="1280160"/>
            <a:ext cx="11094415" cy="4206240"/>
          </a:xfrm>
          <a:prstGeom prst="roundRect">
            <a:avLst>
              <a:gd name="adj" fmla="val 1739"/>
            </a:avLst>
          </a:prstGeom>
          <a:solidFill>
            <a:srgbClr val="F2F4F5"/>
          </a:solidFill>
          <a:ln w="15875">
            <a:solidFill>
              <a:srgbClr val="6F7F86"/>
            </a:solidFill>
            <a:prstDash val="dash"/>
          </a:ln>
        </p:spPr>
      </p:sp>
      <p:sp>
        <p:nvSpPr>
          <p:cNvPr id="5" name="Text 2"/>
          <p:cNvSpPr txBox="1"/>
          <p:nvPr/>
        </p:nvSpPr>
        <p:spPr>
          <a:xfrm>
            <a:off x="685800" y="1371600"/>
            <a:ext cx="10820095" cy="4023360"/>
          </a:xfrm>
          <a:prstGeom prst="rect">
            <a:avLst/>
          </a:prstGeom>
          <a:noFill/>
          <a:ln/>
        </p:spPr>
        <p:txBody>
          <a:bodyPr wrap="square" lIns="0" tIns="0" rIns="0" bIns="0" rtlCol="0" anchor="ctr"/>
          <a:lstStyle/>
          <a:p>
            <a:pPr algn="ctr" indent="0" marL="0">
              <a:buNone/>
            </a:pPr>
            <a:r>
              <a:rPr lang="en-US" sz="1600" b="1" dirty="0">
                <a:solidFill>
                  <a:schemeClr val="accent3"/>
                </a:solidFill>
              </a:rPr>
              <a:t>IMAGE</a:t>
            </a:r>
            <a:endParaRPr lang="en-US" sz="1500" dirty="0"/>
          </a:p>
          <a:p>
            <a:pPr algn="ctr" indent="0" marL="0">
              <a:buNone/>
            </a:pPr>
            <a:r>
              <a:rPr lang="en-US" sz="1400" dirty="0">
                <a:solidFill>
                  <a:schemeClr val="tx1"/>
                </a:solidFill>
              </a:rPr>
              <a:t>fattibilita.png</a:t>
            </a:r>
            <a:endParaRPr lang="en-US" sz="1500" dirty="0"/>
          </a:p>
          <a:p>
            <a:pPr algn="ctr" indent="0" marL="0">
              <a:buNone/>
            </a:pPr>
            <a:r>
              <a:rPr lang="en-US" sz="1300" i="1" dirty="0">
                <a:solidFill>
                  <a:schemeClr val="accent3"/>
                </a:solidFill>
              </a:rPr>
              <a:t>RMS and peak torque per task and controller</a:t>
            </a:r>
            <a:endParaRPr lang="en-US" sz="1500" dirty="0"/>
          </a:p>
        </p:txBody>
      </p:sp>
      <p:sp>
        <p:nvSpPr>
          <p:cNvPr id="6" name="Text 3"/>
          <p:cNvSpPr txBox="1"/>
          <p:nvPr/>
        </p:nvSpPr>
        <p:spPr>
          <a:xfrm>
            <a:off x="548640" y="562356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Two regimes: walking below stall but above the recommended load; peaks beyond stall at impacts.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Load transport: C2P versus C3P</a:t>
            </a:r>
            <a:endParaRPr lang="en-US" sz="3000" dirty="0"/>
          </a:p>
        </p:txBody>
      </p:sp>
      <p:sp>
        <p:nvSpPr>
          <p:cNvPr id="4" name="setup 0"/>
          <p:cNvSpPr/>
          <p:nvPr/>
        </p:nvSpPr>
        <p:spPr>
          <a:xfrm>
            <a:off x="548640" y="1371600"/>
            <a:ext cx="3520440" cy="1828800"/>
          </a:xfrm>
          <a:prstGeom prst="rect">
            <a:avLst/>
          </a:prstGeom>
          <a:solidFill>
            <a:schemeClr val="bg2"/>
          </a:solidFill>
          <a:ln w="12700">
            <a:solidFill>
              <a:schemeClr val="bg2"/>
            </a:solidFill>
            <a:prstDash val="solid"/>
          </a:ln>
        </p:spPr>
      </p:sp>
      <p:sp>
        <p:nvSpPr>
          <p:cNvPr id="5" name="Text 2"/>
          <p:cNvSpPr txBox="1"/>
          <p:nvPr/>
        </p:nvSpPr>
        <p:spPr>
          <a:xfrm>
            <a:off x="822960" y="1508760"/>
            <a:ext cx="2971800" cy="1554480"/>
          </a:xfrm>
          <a:prstGeom prst="rect">
            <a:avLst/>
          </a:prstGeom>
          <a:noFill/>
          <a:ln/>
        </p:spPr>
        <p:txBody>
          <a:bodyPr wrap="square" lIns="0" tIns="0" rIns="0" bIns="0" rtlCol="0" anchor="ctr"/>
          <a:lstStyle/>
          <a:p>
            <a:pPr indent="0" marL="0">
              <a:buNone/>
            </a:pPr>
            <a:r>
              <a:rPr lang="en-US" sz="1800" dirty="0">
                <a:solidFill>
                  <a:schemeClr val="tx1"/>
                </a:solidFill>
              </a:rPr>
              <a:t>1 kg cube free on a 0.1 kg tray: +69% mass</a:t>
            </a:r>
            <a:endParaRPr lang="en-US" sz="1800" dirty="0"/>
          </a:p>
        </p:txBody>
      </p:sp>
      <p:sp>
        <p:nvSpPr>
          <p:cNvPr id="6" name="setup 1"/>
          <p:cNvSpPr/>
          <p:nvPr/>
        </p:nvSpPr>
        <p:spPr>
          <a:xfrm>
            <a:off x="4343400" y="1371600"/>
            <a:ext cx="3520440" cy="1828800"/>
          </a:xfrm>
          <a:prstGeom prst="rect">
            <a:avLst/>
          </a:prstGeom>
          <a:solidFill>
            <a:schemeClr val="bg2"/>
          </a:solidFill>
          <a:ln w="12700">
            <a:solidFill>
              <a:schemeClr val="bg2"/>
            </a:solidFill>
            <a:prstDash val="solid"/>
          </a:ln>
        </p:spPr>
      </p:sp>
      <p:sp>
        <p:nvSpPr>
          <p:cNvPr id="7" name="Text 4"/>
          <p:cNvSpPr txBox="1"/>
          <p:nvPr/>
        </p:nvSpPr>
        <p:spPr>
          <a:xfrm>
            <a:off x="4617720" y="1508760"/>
            <a:ext cx="2971800" cy="1554480"/>
          </a:xfrm>
          <a:prstGeom prst="rect">
            <a:avLst/>
          </a:prstGeom>
          <a:noFill/>
          <a:ln/>
        </p:spPr>
        <p:txBody>
          <a:bodyPr wrap="square" lIns="0" tIns="0" rIns="0" bIns="0" rtlCol="0" anchor="ctr"/>
          <a:lstStyle/>
          <a:p>
            <a:pPr indent="0" marL="0">
              <a:buNone/>
            </a:pPr>
            <a:r>
              <a:rPr lang="en-US" sz="1800" dirty="0">
                <a:solidFill>
                  <a:schemeClr val="tx1"/>
                </a:solidFill>
              </a:rPr>
              <a:t>C3P = C3 with the load; C2P = C3P with the PI gains set to zero</a:t>
            </a:r>
            <a:endParaRPr lang="en-US" sz="1800" dirty="0"/>
          </a:p>
        </p:txBody>
      </p:sp>
      <p:sp>
        <p:nvSpPr>
          <p:cNvPr id="8" name="setup 2"/>
          <p:cNvSpPr/>
          <p:nvPr/>
        </p:nvSpPr>
        <p:spPr>
          <a:xfrm>
            <a:off x="8138160" y="1371600"/>
            <a:ext cx="3520440" cy="1828800"/>
          </a:xfrm>
          <a:prstGeom prst="rect">
            <a:avLst/>
          </a:prstGeom>
          <a:solidFill>
            <a:schemeClr val="bg2"/>
          </a:solidFill>
          <a:ln w="12700">
            <a:solidFill>
              <a:schemeClr val="bg2"/>
            </a:solidFill>
            <a:prstDash val="solid"/>
          </a:ln>
        </p:spPr>
      </p:sp>
      <p:sp>
        <p:nvSpPr>
          <p:cNvPr id="9" name="Text 6"/>
          <p:cNvSpPr txBox="1"/>
          <p:nvPr/>
        </p:nvSpPr>
        <p:spPr>
          <a:xfrm>
            <a:off x="8412480" y="1508760"/>
            <a:ext cx="2971800" cy="1554480"/>
          </a:xfrm>
          <a:prstGeom prst="rect">
            <a:avLst/>
          </a:prstGeom>
          <a:noFill/>
          <a:ln/>
        </p:spPr>
        <p:txBody>
          <a:bodyPr wrap="square" lIns="0" tIns="0" rIns="0" bIns="0" rtlCol="0" anchor="ctr"/>
          <a:lstStyle/>
          <a:p>
            <a:pPr indent="0" marL="0">
              <a:buNone/>
            </a:pPr>
            <a:r>
              <a:rPr lang="en-US" sz="1800" dirty="0">
                <a:solidFill>
                  <a:schemeClr val="tx1"/>
                </a:solidFill>
              </a:rPr>
              <a:t>The package must stay within 50 mm, the tray clearance</a:t>
            </a:r>
            <a:endParaRPr lang="en-US" sz="1800" dirty="0"/>
          </a:p>
        </p:txBody>
      </p:sp>
      <p:sp>
        <p:nvSpPr>
          <p:cNvPr id="10" name="criterio"/>
          <p:cNvSpPr/>
          <p:nvPr/>
        </p:nvSpPr>
        <p:spPr>
          <a:xfrm>
            <a:off x="548640" y="3520440"/>
            <a:ext cx="11094415" cy="1737360"/>
          </a:xfrm>
          <a:prstGeom prst="rect">
            <a:avLst/>
          </a:prstGeom>
          <a:solidFill>
            <a:schemeClr val="bg2"/>
          </a:solidFill>
          <a:ln w="12700">
            <a:solidFill>
              <a:schemeClr val="bg2"/>
            </a:solidFill>
            <a:prstDash val="solid"/>
          </a:ln>
        </p:spPr>
      </p:sp>
      <p:sp>
        <p:nvSpPr>
          <p:cNvPr id="11" name="Text 8"/>
          <p:cNvSpPr txBox="1"/>
          <p:nvPr/>
        </p:nvSpPr>
        <p:spPr>
          <a:xfrm>
            <a:off x="822960" y="3657600"/>
            <a:ext cx="10545775"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Criterion, declared before the runs</a:t>
            </a:r>
            <a:endParaRPr lang="en-US" sz="1700" dirty="0"/>
          </a:p>
          <a:p>
            <a:pPr indent="0" marL="0">
              <a:spcAft>
                <a:spcPts val="600"/>
              </a:spcAft>
              <a:buNone/>
            </a:pPr>
            <a:r>
              <a:rPr lang="en-US" sz="1700" dirty="0">
                <a:solidFill>
                  <a:schemeClr val="tx1"/>
                </a:solidFill>
              </a:rPr>
              <a:t>1. Task completed: no rollover, drift within threshold, path crossed in full</a:t>
            </a:r>
            <a:endParaRPr lang="en-US" sz="1700" dirty="0"/>
          </a:p>
          <a:p>
            <a:pPr indent="0" marL="0">
              <a:spcAft>
                <a:spcPts val="600"/>
              </a:spcAft>
              <a:buNone/>
            </a:pPr>
            <a:r>
              <a:rPr lang="en-US" sz="1700" dirty="0">
                <a:solidFill>
                  <a:schemeClr val="tx1"/>
                </a:solidFill>
              </a:rPr>
              <a:t>2. Package on the tray: max displacement &lt; 50 mm (clearance); below 20 mm it is still</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C2P versus C3P: same locomotion, different package</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227832"/>
                <a:gridCol w="1311097"/>
                <a:gridCol w="1311097"/>
                <a:gridCol w="1311097"/>
                <a:gridCol w="1311097"/>
                <a:gridCol w="1311097"/>
                <a:gridCol w="1311097"/>
              </a:tblGrid>
              <a:tr h="457200">
                <a:tc>
                  <a:txBody>
                    <a:bodyPr/>
                    <a:lstStyle/>
                    <a:p>
                      <a:pPr indent="0" marL="0">
                        <a:buNone/>
                      </a:pP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gridSpan="2">
                  <a:txBody>
                    <a:bodyPr/>
                    <a:lstStyle/>
                    <a:p>
                      <a:pPr algn="ctr" indent="0" marL="0">
                        <a:buNone/>
                      </a:pPr>
                      <a:r>
                        <a:rPr lang="en-US" sz="1500" b="1" dirty="0">
                          <a:solidFill>
                            <a:srgbClr val="FFFFFF"/>
                          </a:solidFill>
                        </a:rPr>
                        <a:t>T4 — ramp</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hMerge="1">
                  <a:tcPr/>
                </a:tc>
                <a:tc gridSpan="2">
                  <a:txBody>
                    <a:bodyPr/>
                    <a:lstStyle/>
                    <a:p>
                      <a:pPr algn="ctr" indent="0" marL="0">
                        <a:buNone/>
                      </a:pPr>
                      <a:r>
                        <a:rPr lang="en-US" sz="1500" b="1" dirty="0">
                          <a:solidFill>
                            <a:srgbClr val="FFFFFF"/>
                          </a:solidFill>
                        </a:rPr>
                        <a:t>T4D — bump</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hMerge="1">
                  <a:tcPr/>
                </a:tc>
                <a:tc gridSpan="2">
                  <a:txBody>
                    <a:bodyPr/>
                    <a:lstStyle/>
                    <a:p>
                      <a:pPr algn="ctr" indent="0" marL="0">
                        <a:buNone/>
                      </a:pPr>
                      <a:r>
                        <a:rPr lang="en-US" sz="1500" b="1" dirty="0">
                          <a:solidFill>
                            <a:srgbClr val="FFFFFF"/>
                          </a:solidFill>
                        </a:rPr>
                        <a:t>T6 — obstacles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hMerge="1">
                  <a:tcPr/>
                </a:tc>
              </a:tr>
              <a:tr h="457200">
                <a:tc>
                  <a:txBody>
                    <a:bodyPr/>
                    <a:lstStyle/>
                    <a:p>
                      <a:pPr algn="ctr" indent="0" marL="0">
                        <a:buNone/>
                      </a:pP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3A45"/>
                    </a:solidFill>
                  </a:tcPr>
                </a:tc>
                <a:tc>
                  <a:txBody>
                    <a:bodyPr/>
                    <a:lstStyle/>
                    <a:p>
                      <a:pPr algn="ctr" indent="0" marL="0">
                        <a:buNone/>
                      </a:pPr>
                      <a:r>
                        <a:rPr lang="en-US" sz="1500" b="1" dirty="0">
                          <a:solidFill>
                            <a:srgbClr val="FFFFFF"/>
                          </a:solidFill>
                        </a:rPr>
                        <a:t>C2P</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C4581E"/>
                    </a:solidFill>
                  </a:tcPr>
                </a:tc>
                <a:tc>
                  <a:txBody>
                    <a:bodyPr/>
                    <a:lstStyle/>
                    <a:p>
                      <a:pPr algn="ctr" indent="0" marL="0">
                        <a:buNone/>
                      </a:pPr>
                      <a:r>
                        <a:rPr lang="en-US" sz="1500" b="1" dirty="0">
                          <a:solidFill>
                            <a:srgbClr val="FFFFFF"/>
                          </a:solidFill>
                        </a:rPr>
                        <a:t>C3P</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4E7F64"/>
                    </a:solidFill>
                  </a:tcPr>
                </a:tc>
                <a:tc>
                  <a:txBody>
                    <a:bodyPr/>
                    <a:lstStyle/>
                    <a:p>
                      <a:pPr algn="ctr" indent="0" marL="0">
                        <a:buNone/>
                      </a:pPr>
                      <a:r>
                        <a:rPr lang="en-US" sz="1500" b="1" dirty="0">
                          <a:solidFill>
                            <a:srgbClr val="FFFFFF"/>
                          </a:solidFill>
                        </a:rPr>
                        <a:t>C2P</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C4581E"/>
                    </a:solidFill>
                  </a:tcPr>
                </a:tc>
                <a:tc>
                  <a:txBody>
                    <a:bodyPr/>
                    <a:lstStyle/>
                    <a:p>
                      <a:pPr algn="ctr" indent="0" marL="0">
                        <a:buNone/>
                      </a:pPr>
                      <a:r>
                        <a:rPr lang="en-US" sz="1500" b="1" dirty="0">
                          <a:solidFill>
                            <a:srgbClr val="FFFFFF"/>
                          </a:solidFill>
                        </a:rPr>
                        <a:t>C3P</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4E7F64"/>
                    </a:solidFill>
                  </a:tcPr>
                </a:tc>
                <a:tc>
                  <a:txBody>
                    <a:bodyPr/>
                    <a:lstStyle/>
                    <a:p>
                      <a:pPr algn="ctr" indent="0" marL="0">
                        <a:buNone/>
                      </a:pPr>
                      <a:r>
                        <a:rPr lang="en-US" sz="1500" b="1" dirty="0">
                          <a:solidFill>
                            <a:srgbClr val="FFFFFF"/>
                          </a:solidFill>
                        </a:rPr>
                        <a:t>C2P</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C4581E"/>
                    </a:solidFill>
                  </a:tcPr>
                </a:tc>
                <a:tc>
                  <a:txBody>
                    <a:bodyPr/>
                    <a:lstStyle/>
                    <a:p>
                      <a:pPr algn="ctr" indent="0" marL="0">
                        <a:buNone/>
                      </a:pPr>
                      <a:r>
                        <a:rPr lang="en-US" sz="1500" b="1" dirty="0">
                          <a:solidFill>
                            <a:srgbClr val="FFFFFF"/>
                          </a:solidFill>
                        </a:rPr>
                        <a:t>C3P</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4E7F64"/>
                    </a:solidFill>
                  </a:tcPr>
                </a:tc>
              </a:tr>
              <a:tr h="457200">
                <a:tc>
                  <a:txBody>
                    <a:bodyPr/>
                    <a:lstStyle/>
                    <a:p>
                      <a:pPr indent="0" marL="0">
                        <a:buNone/>
                      </a:pPr>
                      <a:r>
                        <a:rPr lang="en-US" sz="1500" b="1" dirty="0">
                          <a:solidFill>
                            <a:srgbClr val="1F2A30"/>
                          </a:solidFill>
                        </a:rPr>
                        <a:t>distance travelled [m]</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2.39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2.35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3.70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3.71</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3.67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3.72</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max pitch [deg]</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12.60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1F3A45"/>
                          </a:solidFill>
                        </a:rPr>
                        <a:t>1.33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12.15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1F3A45"/>
                          </a:solidFill>
                        </a:rPr>
                        <a:t>1.68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12.77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1F3A45"/>
                          </a:solidFill>
                        </a:rPr>
                        <a:t>3.53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max roll [deg]</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1.00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0.44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1.47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0.45</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11.13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1F3A45"/>
                          </a:solidFill>
                        </a:rPr>
                        <a:t>2.07</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RMS torque, worst joint [N·m]</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0.963</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1.004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1.028</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0.956</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0.999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0.989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max package displacement [mm]</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1F3A45"/>
                          </a:solidFill>
                        </a:rPr>
                        <a:t>19</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1F3A45"/>
                          </a:solidFill>
                        </a:rPr>
                        <a:t>14</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1F3A45"/>
                          </a:solidFill>
                        </a:rPr>
                        <a:t>20</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57200">
                <a:tc>
                  <a:txBody>
                    <a:bodyPr/>
                    <a:lstStyle/>
                    <a:p>
                      <a:pPr indent="0" marL="0">
                        <a:buNone/>
                      </a:pPr>
                      <a:r>
                        <a:rPr lang="en-US" sz="1500" b="1" dirty="0">
                          <a:solidFill>
                            <a:srgbClr val="1F2A30"/>
                          </a:solidFill>
                        </a:rPr>
                        <a:t>package outcome</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fallen</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1F3A45"/>
                          </a:solidFill>
                        </a:rPr>
                        <a:t>stays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at the limit</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1F3A45"/>
                          </a:solidFill>
                        </a:rPr>
                        <a:t>stays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dirty="0">
                          <a:solidFill>
                            <a:srgbClr val="1F2A30"/>
                          </a:solidFill>
                        </a:rPr>
                        <a:t>at the limit</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1F3A45"/>
                          </a:solidFill>
                        </a:rPr>
                        <a:t>stays</a:t>
                      </a:r>
                      <a:endParaRPr lang="en-US" sz="1500" dirty="0"/>
                    </a:p>
                  </a:txBody>
                  <a:tcPr marL="76200" marR="76200" marT="25400" marB="2540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5" name="Text 1"/>
          <p:cNvSpPr txBox="1"/>
          <p:nvPr/>
        </p:nvSpPr>
        <p:spPr>
          <a:xfrm>
            <a:off x="548640" y="512064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Same locomotion (distance within 2%, same torque): only the fate of the package changes.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The package on the ramp (T4)</a:t>
            </a:r>
            <a:endParaRPr lang="en-US" sz="3000" dirty="0"/>
          </a:p>
        </p:txBody>
      </p:sp>
      <p:sp>
        <p:nvSpPr>
          <p:cNvPr id="4" name="IMG pacco_T4_en.png"/>
          <p:cNvSpPr/>
          <p:nvPr/>
        </p:nvSpPr>
        <p:spPr>
          <a:xfrm>
            <a:off x="548640" y="1280160"/>
            <a:ext cx="11094415" cy="4206240"/>
          </a:xfrm>
          <a:prstGeom prst="roundRect">
            <a:avLst>
              <a:gd name="adj" fmla="val 1739"/>
            </a:avLst>
          </a:prstGeom>
          <a:solidFill>
            <a:srgbClr val="F2F4F5"/>
          </a:solidFill>
          <a:ln w="15875">
            <a:solidFill>
              <a:srgbClr val="6F7F86"/>
            </a:solidFill>
            <a:prstDash val="dash"/>
          </a:ln>
        </p:spPr>
      </p:sp>
      <p:sp>
        <p:nvSpPr>
          <p:cNvPr id="5" name="Text 2"/>
          <p:cNvSpPr txBox="1"/>
          <p:nvPr/>
        </p:nvSpPr>
        <p:spPr>
          <a:xfrm>
            <a:off x="685800" y="1371600"/>
            <a:ext cx="10820095" cy="4023360"/>
          </a:xfrm>
          <a:prstGeom prst="rect">
            <a:avLst/>
          </a:prstGeom>
          <a:noFill/>
          <a:ln/>
        </p:spPr>
        <p:txBody>
          <a:bodyPr wrap="square" lIns="0" tIns="0" rIns="0" bIns="0" rtlCol="0" anchor="ctr"/>
          <a:lstStyle/>
          <a:p>
            <a:pPr algn="ctr" indent="0" marL="0">
              <a:buNone/>
            </a:pPr>
            <a:r>
              <a:rPr lang="en-US" sz="1600" b="1" dirty="0">
                <a:solidFill>
                  <a:schemeClr val="accent3"/>
                </a:solidFill>
              </a:rPr>
              <a:t>IMAGE</a:t>
            </a:r>
            <a:endParaRPr lang="en-US" sz="1500" dirty="0"/>
          </a:p>
          <a:p>
            <a:pPr algn="ctr" indent="0" marL="0">
              <a:buNone/>
            </a:pPr>
            <a:r>
              <a:rPr lang="en-US" sz="1400" dirty="0">
                <a:solidFill>
                  <a:schemeClr val="tx1"/>
                </a:solidFill>
              </a:rPr>
              <a:t>pacco_T4_en.png</a:t>
            </a:r>
            <a:endParaRPr lang="en-US" sz="1500" dirty="0"/>
          </a:p>
          <a:p>
            <a:pPr algn="ctr" indent="0" marL="0">
              <a:buNone/>
            </a:pPr>
            <a:r>
              <a:rPr lang="en-US" sz="1300" i="1" dirty="0">
                <a:solidFill>
                  <a:schemeClr val="accent3"/>
                </a:solidFill>
              </a:rPr>
              <a:t>Package displacement from reference; grey band beyond the 50 mm clearance</a:t>
            </a:r>
            <a:endParaRPr lang="en-US" sz="1500" dirty="0"/>
          </a:p>
        </p:txBody>
      </p:sp>
      <p:sp>
        <p:nvSpPr>
          <p:cNvPr id="6" name="Text 3"/>
          <p:cNvSpPr txBox="1"/>
          <p:nvPr/>
        </p:nvSpPr>
        <p:spPr>
          <a:xfrm>
            <a:off x="548640" y="562356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C2P exceeds the clearance at 8.4 s and never returns: the cube falls. C3P stays below 20 mm.</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The package on the obstacle course (T6)</a:t>
            </a:r>
            <a:endParaRPr lang="en-US" sz="3000" dirty="0"/>
          </a:p>
        </p:txBody>
      </p:sp>
      <p:sp>
        <p:nvSpPr>
          <p:cNvPr id="4" name="IMG pacco_T6_en.png"/>
          <p:cNvSpPr/>
          <p:nvPr/>
        </p:nvSpPr>
        <p:spPr>
          <a:xfrm>
            <a:off x="548640" y="1280160"/>
            <a:ext cx="11094415" cy="4206240"/>
          </a:xfrm>
          <a:prstGeom prst="roundRect">
            <a:avLst>
              <a:gd name="adj" fmla="val 1739"/>
            </a:avLst>
          </a:prstGeom>
          <a:solidFill>
            <a:srgbClr val="F2F4F5"/>
          </a:solidFill>
          <a:ln w="15875">
            <a:solidFill>
              <a:srgbClr val="6F7F86"/>
            </a:solidFill>
            <a:prstDash val="dash"/>
          </a:ln>
        </p:spPr>
      </p:sp>
      <p:sp>
        <p:nvSpPr>
          <p:cNvPr id="5" name="Text 2"/>
          <p:cNvSpPr txBox="1"/>
          <p:nvPr/>
        </p:nvSpPr>
        <p:spPr>
          <a:xfrm>
            <a:off x="685800" y="1371600"/>
            <a:ext cx="10820095" cy="4023360"/>
          </a:xfrm>
          <a:prstGeom prst="rect">
            <a:avLst/>
          </a:prstGeom>
          <a:noFill/>
          <a:ln/>
        </p:spPr>
        <p:txBody>
          <a:bodyPr wrap="square" lIns="0" tIns="0" rIns="0" bIns="0" rtlCol="0" anchor="ctr"/>
          <a:lstStyle/>
          <a:p>
            <a:pPr algn="ctr" indent="0" marL="0">
              <a:buNone/>
            </a:pPr>
            <a:r>
              <a:rPr lang="en-US" sz="1600" b="1" dirty="0">
                <a:solidFill>
                  <a:schemeClr val="accent3"/>
                </a:solidFill>
              </a:rPr>
              <a:t>IMAGE</a:t>
            </a:r>
            <a:endParaRPr lang="en-US" sz="1500" dirty="0"/>
          </a:p>
          <a:p>
            <a:pPr algn="ctr" indent="0" marL="0">
              <a:buNone/>
            </a:pPr>
            <a:r>
              <a:rPr lang="en-US" sz="1400" dirty="0">
                <a:solidFill>
                  <a:schemeClr val="tx1"/>
                </a:solidFill>
              </a:rPr>
              <a:t>pacco_T6_en.png</a:t>
            </a:r>
            <a:endParaRPr lang="en-US" sz="1500" dirty="0"/>
          </a:p>
          <a:p>
            <a:pPr algn="ctr" indent="0" marL="0">
              <a:buNone/>
            </a:pPr>
            <a:r>
              <a:rPr lang="en-US" sz="1300" i="1" dirty="0">
                <a:solidFill>
                  <a:schemeClr val="accent3"/>
                </a:solidFill>
              </a:rPr>
              <a:t>Same measurement, up to the floor edge</a:t>
            </a:r>
            <a:endParaRPr lang="en-US" sz="1500" dirty="0"/>
          </a:p>
        </p:txBody>
      </p:sp>
      <p:sp>
        <p:nvSpPr>
          <p:cNvPr id="6" name="Text 3"/>
          <p:cNvSpPr txBox="1"/>
          <p:nvPr/>
        </p:nvSpPr>
        <p:spPr>
          <a:xfrm>
            <a:off x="548640" y="562356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C2P goes out and back five times and ends at 91 mm: not delivered. C3P never reaches the threshold.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Transport in simulation</a:t>
            </a:r>
            <a:endParaRPr lang="en-US" sz="3000" dirty="0"/>
          </a:p>
        </p:txBody>
      </p:sp>
      <p:sp>
        <p:nvSpPr>
          <p:cNvPr id="4" name="VIDEO T4 with package: C2P and C3P side by side"/>
          <p:cNvSpPr/>
          <p:nvPr/>
        </p:nvSpPr>
        <p:spPr>
          <a:xfrm>
            <a:off x="548640" y="1280160"/>
            <a:ext cx="11094415" cy="4206240"/>
          </a:xfrm>
          <a:prstGeom prst="roundRect">
            <a:avLst>
              <a:gd name="adj" fmla="val 1739"/>
            </a:avLst>
          </a:prstGeom>
          <a:solidFill>
            <a:srgbClr val="FBEFE8"/>
          </a:solidFill>
          <a:ln w="15875">
            <a:solidFill>
              <a:srgbClr val="C4581E"/>
            </a:solidFill>
            <a:prstDash val="dash"/>
          </a:ln>
        </p:spPr>
      </p:sp>
      <p:sp>
        <p:nvSpPr>
          <p:cNvPr id="5" name="Text 2"/>
          <p:cNvSpPr txBox="1"/>
          <p:nvPr/>
        </p:nvSpPr>
        <p:spPr>
          <a:xfrm>
            <a:off x="685800" y="1371600"/>
            <a:ext cx="10820095" cy="4023360"/>
          </a:xfrm>
          <a:prstGeom prst="rect">
            <a:avLst/>
          </a:prstGeom>
          <a:noFill/>
          <a:ln/>
        </p:spPr>
        <p:txBody>
          <a:bodyPr wrap="square" lIns="0" tIns="0" rIns="0" bIns="0" rtlCol="0" anchor="ctr"/>
          <a:lstStyle/>
          <a:p>
            <a:pPr algn="ctr" indent="0" marL="0">
              <a:buNone/>
            </a:pPr>
            <a:r>
              <a:rPr lang="en-US" sz="1600" b="1" dirty="0">
                <a:solidFill>
                  <a:schemeClr val="accent1"/>
                </a:solidFill>
              </a:rPr>
              <a:t>▶  VIDEO</a:t>
            </a:r>
            <a:endParaRPr lang="en-US" sz="1500" dirty="0"/>
          </a:p>
          <a:p>
            <a:pPr algn="ctr" indent="0" marL="0">
              <a:buNone/>
            </a:pPr>
            <a:r>
              <a:rPr lang="en-US" sz="1300" i="1" dirty="0">
                <a:solidFill>
                  <a:schemeClr val="accent3"/>
                </a:solidFill>
              </a:rPr>
              <a:t>T4 with package: C2P and C3P side by side</a:t>
            </a:r>
            <a:endParaRPr lang="en-US" sz="1500" dirty="0"/>
          </a:p>
        </p:txBody>
      </p:sp>
      <p:sp>
        <p:nvSpPr>
          <p:cNvPr id="6" name="Text 3"/>
          <p:cNvSpPr txBox="1"/>
          <p:nvPr/>
        </p:nvSpPr>
        <p:spPr>
          <a:xfrm>
            <a:off x="548640" y="5623560"/>
            <a:ext cx="11094415" cy="548640"/>
          </a:xfrm>
          <a:prstGeom prst="rect">
            <a:avLst/>
          </a:prstGeom>
          <a:noFill/>
          <a:ln/>
        </p:spPr>
        <p:txBody>
          <a:bodyPr wrap="square" lIns="0" tIns="0" rIns="0" bIns="0" rtlCol="0" anchor="ctr"/>
          <a:lstStyle/>
          <a:p>
            <a:pPr indent="0" marL="0">
              <a:buNone/>
            </a:pPr>
            <a:r>
              <a:rPr lang="en-US" sz="1600" b="1" dirty="0">
                <a:solidFill>
                  <a:schemeClr val="tx2"/>
                </a:solidFill>
              </a:rPr>
              <a:t>Twelve degrees of pitch are enough to make the cube walk to the edge.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Stability: the ZMP confirms the static assumption</a:t>
            </a:r>
            <a:endParaRPr lang="en-US" sz="3000" dirty="0"/>
          </a:p>
        </p:txBody>
      </p:sp>
      <p:sp>
        <p:nvSpPr>
          <p:cNvPr id="4" name="IMG zmp_en.png"/>
          <p:cNvSpPr/>
          <p:nvPr/>
        </p:nvSpPr>
        <p:spPr>
          <a:xfrm>
            <a:off x="548640" y="1280160"/>
            <a:ext cx="8138160" cy="3657600"/>
          </a:xfrm>
          <a:prstGeom prst="roundRect">
            <a:avLst>
              <a:gd name="adj" fmla="val 2000"/>
            </a:avLst>
          </a:prstGeom>
          <a:solidFill>
            <a:srgbClr val="F2F4F5"/>
          </a:solidFill>
          <a:ln w="15875">
            <a:solidFill>
              <a:srgbClr val="6F7F86"/>
            </a:solidFill>
            <a:prstDash val="dash"/>
          </a:ln>
        </p:spPr>
      </p:sp>
      <p:sp>
        <p:nvSpPr>
          <p:cNvPr id="5" name="Text 2"/>
          <p:cNvSpPr txBox="1"/>
          <p:nvPr/>
        </p:nvSpPr>
        <p:spPr>
          <a:xfrm>
            <a:off x="685800" y="1371600"/>
            <a:ext cx="7863840" cy="3474720"/>
          </a:xfrm>
          <a:prstGeom prst="rect">
            <a:avLst/>
          </a:prstGeom>
          <a:noFill/>
          <a:ln/>
        </p:spPr>
        <p:txBody>
          <a:bodyPr wrap="square" lIns="0" tIns="0" rIns="0" bIns="0" rtlCol="0" anchor="ctr"/>
          <a:lstStyle/>
          <a:p>
            <a:pPr algn="ctr" indent="0" marL="0">
              <a:buNone/>
            </a:pPr>
            <a:r>
              <a:rPr lang="en-US" sz="1600" b="1" dirty="0">
                <a:solidFill>
                  <a:schemeClr val="accent3"/>
                </a:solidFill>
              </a:rPr>
              <a:t>IMAGE</a:t>
            </a:r>
            <a:endParaRPr lang="en-US" sz="1500" dirty="0"/>
          </a:p>
          <a:p>
            <a:pPr algn="ctr" indent="0" marL="0">
              <a:buNone/>
            </a:pPr>
            <a:r>
              <a:rPr lang="en-US" sz="1400" dirty="0">
                <a:solidFill>
                  <a:schemeClr val="tx1"/>
                </a:solidFill>
              </a:rPr>
              <a:t>zmp_en.png</a:t>
            </a:r>
            <a:endParaRPr lang="en-US" sz="1500" dirty="0"/>
          </a:p>
          <a:p>
            <a:pPr algn="ctr" indent="0" marL="0">
              <a:buNone/>
            </a:pPr>
            <a:r>
              <a:rPr lang="en-US" sz="1300" i="1" dirty="0">
                <a:solidFill>
                  <a:schemeClr val="accent3"/>
                </a:solidFill>
              </a:rPr>
              <a:t>C2 stability margin on flat ground, 10 cycles</a:t>
            </a:r>
            <a:endParaRPr lang="en-US" sz="1500" dirty="0"/>
          </a:p>
        </p:txBody>
      </p:sp>
      <p:sp>
        <p:nvSpPr>
          <p:cNvPr id="6" name="Text 3"/>
          <p:cNvSpPr txBox="1"/>
          <p:nvPr/>
        </p:nvSpPr>
        <p:spPr>
          <a:xfrm>
            <a:off x="9006840" y="1280160"/>
            <a:ext cx="2633472" cy="68580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0</a:t>
            </a:r>
            <a:endParaRPr lang="en-US" sz="3000" dirty="0"/>
          </a:p>
        </p:txBody>
      </p:sp>
      <p:sp>
        <p:nvSpPr>
          <p:cNvPr id="7" name="Text 4"/>
          <p:cNvSpPr txBox="1"/>
          <p:nvPr/>
        </p:nvSpPr>
        <p:spPr>
          <a:xfrm>
            <a:off x="9006840" y="1993392"/>
            <a:ext cx="2633472" cy="548640"/>
          </a:xfrm>
          <a:prstGeom prst="rect">
            <a:avLst/>
          </a:prstGeom>
          <a:noFill/>
          <a:ln/>
        </p:spPr>
        <p:txBody>
          <a:bodyPr wrap="square" lIns="0" tIns="0" rIns="0" bIns="0" rtlCol="0" anchor="t"/>
          <a:lstStyle/>
          <a:p>
            <a:pPr indent="0" marL="0">
              <a:buNone/>
            </a:pPr>
            <a:r>
              <a:rPr lang="en-US" sz="1300" dirty="0">
                <a:solidFill>
                  <a:schemeClr val="tx1"/>
                </a:solidFill>
              </a:rPr>
              <a:t>samples with negative margin</a:t>
            </a:r>
            <a:endParaRPr lang="en-US" sz="1300" dirty="0"/>
          </a:p>
        </p:txBody>
      </p:sp>
      <p:sp>
        <p:nvSpPr>
          <p:cNvPr id="8" name="Text 5"/>
          <p:cNvSpPr txBox="1"/>
          <p:nvPr/>
        </p:nvSpPr>
        <p:spPr>
          <a:xfrm>
            <a:off x="9006840" y="2697480"/>
            <a:ext cx="2633472" cy="68580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0.115 m</a:t>
            </a:r>
            <a:endParaRPr lang="en-US" sz="3000" dirty="0"/>
          </a:p>
        </p:txBody>
      </p:sp>
      <p:sp>
        <p:nvSpPr>
          <p:cNvPr id="9" name="Text 6"/>
          <p:cNvSpPr txBox="1"/>
          <p:nvPr/>
        </p:nvSpPr>
        <p:spPr>
          <a:xfrm>
            <a:off x="9006840" y="3410712"/>
            <a:ext cx="2633472" cy="548640"/>
          </a:xfrm>
          <a:prstGeom prst="rect">
            <a:avLst/>
          </a:prstGeom>
          <a:noFill/>
          <a:ln/>
        </p:spPr>
        <p:txBody>
          <a:bodyPr wrap="square" lIns="0" tIns="0" rIns="0" bIns="0" rtlCol="0" anchor="t"/>
          <a:lstStyle/>
          <a:p>
            <a:pPr indent="0" marL="0">
              <a:buNone/>
            </a:pPr>
            <a:r>
              <a:rPr lang="en-US" sz="1300" dirty="0">
                <a:solidFill>
                  <a:schemeClr val="tx1"/>
                </a:solidFill>
              </a:rPr>
              <a:t>median margin, versus 0.118 m predicted by geometry</a:t>
            </a:r>
            <a:endParaRPr lang="en-US" sz="1300" dirty="0"/>
          </a:p>
        </p:txBody>
      </p:sp>
      <p:sp>
        <p:nvSpPr>
          <p:cNvPr id="10" name="Text 7"/>
          <p:cNvSpPr txBox="1"/>
          <p:nvPr/>
        </p:nvSpPr>
        <p:spPr>
          <a:xfrm>
            <a:off x="9006840" y="4114800"/>
            <a:ext cx="2633472" cy="68580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90%</a:t>
            </a:r>
            <a:endParaRPr lang="en-US" sz="3000" dirty="0"/>
          </a:p>
        </p:txBody>
      </p:sp>
      <p:sp>
        <p:nvSpPr>
          <p:cNvPr id="11" name="Text 8"/>
          <p:cNvSpPr txBox="1"/>
          <p:nvPr/>
        </p:nvSpPr>
        <p:spPr>
          <a:xfrm>
            <a:off x="9006840" y="4828032"/>
            <a:ext cx="2633472" cy="548640"/>
          </a:xfrm>
          <a:prstGeom prst="rect">
            <a:avLst/>
          </a:prstGeom>
          <a:noFill/>
          <a:ln/>
        </p:spPr>
        <p:txBody>
          <a:bodyPr wrap="square" lIns="0" tIns="0" rIns="0" bIns="0" rtlCol="0" anchor="t"/>
          <a:lstStyle/>
          <a:p>
            <a:pPr indent="0" marL="0">
              <a:buNone/>
            </a:pPr>
            <a:r>
              <a:rPr lang="en-US" sz="1300" dirty="0">
                <a:solidFill>
                  <a:schemeClr val="tx1"/>
                </a:solidFill>
              </a:rPr>
              <a:t>of the time with a computable margin</a:t>
            </a:r>
            <a:endParaRPr lang="en-US" sz="1300" dirty="0"/>
          </a:p>
        </p:txBody>
      </p:sp>
      <p:sp>
        <p:nvSpPr>
          <p:cNvPr id="12" name="Text 9"/>
          <p:cNvSpPr txBox="1"/>
          <p:nvPr/>
        </p:nvSpPr>
        <p:spPr>
          <a:xfrm>
            <a:off x="548640" y="5120640"/>
            <a:ext cx="11094415" cy="731520"/>
          </a:xfrm>
          <a:prstGeom prst="rect">
            <a:avLst/>
          </a:prstGeom>
          <a:noFill/>
          <a:ln/>
        </p:spPr>
        <p:txBody>
          <a:bodyPr wrap="square" lIns="0" tIns="0" rIns="0" bIns="0" rtlCol="0" anchor="t"/>
          <a:lstStyle/>
          <a:p>
            <a:pPr indent="0" marL="0">
              <a:buNone/>
            </a:pPr>
            <a:r>
              <a:rPr lang="en-US" sz="1500" dirty="0">
                <a:solidFill>
                  <a:schemeClr val="tx2"/>
                </a:solidFill>
              </a:rPr>
              <a:t>Not computable = fewer than three feet above Fmin = 2 N, only at the tripod switch: a limit of the measurement, not a loss of support.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822960" y="548640"/>
            <a:ext cx="10515600" cy="8229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Conclusions</a:t>
            </a:r>
            <a:endParaRPr lang="en-US" sz="4000" dirty="0"/>
          </a:p>
        </p:txBody>
      </p:sp>
      <p:sp>
        <p:nvSpPr>
          <p:cNvPr id="3" name="concl 0"/>
          <p:cNvSpPr/>
          <p:nvPr/>
        </p:nvSpPr>
        <p:spPr>
          <a:xfrm>
            <a:off x="822960" y="1737360"/>
            <a:ext cx="3337560" cy="3108960"/>
          </a:xfrm>
          <a:prstGeom prst="rect">
            <a:avLst/>
          </a:prstGeom>
          <a:solidFill>
            <a:srgbClr val="2A4C59"/>
          </a:solidFill>
          <a:ln w="12700">
            <a:solidFill>
              <a:srgbClr val="2A4C59"/>
            </a:solidFill>
            <a:prstDash val="solid"/>
          </a:ln>
        </p:spPr>
      </p:sp>
      <p:sp>
        <p:nvSpPr>
          <p:cNvPr id="4" name="Text 2"/>
          <p:cNvSpPr txBox="1"/>
          <p:nvPr/>
        </p:nvSpPr>
        <p:spPr>
          <a:xfrm>
            <a:off x="1097280" y="1965960"/>
            <a:ext cx="2788920" cy="457200"/>
          </a:xfrm>
          <a:prstGeom prst="rect">
            <a:avLst/>
          </a:prstGeom>
          <a:noFill/>
          <a:ln/>
        </p:spPr>
        <p:txBody>
          <a:bodyPr wrap="square" lIns="0" tIns="0" rIns="0" bIns="0" rtlCol="0" anchor="t"/>
          <a:lstStyle/>
          <a:p>
            <a:pPr indent="0" marL="0">
              <a:buNone/>
            </a:pPr>
            <a:r>
              <a:rPr lang="en-US" sz="1900" b="1" dirty="0">
                <a:solidFill>
                  <a:srgbClr val="E88B5A"/>
                </a:solidFill>
                <a:latin typeface="Cambria" pitchFamily="34" charset="0"/>
                <a:ea typeface="Cambria" pitchFamily="34" charset="-122"/>
                <a:cs typeface="Cambria" pitchFamily="34" charset="-120"/>
              </a:rPr>
              <a:t>Terrain search</a:t>
            </a:r>
            <a:endParaRPr lang="en-US" sz="1900" dirty="0"/>
          </a:p>
        </p:txBody>
      </p:sp>
      <p:sp>
        <p:nvSpPr>
          <p:cNvPr id="5" name="Text 3"/>
          <p:cNvSpPr txBox="1"/>
          <p:nvPr/>
        </p:nvSpPr>
        <p:spPr>
          <a:xfrm>
            <a:off x="1097280" y="2560320"/>
            <a:ext cx="2788920" cy="2103120"/>
          </a:xfrm>
          <a:prstGeom prst="rect">
            <a:avLst/>
          </a:prstGeom>
          <a:noFill/>
          <a:ln/>
        </p:spPr>
        <p:txBody>
          <a:bodyPr wrap="square" lIns="0" tIns="0" rIns="0" bIns="0" rtlCol="0" anchor="t"/>
          <a:lstStyle/>
          <a:p>
            <a:pPr indent="0" marL="0">
              <a:buNone/>
            </a:pPr>
            <a:r>
              <a:rPr lang="en-US" sz="1600" dirty="0">
                <a:solidFill>
                  <a:schemeClr val="bg1"/>
                </a:solidFill>
              </a:rPr>
              <a:t>Cost on known terrain (pitch +219–279%), benefit on discontinuities (cost of transport −7/−10%).</a:t>
            </a:r>
            <a:endParaRPr lang="en-US" sz="1600" dirty="0"/>
          </a:p>
        </p:txBody>
      </p:sp>
      <p:sp>
        <p:nvSpPr>
          <p:cNvPr id="6" name="concl 1"/>
          <p:cNvSpPr/>
          <p:nvPr/>
        </p:nvSpPr>
        <p:spPr>
          <a:xfrm>
            <a:off x="4434840" y="1737360"/>
            <a:ext cx="3337560" cy="3108960"/>
          </a:xfrm>
          <a:prstGeom prst="rect">
            <a:avLst/>
          </a:prstGeom>
          <a:solidFill>
            <a:srgbClr val="2A4C59"/>
          </a:solidFill>
          <a:ln w="12700">
            <a:solidFill>
              <a:srgbClr val="2A4C59"/>
            </a:solidFill>
            <a:prstDash val="solid"/>
          </a:ln>
        </p:spPr>
      </p:sp>
      <p:sp>
        <p:nvSpPr>
          <p:cNvPr id="7" name="Text 5"/>
          <p:cNvSpPr txBox="1"/>
          <p:nvPr/>
        </p:nvSpPr>
        <p:spPr>
          <a:xfrm>
            <a:off x="4709160" y="1965960"/>
            <a:ext cx="2788920" cy="457200"/>
          </a:xfrm>
          <a:prstGeom prst="rect">
            <a:avLst/>
          </a:prstGeom>
          <a:noFill/>
          <a:ln/>
        </p:spPr>
        <p:txBody>
          <a:bodyPr wrap="square" lIns="0" tIns="0" rIns="0" bIns="0" rtlCol="0" anchor="t"/>
          <a:lstStyle/>
          <a:p>
            <a:pPr indent="0" marL="0">
              <a:buNone/>
            </a:pPr>
            <a:r>
              <a:rPr lang="en-US" sz="1900" b="1" dirty="0">
                <a:solidFill>
                  <a:srgbClr val="8FC1A4"/>
                </a:solidFill>
                <a:latin typeface="Cambria" pitchFamily="34" charset="0"/>
                <a:ea typeface="Cambria" pitchFamily="34" charset="-122"/>
                <a:cs typeface="Cambria" pitchFamily="34" charset="-120"/>
              </a:rPr>
              <a:t>Attitude loop</a:t>
            </a:r>
            <a:endParaRPr lang="en-US" sz="1900" dirty="0"/>
          </a:p>
        </p:txBody>
      </p:sp>
      <p:sp>
        <p:nvSpPr>
          <p:cNvPr id="8" name="Text 6"/>
          <p:cNvSpPr txBox="1"/>
          <p:nvPr/>
        </p:nvSpPr>
        <p:spPr>
          <a:xfrm>
            <a:off x="4709160" y="2560320"/>
            <a:ext cx="2788920" cy="2103120"/>
          </a:xfrm>
          <a:prstGeom prst="rect">
            <a:avLst/>
          </a:prstGeom>
          <a:noFill/>
          <a:ln/>
        </p:spPr>
        <p:txBody>
          <a:bodyPr wrap="square" lIns="0" tIns="0" rIns="0" bIns="0" rtlCol="0" anchor="t"/>
          <a:lstStyle/>
          <a:p>
            <a:pPr indent="0" marL="0">
              <a:buNone/>
            </a:pPr>
            <a:r>
              <a:rPr lang="en-US" sz="1600" dirty="0">
                <a:solidFill>
                  <a:schemeClr val="bg1"/>
                </a:solidFill>
              </a:rPr>
              <a:t>Pitch −73/−82% on every task, +28–40% energy. With a load, it makes transport possible.</a:t>
            </a:r>
            <a:endParaRPr lang="en-US" sz="1600" dirty="0"/>
          </a:p>
        </p:txBody>
      </p:sp>
      <p:sp>
        <p:nvSpPr>
          <p:cNvPr id="9" name="concl 2"/>
          <p:cNvSpPr/>
          <p:nvPr/>
        </p:nvSpPr>
        <p:spPr>
          <a:xfrm>
            <a:off x="8046720" y="1737360"/>
            <a:ext cx="3337560" cy="3108960"/>
          </a:xfrm>
          <a:prstGeom prst="rect">
            <a:avLst/>
          </a:prstGeom>
          <a:solidFill>
            <a:srgbClr val="2A4C59"/>
          </a:solidFill>
          <a:ln w="12700">
            <a:solidFill>
              <a:srgbClr val="2A4C59"/>
            </a:solidFill>
            <a:prstDash val="solid"/>
          </a:ln>
        </p:spPr>
      </p:sp>
      <p:sp>
        <p:nvSpPr>
          <p:cNvPr id="10" name="Text 8"/>
          <p:cNvSpPr txBox="1"/>
          <p:nvPr/>
        </p:nvSpPr>
        <p:spPr>
          <a:xfrm>
            <a:off x="8321040" y="1965960"/>
            <a:ext cx="2788920" cy="457200"/>
          </a:xfrm>
          <a:prstGeom prst="rect">
            <a:avLst/>
          </a:prstGeom>
          <a:noFill/>
          <a:ln/>
        </p:spPr>
        <p:txBody>
          <a:bodyPr wrap="square" lIns="0" tIns="0" rIns="0" bIns="0" rtlCol="0" anchor="t"/>
          <a:lstStyle/>
          <a:p>
            <a:pPr indent="0" marL="0">
              <a:buNone/>
            </a:pPr>
            <a:r>
              <a:rPr lang="en-US" sz="1900" b="1" dirty="0">
                <a:solidFill>
                  <a:srgbClr val="C9D4D8"/>
                </a:solidFill>
                <a:latin typeface="Cambria" pitchFamily="34" charset="0"/>
                <a:ea typeface="Cambria" pitchFamily="34" charset="-122"/>
                <a:cs typeface="Cambria" pitchFamily="34" charset="-120"/>
              </a:rPr>
              <a:t>Limits</a:t>
            </a:r>
            <a:endParaRPr lang="en-US" sz="1900" dirty="0"/>
          </a:p>
        </p:txBody>
      </p:sp>
      <p:sp>
        <p:nvSpPr>
          <p:cNvPr id="11" name="Text 9"/>
          <p:cNvSpPr txBox="1"/>
          <p:nvPr/>
        </p:nvSpPr>
        <p:spPr>
          <a:xfrm>
            <a:off x="8321040" y="2560320"/>
            <a:ext cx="2788920" cy="2103120"/>
          </a:xfrm>
          <a:prstGeom prst="rect">
            <a:avLst/>
          </a:prstGeom>
          <a:noFill/>
          <a:ln/>
        </p:spPr>
        <p:txBody>
          <a:bodyPr wrap="square" lIns="0" tIns="0" rIns="0" bIns="0" rtlCol="0" anchor="t"/>
          <a:lstStyle/>
          <a:p>
            <a:pPr indent="0" marL="0">
              <a:buNone/>
            </a:pPr>
            <a:r>
              <a:rPr lang="en-US" sz="1600" dirty="0">
                <a:solidFill>
                  <a:schemeClr val="bg1"/>
                </a:solidFill>
              </a:rPr>
              <a:t>Lateral impulse recovered by none; on real servos, torques above the recommended load.</a:t>
            </a:r>
            <a:endParaRPr lang="en-US" sz="1600" dirty="0"/>
          </a:p>
        </p:txBody>
      </p:sp>
      <p:sp>
        <p:nvSpPr>
          <p:cNvPr id="12" name="Text 10"/>
          <p:cNvSpPr txBox="1"/>
          <p:nvPr/>
        </p:nvSpPr>
        <p:spPr>
          <a:xfrm>
            <a:off x="822960" y="5349240"/>
            <a:ext cx="10515600" cy="64008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Thank you for your attention</a:t>
            </a:r>
            <a:endParaRPr lang="en-US" sz="2400" dirty="0"/>
          </a:p>
        </p:txBody>
      </p:sp>
      <p:sp>
        <p:nvSpPr>
          <p:cNvPr id="14" name="Text 0"/>
          <p:cNvSpPr/>
          <p:nvPr>
            <p:ph idx="100" type="title" hasCustomPrompt="1"/>
          </p:nvPr>
        </p:nvSpPr>
        <p:spPr>
          <a:xfrm>
            <a:off x="822960" y="1554480"/>
            <a:ext cx="10515600" cy="1737360"/>
          </a:xfrm>
          <a:prstGeom prst="rect">
            <a:avLst/>
          </a:prstGeom>
          <a:noFill/>
          <a:ln/>
        </p:spPr>
        <p:txBody>
          <a:bodyPr wrap="square" lIns="0" tIns="0" rIns="0" bIns="0" rtlCol="0" anchor="b"/>
          <a:lstStyle/>
          <a:p>
            <a:pPr indent="0" marL="0">
              <a:buNone/>
            </a:pPr>
            <a:endParaRPr lang="en-US" sz="4000" dirty="0"/>
          </a:p>
        </p:txBody>
      </p:sp>
      <p:sp>
        <p:nvSpPr>
          <p:cNvPr id="15" name="Text 0"/>
          <p:cNvSpPr/>
          <p:nvPr>
            <p:ph idx="101" type="body" hasCustomPrompt="1"/>
          </p:nvPr>
        </p:nvSpPr>
        <p:spPr>
          <a:xfrm>
            <a:off x="822960" y="3429000"/>
            <a:ext cx="10515600" cy="731520"/>
          </a:xfrm>
          <a:prstGeom prst="rect">
            <a:avLst/>
          </a:prstGeom>
          <a:noFill/>
          <a:ln/>
        </p:spPr>
        <p:txBody>
          <a:bodyPr wrap="square" lIns="0" tIns="0" rIns="0" bIns="0" rtlCol="0" anchor="t"/>
          <a:lstStyle/>
          <a:p>
            <a:pPr indent="0" marL="0">
              <a:buNone/>
            </a:pPr>
            <a:endParaRPr lang="en-US" sz="2000" dirty="0"/>
          </a:p>
        </p:txBody>
      </p:sp>
    </p:spTree>
  </p:cSld>
  <p:clrMapOvr>
    <a:masterClrMapping/>
  </p:clrMapOvr>
</p:sld>
</file>

<file path=ppt/theme/theme1.xml><?xml version="1.0" encoding="utf-8"?>
<a:theme xmlns:a="http://schemas.openxmlformats.org/drawingml/2006/main" name="FSR PhantomX">
  <a:themeElements>
    <a:clrScheme name="FSR PhantomX">
      <a:dk1>
        <a:srgbClr val="1F2A30"/>
      </a:dk1>
      <a:lt1>
        <a:srgbClr val="FFFFFF"/>
      </a:lt1>
      <a:dk2>
        <a:srgbClr val="1F3A45"/>
      </a:dk2>
      <a:lt2>
        <a:srgbClr val="EEF2F3"/>
      </a:lt2>
      <a:accent1>
        <a:srgbClr val="C4581E"/>
      </a:accent1>
      <a:accent2>
        <a:srgbClr val="4E7F64"/>
      </a:accent2>
      <a:accent3>
        <a:srgbClr val="6F7F86"/>
      </a:accent3>
      <a:accent4>
        <a:srgbClr val="2E6F8E"/>
      </a:accent4>
      <a:accent5>
        <a:srgbClr val="B9C6CB"/>
      </a:accent5>
      <a:accent6>
        <a:srgbClr val="E3B23C"/>
      </a:accent6>
      <a:hlink>
        <a:srgbClr val="2E6F8E"/>
      </a:hlink>
      <a:folHlink>
        <a:srgbClr val="6F7F86"/>
      </a:folHlink>
    </a:clrScheme>
    <a:fontScheme name="FSR PhantomX">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Terrain-interaction control of a hexapod robot</dc:title>
  <dc:subject>PptxGenJS Presentation</dc:subject>
  <dc:creator>Eros Cribello, Andrea Russo</dc:creator>
  <cp:lastModifiedBy>Eros Cribello, Andrea Russo</cp:lastModifiedBy>
  <cp:revision>1</cp:revision>
  <dcterms:created xsi:type="dcterms:W3CDTF">2026-10-08T20:46:56Z</dcterms:created>
  <dcterms:modified xsi:type="dcterms:W3CDTF">2026-10-08T20:46:56Z</dcterms:modified>
</cp:coreProperties>
</file>