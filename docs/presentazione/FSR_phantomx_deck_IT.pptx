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63d63c1-6e3d-fbe9-5d62-2879a7b3b1a6}">
          <p14:sldIdLst>
            <p14:sldId id="256"/>
            <p14:sldId id="257"/>
            <p14:sldId id="258"/>
            <p14:sldId id="259"/>
            <p14:sldId id="260"/>
          </p14:sldIdLst>
        </p14:section>
        <p14:section name="Il banco di prova" id="{f6a03d70-0b03-386d-2938-536d2853d95b}">
          <p14:sldIdLst>
            <p14:sldId id="261"/>
            <p14:sldId id="262"/>
            <p14:sldId id="263"/>
            <p14:sldId id="264"/>
          </p14:sldIdLst>
        </p14:section>
        <p14:section name="Metodo" id="{b4b434c2-c5b2-1de9-b4e9-a10399517fea}">
          <p14:sldIdLst>
            <p14:sldId id="265"/>
            <p14:sldId id="266"/>
            <p14:sldId id="267"/>
          </p14:sldIdLst>
        </p14:section>
        <p14:section name="Due difetti" id="{23717be2-cf92-e978-8d44-ac46db9138c4}">
          <p14:sldIdLst>
            <p14:sldId id="268"/>
            <p14:sldId id="269"/>
            <p14:sldId id="270"/>
            <p14:sldId id="271"/>
          </p14:sldIdLst>
        </p14:section>
        <p14:section name="Risultati" id="{f9182d93-3f7d-4130-69d4-fd3f7bef342b}">
          <p14:sldIdLst>
            <p14:sldId id="272"/>
            <p14:sldId id="273"/>
            <p14:sldId id="274"/>
            <p14:sldId id="275"/>
            <p14:sldId id="276"/>
            <p14:sldId id="277"/>
            <p14:sldId id="278"/>
          </p14:sldIdLst>
        </p14:section>
        <p14:section name="Che cosa significa" id="{4a64c760-3d9d-61f1-382d-7c6e90ba578b}">
          <p14:sldIdLst>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1920240"/>
            <a:ext cx="10362895" cy="1737360"/>
          </a:xfrm>
          <a:prstGeom prst="rect">
            <a:avLst/>
          </a:prstGeom>
          <a:noFill/>
          <a:ln/>
        </p:spPr>
        <p:txBody>
          <a:bodyPr wrap="square" rtlCol="0"/>
          <a:lstStyle>
            <a:lvl1pPr indent="0" marL="0">
              <a:lnSpc>
                <a:spcPct val="105000"/>
              </a:lnSpc>
              <a:buNone/>
              <a:defRPr lang="en-US" sz="4000" b="1" dirty="0">
                <a:solidFill>
                  <a:schemeClr val="bg1"/>
                </a:solidFill>
              </a:defRPr>
            </a:lvl1pPr>
          </a:lstStyle>
          <a:p>
            <a:pPr indent="0" marL="0">
              <a:lnSpc>
                <a:spcPct val="105000"/>
              </a:lnSpc>
              <a:buNone/>
            </a:pPr>
            <a:r>
              <a:rPr lang="en-US" sz="4000" b="1" dirty="0">
                <a:solidFill>
                  <a:schemeClr val="bg1"/>
                </a:solidFill>
              </a:rPr>
              <a:t> </a:t>
            </a:r>
            <a:endParaRPr lang="en-US" sz="4000" dirty="0"/>
          </a:p>
        </p:txBody>
      </p:sp>
      <p:sp>
        <p:nvSpPr>
          <p:cNvPr id="3" name="Text 0"/>
          <p:cNvSpPr/>
          <p:nvPr>
            <p:ph idx="101" type="body" hasCustomPrompt="1"/>
          </p:nvPr>
        </p:nvSpPr>
        <p:spPr>
          <a:xfrm>
            <a:off x="914400" y="3794760"/>
            <a:ext cx="8899855" cy="822960"/>
          </a:xfrm>
          <a:prstGeom prst="rect">
            <a:avLst/>
          </a:prstGeom>
          <a:noFill/>
          <a:ln/>
        </p:spPr>
        <p:txBody>
          <a:bodyPr wrap="square" rtlCol="0"/>
          <a:lstStyle>
            <a:lvl1pPr indent="0" marL="0">
              <a:buNone/>
              <a:defRPr lang="en-US" sz="1700" dirty="0">
                <a:solidFill>
                  <a:srgbClr val="C8D6DB"/>
                </a:solidFill>
              </a:defRPr>
            </a:lvl1pPr>
          </a:lstStyle>
          <a:p>
            <a:pPr indent="0" marL="0">
              <a:buNone/>
            </a:pPr>
            <a:r>
              <a:rPr lang="en-US" sz="1700" dirty="0">
                <a:solidFill>
                  <a:srgbClr val="C8D6DB"/>
                </a:solidFill>
              </a:rPr>
              <a:t> </a:t>
            </a:r>
            <a:endParaRPr lang="en-US" sz="1700" dirty="0"/>
          </a:p>
        </p:txBody>
      </p:sp>
      <p:sp>
        <p:nvSpPr>
          <p:cNvPr id="4" name="Text 0"/>
          <p:cNvSpPr/>
          <p:nvPr>
            <p:ph idx="102" type="body" hasCustomPrompt="1"/>
          </p:nvPr>
        </p:nvSpPr>
        <p:spPr>
          <a:xfrm>
            <a:off x="914400" y="5257800"/>
            <a:ext cx="10362895" cy="1005840"/>
          </a:xfrm>
          <a:prstGeom prst="rect">
            <a:avLst/>
          </a:prstGeom>
          <a:noFill/>
          <a:ln/>
        </p:spPr>
        <p:txBody>
          <a:bodyPr wrap="square" rtlCol="0"/>
          <a:lstStyle>
            <a:lvl1pPr indent="0" marL="0">
              <a:buNone/>
              <a:defRPr lang="en-US" sz="1300" dirty="0">
                <a:solidFill>
                  <a:srgbClr val="9FB6BD"/>
                </a:solidFill>
              </a:defRPr>
            </a:lvl1pPr>
          </a:lstStyle>
          <a:p>
            <a:pPr indent="0" marL="0">
              <a:buNone/>
            </a:pPr>
            <a:r>
              <a:rPr lang="en-US" sz="1300" dirty="0">
                <a:solidFill>
                  <a:srgbClr val="9FB6BD"/>
                </a:solidFill>
              </a:rPr>
              <a:t> </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lvl1pPr algn="l" indent="0" marL="0">
              <a:buNone/>
              <a:defRPr lang="en-US" sz="1400" b="1" spc="200" kern="0" dirty="0">
                <a:solidFill>
                  <a:srgbClr val="A9C7D1"/>
                </a:solidFill>
              </a:defRPr>
            </a:lvl1pPr>
          </a:lstStyle>
          <a:p>
            <a:pPr algn="l" indent="0" marL="0">
              <a:buNone/>
            </a:pPr>
            <a:r>
              <a:rPr lang="en-US" sz="1400" b="1" spc="200" kern="0" dirty="0">
                <a:solidFill>
                  <a:srgbClr val="A9C7D1"/>
                </a:solidFill>
              </a:rPr>
              <a:t> </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lstStyle>
            <a:lvl1pPr algn="l" indent="0" marL="0">
              <a:buNone/>
              <a:defRPr lang="en-US" sz="1500" dirty="0">
                <a:solidFill>
                  <a:srgbClr val="C8D6DB"/>
                </a:solidFill>
              </a:defRPr>
            </a:lvl1pPr>
          </a:lstStyle>
          <a:p>
            <a:pPr algn="l" indent="0" marL="0">
              <a:buNone/>
            </a:pPr>
            <a:r>
              <a:rPr lang="en-US" sz="1500" dirty="0">
                <a:solidFill>
                  <a:srgbClr val="C8D6DB"/>
                </a:solidFill>
              </a:rPr>
              <a:t> </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rtlCol="0"/>
          <a:lstStyle>
            <a:lvl1pPr indent="0" marL="0">
              <a:buNone/>
              <a:defRPr lang="en-US" sz="2900" b="1" dirty="0">
                <a:solidFill>
                  <a:schemeClr val="accent1"/>
                </a:solidFill>
              </a:defRPr>
            </a:lvl1pPr>
          </a:lstStyle>
          <a:p>
            <a:pPr indent="0" marL="0">
              <a:buNone/>
            </a:pPr>
            <a:r>
              <a:rPr lang="en-US" sz="2900" b="1" dirty="0">
                <a:solidFill>
                  <a:schemeClr val="accent1"/>
                </a:solidFill>
              </a:rPr>
              <a:t> </a:t>
            </a:r>
            <a:endParaRPr lang="en-US" sz="2900" dirty="0"/>
          </a:p>
        </p:txBody>
      </p:sp>
      <p:sp>
        <p:nvSpPr>
          <p:cNvPr id="3" name="Text 0"/>
          <p:cNvSpPr txBox="1"/>
          <p:nvPr/>
        </p:nvSpPr>
        <p:spPr>
          <a:xfrm>
            <a:off x="548640" y="6382512"/>
            <a:ext cx="2743200" cy="274320"/>
          </a:xfrm>
          <a:prstGeom prst="rect">
            <a:avLst/>
          </a:prstGeom>
          <a:noFill/>
          <a:ln/>
        </p:spPr>
        <p:txBody>
          <a:bodyPr wrap="square" lIns="0" tIns="0" rIns="0" bIns="0" rtlCol="0" anchor="ctr"/>
          <a:lstStyle/>
          <a:p>
            <a:pPr indent="0" marL="0">
              <a:buNone/>
            </a:pPr>
            <a:r>
              <a:rPr lang="en-US" sz="1000" dirty="0">
                <a:solidFill>
                  <a:srgbClr val="9AA7AD"/>
                </a:solidFill>
              </a:rPr>
              <a:t>FSR PhantomX</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rtlCol="0"/>
          <a:lstStyle>
            <a:lvl1pPr indent="0" marL="0">
              <a:buNone/>
              <a:defRPr lang="en-US" sz="2900" b="1" dirty="0">
                <a:solidFill>
                  <a:schemeClr val="bg1"/>
                </a:solidFill>
              </a:defRPr>
            </a:lvl1pPr>
          </a:lstStyle>
          <a:p>
            <a:pPr indent="0" marL="0">
              <a:buNone/>
            </a:pPr>
            <a:r>
              <a:rPr lang="en-US" sz="2900" b="1" dirty="0">
                <a:solidFill>
                  <a:schemeClr val="bg1"/>
                </a:solidFill>
              </a:rPr>
              <a:t> </a:t>
            </a:r>
            <a:endParaRPr lang="en-US" sz="2900" dirty="0"/>
          </a:p>
        </p:txBody>
      </p:sp>
      <p:sp>
        <p:nvSpPr>
          <p:cNvPr id="3" name="Text 0"/>
          <p:cNvSpPr txBox="1"/>
          <p:nvPr/>
        </p:nvSpPr>
        <p:spPr>
          <a:xfrm>
            <a:off x="548640" y="6382512"/>
            <a:ext cx="2743200" cy="274320"/>
          </a:xfrm>
          <a:prstGeom prst="rect">
            <a:avLst/>
          </a:prstGeom>
          <a:noFill/>
          <a:ln/>
        </p:spPr>
        <p:txBody>
          <a:bodyPr wrap="square" lIns="0" tIns="0" rIns="0" bIns="0" rtlCol="0" anchor="ctr"/>
          <a:lstStyle/>
          <a:p>
            <a:pPr indent="0" marL="0">
              <a:buNone/>
            </a:pPr>
            <a:r>
              <a:rPr lang="en-US" sz="1000" dirty="0">
                <a:solidFill>
                  <a:srgbClr val="7E99A3"/>
                </a:solidFill>
              </a:rPr>
              <a:t>FSR PhantomX</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99A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914400" y="1920240"/>
            <a:ext cx="10362895" cy="1737360"/>
          </a:xfrm>
          <a:prstGeom prst="rect">
            <a:avLst/>
          </a:prstGeom>
          <a:noFill/>
          <a:ln/>
        </p:spPr>
        <p:txBody>
          <a:bodyPr wrap="square" rtlCol="0" anchor="b"/>
          <a:lstStyle/>
          <a:p>
            <a:pPr indent="0" marL="0">
              <a:lnSpc>
                <a:spcPct val="105000"/>
              </a:lnSpc>
              <a:buNone/>
            </a:pPr>
            <a:r>
              <a:rPr lang="en-US" sz="4000" b="1" dirty="0">
                <a:solidFill>
                  <a:schemeClr val="bg1"/>
                </a:solidFill>
              </a:rPr>
              <a:t>Controllo con interazione col terreno</a:t>
            </a:r>
            <a:endParaRPr lang="en-US" sz="4000" dirty="0"/>
          </a:p>
          <a:p>
            <a:pPr indent="0" marL="0">
              <a:lnSpc>
                <a:spcPct val="105000"/>
              </a:lnSpc>
              <a:buNone/>
            </a:pPr>
            <a:r>
              <a:rPr lang="en-US" sz="4000" b="1" dirty="0">
                <a:solidFill>
                  <a:schemeClr val="bg1"/>
                </a:solidFill>
              </a:rPr>
              <a:t>di un robot esapode</a:t>
            </a:r>
            <a:endParaRPr lang="en-US" sz="4000" dirty="0"/>
          </a:p>
        </p:txBody>
      </p:sp>
      <p:sp>
        <p:nvSpPr>
          <p:cNvPr id="3" name="Text 0"/>
          <p:cNvSpPr/>
          <p:nvPr>
            <p:ph idx="101" type="body" hasCustomPrompt="1"/>
          </p:nvPr>
        </p:nvSpPr>
        <p:spPr>
          <a:xfrm>
            <a:off x="914400" y="3794760"/>
            <a:ext cx="8899855" cy="822960"/>
          </a:xfrm>
          <a:prstGeom prst="rect">
            <a:avLst/>
          </a:prstGeom>
          <a:noFill/>
          <a:ln/>
        </p:spPr>
        <p:txBody>
          <a:bodyPr wrap="square" rtlCol="0" anchor="t"/>
          <a:lstStyle/>
          <a:p>
            <a:pPr indent="0" marL="0">
              <a:buNone/>
            </a:pPr>
            <a:r>
              <a:rPr lang="en-US" sz="1700" dirty="0">
                <a:solidFill>
                  <a:srgbClr val="C8D6DB"/>
                </a:solidFill>
              </a:rPr>
              <a:t>Confronto misurato di tre controllori su un impianto di simulazione condiviso</a:t>
            </a:r>
            <a:endParaRPr lang="en-US" sz="1700" dirty="0"/>
          </a:p>
        </p:txBody>
      </p:sp>
      <p:sp>
        <p:nvSpPr>
          <p:cNvPr id="4" name="Text 0"/>
          <p:cNvSpPr/>
          <p:nvPr>
            <p:ph idx="102" type="body" hasCustomPrompt="1"/>
          </p:nvPr>
        </p:nvSpPr>
        <p:spPr>
          <a:xfrm>
            <a:off x="914400" y="5257800"/>
            <a:ext cx="10362895" cy="1005840"/>
          </a:xfrm>
          <a:prstGeom prst="rect">
            <a:avLst/>
          </a:prstGeom>
          <a:noFill/>
          <a:ln/>
        </p:spPr>
        <p:txBody>
          <a:bodyPr wrap="square" rtlCol="0" anchor="t"/>
          <a:lstStyle/>
          <a:p>
            <a:pPr indent="0" marL="0">
              <a:buNone/>
            </a:pPr>
            <a:r>
              <a:rPr lang="en-US" sz="1500" b="1" dirty="0">
                <a:solidFill>
                  <a:srgbClr val="FFFFFF"/>
                </a:solidFill>
              </a:rPr>
              <a:t>[Studente 1]  ·  [Studente 2]</a:t>
            </a:r>
            <a:endParaRPr lang="en-US" sz="1300" dirty="0"/>
          </a:p>
          <a:p>
            <a:pPr indent="0" marL="0">
              <a:buNone/>
            </a:pPr>
            <a:r>
              <a:rPr lang="en-US" sz="1300" dirty="0">
                <a:solidFill>
                  <a:srgbClr val="9FB6BD"/>
                </a:solidFill>
              </a:rPr>
              <a:t>Field and Service Robotics — A.A. 2025/2026</a:t>
            </a:r>
            <a:endParaRPr lang="en-US" sz="1300" dirty="0"/>
          </a:p>
          <a:p>
            <a:pPr indent="0" marL="0">
              <a:buNone/>
            </a:pPr>
            <a:r>
              <a:rPr lang="en-US" sz="1300" dirty="0">
                <a:solidFill>
                  <a:srgbClr val="9FB6BD"/>
                </a:solidFill>
              </a:rPr>
              <a:t>Universita degli Studi di Napoli Federico II</a:t>
            </a:r>
            <a:endParaRPr lang="en-US" sz="1300" dirty="0"/>
          </a:p>
        </p:txBody>
      </p:sp>
      <p:sp>
        <p:nvSpPr>
          <p:cNvPr id="5" name="chip"/>
          <p:cNvSpPr/>
          <p:nvPr/>
        </p:nvSpPr>
        <p:spPr>
          <a:xfrm>
            <a:off x="9430207" y="5532120"/>
            <a:ext cx="566928" cy="566928"/>
          </a:xfrm>
          <a:prstGeom prst="ellipse">
            <a:avLst/>
          </a:prstGeom>
          <a:solidFill>
            <a:srgbClr val="7C8A91"/>
          </a:solidFill>
          <a:ln w="12700">
            <a:solidFill>
              <a:srgbClr val="7C8A91"/>
            </a:solidFill>
            <a:prstDash val="solid"/>
          </a:ln>
        </p:spPr>
      </p:sp>
      <p:sp>
        <p:nvSpPr>
          <p:cNvPr id="6" name="chipText"/>
          <p:cNvSpPr txBox="1"/>
          <p:nvPr/>
        </p:nvSpPr>
        <p:spPr>
          <a:xfrm>
            <a:off x="9430207" y="5532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C1</a:t>
            </a:r>
            <a:endParaRPr lang="en-US" sz="1500" dirty="0"/>
          </a:p>
        </p:txBody>
      </p:sp>
      <p:sp>
        <p:nvSpPr>
          <p:cNvPr id="7" name="chip"/>
          <p:cNvSpPr/>
          <p:nvPr/>
        </p:nvSpPr>
        <p:spPr>
          <a:xfrm>
            <a:off x="10143439" y="5532120"/>
            <a:ext cx="566928" cy="566928"/>
          </a:xfrm>
          <a:prstGeom prst="ellipse">
            <a:avLst/>
          </a:prstGeom>
          <a:solidFill>
            <a:srgbClr val="C2591F"/>
          </a:solidFill>
          <a:ln w="12700">
            <a:solidFill>
              <a:srgbClr val="C2591F"/>
            </a:solidFill>
            <a:prstDash val="solid"/>
          </a:ln>
        </p:spPr>
      </p:sp>
      <p:sp>
        <p:nvSpPr>
          <p:cNvPr id="8" name="chipText"/>
          <p:cNvSpPr txBox="1"/>
          <p:nvPr/>
        </p:nvSpPr>
        <p:spPr>
          <a:xfrm>
            <a:off x="10143439" y="5532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C2</a:t>
            </a:r>
            <a:endParaRPr lang="en-US" sz="1500" dirty="0"/>
          </a:p>
        </p:txBody>
      </p:sp>
      <p:sp>
        <p:nvSpPr>
          <p:cNvPr id="9" name="chip"/>
          <p:cNvSpPr/>
          <p:nvPr/>
        </p:nvSpPr>
        <p:spPr>
          <a:xfrm>
            <a:off x="10856671" y="5532120"/>
            <a:ext cx="566928" cy="566928"/>
          </a:xfrm>
          <a:prstGeom prst="ellipse">
            <a:avLst/>
          </a:prstGeom>
          <a:solidFill>
            <a:srgbClr val="6F9480"/>
          </a:solidFill>
          <a:ln w="12700">
            <a:solidFill>
              <a:srgbClr val="6F9480"/>
            </a:solidFill>
            <a:prstDash val="solid"/>
          </a:ln>
        </p:spPr>
      </p:sp>
      <p:sp>
        <p:nvSpPr>
          <p:cNvPr id="10" name="chipText"/>
          <p:cNvSpPr txBox="1"/>
          <p:nvPr/>
        </p:nvSpPr>
        <p:spPr>
          <a:xfrm>
            <a:off x="10856671" y="5532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C3</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La domanda</a:t>
            </a:r>
            <a:endParaRPr lang="en-US" sz="2900" dirty="0"/>
          </a:p>
        </p:txBody>
      </p:sp>
      <p:sp>
        <p:nvSpPr>
          <p:cNvPr id="3" name="lead"/>
          <p:cNvSpPr txBox="1"/>
          <p:nvPr/>
        </p:nvSpPr>
        <p:spPr>
          <a:xfrm>
            <a:off x="548640" y="1325880"/>
            <a:ext cx="10545775" cy="1005840"/>
          </a:xfrm>
          <a:prstGeom prst="rect">
            <a:avLst/>
          </a:prstGeom>
          <a:noFill/>
          <a:ln/>
        </p:spPr>
        <p:txBody>
          <a:bodyPr wrap="square" lIns="0" tIns="0" rIns="0" bIns="0" rtlCol="0" anchor="ctr"/>
          <a:lstStyle/>
          <a:p>
            <a:pPr indent="0" marL="0">
              <a:lnSpc>
                <a:spcPct val="115000"/>
              </a:lnSpc>
              <a:buNone/>
            </a:pPr>
            <a:r>
              <a:rPr lang="en-US" sz="1900" i="1" dirty="0">
                <a:solidFill>
                  <a:schemeClr val="accent1"/>
                </a:solidFill>
              </a:rPr>
              <a:t>La ricerca del terreno compra adattamento senza aggiungere un solo sensore.</a:t>
            </a:r>
            <a:endParaRPr lang="en-US" sz="1900" dirty="0"/>
          </a:p>
          <a:p>
            <a:pPr indent="0" marL="0">
              <a:lnSpc>
                <a:spcPct val="115000"/>
              </a:lnSpc>
              <a:buNone/>
            </a:pPr>
            <a:r>
              <a:rPr lang="en-US" sz="1900" i="1" dirty="0">
                <a:solidFill>
                  <a:schemeClr val="accent1"/>
                </a:solidFill>
              </a:rPr>
              <a:t>Quanto costa dove non c'e' terreno da scoprire?</a:t>
            </a:r>
            <a:endParaRPr lang="en-US" sz="1900" dirty="0"/>
          </a:p>
        </p:txBody>
      </p:sp>
      <p:sp>
        <p:nvSpPr>
          <p:cNvPr id="4" name="panel"/>
          <p:cNvSpPr/>
          <p:nvPr/>
        </p:nvSpPr>
        <p:spPr>
          <a:xfrm>
            <a:off x="548640" y="2971800"/>
            <a:ext cx="3454298" cy="2057400"/>
          </a:xfrm>
          <a:prstGeom prst="roundRect">
            <a:avLst>
              <a:gd name="adj" fmla="val 2667"/>
            </a:avLst>
          </a:prstGeom>
          <a:solidFill>
            <a:schemeClr val="bg2"/>
          </a:solidFill>
          <a:ln w="12700">
            <a:solidFill>
              <a:schemeClr val="bg2"/>
            </a:solidFill>
            <a:prstDash val="solid"/>
          </a:ln>
        </p:spPr>
      </p:sp>
      <p:sp>
        <p:nvSpPr>
          <p:cNvPr id="5" name="cardHead"/>
          <p:cNvSpPr txBox="1"/>
          <p:nvPr/>
        </p:nvSpPr>
        <p:spPr>
          <a:xfrm>
            <a:off x="804672" y="3154680"/>
            <a:ext cx="2942234" cy="402336"/>
          </a:xfrm>
          <a:prstGeom prst="rect">
            <a:avLst/>
          </a:prstGeom>
          <a:noFill/>
          <a:ln/>
        </p:spPr>
        <p:txBody>
          <a:bodyPr wrap="square" lIns="0" tIns="0" rIns="0" bIns="0" rtlCol="0" anchor="ctr"/>
          <a:lstStyle/>
          <a:p>
            <a:pPr indent="0" marL="0">
              <a:buNone/>
            </a:pPr>
            <a:r>
              <a:rPr lang="en-US" sz="1500" b="1" dirty="0">
                <a:solidFill>
                  <a:schemeClr val="accent1"/>
                </a:solidFill>
              </a:rPr>
              <a:t>Falsificabile</a:t>
            </a:r>
            <a:endParaRPr lang="en-US" sz="1500" dirty="0"/>
          </a:p>
        </p:txBody>
      </p:sp>
      <p:sp>
        <p:nvSpPr>
          <p:cNvPr id="6" name="cardBody"/>
          <p:cNvSpPr txBox="1"/>
          <p:nvPr/>
        </p:nvSpPr>
        <p:spPr>
          <a:xfrm>
            <a:off x="804672" y="3630168"/>
            <a:ext cx="2942234" cy="1179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Il lavoro di riferimento mostra che il meccanismo aiuta su terreno non modellato. Non riporta mai il suo prezzo dove il terreno e' gia' noto.</a:t>
            </a:r>
            <a:endParaRPr lang="en-US" sz="1250" dirty="0"/>
          </a:p>
        </p:txBody>
      </p:sp>
      <p:sp>
        <p:nvSpPr>
          <p:cNvPr id="7" name="panel"/>
          <p:cNvSpPr/>
          <p:nvPr/>
        </p:nvSpPr>
        <p:spPr>
          <a:xfrm>
            <a:off x="4368698" y="2971800"/>
            <a:ext cx="3454298" cy="2057400"/>
          </a:xfrm>
          <a:prstGeom prst="roundRect">
            <a:avLst>
              <a:gd name="adj" fmla="val 2667"/>
            </a:avLst>
          </a:prstGeom>
          <a:solidFill>
            <a:schemeClr val="bg2"/>
          </a:solidFill>
          <a:ln w="12700">
            <a:solidFill>
              <a:schemeClr val="bg2"/>
            </a:solidFill>
            <a:prstDash val="solid"/>
          </a:ln>
        </p:spPr>
      </p:sp>
      <p:sp>
        <p:nvSpPr>
          <p:cNvPr id="8" name="cardHead"/>
          <p:cNvSpPr txBox="1"/>
          <p:nvPr/>
        </p:nvSpPr>
        <p:spPr>
          <a:xfrm>
            <a:off x="4624730" y="3154680"/>
            <a:ext cx="2942234" cy="402336"/>
          </a:xfrm>
          <a:prstGeom prst="rect">
            <a:avLst/>
          </a:prstGeom>
          <a:noFill/>
          <a:ln/>
        </p:spPr>
        <p:txBody>
          <a:bodyPr wrap="square" lIns="0" tIns="0" rIns="0" bIns="0" rtlCol="0" anchor="ctr"/>
          <a:lstStyle/>
          <a:p>
            <a:pPr indent="0" marL="0">
              <a:buNone/>
            </a:pPr>
            <a:r>
              <a:rPr lang="en-US" sz="1500" b="1" dirty="0">
                <a:solidFill>
                  <a:schemeClr val="accent1"/>
                </a:solidFill>
              </a:rPr>
              <a:t>Isolabile</a:t>
            </a:r>
            <a:endParaRPr lang="en-US" sz="1500" dirty="0"/>
          </a:p>
        </p:txBody>
      </p:sp>
      <p:sp>
        <p:nvSpPr>
          <p:cNvPr id="9" name="cardBody"/>
          <p:cNvSpPr txBox="1"/>
          <p:nvPr/>
        </p:nvSpPr>
        <p:spPr>
          <a:xfrm>
            <a:off x="4624730" y="3630168"/>
            <a:ext cx="2942234" cy="1179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Tre controllori, un impianto. Ciascuno aggiunge esattamente un meccanismo, quindi ogni confronto fra adiacenti ha una sola causa.</a:t>
            </a:r>
            <a:endParaRPr lang="en-US" sz="1250" dirty="0"/>
          </a:p>
        </p:txBody>
      </p:sp>
      <p:sp>
        <p:nvSpPr>
          <p:cNvPr id="10" name="panel"/>
          <p:cNvSpPr/>
          <p:nvPr/>
        </p:nvSpPr>
        <p:spPr>
          <a:xfrm>
            <a:off x="8188757" y="2971800"/>
            <a:ext cx="3454298" cy="2057400"/>
          </a:xfrm>
          <a:prstGeom prst="roundRect">
            <a:avLst>
              <a:gd name="adj" fmla="val 2667"/>
            </a:avLst>
          </a:prstGeom>
          <a:solidFill>
            <a:schemeClr val="bg2"/>
          </a:solidFill>
          <a:ln w="12700">
            <a:solidFill>
              <a:schemeClr val="bg2"/>
            </a:solidFill>
            <a:prstDash val="solid"/>
          </a:ln>
        </p:spPr>
      </p:sp>
      <p:sp>
        <p:nvSpPr>
          <p:cNvPr id="11" name="cardHead"/>
          <p:cNvSpPr txBox="1"/>
          <p:nvPr/>
        </p:nvSpPr>
        <p:spPr>
          <a:xfrm>
            <a:off x="8444789" y="3154680"/>
            <a:ext cx="2942234" cy="402336"/>
          </a:xfrm>
          <a:prstGeom prst="rect">
            <a:avLst/>
          </a:prstGeom>
          <a:noFill/>
          <a:ln/>
        </p:spPr>
        <p:txBody>
          <a:bodyPr wrap="square" lIns="0" tIns="0" rIns="0" bIns="0" rtlCol="0" anchor="ctr"/>
          <a:lstStyle/>
          <a:p>
            <a:pPr indent="0" marL="0">
              <a:buNone/>
            </a:pPr>
            <a:r>
              <a:rPr lang="en-US" sz="1500" b="1" dirty="0">
                <a:solidFill>
                  <a:schemeClr val="accent1"/>
                </a:solidFill>
              </a:rPr>
              <a:t>Dichiarabile</a:t>
            </a:r>
            <a:endParaRPr lang="en-US" sz="1500" dirty="0"/>
          </a:p>
        </p:txBody>
      </p:sp>
      <p:sp>
        <p:nvSpPr>
          <p:cNvPr id="12" name="cardBody"/>
          <p:cNvSpPr txBox="1"/>
          <p:nvPr/>
        </p:nvSpPr>
        <p:spPr>
          <a:xfrm>
            <a:off x="8444789" y="3630168"/>
            <a:ext cx="2942234" cy="1179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Un rumore di fondo misurato decide quali differenze sono risultati e quali no.</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La piattaforma e il lavoro di riferimento</a:t>
            </a:r>
            <a:endParaRPr lang="en-US" sz="2900" dirty="0"/>
          </a:p>
        </p:txBody>
      </p:sp>
      <p:sp>
        <p:nvSpPr>
          <p:cNvPr id="3" name="panel"/>
          <p:cNvSpPr/>
          <p:nvPr/>
        </p:nvSpPr>
        <p:spPr>
          <a:xfrm>
            <a:off x="548640" y="1371600"/>
            <a:ext cx="5318608" cy="2286000"/>
          </a:xfrm>
          <a:prstGeom prst="roundRect">
            <a:avLst>
              <a:gd name="adj" fmla="val 2400"/>
            </a:avLst>
          </a:prstGeom>
          <a:solidFill>
            <a:schemeClr val="bg2"/>
          </a:solidFill>
          <a:ln w="12700">
            <a:solidFill>
              <a:schemeClr val="bg2"/>
            </a:solidFill>
            <a:prstDash val="solid"/>
          </a:ln>
        </p:spPr>
      </p:sp>
      <p:sp>
        <p:nvSpPr>
          <p:cNvPr id="4" name="platformLeft"/>
          <p:cNvSpPr txBox="1"/>
          <p:nvPr/>
        </p:nvSpPr>
        <p:spPr>
          <a:xfrm>
            <a:off x="868680" y="1645920"/>
            <a:ext cx="4678528" cy="24688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chemeClr val="tx1"/>
                </a:solidFill>
              </a:rPr>
              <a:t>PhantomX AX Metal Hexapod Mark II</a:t>
            </a:r>
            <a:endParaRPr lang="en-US" sz="1350" dirty="0"/>
          </a:p>
          <a:p>
            <a:pPr marL="342900" indent="-342900">
              <a:spcAft>
                <a:spcPts val="900"/>
              </a:spcAft>
              <a:buSzPct val="100000"/>
              <a:buChar char="•"/>
            </a:pPr>
            <a:r>
              <a:rPr lang="en-US" sz="1350" dirty="0">
                <a:solidFill>
                  <a:schemeClr val="tx1"/>
                </a:solidFill>
              </a:rPr>
              <a:t>18 servomotori Dynamixel AX-12A, tre per zampa</a:t>
            </a:r>
            <a:endParaRPr lang="en-US" sz="1350" dirty="0"/>
          </a:p>
          <a:p>
            <a:pPr marL="342900" indent="-342900">
              <a:spcAft>
                <a:spcPts val="900"/>
              </a:spcAft>
              <a:buSzPct val="100000"/>
              <a:buChar char="•"/>
            </a:pPr>
            <a:r>
              <a:rPr lang="en-US" sz="1350" dirty="0">
                <a:solidFill>
                  <a:schemeClr val="tx1"/>
                </a:solidFill>
              </a:rPr>
              <a:t>Nessun sensore di forza ai piedi, nessuna IMU</a:t>
            </a:r>
            <a:endParaRPr lang="en-US" sz="1350" dirty="0"/>
          </a:p>
          <a:p>
            <a:pPr marL="342900" indent="-342900">
              <a:spcAft>
                <a:spcPts val="900"/>
              </a:spcAft>
              <a:buSzPct val="100000"/>
              <a:buChar char="•"/>
            </a:pPr>
            <a:r>
              <a:rPr lang="en-US" sz="1350" dirty="0">
                <a:solidFill>
                  <a:schemeClr val="tx1"/>
                </a:solidFill>
              </a:rPr>
              <a:t>L'unica retroazione e' posizione e carico di ciascun servo</a:t>
            </a:r>
            <a:endParaRPr lang="en-US" sz="1350" dirty="0"/>
          </a:p>
        </p:txBody>
      </p:sp>
      <p:sp>
        <p:nvSpPr>
          <p:cNvPr id="5" name="panel"/>
          <p:cNvSpPr/>
          <p:nvPr/>
        </p:nvSpPr>
        <p:spPr>
          <a:xfrm>
            <a:off x="6324448" y="1371600"/>
            <a:ext cx="5318608" cy="2286000"/>
          </a:xfrm>
          <a:prstGeom prst="roundRect">
            <a:avLst>
              <a:gd name="adj" fmla="val 2400"/>
            </a:avLst>
          </a:prstGeom>
          <a:solidFill>
            <a:srgbClr val="DCE6E9"/>
          </a:solidFill>
          <a:ln w="12700">
            <a:solidFill>
              <a:srgbClr val="DCE6E9"/>
            </a:solidFill>
            <a:prstDash val="solid"/>
          </a:ln>
        </p:spPr>
      </p:sp>
      <p:sp>
        <p:nvSpPr>
          <p:cNvPr id="6"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Arrigoni et al., Robotics 2024</a:t>
            </a:r>
            <a:endParaRPr lang="en-US" sz="1500" dirty="0"/>
          </a:p>
        </p:txBody>
      </p:sp>
      <p:sp>
        <p:nvSpPr>
          <p:cNvPr id="7" name="cardBody"/>
          <p:cNvSpPr txBox="1"/>
          <p:nvPr/>
        </p:nvSpPr>
        <p:spPr>
          <a:xfrm>
            <a:off x="6580480" y="2029968"/>
            <a:ext cx="4806544" cy="14081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Rilevare il contatto piede-terreno dalla sola coppia motrice: confrontare la coppia misurata con quella prevista dalla dinamica inversa, e usare la rilevazione per adattare l'altezza comandata del piede.</a:t>
            </a:r>
            <a:endParaRPr lang="en-US" sz="1250" dirty="0"/>
          </a:p>
        </p:txBody>
      </p:sp>
      <p:sp>
        <p:nvSpPr>
          <p:cNvPr id="8" name="panel"/>
          <p:cNvSpPr/>
          <p:nvPr/>
        </p:nvSpPr>
        <p:spPr>
          <a:xfrm>
            <a:off x="548640" y="4069080"/>
            <a:ext cx="11094415" cy="914400"/>
          </a:xfrm>
          <a:prstGeom prst="roundRect">
            <a:avLst>
              <a:gd name="adj" fmla="val 6000"/>
            </a:avLst>
          </a:prstGeom>
          <a:solidFill>
            <a:srgbClr val="23424F"/>
          </a:solidFill>
          <a:ln w="12700">
            <a:solidFill>
              <a:srgbClr val="23424F"/>
            </a:solidFill>
            <a:prstDash val="solid"/>
          </a:ln>
        </p:spPr>
      </p:sp>
      <p:sp>
        <p:nvSpPr>
          <p:cNvPr id="9" name="eqFlag"/>
          <p:cNvSpPr txBox="1"/>
          <p:nvPr/>
        </p:nvSpPr>
        <p:spPr>
          <a:xfrm>
            <a:off x="548640" y="4069080"/>
            <a:ext cx="11094415"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onsolas" pitchFamily="34" charset="0"/>
                <a:ea typeface="Consolas" pitchFamily="34" charset="-122"/>
                <a:cs typeface="Consolas" pitchFamily="34" charset="-120"/>
              </a:rPr>
              <a:t>contatto  =  OR su j  ( | tau_mis − tau_att |  &gt;  sigma_j )</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Perche' l'abbiamo scelto</a:t>
            </a:r>
            <a:endParaRPr lang="en-US" sz="2900" dirty="0"/>
          </a:p>
        </p:txBody>
      </p:sp>
      <p:sp>
        <p:nvSpPr>
          <p:cNvPr id="3" name="chip"/>
          <p:cNvSpPr/>
          <p:nvPr/>
        </p:nvSpPr>
        <p:spPr>
          <a:xfrm>
            <a:off x="548640" y="1508760"/>
            <a:ext cx="658368" cy="658368"/>
          </a:xfrm>
          <a:prstGeom prst="ellipse">
            <a:avLst/>
          </a:prstGeom>
          <a:solidFill>
            <a:srgbClr val="23424F"/>
          </a:solidFill>
          <a:ln w="12700">
            <a:solidFill>
              <a:srgbClr val="23424F"/>
            </a:solidFill>
            <a:prstDash val="solid"/>
          </a:ln>
        </p:spPr>
      </p:sp>
      <p:sp>
        <p:nvSpPr>
          <p:cNvPr id="4" name="chipText"/>
          <p:cNvSpPr txBox="1"/>
          <p:nvPr/>
        </p:nvSpPr>
        <p:spPr>
          <a:xfrm>
            <a:off x="548640" y="1508760"/>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5" name="whyHead"/>
          <p:cNvSpPr txBox="1"/>
          <p:nvPr/>
        </p:nvSpPr>
        <p:spPr>
          <a:xfrm>
            <a:off x="1508760" y="1463040"/>
            <a:ext cx="9997135" cy="411480"/>
          </a:xfrm>
          <a:prstGeom prst="rect">
            <a:avLst/>
          </a:prstGeom>
          <a:noFill/>
          <a:ln/>
        </p:spPr>
        <p:txBody>
          <a:bodyPr wrap="square" lIns="0" tIns="0" rIns="0" bIns="0" rtlCol="0" anchor="ctr"/>
          <a:lstStyle/>
          <a:p>
            <a:pPr indent="0" marL="0">
              <a:buNone/>
            </a:pPr>
            <a:r>
              <a:rPr lang="en-US" sz="1650" b="1" dirty="0">
                <a:solidFill>
                  <a:schemeClr val="accent1"/>
                </a:solidFill>
              </a:rPr>
              <a:t>L'affermazione ha un prezzo che nessuno ha quantificato</a:t>
            </a:r>
            <a:endParaRPr lang="en-US" sz="1650" dirty="0"/>
          </a:p>
        </p:txBody>
      </p:sp>
      <p:sp>
        <p:nvSpPr>
          <p:cNvPr id="6" name="whyBody"/>
          <p:cNvSpPr txBox="1"/>
          <p:nvPr/>
        </p:nvSpPr>
        <p:spPr>
          <a:xfrm>
            <a:off x="1508760" y="1920240"/>
            <a:ext cx="9997135" cy="868680"/>
          </a:xfrm>
          <a:prstGeom prst="rect">
            <a:avLst/>
          </a:prstGeom>
          <a:noFill/>
          <a:ln/>
        </p:spPr>
        <p:txBody>
          <a:bodyPr wrap="square" lIns="0" tIns="0" rIns="0" bIns="0" rtlCol="0" anchor="t"/>
          <a:lstStyle/>
          <a:p>
            <a:pPr indent="0" marL="0">
              <a:lnSpc>
                <a:spcPct val="112000"/>
              </a:lnSpc>
              <a:buNone/>
            </a:pPr>
            <a:r>
              <a:rPr lang="en-US" sz="1300" dirty="0">
                <a:solidFill>
                  <a:schemeClr val="tx2"/>
                </a:solidFill>
              </a:rPr>
              <a:t>Un confronto controllato su terreno identico puo' misurarlo. La risposta si e' rivelata un costo reale e sistematico.</a:t>
            </a:r>
            <a:endParaRPr lang="en-US" sz="1300" dirty="0"/>
          </a:p>
        </p:txBody>
      </p:sp>
      <p:sp>
        <p:nvSpPr>
          <p:cNvPr id="7" name="chip"/>
          <p:cNvSpPr/>
          <p:nvPr/>
        </p:nvSpPr>
        <p:spPr>
          <a:xfrm>
            <a:off x="548640" y="3081528"/>
            <a:ext cx="658368" cy="658368"/>
          </a:xfrm>
          <a:prstGeom prst="ellipse">
            <a:avLst/>
          </a:prstGeom>
          <a:solidFill>
            <a:srgbClr val="C2591F"/>
          </a:solidFill>
          <a:ln w="12700">
            <a:solidFill>
              <a:srgbClr val="C2591F"/>
            </a:solidFill>
            <a:prstDash val="solid"/>
          </a:ln>
        </p:spPr>
      </p:sp>
      <p:sp>
        <p:nvSpPr>
          <p:cNvPr id="8" name="chipText"/>
          <p:cNvSpPr txBox="1"/>
          <p:nvPr/>
        </p:nvSpPr>
        <p:spPr>
          <a:xfrm>
            <a:off x="548640" y="3081528"/>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9" name="whyHead"/>
          <p:cNvSpPr txBox="1"/>
          <p:nvPr/>
        </p:nvSpPr>
        <p:spPr>
          <a:xfrm>
            <a:off x="1508760" y="3035808"/>
            <a:ext cx="9997135" cy="411480"/>
          </a:xfrm>
          <a:prstGeom prst="rect">
            <a:avLst/>
          </a:prstGeom>
          <a:noFill/>
          <a:ln/>
        </p:spPr>
        <p:txBody>
          <a:bodyPr wrap="square" lIns="0" tIns="0" rIns="0" bIns="0" rtlCol="0" anchor="ctr"/>
          <a:lstStyle/>
          <a:p>
            <a:pPr indent="0" marL="0">
              <a:buNone/>
            </a:pPr>
            <a:r>
              <a:rPr lang="en-US" sz="1650" b="1" dirty="0">
                <a:solidFill>
                  <a:schemeClr val="accent1"/>
                </a:solidFill>
              </a:rPr>
              <a:t>Il rilevatore di contatto e' un osservatore basato su modello travestito</a:t>
            </a:r>
            <a:endParaRPr lang="en-US" sz="1650" dirty="0"/>
          </a:p>
        </p:txBody>
      </p:sp>
      <p:sp>
        <p:nvSpPr>
          <p:cNvPr id="10" name="whyBody"/>
          <p:cNvSpPr txBox="1"/>
          <p:nvPr/>
        </p:nvSpPr>
        <p:spPr>
          <a:xfrm>
            <a:off x="1508760" y="3493008"/>
            <a:ext cx="9997135" cy="868680"/>
          </a:xfrm>
          <a:prstGeom prst="rect">
            <a:avLst/>
          </a:prstGeom>
          <a:noFill/>
          <a:ln/>
        </p:spPr>
        <p:txBody>
          <a:bodyPr wrap="square" lIns="0" tIns="0" rIns="0" bIns="0" rtlCol="0" anchor="t"/>
          <a:lstStyle/>
          <a:p>
            <a:pPr indent="0" marL="0">
              <a:lnSpc>
                <a:spcPct val="112000"/>
              </a:lnSpc>
              <a:buNone/>
            </a:pPr>
            <a:r>
              <a:rPr lang="en-US" sz="1300" dirty="0">
                <a:solidFill>
                  <a:schemeClr val="tx2"/>
                </a:solidFill>
              </a:rPr>
              <a:t>La sua qualita' dipende dall'accuratezza di un modello dinamico. L'abbiamo scoperto a nostre spese.</a:t>
            </a:r>
            <a:endParaRPr lang="en-US" sz="1300" dirty="0"/>
          </a:p>
        </p:txBody>
      </p:sp>
      <p:sp>
        <p:nvSpPr>
          <p:cNvPr id="11" name="chip"/>
          <p:cNvSpPr/>
          <p:nvPr/>
        </p:nvSpPr>
        <p:spPr>
          <a:xfrm>
            <a:off x="548640" y="4654296"/>
            <a:ext cx="658368" cy="658368"/>
          </a:xfrm>
          <a:prstGeom prst="ellipse">
            <a:avLst/>
          </a:prstGeom>
          <a:solidFill>
            <a:srgbClr val="6F9480"/>
          </a:solidFill>
          <a:ln w="12700">
            <a:solidFill>
              <a:srgbClr val="6F9480"/>
            </a:solidFill>
            <a:prstDash val="solid"/>
          </a:ln>
        </p:spPr>
      </p:sp>
      <p:sp>
        <p:nvSpPr>
          <p:cNvPr id="12" name="chipText"/>
          <p:cNvSpPr txBox="1"/>
          <p:nvPr/>
        </p:nvSpPr>
        <p:spPr>
          <a:xfrm>
            <a:off x="548640" y="4654296"/>
            <a:ext cx="658368" cy="658368"/>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13" name="whyHead"/>
          <p:cNvSpPr txBox="1"/>
          <p:nvPr/>
        </p:nvSpPr>
        <p:spPr>
          <a:xfrm>
            <a:off x="1508760" y="4608576"/>
            <a:ext cx="9997135" cy="411480"/>
          </a:xfrm>
          <a:prstGeom prst="rect">
            <a:avLst/>
          </a:prstGeom>
          <a:noFill/>
          <a:ln/>
        </p:spPr>
        <p:txBody>
          <a:bodyPr wrap="square" lIns="0" tIns="0" rIns="0" bIns="0" rtlCol="0" anchor="ctr"/>
          <a:lstStyle/>
          <a:p>
            <a:pPr indent="0" marL="0">
              <a:buNone/>
            </a:pPr>
            <a:r>
              <a:rPr lang="en-US" sz="1650" b="1" dirty="0">
                <a:solidFill>
                  <a:schemeClr val="accent1"/>
                </a:solidFill>
              </a:rPr>
              <a:t>Un impianto condiviso rende pulita l'ablazione</a:t>
            </a:r>
            <a:endParaRPr lang="en-US" sz="1650" dirty="0"/>
          </a:p>
        </p:txBody>
      </p:sp>
      <p:sp>
        <p:nvSpPr>
          <p:cNvPr id="14" name="whyBody"/>
          <p:cNvSpPr txBox="1"/>
          <p:nvPr/>
        </p:nvSpPr>
        <p:spPr>
          <a:xfrm>
            <a:off x="1508760" y="5065776"/>
            <a:ext cx="9997135" cy="868680"/>
          </a:xfrm>
          <a:prstGeom prst="rect">
            <a:avLst/>
          </a:prstGeom>
          <a:noFill/>
          <a:ln/>
        </p:spPr>
        <p:txBody>
          <a:bodyPr wrap="square" lIns="0" tIns="0" rIns="0" bIns="0" rtlCol="0" anchor="t"/>
          <a:lstStyle/>
          <a:p>
            <a:pPr indent="0" marL="0">
              <a:lnSpc>
                <a:spcPct val="112000"/>
              </a:lnSpc>
              <a:buNone/>
            </a:pPr>
            <a:r>
              <a:rPr lang="en-US" sz="1300" dirty="0">
                <a:solidFill>
                  <a:schemeClr val="tx2"/>
                </a:solidFill>
              </a:rPr>
              <a:t>Stesso terreno, stessa legge di contatto, stesso generatore d'andatura. Raro, confrontando controllori pubblicati.</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Tre controllori, un meccanismo di distanza</a:t>
            </a:r>
            <a:endParaRPr lang="en-US" sz="2900" dirty="0"/>
          </a:p>
        </p:txBody>
      </p:sp>
      <p:sp>
        <p:nvSpPr>
          <p:cNvPr id="3" name="panel"/>
          <p:cNvSpPr/>
          <p:nvPr/>
        </p:nvSpPr>
        <p:spPr>
          <a:xfrm>
            <a:off x="548640" y="1371600"/>
            <a:ext cx="11094415" cy="1024128"/>
          </a:xfrm>
          <a:prstGeom prst="roundRect">
            <a:avLst>
              <a:gd name="adj" fmla="val 5357"/>
            </a:avLst>
          </a:prstGeom>
          <a:solidFill>
            <a:schemeClr val="bg2"/>
          </a:solidFill>
          <a:ln w="12700">
            <a:solidFill>
              <a:schemeClr val="bg2"/>
            </a:solidFill>
            <a:prstDash val="solid"/>
          </a:ln>
        </p:spPr>
      </p:sp>
      <p:sp>
        <p:nvSpPr>
          <p:cNvPr id="4" name="chip"/>
          <p:cNvSpPr/>
          <p:nvPr/>
        </p:nvSpPr>
        <p:spPr>
          <a:xfrm>
            <a:off x="822960" y="1609344"/>
            <a:ext cx="548640" cy="548640"/>
          </a:xfrm>
          <a:prstGeom prst="ellipse">
            <a:avLst/>
          </a:prstGeom>
          <a:solidFill>
            <a:srgbClr val="7C8A91"/>
          </a:solidFill>
          <a:ln w="12700">
            <a:solidFill>
              <a:srgbClr val="7C8A91"/>
            </a:solidFill>
            <a:prstDash val="solid"/>
          </a:ln>
        </p:spPr>
      </p:sp>
      <p:sp>
        <p:nvSpPr>
          <p:cNvPr id="5" name="chipText"/>
          <p:cNvSpPr txBox="1"/>
          <p:nvPr/>
        </p:nvSpPr>
        <p:spPr>
          <a:xfrm>
            <a:off x="822960" y="1609344"/>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C1</a:t>
            </a:r>
            <a:endParaRPr lang="en-US" sz="1200" dirty="0"/>
          </a:p>
        </p:txBody>
      </p:sp>
      <p:sp>
        <p:nvSpPr>
          <p:cNvPr id="6" name="ctrlName"/>
          <p:cNvSpPr txBox="1"/>
          <p:nvPr/>
        </p:nvSpPr>
        <p:spPr>
          <a:xfrm>
            <a:off x="1554480" y="1691640"/>
            <a:ext cx="3017520" cy="384048"/>
          </a:xfrm>
          <a:prstGeom prst="rect">
            <a:avLst/>
          </a:prstGeom>
          <a:noFill/>
          <a:ln/>
        </p:spPr>
        <p:txBody>
          <a:bodyPr wrap="square" lIns="0" tIns="0" rIns="0" bIns="0" rtlCol="0" anchor="ctr"/>
          <a:lstStyle/>
          <a:p>
            <a:pPr indent="0" marL="0">
              <a:buNone/>
            </a:pPr>
            <a:r>
              <a:rPr lang="en-US" sz="1450" b="1" dirty="0">
                <a:solidFill>
                  <a:schemeClr val="accent1"/>
                </a:solidFill>
              </a:rPr>
              <a:t>Tripode cinematico ad anello aperto</a:t>
            </a:r>
            <a:endParaRPr lang="en-US" sz="1450" dirty="0"/>
          </a:p>
        </p:txBody>
      </p:sp>
      <p:sp>
        <p:nvSpPr>
          <p:cNvPr id="7" name="ctrlDesc"/>
          <p:cNvSpPr txBox="1"/>
          <p:nvPr/>
        </p:nvSpPr>
        <p:spPr>
          <a:xfrm>
            <a:off x="4663440" y="1472184"/>
            <a:ext cx="6613855" cy="822960"/>
          </a:xfrm>
          <a:prstGeom prst="rect">
            <a:avLst/>
          </a:prstGeom>
          <a:noFill/>
          <a:ln/>
        </p:spPr>
        <p:txBody>
          <a:bodyPr wrap="square" lIns="0" tIns="0" rIns="0" bIns="0" rtlCol="0" anchor="ctr"/>
          <a:lstStyle/>
          <a:p>
            <a:pPr indent="0" marL="0">
              <a:lnSpc>
                <a:spcPct val="110000"/>
              </a:lnSpc>
              <a:buNone/>
            </a:pPr>
            <a:r>
              <a:rPr lang="en-US" sz="1200" dirty="0">
                <a:solidFill>
                  <a:schemeClr val="tx2"/>
                </a:solidFill>
              </a:rPr>
              <a:t>Traiettorie dei piedi dai parametri d'andatura, cinematica inversa per zampa, giunti in posizione. Nessuna retroazione.</a:t>
            </a:r>
            <a:endParaRPr lang="en-US" sz="1200" dirty="0"/>
          </a:p>
        </p:txBody>
      </p:sp>
      <p:sp>
        <p:nvSpPr>
          <p:cNvPr id="8" name="panel"/>
          <p:cNvSpPr/>
          <p:nvPr/>
        </p:nvSpPr>
        <p:spPr>
          <a:xfrm>
            <a:off x="548640" y="2542032"/>
            <a:ext cx="11094415" cy="1024128"/>
          </a:xfrm>
          <a:prstGeom prst="roundRect">
            <a:avLst>
              <a:gd name="adj" fmla="val 5357"/>
            </a:avLst>
          </a:prstGeom>
          <a:solidFill>
            <a:schemeClr val="bg2"/>
          </a:solidFill>
          <a:ln w="12700">
            <a:solidFill>
              <a:schemeClr val="bg2"/>
            </a:solidFill>
            <a:prstDash val="solid"/>
          </a:ln>
        </p:spPr>
      </p:sp>
      <p:sp>
        <p:nvSpPr>
          <p:cNvPr id="9" name="chip"/>
          <p:cNvSpPr/>
          <p:nvPr/>
        </p:nvSpPr>
        <p:spPr>
          <a:xfrm>
            <a:off x="822960" y="2779776"/>
            <a:ext cx="548640" cy="548640"/>
          </a:xfrm>
          <a:prstGeom prst="ellipse">
            <a:avLst/>
          </a:prstGeom>
          <a:solidFill>
            <a:srgbClr val="C2591F"/>
          </a:solidFill>
          <a:ln w="12700">
            <a:solidFill>
              <a:srgbClr val="C2591F"/>
            </a:solidFill>
            <a:prstDash val="solid"/>
          </a:ln>
        </p:spPr>
      </p:sp>
      <p:sp>
        <p:nvSpPr>
          <p:cNvPr id="10" name="chipText"/>
          <p:cNvSpPr txBox="1"/>
          <p:nvPr/>
        </p:nvSpPr>
        <p:spPr>
          <a:xfrm>
            <a:off x="822960" y="2779776"/>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C2</a:t>
            </a:r>
            <a:endParaRPr lang="en-US" sz="1200" dirty="0"/>
          </a:p>
        </p:txBody>
      </p:sp>
      <p:sp>
        <p:nvSpPr>
          <p:cNvPr id="11" name="ctrlName"/>
          <p:cNvSpPr txBox="1"/>
          <p:nvPr/>
        </p:nvSpPr>
        <p:spPr>
          <a:xfrm>
            <a:off x="1554480" y="2862072"/>
            <a:ext cx="3017520" cy="384048"/>
          </a:xfrm>
          <a:prstGeom prst="rect">
            <a:avLst/>
          </a:prstGeom>
          <a:noFill/>
          <a:ln/>
        </p:spPr>
        <p:txBody>
          <a:bodyPr wrap="square" lIns="0" tIns="0" rIns="0" bIns="0" rtlCol="0" anchor="ctr"/>
          <a:lstStyle/>
          <a:p>
            <a:pPr indent="0" marL="0">
              <a:buNone/>
            </a:pPr>
            <a:r>
              <a:rPr lang="en-US" sz="1450" b="1" dirty="0">
                <a:solidFill>
                  <a:schemeClr val="accent1"/>
                </a:solidFill>
              </a:rPr>
              <a:t>C1 + ricerca del terreno</a:t>
            </a:r>
            <a:endParaRPr lang="en-US" sz="1450" dirty="0"/>
          </a:p>
        </p:txBody>
      </p:sp>
      <p:sp>
        <p:nvSpPr>
          <p:cNvPr id="12" name="ctrlDesc"/>
          <p:cNvSpPr txBox="1"/>
          <p:nvPr/>
        </p:nvSpPr>
        <p:spPr>
          <a:xfrm>
            <a:off x="4663440" y="2642616"/>
            <a:ext cx="6613855" cy="822960"/>
          </a:xfrm>
          <a:prstGeom prst="rect">
            <a:avLst/>
          </a:prstGeom>
          <a:noFill/>
          <a:ln/>
        </p:spPr>
        <p:txBody>
          <a:bodyPr wrap="square" lIns="0" tIns="0" rIns="0" bIns="0" rtlCol="0" anchor="ctr"/>
          <a:lstStyle/>
          <a:p>
            <a:pPr indent="0" marL="0">
              <a:lnSpc>
                <a:spcPct val="110000"/>
              </a:lnSpc>
              <a:buNone/>
            </a:pPr>
            <a:r>
              <a:rPr lang="en-US" sz="1200" dirty="0">
                <a:solidFill>
                  <a:schemeClr val="tx2"/>
                </a:solidFill>
              </a:rPr>
              <a:t>Finche' la zampa e' in appoggio e la flag di contatto e' bassa, l'altezza comandata del piede scende finche' il residuo di coppia non supera la soglia.</a:t>
            </a:r>
            <a:endParaRPr lang="en-US" sz="1200" dirty="0"/>
          </a:p>
        </p:txBody>
      </p:sp>
      <p:sp>
        <p:nvSpPr>
          <p:cNvPr id="13" name="panel"/>
          <p:cNvSpPr/>
          <p:nvPr/>
        </p:nvSpPr>
        <p:spPr>
          <a:xfrm>
            <a:off x="548640" y="3712464"/>
            <a:ext cx="11094415" cy="1024128"/>
          </a:xfrm>
          <a:prstGeom prst="roundRect">
            <a:avLst>
              <a:gd name="adj" fmla="val 5357"/>
            </a:avLst>
          </a:prstGeom>
          <a:solidFill>
            <a:schemeClr val="bg2"/>
          </a:solidFill>
          <a:ln w="12700">
            <a:solidFill>
              <a:schemeClr val="bg2"/>
            </a:solidFill>
            <a:prstDash val="solid"/>
          </a:ln>
        </p:spPr>
      </p:sp>
      <p:sp>
        <p:nvSpPr>
          <p:cNvPr id="14" name="chip"/>
          <p:cNvSpPr/>
          <p:nvPr/>
        </p:nvSpPr>
        <p:spPr>
          <a:xfrm>
            <a:off x="822960" y="3950208"/>
            <a:ext cx="548640" cy="548640"/>
          </a:xfrm>
          <a:prstGeom prst="ellipse">
            <a:avLst/>
          </a:prstGeom>
          <a:solidFill>
            <a:srgbClr val="6F9480"/>
          </a:solidFill>
          <a:ln w="12700">
            <a:solidFill>
              <a:srgbClr val="6F9480"/>
            </a:solidFill>
            <a:prstDash val="solid"/>
          </a:ln>
        </p:spPr>
      </p:sp>
      <p:sp>
        <p:nvSpPr>
          <p:cNvPr id="15" name="chipText"/>
          <p:cNvSpPr txBox="1"/>
          <p:nvPr/>
        </p:nvSpPr>
        <p:spPr>
          <a:xfrm>
            <a:off x="822960" y="3950208"/>
            <a:ext cx="548640" cy="548640"/>
          </a:xfrm>
          <a:prstGeom prst="rect">
            <a:avLst/>
          </a:prstGeom>
          <a:noFill/>
          <a:ln/>
        </p:spPr>
        <p:txBody>
          <a:bodyPr wrap="square" lIns="0" tIns="0" rIns="0" bIns="0" rtlCol="0" anchor="ctr"/>
          <a:lstStyle/>
          <a:p>
            <a:pPr algn="ctr" indent="0" marL="0">
              <a:buNone/>
            </a:pPr>
            <a:r>
              <a:rPr lang="en-US" sz="1200" b="1" dirty="0">
                <a:solidFill>
                  <a:srgbClr val="FFFFFF"/>
                </a:solidFill>
              </a:rPr>
              <a:t>C3</a:t>
            </a:r>
            <a:endParaRPr lang="en-US" sz="1200" dirty="0"/>
          </a:p>
        </p:txBody>
      </p:sp>
      <p:sp>
        <p:nvSpPr>
          <p:cNvPr id="16" name="ctrlName"/>
          <p:cNvSpPr txBox="1"/>
          <p:nvPr/>
        </p:nvSpPr>
        <p:spPr>
          <a:xfrm>
            <a:off x="1554480" y="4032504"/>
            <a:ext cx="3017520" cy="384048"/>
          </a:xfrm>
          <a:prstGeom prst="rect">
            <a:avLst/>
          </a:prstGeom>
          <a:noFill/>
          <a:ln/>
        </p:spPr>
        <p:txBody>
          <a:bodyPr wrap="square" lIns="0" tIns="0" rIns="0" bIns="0" rtlCol="0" anchor="ctr"/>
          <a:lstStyle/>
          <a:p>
            <a:pPr indent="0" marL="0">
              <a:buNone/>
            </a:pPr>
            <a:r>
              <a:rPr lang="en-US" sz="1450" b="1" dirty="0">
                <a:solidFill>
                  <a:schemeClr val="accent1"/>
                </a:solidFill>
              </a:rPr>
              <a:t>C2 + anello d'assetto</a:t>
            </a:r>
            <a:endParaRPr lang="en-US" sz="1450" dirty="0"/>
          </a:p>
        </p:txBody>
      </p:sp>
      <p:sp>
        <p:nvSpPr>
          <p:cNvPr id="17" name="ctrlDesc"/>
          <p:cNvSpPr txBox="1"/>
          <p:nvPr/>
        </p:nvSpPr>
        <p:spPr>
          <a:xfrm>
            <a:off x="4663440" y="3813048"/>
            <a:ext cx="6613855" cy="822960"/>
          </a:xfrm>
          <a:prstGeom prst="rect">
            <a:avLst/>
          </a:prstGeom>
          <a:noFill/>
          <a:ln/>
        </p:spPr>
        <p:txBody>
          <a:bodyPr wrap="square" lIns="0" tIns="0" rIns="0" bIns="0" rtlCol="0" anchor="ctr"/>
          <a:lstStyle/>
          <a:p>
            <a:pPr indent="0" marL="0">
              <a:lnSpc>
                <a:spcPct val="110000"/>
              </a:lnSpc>
              <a:buNone/>
            </a:pPr>
            <a:r>
              <a:rPr lang="en-US" sz="1200" dirty="0">
                <a:solidFill>
                  <a:schemeClr val="tx2"/>
                </a:solidFill>
              </a:rPr>
              <a:t>Due regolatori PI discreti su beccheggio e rollio; l'uscita e' distribuita sui sei piedi come scostamento additivo di altezza.</a:t>
            </a:r>
            <a:endParaRPr lang="en-US" sz="1200" dirty="0"/>
          </a:p>
        </p:txBody>
      </p:sp>
      <p:sp>
        <p:nvSpPr>
          <p:cNvPr id="18" name="chain"/>
          <p:cNvSpPr txBox="1"/>
          <p:nvPr/>
        </p:nvSpPr>
        <p:spPr>
          <a:xfrm>
            <a:off x="548640" y="4983480"/>
            <a:ext cx="11094415" cy="384048"/>
          </a:xfrm>
          <a:prstGeom prst="rect">
            <a:avLst/>
          </a:prstGeom>
          <a:noFill/>
          <a:ln/>
        </p:spPr>
        <p:txBody>
          <a:bodyPr wrap="square" lIns="0" tIns="0" rIns="0" bIns="0" rtlCol="0" anchor="ctr"/>
          <a:lstStyle/>
          <a:p>
            <a:pPr algn="ctr" indent="0" marL="0">
              <a:buNone/>
            </a:pPr>
            <a:r>
              <a:rPr lang="en-US" sz="1300" b="1" dirty="0">
                <a:solidFill>
                  <a:schemeClr val="accent1"/>
                </a:solidFill>
                <a:latin typeface="Consolas" pitchFamily="34" charset="0"/>
                <a:ea typeface="Consolas" pitchFamily="34" charset="-122"/>
                <a:cs typeface="Consolas" pitchFamily="34" charset="-120"/>
              </a:rPr>
              <a:t>ricerca_terreno  →  z_i  →  Σ (+Δz_i)  →  Saturazione  →  Limitatore di pendenza  →  zampa</a:t>
            </a:r>
            <a:endParaRPr lang="en-US" sz="1300" dirty="0"/>
          </a:p>
        </p:txBody>
      </p:sp>
      <p:sp>
        <p:nvSpPr>
          <p:cNvPr id="19" name="chainNote"/>
          <p:cNvSpPr txBox="1"/>
          <p:nvPr/>
        </p:nvSpPr>
        <p:spPr>
          <a:xfrm>
            <a:off x="1280160" y="5440680"/>
            <a:ext cx="9631375" cy="685800"/>
          </a:xfrm>
          <a:prstGeom prst="rect">
            <a:avLst/>
          </a:prstGeom>
          <a:noFill/>
          <a:ln/>
        </p:spPr>
        <p:txBody>
          <a:bodyPr wrap="square" lIns="0" tIns="0" rIns="0" bIns="0" rtlCol="0" anchor="t"/>
          <a:lstStyle/>
          <a:p>
            <a:pPr algn="ctr" indent="0" marL="0">
              <a:buNone/>
            </a:pPr>
            <a:r>
              <a:rPr lang="en-US" sz="1150" i="1" dirty="0">
                <a:solidFill>
                  <a:schemeClr val="tx2"/>
                </a:solidFill>
              </a:rPr>
              <a:t>Verificato leggendo la connettivita' dei blocchi dentro il modello, non dalla documentazione. C3 contiene C2: C2→C3 isola l'anello d'assetto, C1→C2 la ricerca.</a:t>
            </a:r>
            <a:endParaRPr lang="en-US" sz="11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01</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Il banco di prova</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Importato dall'URDF pubblico del PhantomX in Simscape Multibody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L'impianto</a:t>
            </a:r>
            <a:endParaRPr lang="en-US" sz="2900" dirty="0"/>
          </a:p>
        </p:txBody>
      </p:sp>
      <p:sp>
        <p:nvSpPr>
          <p:cNvPr id="3" name="plantBullets"/>
          <p:cNvSpPr txBox="1"/>
          <p:nvPr/>
        </p:nvSpPr>
        <p:spPr>
          <a:xfrm>
            <a:off x="548640" y="1417320"/>
            <a:ext cx="5318608" cy="18288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chemeClr val="tx1"/>
                </a:solidFill>
              </a:rPr>
              <a:t>Importato dall'URDF pubblico del PhantomX in Simscape Multibody</a:t>
            </a:r>
            <a:endParaRPr lang="en-US" sz="1350" dirty="0"/>
          </a:p>
          <a:p>
            <a:pPr marL="342900" indent="-342900">
              <a:spcAft>
                <a:spcPts val="900"/>
              </a:spcAft>
              <a:buSzPct val="100000"/>
              <a:buChar char="•"/>
            </a:pPr>
            <a:r>
              <a:rPr lang="en-US" sz="1350" dirty="0">
                <a:solidFill>
                  <a:schemeClr val="tx1"/>
                </a:solidFill>
              </a:rPr>
              <a:t>25 corpi rigidi, 18 giunti rotoidali, 6 elementi di contatto sferici</a:t>
            </a:r>
            <a:endParaRPr lang="en-US" sz="1350" dirty="0"/>
          </a:p>
          <a:p>
            <a:pPr marL="342900" indent="-342900">
              <a:spcAft>
                <a:spcPts val="900"/>
              </a:spcAft>
              <a:buSzPct val="100000"/>
              <a:buChar char="•"/>
            </a:pPr>
            <a:r>
              <a:rPr lang="en-US" sz="1350" dirty="0">
                <a:solidFill>
                  <a:schemeClr val="tx1"/>
                </a:solidFill>
              </a:rPr>
              <a:t>Giunti comandati in posizione: la coppia e' una reazione, non un ingresso</a:t>
            </a:r>
            <a:endParaRPr lang="en-US" sz="1350" dirty="0"/>
          </a:p>
          <a:p>
            <a:pPr marL="342900" indent="-342900">
              <a:spcAft>
                <a:spcPts val="900"/>
              </a:spcAft>
              <a:buSzPct val="100000"/>
              <a:buChar char="•"/>
            </a:pPr>
            <a:r>
              <a:rPr lang="en-US" sz="1350" dirty="0">
                <a:solidFill>
                  <a:schemeClr val="tx1"/>
                </a:solidFill>
              </a:rPr>
              <a:t>Legge di contatto a penalita' con attrito di Coulomb</a:t>
            </a:r>
            <a:endParaRPr lang="en-US" sz="1350" dirty="0"/>
          </a:p>
        </p:txBody>
      </p:sp>
      <p:sp>
        <p:nvSpPr>
          <p:cNvPr id="4" name="panel"/>
          <p:cNvSpPr/>
          <p:nvPr/>
        </p:nvSpPr>
        <p:spPr>
          <a:xfrm>
            <a:off x="548640" y="3474720"/>
            <a:ext cx="5318608" cy="1737360"/>
          </a:xfrm>
          <a:prstGeom prst="roundRect">
            <a:avLst>
              <a:gd name="adj" fmla="val 3158"/>
            </a:avLst>
          </a:prstGeom>
          <a:solidFill>
            <a:schemeClr val="bg2"/>
          </a:solidFill>
          <a:ln w="12700">
            <a:solidFill>
              <a:schemeClr val="bg2"/>
            </a:solidFill>
            <a:prstDash val="solid"/>
          </a:ln>
        </p:spPr>
      </p:sp>
      <p:sp>
        <p:nvSpPr>
          <p:cNvPr id="5" name="statValue"/>
          <p:cNvSpPr txBox="1"/>
          <p:nvPr/>
        </p:nvSpPr>
        <p:spPr>
          <a:xfrm>
            <a:off x="822960" y="3611880"/>
            <a:ext cx="4769968" cy="713232"/>
          </a:xfrm>
          <a:prstGeom prst="rect">
            <a:avLst/>
          </a:prstGeom>
          <a:noFill/>
          <a:ln/>
        </p:spPr>
        <p:txBody>
          <a:bodyPr wrap="square" lIns="0" tIns="0" rIns="0" bIns="0" rtlCol="0" anchor="ctr"/>
          <a:lstStyle/>
          <a:p>
            <a:pPr indent="0" marL="0">
              <a:buNone/>
            </a:pPr>
            <a:r>
              <a:rPr lang="en-US" sz="4000" b="1" dirty="0">
                <a:solidFill>
                  <a:srgbClr val="C2591F"/>
                </a:solidFill>
              </a:rPr>
              <a:t>4.3 mm</a:t>
            </a:r>
            <a:endParaRPr lang="en-US" sz="4000" dirty="0"/>
          </a:p>
        </p:txBody>
      </p:sp>
      <p:sp>
        <p:nvSpPr>
          <p:cNvPr id="6" name="statLabel"/>
          <p:cNvSpPr txBox="1"/>
          <p:nvPr/>
        </p:nvSpPr>
        <p:spPr>
          <a:xfrm>
            <a:off x="822960" y="4361688"/>
            <a:ext cx="476996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penetrazione statica in appoggio a tripode, contro una regione di transizione di 2.0 mm — tarata perche' la legge di forza resti ben definita</a:t>
            </a:r>
            <a:endParaRPr lang="en-US" sz="1200" dirty="0"/>
          </a:p>
        </p:txBody>
      </p:sp>
      <p:sp>
        <p:nvSpPr>
          <p:cNvPr id="7" name="figBox"/>
          <p:cNvSpPr/>
          <p:nvPr/>
        </p:nvSpPr>
        <p:spPr>
          <a:xfrm>
            <a:off x="6324448" y="1417320"/>
            <a:ext cx="5318608" cy="3794760"/>
          </a:xfrm>
          <a:prstGeom prst="roundRect">
            <a:avLst>
              <a:gd name="adj" fmla="val 1205"/>
            </a:avLst>
          </a:prstGeom>
          <a:solidFill>
            <a:schemeClr val="bg2"/>
          </a:solidFill>
          <a:ln w="12700">
            <a:solidFill>
              <a:srgbClr val="C3CBCF"/>
            </a:solidFill>
            <a:prstDash val="dash"/>
          </a:ln>
        </p:spPr>
      </p:sp>
      <p:sp>
        <p:nvSpPr>
          <p:cNvPr id="8" name="figText"/>
          <p:cNvSpPr txBox="1"/>
          <p:nvPr/>
        </p:nvSpPr>
        <p:spPr>
          <a:xfrm>
            <a:off x="6507328" y="1417320"/>
            <a:ext cx="4952848" cy="3794760"/>
          </a:xfrm>
          <a:prstGeom prst="rect">
            <a:avLst/>
          </a:prstGeom>
          <a:noFill/>
          <a:ln/>
        </p:spPr>
        <p:txBody>
          <a:bodyPr wrap="square" lIns="0" tIns="0" rIns="0" bIns="0" rtlCol="0" anchor="ctr"/>
          <a:lstStyle/>
          <a:p>
            <a:pPr algn="ctr" indent="0" marL="0">
              <a:buNone/>
            </a:pPr>
            <a:r>
              <a:rPr lang="en-US" sz="1200" b="1" dirty="0">
                <a:solidFill>
                  <a:srgbClr val="8A979D"/>
                </a:solidFill>
              </a:rPr>
              <a:t>[ FIGURA ]</a:t>
            </a:r>
            <a:endParaRPr lang="en-US" sz="1200" dirty="0"/>
          </a:p>
          <a:p>
            <a:pPr algn="ctr" indent="0" marL="0">
              <a:buNone/>
            </a:pPr>
            <a:r>
              <a:rPr lang="en-US" sz="1150" i="1" dirty="0">
                <a:solidFill>
                  <a:srgbClr val="8A979D"/>
                </a:solidFill>
              </a:rPr>
              <a:t>modello Simscape / schema a blocchi dell'impianto</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Parametri dell'andatura e loro provenienza</a:t>
            </a:r>
            <a:endParaRPr lang="en-US" sz="2900" dirty="0"/>
          </a:p>
        </p:txBody>
      </p:sp>
      <p:sp>
        <p:nvSpPr>
          <p:cNvPr id="3" name="gaitIntro"/>
          <p:cNvSpPr txBox="1"/>
          <p:nvPr/>
        </p:nvSpPr>
        <p:spPr>
          <a:xfrm>
            <a:off x="548640" y="1280160"/>
            <a:ext cx="7802575" cy="68580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Il lavoro di riferimento delega l'andatura a NUKE e dichiara che non la discutera'. Tre parametri su cinque sono fissati da un vincolo misurato, e resta un solo grado di liberta'.</a:t>
            </a:r>
            <a:endParaRPr lang="en-US" sz="1300" dirty="0"/>
          </a:p>
        </p:txBody>
      </p:sp>
      <p:sp>
        <p:nvSpPr>
          <p:cNvPr id="4" name="panel"/>
          <p:cNvSpPr/>
          <p:nvPr/>
        </p:nvSpPr>
        <p:spPr>
          <a:xfrm>
            <a:off x="8442655" y="1280160"/>
            <a:ext cx="3200400" cy="731520"/>
          </a:xfrm>
          <a:prstGeom prst="roundRect">
            <a:avLst>
              <a:gd name="adj" fmla="val 7500"/>
            </a:avLst>
          </a:prstGeom>
          <a:solidFill>
            <a:srgbClr val="23424F"/>
          </a:solidFill>
          <a:ln w="12700">
            <a:solidFill>
              <a:srgbClr val="23424F"/>
            </a:solidFill>
            <a:prstDash val="solid"/>
          </a:ln>
        </p:spPr>
      </p:sp>
      <p:sp>
        <p:nvSpPr>
          <p:cNvPr id="5" name="gaitEq"/>
          <p:cNvSpPr txBox="1"/>
          <p:nvPr/>
        </p:nvSpPr>
        <p:spPr>
          <a:xfrm>
            <a:off x="8442655" y="1280160"/>
            <a:ext cx="320040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Consolas" pitchFamily="34" charset="0"/>
                <a:ea typeface="Consolas" pitchFamily="34" charset="-122"/>
                <a:cs typeface="Consolas" pitchFamily="34" charset="-120"/>
              </a:rPr>
              <a:t>T = S / (beta_app · v_nom)</a:t>
            </a:r>
            <a:endParaRPr lang="en-US" sz="135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286000"/>
          <a:ext cx="11094415" cy="914400"/>
        </p:xfrm>
        <a:graphic>
          <a:graphicData uri="http://schemas.openxmlformats.org/drawingml/2006/table">
            <a:tbl>
              <a:tblPr/>
              <a:tblGrid>
                <a:gridCol w="2103120"/>
                <a:gridCol w="1005840"/>
                <a:gridCol w="7985455"/>
              </a:tblGrid>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vettore delle fasi</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Definizione del tripode alternato. Non e' un parametro libero.</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beta_app</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0.50</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L'unico fattore di servizio che da' appoggio continuo su esattamente tre zampe.</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S</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0.06 m</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80.9% dell'estensione della zampa; l'assert interno scatta all'85%, cioe' a S = 0.095 m.</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H</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0.05 m</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1.5x l'altezza misurata dell'ostacolo, 32.8 mm, letta dalla quota del piede in appoggio.</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T</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1.00 s</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50" dirty="0">
                          <a:solidFill>
                            <a:srgbClr val="1A2228"/>
                          </a:solidFill>
                          <a:latin typeface="Calibri" pitchFamily="34" charset="0"/>
                          <a:ea typeface="Calibri" pitchFamily="34" charset="-122"/>
                          <a:cs typeface="Calibri" pitchFamily="34" charset="-120"/>
                        </a:rPr>
                        <a:t>Variabile dipendente. Da' v_nom = 0.12 m/s, all'83% dell'inviluppo misurato.</a:t>
                      </a:r>
                      <a:endParaRPr lang="en-US" sz="12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7" name="froude"/>
          <p:cNvSpPr txBox="1"/>
          <p:nvPr/>
        </p:nvSpPr>
        <p:spPr>
          <a:xfrm>
            <a:off x="548640" y="5349240"/>
            <a:ext cx="11094415" cy="502920"/>
          </a:xfrm>
          <a:prstGeom prst="rect">
            <a:avLst/>
          </a:prstGeom>
          <a:noFill/>
          <a:ln/>
        </p:spPr>
        <p:txBody>
          <a:bodyPr wrap="square" lIns="0" tIns="0" rIns="0" bIns="0" rtlCol="0" anchor="ctr"/>
          <a:lstStyle/>
          <a:p>
            <a:pPr indent="0" marL="0">
              <a:buNone/>
            </a:pPr>
            <a:r>
              <a:rPr lang="en-US" sz="1250" b="1" dirty="0">
                <a:solidFill>
                  <a:schemeClr val="accent1"/>
                </a:solidFill>
              </a:rPr>
              <a:t>Numero di Froude  v²/(gh) = 0.0095  —  le forze inerziali sono l'uno percento della gravita': la marcia e' nettamente quasi-statica.</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Sette task</a:t>
            </a:r>
            <a:endParaRPr lang="en-US" sz="29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400800" cy="914400"/>
        </p:xfrm>
        <a:graphic>
          <a:graphicData uri="http://schemas.openxmlformats.org/drawingml/2006/table">
            <a:tbl>
              <a:tblPr/>
              <a:tblGrid>
                <a:gridCol w="685800"/>
                <a:gridCol w="2057400"/>
                <a:gridCol w="3657600"/>
              </a:tblGrid>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Piano, sweep di velocita'</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Riferimento e inviluppo di stabilita' in velocita'</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Percorso in curva</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Comando di imbardata 0.1 rad/s</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Rampa di 8 gradi</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Pendenza continua: assetto del corpo contro terreno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T4D</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Dosso 8/8 gradi</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Salita e poi discesa, due interfacce angolari</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T5</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Ostacolo singolo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Un gradino non modellato, 32.8 mm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T6</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Sette ostacoli</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Discontinuita' ripetute, lato sinistro e destro alternati</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21208">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T7</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Impulso laterale</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Gradino di quantita' di moto dall'1% al 1600% del nominale</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figBox"/>
          <p:cNvSpPr/>
          <p:nvPr/>
        </p:nvSpPr>
        <p:spPr>
          <a:xfrm>
            <a:off x="7406640" y="1371600"/>
            <a:ext cx="4236415" cy="3931920"/>
          </a:xfrm>
          <a:prstGeom prst="roundRect">
            <a:avLst>
              <a:gd name="adj" fmla="val 1163"/>
            </a:avLst>
          </a:prstGeom>
          <a:solidFill>
            <a:schemeClr val="bg2"/>
          </a:solidFill>
          <a:ln w="12700">
            <a:solidFill>
              <a:srgbClr val="C3CBCF"/>
            </a:solidFill>
            <a:prstDash val="dash"/>
          </a:ln>
        </p:spPr>
      </p:sp>
      <p:sp>
        <p:nvSpPr>
          <p:cNvPr id="5" name="figText"/>
          <p:cNvSpPr txBox="1"/>
          <p:nvPr/>
        </p:nvSpPr>
        <p:spPr>
          <a:xfrm>
            <a:off x="7589520" y="1371600"/>
            <a:ext cx="3870655" cy="3931920"/>
          </a:xfrm>
          <a:prstGeom prst="rect">
            <a:avLst/>
          </a:prstGeom>
          <a:noFill/>
          <a:ln/>
        </p:spPr>
        <p:txBody>
          <a:bodyPr wrap="square" lIns="0" tIns="0" rIns="0" bIns="0" rtlCol="0" anchor="ctr"/>
          <a:lstStyle/>
          <a:p>
            <a:pPr algn="ctr" indent="0" marL="0">
              <a:buNone/>
            </a:pPr>
            <a:r>
              <a:rPr lang="en-US" sz="1200" b="1" dirty="0">
                <a:solidFill>
                  <a:srgbClr val="8A979D"/>
                </a:solidFill>
              </a:rPr>
              <a:t>[ FIGURA ]</a:t>
            </a:r>
            <a:endParaRPr lang="en-US" sz="1200" dirty="0"/>
          </a:p>
          <a:p>
            <a:pPr algn="ctr" indent="0" marL="0">
              <a:buNone/>
            </a:pPr>
            <a:r>
              <a:rPr lang="en-US" sz="1150" i="1" dirty="0">
                <a:solidFill>
                  <a:srgbClr val="8A979D"/>
                </a:solidFill>
              </a:rPr>
              <a:t>configurazioni di terreno: piano, rampa, dosso, ostacolo, percorso</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02</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Metodo</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Una differenza si dichiara solo se e' almeno tre volte il peggiore dei due rumori di fondo.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Quando una differenza e' un risultato?</a:t>
            </a:r>
            <a:endParaRPr lang="en-US" sz="2900" dirty="0"/>
          </a:p>
        </p:txBody>
      </p:sp>
      <p:sp>
        <p:nvSpPr>
          <p:cNvPr id="3" name="noiseLead"/>
          <p:cNvSpPr txBox="1"/>
          <p:nvPr/>
        </p:nvSpPr>
        <p:spPr>
          <a:xfrm>
            <a:off x="548640" y="1280160"/>
            <a:ext cx="11094415" cy="868680"/>
          </a:xfrm>
          <a:prstGeom prst="rect">
            <a:avLst/>
          </a:prstGeom>
          <a:noFill/>
          <a:ln/>
        </p:spPr>
        <p:txBody>
          <a:bodyPr wrap="square" lIns="0" tIns="0" rIns="0" bIns="0" rtlCol="0" anchor="t"/>
          <a:lstStyle/>
          <a:p>
            <a:pPr indent="0" marL="0">
              <a:lnSpc>
                <a:spcPct val="112000"/>
              </a:lnSpc>
              <a:buNone/>
            </a:pPr>
            <a:r>
              <a:rPr lang="en-US" sz="1350" dirty="0">
                <a:solidFill>
                  <a:schemeClr val="tx2"/>
                </a:solidFill>
              </a:rPr>
              <a:t>Ogni run e' ripetuta tre volte con l'altezza di appoggio spostata di ±0.2 mm — una quantita' che non ha nulla a che vedere con il controllore. L'escursione che ne risulta e' il rumore di fondo di quella metrica.</a:t>
            </a:r>
            <a:endParaRPr lang="en-US" sz="1350" dirty="0"/>
          </a:p>
        </p:txBody>
      </p:sp>
      <p:sp>
        <p:nvSpPr>
          <p:cNvPr id="4" name="panel"/>
          <p:cNvSpPr/>
          <p:nvPr/>
        </p:nvSpPr>
        <p:spPr>
          <a:xfrm>
            <a:off x="548640" y="2331720"/>
            <a:ext cx="11094415" cy="1143000"/>
          </a:xfrm>
          <a:prstGeom prst="roundRect">
            <a:avLst>
              <a:gd name="adj" fmla="val 4800"/>
            </a:avLst>
          </a:prstGeom>
          <a:solidFill>
            <a:srgbClr val="23424F"/>
          </a:solidFill>
          <a:ln w="12700">
            <a:solidFill>
              <a:srgbClr val="23424F"/>
            </a:solidFill>
            <a:prstDash val="solid"/>
          </a:ln>
        </p:spPr>
      </p:sp>
      <p:sp>
        <p:nvSpPr>
          <p:cNvPr id="5" name="rule"/>
          <p:cNvSpPr txBox="1"/>
          <p:nvPr/>
        </p:nvSpPr>
        <p:spPr>
          <a:xfrm>
            <a:off x="1005840" y="2331720"/>
            <a:ext cx="10180015" cy="1143000"/>
          </a:xfrm>
          <a:prstGeom prst="rect">
            <a:avLst/>
          </a:prstGeom>
          <a:noFill/>
          <a:ln/>
        </p:spPr>
        <p:txBody>
          <a:bodyPr wrap="square" lIns="0" tIns="0" rIns="0" bIns="0" rtlCol="0" anchor="ctr"/>
          <a:lstStyle/>
          <a:p>
            <a:pPr algn="ctr" indent="0" marL="0">
              <a:buNone/>
            </a:pPr>
            <a:r>
              <a:rPr lang="en-US" sz="1900" b="1" dirty="0">
                <a:solidFill>
                  <a:srgbClr val="FFFFFF"/>
                </a:solidFill>
              </a:rPr>
              <a:t>Una differenza si dichiara solo se e' almeno tre volte il peggiore dei due rumori di fondo.</a:t>
            </a:r>
            <a:endParaRPr lang="en-US" sz="1900" dirty="0"/>
          </a:p>
        </p:txBody>
      </p:sp>
      <p:sp>
        <p:nvSpPr>
          <p:cNvPr id="6" name="panel"/>
          <p:cNvSpPr/>
          <p:nvPr/>
        </p:nvSpPr>
        <p:spPr>
          <a:xfrm>
            <a:off x="548640" y="3794760"/>
            <a:ext cx="5318608" cy="1783080"/>
          </a:xfrm>
          <a:prstGeom prst="roundRect">
            <a:avLst>
              <a:gd name="adj" fmla="val 3077"/>
            </a:avLst>
          </a:prstGeom>
          <a:solidFill>
            <a:schemeClr val="bg2"/>
          </a:solidFill>
          <a:ln w="12700">
            <a:solidFill>
              <a:schemeClr val="bg2"/>
            </a:solidFill>
            <a:prstDash val="solid"/>
          </a:ln>
        </p:spPr>
      </p:sp>
      <p:sp>
        <p:nvSpPr>
          <p:cNvPr id="7" name="cardHead"/>
          <p:cNvSpPr txBox="1"/>
          <p:nvPr/>
        </p:nvSpPr>
        <p:spPr>
          <a:xfrm>
            <a:off x="804672" y="397764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Non e' una formalita'</a:t>
            </a:r>
            <a:endParaRPr lang="en-US" sz="1500" dirty="0"/>
          </a:p>
        </p:txBody>
      </p:sp>
      <p:sp>
        <p:nvSpPr>
          <p:cNvPr id="8" name="cardBody"/>
          <p:cNvSpPr txBox="1"/>
          <p:nvPr/>
        </p:nvSpPr>
        <p:spPr>
          <a:xfrm>
            <a:off x="804672" y="445312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Applicarla ha eliminato diverse differenze che sembravano risultati. Circa un terzo di quanto misurato non sopravvive.</a:t>
            </a:r>
            <a:endParaRPr lang="en-US" sz="1250" dirty="0"/>
          </a:p>
        </p:txBody>
      </p:sp>
      <p:sp>
        <p:nvSpPr>
          <p:cNvPr id="9" name="panel"/>
          <p:cNvSpPr/>
          <p:nvPr/>
        </p:nvSpPr>
        <p:spPr>
          <a:xfrm>
            <a:off x="6324448" y="3794760"/>
            <a:ext cx="5318608" cy="1783080"/>
          </a:xfrm>
          <a:prstGeom prst="roundRect">
            <a:avLst>
              <a:gd name="adj" fmla="val 3077"/>
            </a:avLst>
          </a:prstGeom>
          <a:solidFill>
            <a:schemeClr val="bg2"/>
          </a:solidFill>
          <a:ln w="12700">
            <a:solidFill>
              <a:schemeClr val="bg2"/>
            </a:solidFill>
            <a:prstDash val="solid"/>
          </a:ln>
        </p:spPr>
      </p:sp>
      <p:sp>
        <p:nvSpPr>
          <p:cNvPr id="10" name="cardHead"/>
          <p:cNvSpPr txBox="1"/>
          <p:nvPr/>
        </p:nvSpPr>
        <p:spPr>
          <a:xfrm>
            <a:off x="6580480" y="397764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Comprese le nostre</a:t>
            </a:r>
            <a:endParaRPr lang="en-US" sz="1500" dirty="0"/>
          </a:p>
        </p:txBody>
      </p:sp>
      <p:sp>
        <p:nvSpPr>
          <p:cNvPr id="11" name="cardBody"/>
          <p:cNvSpPr txBox="1"/>
          <p:nvPr/>
        </p:nvSpPr>
        <p:spPr>
          <a:xfrm>
            <a:off x="6580480" y="445312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Ogni confronto sulla coppia di picco fallisce la regola, su ogni task — nonostante differenze fino al +87%.</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Altre due regole, ciascuna adottata dopo averla violata</a:t>
            </a:r>
            <a:endParaRPr lang="en-US" sz="2900" dirty="0"/>
          </a:p>
        </p:txBody>
      </p:sp>
      <p:sp>
        <p:nvSpPr>
          <p:cNvPr id="3" name="panel"/>
          <p:cNvSpPr/>
          <p:nvPr/>
        </p:nvSpPr>
        <p:spPr>
          <a:xfrm>
            <a:off x="548640" y="1508760"/>
            <a:ext cx="5318608" cy="3291840"/>
          </a:xfrm>
          <a:prstGeom prst="roundRect">
            <a:avLst>
              <a:gd name="adj" fmla="val 1667"/>
            </a:avLst>
          </a:prstGeom>
          <a:solidFill>
            <a:schemeClr val="bg2"/>
          </a:solidFill>
          <a:ln w="12700">
            <a:solidFill>
              <a:schemeClr val="bg2"/>
            </a:solidFill>
            <a:prstDash val="solid"/>
          </a:ln>
        </p:spPr>
      </p:sp>
      <p:sp>
        <p:nvSpPr>
          <p:cNvPr id="4" name="cardHead"/>
          <p:cNvSpPr txBox="1"/>
          <p:nvPr/>
        </p:nvSpPr>
        <p:spPr>
          <a:xfrm>
            <a:off x="804672" y="1691640"/>
            <a:ext cx="4806544" cy="402336"/>
          </a:xfrm>
          <a:prstGeom prst="rect">
            <a:avLst/>
          </a:prstGeom>
          <a:noFill/>
          <a:ln/>
        </p:spPr>
        <p:txBody>
          <a:bodyPr wrap="square" lIns="0" tIns="0" rIns="0" bIns="0" rtlCol="0" anchor="ctr"/>
          <a:lstStyle/>
          <a:p>
            <a:pPr indent="0" marL="0">
              <a:buNone/>
            </a:pPr>
            <a:r>
              <a:rPr lang="en-US" sz="1800" b="1" dirty="0">
                <a:solidFill>
                  <a:schemeClr val="accent1"/>
                </a:solidFill>
              </a:rPr>
              <a:t>Il criterio si scrive prima della run</a:t>
            </a:r>
            <a:endParaRPr lang="en-US" sz="1800" dirty="0"/>
          </a:p>
        </p:txBody>
      </p:sp>
      <p:sp>
        <p:nvSpPr>
          <p:cNvPr id="5" name="cardBody"/>
          <p:cNvSpPr txBox="1"/>
          <p:nvPr/>
        </p:nvSpPr>
        <p:spPr>
          <a:xfrm>
            <a:off x="804672" y="2167128"/>
            <a:ext cx="4806544" cy="2414016"/>
          </a:xfrm>
          <a:prstGeom prst="rect">
            <a:avLst/>
          </a:prstGeom>
          <a:noFill/>
          <a:ln/>
        </p:spPr>
        <p:txBody>
          <a:bodyPr wrap="square" lIns="0" tIns="0" rIns="0" bIns="0" rtlCol="0" anchor="t"/>
          <a:lstStyle/>
          <a:p>
            <a:pPr indent="0" marL="0">
              <a:lnSpc>
                <a:spcPct val="112000"/>
              </a:lnSpc>
              <a:buNone/>
            </a:pPr>
            <a:r>
              <a:rPr lang="en-US" sz="1450" dirty="0">
                <a:solidFill>
                  <a:schemeClr val="tx2"/>
                </a:solidFill>
              </a:rPr>
              <a:t>Ogni script diagnostico porta in intestazione la domanda che pone, la soglia che applichera' e le conclusioni possibili — tutto prima che i dati esistano. Una soglia calibrata dopo avrebbe spostato il limite di stabilita' da 1.0x a 1.2x a seconda del multiplo scelto.</a:t>
            </a:r>
            <a:endParaRPr lang="en-US" sz="1450" dirty="0"/>
          </a:p>
        </p:txBody>
      </p:sp>
      <p:sp>
        <p:nvSpPr>
          <p:cNvPr id="6" name="panel"/>
          <p:cNvSpPr/>
          <p:nvPr/>
        </p:nvSpPr>
        <p:spPr>
          <a:xfrm>
            <a:off x="6324448" y="1508760"/>
            <a:ext cx="5318608" cy="3291840"/>
          </a:xfrm>
          <a:prstGeom prst="roundRect">
            <a:avLst>
              <a:gd name="adj" fmla="val 1667"/>
            </a:avLst>
          </a:prstGeom>
          <a:solidFill>
            <a:schemeClr val="bg2"/>
          </a:solidFill>
          <a:ln w="12700">
            <a:solidFill>
              <a:schemeClr val="bg2"/>
            </a:solidFill>
            <a:prstDash val="solid"/>
          </a:ln>
        </p:spPr>
      </p:sp>
      <p:sp>
        <p:nvSpPr>
          <p:cNvPr id="7" name="cardHead"/>
          <p:cNvSpPr txBox="1"/>
          <p:nvPr/>
        </p:nvSpPr>
        <p:spPr>
          <a:xfrm>
            <a:off x="6580480" y="1691640"/>
            <a:ext cx="4806544" cy="402336"/>
          </a:xfrm>
          <a:prstGeom prst="rect">
            <a:avLst/>
          </a:prstGeom>
          <a:noFill/>
          <a:ln/>
        </p:spPr>
        <p:txBody>
          <a:bodyPr wrap="square" lIns="0" tIns="0" rIns="0" bIns="0" rtlCol="0" anchor="ctr"/>
          <a:lstStyle/>
          <a:p>
            <a:pPr indent="0" marL="0">
              <a:buNone/>
            </a:pPr>
            <a:r>
              <a:rPr lang="en-US" sz="1800" b="1" dirty="0">
                <a:solidFill>
                  <a:schemeClr val="accent1"/>
                </a:solidFill>
              </a:rPr>
              <a:t>Le ritrattazioni restano scritte</a:t>
            </a:r>
            <a:endParaRPr lang="en-US" sz="1800" dirty="0"/>
          </a:p>
        </p:txBody>
      </p:sp>
      <p:sp>
        <p:nvSpPr>
          <p:cNvPr id="8" name="cardBody"/>
          <p:cNvSpPr txBox="1"/>
          <p:nvPr/>
        </p:nvSpPr>
        <p:spPr>
          <a:xfrm>
            <a:off x="6580480" y="2167128"/>
            <a:ext cx="4806544" cy="2414016"/>
          </a:xfrm>
          <a:prstGeom prst="rect">
            <a:avLst/>
          </a:prstGeom>
          <a:noFill/>
          <a:ln/>
        </p:spPr>
        <p:txBody>
          <a:bodyPr wrap="square" lIns="0" tIns="0" rIns="0" bIns="0" rtlCol="0" anchor="t"/>
          <a:lstStyle/>
          <a:p>
            <a:pPr indent="0" marL="0">
              <a:lnSpc>
                <a:spcPct val="112000"/>
              </a:lnSpc>
              <a:buNone/>
            </a:pPr>
            <a:r>
              <a:rPr lang="en-US" sz="1450" dirty="0">
                <a:solidFill>
                  <a:schemeClr val="tx2"/>
                </a:solidFill>
              </a:rPr>
              <a:t>Ogni affermazione ritirata e' marcata sul posto, con la motivazione. Ne abbiamo ritirate almeno cinque. Una e' sopravvissuta tre giorni proprio perche' era plausibile.</a:t>
            </a:r>
            <a:endParaRPr lang="en-US" sz="14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03</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Due difetti</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Per tre giorni C2 non ha cercato il terreno. Nulla lo segnalava: il robot camminava, l'animazione era plausibile, le metriche uscivano.</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Inerzie URDF: sbagliate di circa un fattore mille</a:t>
            </a:r>
            <a:endParaRPr lang="en-US" sz="2900" dirty="0"/>
          </a:p>
        </p:txBody>
      </p:sp>
      <p:sp>
        <p:nvSpPr>
          <p:cNvPr id="3" name="panel"/>
          <p:cNvSpPr/>
          <p:nvPr/>
        </p:nvSpPr>
        <p:spPr>
          <a:xfrm>
            <a:off x="548640" y="1371600"/>
            <a:ext cx="5318608" cy="1783080"/>
          </a:xfrm>
          <a:prstGeom prst="roundRect">
            <a:avLst>
              <a:gd name="adj" fmla="val 3077"/>
            </a:avLst>
          </a:prstGeom>
          <a:solidFill>
            <a:schemeClr val="bg2"/>
          </a:solidFill>
          <a:ln w="12700">
            <a:solidFill>
              <a:schemeClr val="bg2"/>
            </a:solidFill>
            <a:prstDash val="solid"/>
          </a:ln>
        </p:spPr>
      </p:sp>
      <p:sp>
        <p:nvSpPr>
          <p:cNvPr id="4" name="cardHead"/>
          <p:cNvSpPr txBox="1"/>
          <p:nvPr/>
        </p:nvSpPr>
        <p:spPr>
          <a:xfrm>
            <a:off x="804672"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Raggio d'inerzia</a:t>
            </a:r>
            <a:endParaRPr lang="en-US" sz="1500" dirty="0"/>
          </a:p>
        </p:txBody>
      </p:sp>
      <p:sp>
        <p:nvSpPr>
          <p:cNvPr id="5" name="cardBody"/>
          <p:cNvSpPr txBox="1"/>
          <p:nvPr/>
        </p:nvSpPr>
        <p:spPr>
          <a:xfrm>
            <a:off x="804672" y="202996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Da I = m r², l'inerzia dichiarata del tronco colloca la sua massa a 1.79 m dal proprio centro. Il tronco e' largo 25 cm. Ogni membro da' 0.46 m; i membri sono lunghi 2-12 cm.</a:t>
            </a:r>
            <a:endParaRPr lang="en-US" sz="1250" dirty="0"/>
          </a:p>
        </p:txBody>
      </p:sp>
      <p:sp>
        <p:nvSpPr>
          <p:cNvPr id="6" name="panel"/>
          <p:cNvSpPr/>
          <p:nvPr/>
        </p:nvSpPr>
        <p:spPr>
          <a:xfrm>
            <a:off x="6324448" y="1371600"/>
            <a:ext cx="5318608" cy="1783080"/>
          </a:xfrm>
          <a:prstGeom prst="roundRect">
            <a:avLst>
              <a:gd name="adj" fmla="val 3077"/>
            </a:avLst>
          </a:prstGeom>
          <a:solidFill>
            <a:schemeClr val="bg2"/>
          </a:solidFill>
          <a:ln w="12700">
            <a:solidFill>
              <a:schemeClr val="bg2"/>
            </a:solidFill>
            <a:prstDash val="solid"/>
          </a:ln>
        </p:spPr>
      </p:sp>
      <p:sp>
        <p:nvSpPr>
          <p:cNvPr id="7"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Tutti i 24 membri identici</a:t>
            </a:r>
            <a:endParaRPr lang="en-US" sz="1500" dirty="0"/>
          </a:p>
        </p:txBody>
      </p:sp>
      <p:sp>
        <p:nvSpPr>
          <p:cNvPr id="8" name="cardBody"/>
          <p:cNvSpPr txBox="1"/>
          <p:nvPr/>
        </p:nvSpPr>
        <p:spPr>
          <a:xfrm>
            <a:off x="6580480" y="2029968"/>
            <a:ext cx="4806544" cy="90525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Stessa inerzia allo stesso decimale, per coxa, femore e tibia. Un segnaposto, non una misura.</a:t>
            </a:r>
            <a:endParaRPr lang="en-US" sz="1250" dirty="0"/>
          </a:p>
        </p:txBody>
      </p:sp>
      <p:sp>
        <p:nvSpPr>
          <p:cNvPr id="9" name="d1verdict"/>
          <p:cNvSpPr txBox="1"/>
          <p:nvPr/>
        </p:nvSpPr>
        <p:spPr>
          <a:xfrm>
            <a:off x="548640" y="3383280"/>
            <a:ext cx="11094415" cy="548640"/>
          </a:xfrm>
          <a:prstGeom prst="rect">
            <a:avLst/>
          </a:prstGeom>
          <a:noFill/>
          <a:ln/>
        </p:spPr>
        <p:txBody>
          <a:bodyPr wrap="square" lIns="0" tIns="0" rIns="0" bIns="0" rtlCol="0" anchor="ctr"/>
          <a:lstStyle/>
          <a:p>
            <a:pPr indent="0" marL="0">
              <a:buNone/>
            </a:pPr>
            <a:r>
              <a:rPr lang="en-US" sz="1400" b="1" dirty="0">
                <a:solidFill>
                  <a:schemeClr val="accent1"/>
                </a:solidFill>
              </a:rPr>
              <a:t>Dividere per 10³ riporta tutto nell'intervallo fisicamente plausibile: la firma di un export CAD con le masse in grammi.</a:t>
            </a:r>
            <a:endParaRPr lang="en-US" sz="1400" dirty="0"/>
          </a:p>
        </p:txBody>
      </p:sp>
      <p:sp>
        <p:nvSpPr>
          <p:cNvPr id="10" name="panel"/>
          <p:cNvSpPr/>
          <p:nvPr/>
        </p:nvSpPr>
        <p:spPr>
          <a:xfrm>
            <a:off x="548640" y="4069080"/>
            <a:ext cx="11094415" cy="1691640"/>
          </a:xfrm>
          <a:prstGeom prst="roundRect">
            <a:avLst>
              <a:gd name="adj" fmla="val 3243"/>
            </a:avLst>
          </a:prstGeom>
          <a:solidFill>
            <a:schemeClr val="bg2"/>
          </a:solidFill>
          <a:ln w="12700">
            <a:solidFill>
              <a:schemeClr val="bg2"/>
            </a:solidFill>
            <a:prstDash val="solid"/>
          </a:ln>
        </p:spPr>
      </p:sp>
      <p:sp>
        <p:nvSpPr>
          <p:cNvPr id="11" name="statValue"/>
          <p:cNvSpPr txBox="1"/>
          <p:nvPr/>
        </p:nvSpPr>
        <p:spPr>
          <a:xfrm>
            <a:off x="1005840" y="4251960"/>
            <a:ext cx="4815688" cy="713232"/>
          </a:xfrm>
          <a:prstGeom prst="rect">
            <a:avLst/>
          </a:prstGeom>
          <a:noFill/>
          <a:ln/>
        </p:spPr>
        <p:txBody>
          <a:bodyPr wrap="square" lIns="0" tIns="0" rIns="0" bIns="0" rtlCol="0" anchor="ctr"/>
          <a:lstStyle/>
          <a:p>
            <a:pPr indent="0" marL="0">
              <a:buNone/>
            </a:pPr>
            <a:r>
              <a:rPr lang="en-US" sz="4000" b="1" dirty="0">
                <a:solidFill>
                  <a:srgbClr val="A8322A"/>
                </a:solidFill>
              </a:rPr>
              <a:t>45° → 15°</a:t>
            </a:r>
            <a:endParaRPr lang="en-US" sz="4000" dirty="0"/>
          </a:p>
        </p:txBody>
      </p:sp>
      <p:sp>
        <p:nvSpPr>
          <p:cNvPr id="12" name="statLabel"/>
          <p:cNvSpPr txBox="1"/>
          <p:nvPr/>
        </p:nvSpPr>
        <p:spPr>
          <a:xfrm>
            <a:off x="1005840" y="5001768"/>
            <a:ext cx="481568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picco di beccheggio di C1 su terreno accidentato</a:t>
            </a:r>
            <a:endParaRPr lang="en-US" sz="1200" dirty="0"/>
          </a:p>
        </p:txBody>
      </p:sp>
      <p:sp>
        <p:nvSpPr>
          <p:cNvPr id="13" name="statValue"/>
          <p:cNvSpPr txBox="1"/>
          <p:nvPr/>
        </p:nvSpPr>
        <p:spPr>
          <a:xfrm>
            <a:off x="6553048" y="4251960"/>
            <a:ext cx="4815688" cy="713232"/>
          </a:xfrm>
          <a:prstGeom prst="rect">
            <a:avLst/>
          </a:prstGeom>
          <a:noFill/>
          <a:ln/>
        </p:spPr>
        <p:txBody>
          <a:bodyPr wrap="square" lIns="0" tIns="0" rIns="0" bIns="0" rtlCol="0" anchor="ctr"/>
          <a:lstStyle/>
          <a:p>
            <a:pPr indent="0" marL="0">
              <a:buNone/>
            </a:pPr>
            <a:r>
              <a:rPr lang="en-US" sz="4000" b="1" dirty="0">
                <a:solidFill>
                  <a:srgbClr val="A8322A"/>
                </a:solidFill>
              </a:rPr>
              <a:t>1.35 → 0.68</a:t>
            </a:r>
            <a:endParaRPr lang="en-US" sz="4000" dirty="0"/>
          </a:p>
        </p:txBody>
      </p:sp>
      <p:sp>
        <p:nvSpPr>
          <p:cNvPr id="14" name="statLabel"/>
          <p:cNvSpPr txBox="1"/>
          <p:nvPr/>
        </p:nvSpPr>
        <p:spPr>
          <a:xfrm>
            <a:off x="6553048" y="5001768"/>
            <a:ext cx="481568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rapporto di costo C2/C1 — ha cambiato segno</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Correggere il robot ha rotto il rilevatore di contatto</a:t>
            </a:r>
            <a:endParaRPr lang="en-US" sz="2900" dirty="0"/>
          </a:p>
        </p:txBody>
      </p:sp>
      <p:sp>
        <p:nvSpPr>
          <p:cNvPr id="3" name="d2lead"/>
          <p:cNvSpPr txBox="1"/>
          <p:nvPr/>
        </p:nvSpPr>
        <p:spPr>
          <a:xfrm>
            <a:off x="548640" y="1280160"/>
            <a:ext cx="5943600" cy="868680"/>
          </a:xfrm>
          <a:prstGeom prst="rect">
            <a:avLst/>
          </a:prstGeom>
          <a:noFill/>
          <a:ln/>
        </p:spPr>
        <p:txBody>
          <a:bodyPr wrap="square" lIns="0" tIns="0" rIns="0" bIns="0" rtlCol="0" anchor="t"/>
          <a:lstStyle/>
          <a:p>
            <a:pPr indent="0" marL="0">
              <a:lnSpc>
                <a:spcPct val="112000"/>
              </a:lnSpc>
              <a:buNone/>
            </a:pPr>
            <a:r>
              <a:rPr lang="en-US" sz="1300" dirty="0">
                <a:solidFill>
                  <a:schemeClr val="tx1"/>
                </a:solidFill>
              </a:rPr>
              <a:t>Avevamo corretto le inerzie del solo robot simulato. Da quel momento il robot e il modello che ne prevedeva la coppia erano due robot diversi, distanti tre ordini di grandezza.</a:t>
            </a:r>
            <a:endParaRPr lang="en-US" sz="1300" dirty="0"/>
          </a:p>
        </p:txBody>
      </p:sp>
      <p:sp>
        <p:nvSpPr>
          <p:cNvPr id="4" name="d2cons"/>
          <p:cNvSpPr txBox="1"/>
          <p:nvPr/>
        </p:nvSpPr>
        <p:spPr>
          <a:xfrm>
            <a:off x="548640" y="2240280"/>
            <a:ext cx="5943600" cy="123444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Il residuo e' diventato grande sempre, con o senza contatto. La flag e' rimasta alta per oltre il 95% del volo, quindi la ricerca del terreno non e' mai entrata nel ramo che fa crescere l'estensione del piede: il comando e' degenerato in una costante.</a:t>
            </a:r>
            <a:endParaRPr lang="en-US" sz="1250" dirty="0"/>
          </a:p>
        </p:txBody>
      </p:sp>
      <p:sp>
        <p:nvSpPr>
          <p:cNvPr id="5" name="panel"/>
          <p:cNvSpPr/>
          <p:nvPr/>
        </p:nvSpPr>
        <p:spPr>
          <a:xfrm>
            <a:off x="548640" y="3611880"/>
            <a:ext cx="5943600" cy="1691640"/>
          </a:xfrm>
          <a:prstGeom prst="roundRect">
            <a:avLst>
              <a:gd name="adj" fmla="val 3243"/>
            </a:avLst>
          </a:prstGeom>
          <a:solidFill>
            <a:srgbClr val="F3E2D7"/>
          </a:solidFill>
          <a:ln w="12700">
            <a:solidFill>
              <a:srgbClr val="F3E2D7"/>
            </a:solidFill>
            <a:prstDash val="solid"/>
          </a:ln>
        </p:spPr>
      </p:sp>
      <p:sp>
        <p:nvSpPr>
          <p:cNvPr id="6" name="d2quote"/>
          <p:cNvSpPr txBox="1"/>
          <p:nvPr/>
        </p:nvSpPr>
        <p:spPr>
          <a:xfrm>
            <a:off x="822960" y="3611880"/>
            <a:ext cx="5394960" cy="1691640"/>
          </a:xfrm>
          <a:prstGeom prst="rect">
            <a:avLst/>
          </a:prstGeom>
          <a:noFill/>
          <a:ln/>
        </p:spPr>
        <p:txBody>
          <a:bodyPr wrap="square" lIns="0" tIns="0" rIns="0" bIns="0" rtlCol="0" anchor="ctr"/>
          <a:lstStyle/>
          <a:p>
            <a:pPr indent="0" marL="0">
              <a:lnSpc>
                <a:spcPct val="115000"/>
              </a:lnSpc>
              <a:buNone/>
            </a:pPr>
            <a:r>
              <a:rPr lang="en-US" sz="1350" b="1" i="1" dirty="0">
                <a:solidFill>
                  <a:srgbClr val="8A3C12"/>
                </a:solidFill>
              </a:rPr>
              <a:t>Per tre giorni C2 non ha cercato il terreno. Nulla lo segnalava: il robot camminava, l'animazione era plausibile, le metriche uscivano.</a:t>
            </a:r>
            <a:endParaRPr lang="en-US" sz="135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6949440" y="1280160"/>
          <a:ext cx="4693615" cy="914400"/>
        </p:xfrm>
        <a:graphic>
          <a:graphicData uri="http://schemas.openxmlformats.org/drawingml/2006/table">
            <a:tbl>
              <a:tblPr/>
              <a:tblGrid>
                <a:gridCol w="2221992"/>
                <a:gridCol w="1234440"/>
                <a:gridCol w="1234440"/>
              </a:tblGrid>
              <a:tr h="475488">
                <a:tc>
                  <a:txBody>
                    <a:bodyPr/>
                    <a:lstStyle/>
                    <a:p>
                      <a:pPr algn="l" indent="0" marL="0">
                        <a:buNone/>
                      </a:pP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disallineato</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allineato</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Errore della flag in appoggio</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Errore di una flag sempre alta</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La flag porta informazione?</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si</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475488">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Voli senza reset della ricerca</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20/60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2/60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panel"/>
          <p:cNvSpPr/>
          <p:nvPr/>
        </p:nvSpPr>
        <p:spPr>
          <a:xfrm>
            <a:off x="6949440" y="3977640"/>
            <a:ext cx="4693615" cy="1325880"/>
          </a:xfrm>
          <a:prstGeom prst="roundRect">
            <a:avLst>
              <a:gd name="adj" fmla="val 4138"/>
            </a:avLst>
          </a:prstGeom>
          <a:solidFill>
            <a:schemeClr val="bg2"/>
          </a:solidFill>
          <a:ln w="12700">
            <a:solidFill>
              <a:schemeClr val="bg2"/>
            </a:solidFill>
            <a:prstDash val="solid"/>
          </a:ln>
        </p:spPr>
      </p:sp>
      <p:sp>
        <p:nvSpPr>
          <p:cNvPr id="9" name="statValue"/>
          <p:cNvSpPr txBox="1"/>
          <p:nvPr/>
        </p:nvSpPr>
        <p:spPr>
          <a:xfrm>
            <a:off x="7223760" y="4114800"/>
            <a:ext cx="4144975" cy="713232"/>
          </a:xfrm>
          <a:prstGeom prst="rect">
            <a:avLst/>
          </a:prstGeom>
          <a:noFill/>
          <a:ln/>
        </p:spPr>
        <p:txBody>
          <a:bodyPr wrap="square" lIns="0" tIns="0" rIns="0" bIns="0" rtlCol="0" anchor="ctr"/>
          <a:lstStyle/>
          <a:p>
            <a:pPr indent="0" marL="0">
              <a:buNone/>
            </a:pPr>
            <a:r>
              <a:rPr lang="en-US" sz="4000" b="1" dirty="0">
                <a:solidFill>
                  <a:srgbClr val="A8322A"/>
                </a:solidFill>
              </a:rPr>
              <a:t>&gt; 95%</a:t>
            </a:r>
            <a:endParaRPr lang="en-US" sz="4000" dirty="0"/>
          </a:p>
        </p:txBody>
      </p:sp>
      <p:sp>
        <p:nvSpPr>
          <p:cNvPr id="10" name="statLabel"/>
          <p:cNvSpPr txBox="1"/>
          <p:nvPr/>
        </p:nvSpPr>
        <p:spPr>
          <a:xfrm>
            <a:off x="7223760" y="4864608"/>
            <a:ext cx="4144975"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della fase di volo con la flag di contatto bloccata alta</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Due correzioni che sono una nostra scelta</a:t>
            </a:r>
            <a:endParaRPr lang="en-US" sz="2900" dirty="0"/>
          </a:p>
        </p:txBody>
      </p:sp>
      <p:sp>
        <p:nvSpPr>
          <p:cNvPr id="3" name="panel"/>
          <p:cNvSpPr/>
          <p:nvPr/>
        </p:nvSpPr>
        <p:spPr>
          <a:xfrm>
            <a:off x="548640" y="1371600"/>
            <a:ext cx="5318608" cy="3200400"/>
          </a:xfrm>
          <a:prstGeom prst="roundRect">
            <a:avLst>
              <a:gd name="adj" fmla="val 1714"/>
            </a:avLst>
          </a:prstGeom>
          <a:solidFill>
            <a:schemeClr val="bg2"/>
          </a:solidFill>
          <a:ln w="12700">
            <a:solidFill>
              <a:schemeClr val="bg2"/>
            </a:solidFill>
            <a:prstDash val="solid"/>
          </a:ln>
        </p:spPr>
      </p:sp>
      <p:sp>
        <p:nvSpPr>
          <p:cNvPr id="4" name="cardHead"/>
          <p:cNvSpPr txBox="1"/>
          <p:nvPr/>
        </p:nvSpPr>
        <p:spPr>
          <a:xfrm>
            <a:off x="804672"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Soglia di contatto ritarata</a:t>
            </a:r>
            <a:endParaRPr lang="en-US" sz="1500" dirty="0"/>
          </a:p>
        </p:txBody>
      </p:sp>
      <p:sp>
        <p:nvSpPr>
          <p:cNvPr id="5" name="cardBody"/>
          <p:cNvSpPr txBox="1"/>
          <p:nvPr/>
        </p:nvSpPr>
        <p:spPr>
          <a:xfrm>
            <a:off x="804672" y="2029968"/>
            <a:ext cx="4806544" cy="2322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Alla soglia originale la flag restava alta per oltre il 41.9% del volo, e il 39.7% di quello era la sola coxa: ruota attorno all'asse verticale mentre il contatto e' verticale, quindi il contatto non le trasmette quasi coppia. La terna adottata la disattiva — un cambio di regola, non una ritaratura: la flag diventa un OR su due giunti.</a:t>
            </a:r>
            <a:endParaRPr lang="en-US" sz="1250" dirty="0"/>
          </a:p>
        </p:txBody>
      </p:sp>
      <p:sp>
        <p:nvSpPr>
          <p:cNvPr id="6" name="panel"/>
          <p:cNvSpPr/>
          <p:nvPr/>
        </p:nvSpPr>
        <p:spPr>
          <a:xfrm>
            <a:off x="6324448" y="1371600"/>
            <a:ext cx="5318608" cy="3200400"/>
          </a:xfrm>
          <a:prstGeom prst="roundRect">
            <a:avLst>
              <a:gd name="adj" fmla="val 1714"/>
            </a:avLst>
          </a:prstGeom>
          <a:solidFill>
            <a:schemeClr val="bg2"/>
          </a:solidFill>
          <a:ln w="12700">
            <a:solidFill>
              <a:schemeClr val="bg2"/>
            </a:solidFill>
            <a:prstDash val="solid"/>
          </a:ln>
        </p:spPr>
      </p:sp>
      <p:sp>
        <p:nvSpPr>
          <p:cNvPr id="7"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Limitatore di pendenza in entrambi gli impianti</a:t>
            </a:r>
            <a:endParaRPr lang="en-US" sz="1500" dirty="0"/>
          </a:p>
        </p:txBody>
      </p:sp>
      <p:sp>
        <p:nvSpPr>
          <p:cNvPr id="8" name="cardBody"/>
          <p:cNvSpPr txBox="1"/>
          <p:nvPr/>
        </p:nvSpPr>
        <p:spPr>
          <a:xfrm>
            <a:off x="6580480" y="2029968"/>
            <a:ext cx="4806544" cy="2322576"/>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Il modello con assetto aveva un limitatore che l'anello aperto non aveva: un'asimmetria che avrebbe confuso l'anello d'assetto con il suo stesso limitatore. Ne abbiamo messo uno a ±0.4 m/s in entrambi. L'andatura nominale ha un picco di 0.375 m/s, quindi la marcia nominale resta intatta.</a:t>
            </a:r>
            <a:endParaRPr lang="en-US" sz="1250" dirty="0"/>
          </a:p>
        </p:txBody>
      </p:sp>
      <p:sp>
        <p:nvSpPr>
          <p:cNvPr id="9" name="panel"/>
          <p:cNvSpPr/>
          <p:nvPr/>
        </p:nvSpPr>
        <p:spPr>
          <a:xfrm>
            <a:off x="548640" y="4800600"/>
            <a:ext cx="11094415" cy="1005840"/>
          </a:xfrm>
          <a:prstGeom prst="roundRect">
            <a:avLst>
              <a:gd name="adj" fmla="val 5455"/>
            </a:avLst>
          </a:prstGeom>
          <a:solidFill>
            <a:srgbClr val="DCE6E9"/>
          </a:solidFill>
          <a:ln w="12700">
            <a:solidFill>
              <a:srgbClr val="DCE6E9"/>
            </a:solidFill>
            <a:prstDash val="solid"/>
          </a:ln>
        </p:spPr>
      </p:sp>
      <p:sp>
        <p:nvSpPr>
          <p:cNvPr id="10" name="fixNote"/>
          <p:cNvSpPr txBox="1"/>
          <p:nvPr/>
        </p:nvSpPr>
        <p:spPr>
          <a:xfrm>
            <a:off x="914400" y="4800600"/>
            <a:ext cx="10362895" cy="1005840"/>
          </a:xfrm>
          <a:prstGeom prst="rect">
            <a:avLst/>
          </a:prstGeom>
          <a:noFill/>
          <a:ln/>
        </p:spPr>
        <p:txBody>
          <a:bodyPr wrap="square" lIns="0" tIns="0" rIns="0" bIns="0" rtlCol="0" anchor="ctr"/>
          <a:lstStyle/>
          <a:p>
            <a:pPr indent="0" marL="0">
              <a:lnSpc>
                <a:spcPct val="110000"/>
              </a:lnSpc>
              <a:buNone/>
            </a:pPr>
            <a:r>
              <a:rPr lang="en-US" sz="1250" dirty="0">
                <a:solidFill>
                  <a:schemeClr val="accent1"/>
                </a:solidFill>
              </a:rPr>
              <a:t>Il limitatore ha contato piu' del previsto: ha eliminato la deriva laterale di C2 sul percorso a ostacoli, da 0.296 a 0.104 m. Un dettaglio implementativo, con effetti piu' grandi di alcune differenze fra controllori.</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04</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Risultati</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Su un terreno che e' esattamente quello che il generatore crede, la ricerca peggiora l'assetto di tre o quattro volte e non compra nulla. Il meccanismo continua a lavorare dove non c'e' nulla da trovare, e il corpo lo paga.</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Piano e curva: la ricerca del terreno costa assetto</a:t>
            </a:r>
            <a:endParaRPr lang="en-US" sz="29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7406640" cy="914400"/>
        </p:xfrm>
        <a:graphic>
          <a:graphicData uri="http://schemas.openxmlformats.org/drawingml/2006/table">
            <a:tbl>
              <a:tblPr/>
              <a:tblGrid>
                <a:gridCol w="2331720"/>
                <a:gridCol w="777240"/>
                <a:gridCol w="777240"/>
                <a:gridCol w="777240"/>
                <a:gridCol w="1371600"/>
                <a:gridCol w="1371600"/>
              </a:tblGrid>
              <a:tr h="0">
                <a:tc>
                  <a:txBody>
                    <a:bodyPr/>
                    <a:lstStyle/>
                    <a:p>
                      <a:pPr algn="l" indent="0" marL="0">
                        <a:buNone/>
                      </a:pP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T2 beccheggio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0.514</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1.95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0.356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+279% (16.3x)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−82% (18.1x)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T2 costo di trasporto</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0.888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0.865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1.11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 (n.c.)</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+28% (27.7x)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T3 beccheggio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0.579</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1.85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0.392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+219% (40.0x)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−79% (45.9x)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T3 rollio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0.224</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0.351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0.210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+57% (4.6x)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−40% (5.1x)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T3 energia [J]</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30.3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29.5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37.8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 (6.4x)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+28% (22.5x)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figBox"/>
          <p:cNvSpPr/>
          <p:nvPr/>
        </p:nvSpPr>
        <p:spPr>
          <a:xfrm>
            <a:off x="8366760" y="1325880"/>
            <a:ext cx="3276295" cy="4343400"/>
          </a:xfrm>
          <a:prstGeom prst="roundRect">
            <a:avLst>
              <a:gd name="adj" fmla="val 1395"/>
            </a:avLst>
          </a:prstGeom>
          <a:solidFill>
            <a:schemeClr val="bg2"/>
          </a:solidFill>
          <a:ln w="12700">
            <a:solidFill>
              <a:srgbClr val="C3CBCF"/>
            </a:solidFill>
            <a:prstDash val="dash"/>
          </a:ln>
        </p:spPr>
      </p:sp>
      <p:sp>
        <p:nvSpPr>
          <p:cNvPr id="5" name="figText"/>
          <p:cNvSpPr txBox="1"/>
          <p:nvPr/>
        </p:nvSpPr>
        <p:spPr>
          <a:xfrm>
            <a:off x="8549640" y="1325880"/>
            <a:ext cx="2910535" cy="4343400"/>
          </a:xfrm>
          <a:prstGeom prst="rect">
            <a:avLst/>
          </a:prstGeom>
          <a:noFill/>
          <a:ln/>
        </p:spPr>
        <p:txBody>
          <a:bodyPr wrap="square" lIns="0" tIns="0" rIns="0" bIns="0" rtlCol="0" anchor="ctr"/>
          <a:lstStyle/>
          <a:p>
            <a:pPr algn="ctr" indent="0" marL="0">
              <a:buNone/>
            </a:pPr>
            <a:r>
              <a:rPr lang="en-US" sz="1200" b="1" dirty="0">
                <a:solidFill>
                  <a:srgbClr val="8A979D"/>
                </a:solidFill>
              </a:rPr>
              <a:t>[ FIGURA ]</a:t>
            </a:r>
            <a:endParaRPr lang="en-US" sz="1200" dirty="0"/>
          </a:p>
          <a:p>
            <a:pPr algn="ctr" indent="0" marL="0">
              <a:buNone/>
            </a:pPr>
            <a:r>
              <a:rPr lang="en-US" sz="1150" i="1" dirty="0">
                <a:solidFill>
                  <a:srgbClr val="8A979D"/>
                </a:solidFill>
              </a:rPr>
              <a:t>beccheggio del corpo su due cicli d'andatura, in piano, tre controllori</a:t>
            </a:r>
            <a:endParaRPr lang="en-US" sz="1200" dirty="0"/>
          </a:p>
        </p:txBody>
      </p:sp>
      <p:sp>
        <p:nvSpPr>
          <p:cNvPr id="6" name="panel"/>
          <p:cNvSpPr/>
          <p:nvPr/>
        </p:nvSpPr>
        <p:spPr>
          <a:xfrm>
            <a:off x="548640" y="3931920"/>
            <a:ext cx="7406640" cy="1737360"/>
          </a:xfrm>
          <a:prstGeom prst="roundRect">
            <a:avLst>
              <a:gd name="adj" fmla="val 3158"/>
            </a:avLst>
          </a:prstGeom>
          <a:solidFill>
            <a:srgbClr val="DCE6E9"/>
          </a:solidFill>
          <a:ln w="12700">
            <a:solidFill>
              <a:srgbClr val="DCE6E9"/>
            </a:solidFill>
            <a:prstDash val="solid"/>
          </a:ln>
        </p:spPr>
      </p:sp>
      <p:sp>
        <p:nvSpPr>
          <p:cNvPr id="7" name="flatRead"/>
          <p:cNvSpPr txBox="1"/>
          <p:nvPr/>
        </p:nvSpPr>
        <p:spPr>
          <a:xfrm>
            <a:off x="868680" y="3931920"/>
            <a:ext cx="6766560" cy="1737360"/>
          </a:xfrm>
          <a:prstGeom prst="rect">
            <a:avLst/>
          </a:prstGeom>
          <a:noFill/>
          <a:ln/>
        </p:spPr>
        <p:txBody>
          <a:bodyPr wrap="square" lIns="0" tIns="0" rIns="0" bIns="0" rtlCol="0" anchor="ctr"/>
          <a:lstStyle/>
          <a:p>
            <a:pPr indent="0" marL="0">
              <a:lnSpc>
                <a:spcPct val="112000"/>
              </a:lnSpc>
              <a:buNone/>
            </a:pPr>
            <a:r>
              <a:rPr lang="en-US" sz="1250" dirty="0">
                <a:solidFill>
                  <a:schemeClr val="accent1"/>
                </a:solidFill>
              </a:rPr>
              <a:t>Su un terreno che e' esattamente quello che il generatore crede, la ricerca peggiora l'assetto di tre o quattro volte e non compra nulla. Il meccanismo continua a lavorare dove non c'e' nulla da trovare, e il corpo lo paga.</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Discontinuita': la ricerca del terreno ripaga</a:t>
            </a:r>
            <a:endParaRPr lang="en-US" sz="29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7406640" cy="914400"/>
        </p:xfrm>
        <a:graphic>
          <a:graphicData uri="http://schemas.openxmlformats.org/drawingml/2006/table">
            <a:tbl>
              <a:tblPr/>
              <a:tblGrid>
                <a:gridCol w="2331720"/>
                <a:gridCol w="777240"/>
                <a:gridCol w="777240"/>
                <a:gridCol w="777240"/>
                <a:gridCol w="1371600"/>
                <a:gridCol w="1371600"/>
              </a:tblGrid>
              <a:tr h="0">
                <a:tc>
                  <a:txBody>
                    <a:bodyPr/>
                    <a:lstStyle/>
                    <a:p>
                      <a:pPr algn="l" indent="0" marL="0">
                        <a:buNone/>
                      </a:pP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C1→C2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C2→C3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T4D beccheggio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8.65</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10.4</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+21% (19.8x)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−81% (93.8x)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T4D rollio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2.12</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1.49</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0.611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−30% (6.4x)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−59% (7.6x)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T4D energia [J]</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64.1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59.9</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83.6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 (3.5x)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+40% (18.8x)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T5 beccheggio max [deg]</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7.56</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6.41</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1.73</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−15% (16.4x)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−73% (19.8x)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228"/>
                          </a:solidFill>
                          <a:latin typeface="Calibri" pitchFamily="34" charset="0"/>
                          <a:ea typeface="Calibri" pitchFamily="34" charset="-122"/>
                          <a:cs typeface="Calibri" pitchFamily="34" charset="-120"/>
                        </a:rPr>
                        <a:t>T5 costo di trasporto</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1.08</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1.40</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−10% (5.2x)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050" dirty="0">
                          <a:solidFill>
                            <a:srgbClr val="1A2228"/>
                          </a:solidFill>
                          <a:latin typeface="Calibri" pitchFamily="34" charset="0"/>
                          <a:ea typeface="Calibri" pitchFamily="34" charset="-122"/>
                          <a:cs typeface="Calibri" pitchFamily="34" charset="-120"/>
                        </a:rPr>
                        <a:t>+30% (17.1x)</a:t>
                      </a:r>
                      <a:endParaRPr lang="en-US" sz="105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figBox"/>
          <p:cNvSpPr/>
          <p:nvPr/>
        </p:nvSpPr>
        <p:spPr>
          <a:xfrm>
            <a:off x="8366760" y="1325880"/>
            <a:ext cx="3276295" cy="4343400"/>
          </a:xfrm>
          <a:prstGeom prst="roundRect">
            <a:avLst>
              <a:gd name="adj" fmla="val 1395"/>
            </a:avLst>
          </a:prstGeom>
          <a:solidFill>
            <a:schemeClr val="bg2"/>
          </a:solidFill>
          <a:ln w="12700">
            <a:solidFill>
              <a:srgbClr val="C3CBCF"/>
            </a:solidFill>
            <a:prstDash val="dash"/>
          </a:ln>
        </p:spPr>
      </p:sp>
      <p:sp>
        <p:nvSpPr>
          <p:cNvPr id="5" name="figText"/>
          <p:cNvSpPr txBox="1"/>
          <p:nvPr/>
        </p:nvSpPr>
        <p:spPr>
          <a:xfrm>
            <a:off x="8549640" y="1325880"/>
            <a:ext cx="2910535" cy="4343400"/>
          </a:xfrm>
          <a:prstGeom prst="rect">
            <a:avLst/>
          </a:prstGeom>
          <a:noFill/>
          <a:ln/>
        </p:spPr>
        <p:txBody>
          <a:bodyPr wrap="square" lIns="0" tIns="0" rIns="0" bIns="0" rtlCol="0" anchor="ctr"/>
          <a:lstStyle/>
          <a:p>
            <a:pPr algn="ctr" indent="0" marL="0">
              <a:buNone/>
            </a:pPr>
            <a:r>
              <a:rPr lang="en-US" sz="1200" b="1" dirty="0">
                <a:solidFill>
                  <a:srgbClr val="8A979D"/>
                </a:solidFill>
              </a:rPr>
              <a:t>[ FIGURA ]</a:t>
            </a:r>
            <a:endParaRPr lang="en-US" sz="1200" dirty="0"/>
          </a:p>
          <a:p>
            <a:pPr algn="ctr" indent="0" marL="0">
              <a:buNone/>
            </a:pPr>
            <a:r>
              <a:rPr lang="en-US" sz="1150" i="1" dirty="0">
                <a:solidFill>
                  <a:srgbClr val="8A979D"/>
                </a:solidFill>
              </a:rPr>
              <a:t>assetto del corpo durante il superamento dell'ostacolo, con la finestra evidenziata</a:t>
            </a:r>
            <a:endParaRPr lang="en-US" sz="1200" dirty="0"/>
          </a:p>
        </p:txBody>
      </p:sp>
      <p:sp>
        <p:nvSpPr>
          <p:cNvPr id="6" name="panel"/>
          <p:cNvSpPr/>
          <p:nvPr/>
        </p:nvSpPr>
        <p:spPr>
          <a:xfrm>
            <a:off x="548640" y="3931920"/>
            <a:ext cx="7406640" cy="1737360"/>
          </a:xfrm>
          <a:prstGeom prst="roundRect">
            <a:avLst>
              <a:gd name="adj" fmla="val 3158"/>
            </a:avLst>
          </a:prstGeom>
          <a:solidFill>
            <a:srgbClr val="DCE6E9"/>
          </a:solidFill>
          <a:ln w="12700">
            <a:solidFill>
              <a:srgbClr val="DCE6E9"/>
            </a:solidFill>
            <a:prstDash val="solid"/>
          </a:ln>
        </p:spPr>
      </p:sp>
      <p:sp>
        <p:nvSpPr>
          <p:cNvPr id="7" name="discRead"/>
          <p:cNvSpPr txBox="1"/>
          <p:nvPr/>
        </p:nvSpPr>
        <p:spPr>
          <a:xfrm>
            <a:off x="868680" y="3931920"/>
            <a:ext cx="6766560" cy="1737360"/>
          </a:xfrm>
          <a:prstGeom prst="rect">
            <a:avLst/>
          </a:prstGeom>
          <a:noFill/>
          <a:ln/>
        </p:spPr>
        <p:txBody>
          <a:bodyPr wrap="square" lIns="0" tIns="0" rIns="0" bIns="0" rtlCol="0" anchor="ctr"/>
          <a:lstStyle/>
          <a:p>
            <a:pPr indent="0" marL="0">
              <a:lnSpc>
                <a:spcPct val="112000"/>
              </a:lnSpc>
              <a:buNone/>
            </a:pPr>
            <a:r>
              <a:rPr lang="en-US" sz="1250" dirty="0">
                <a:solidFill>
                  <a:schemeClr val="accent1"/>
                </a:solidFill>
              </a:rPr>
              <a:t>Qui il quadro si rovescia: la ricerca migliora rollio, energia, costo di trasporto e velocita'. Una solida eccezione sul dosso — il picco di beccheggio e' peggiore del 21%, a 19.8 volte il rumore di fondo.</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La rampa: a che cosa serve l'anello d'assetto</a:t>
            </a:r>
            <a:endParaRPr lang="en-US" sz="29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914400"/>
        </p:xfrm>
        <a:graphic>
          <a:graphicData uri="http://schemas.openxmlformats.org/drawingml/2006/table">
            <a:tbl>
              <a:tblPr/>
              <a:tblGrid>
                <a:gridCol w="3017520"/>
                <a:gridCol w="1097280"/>
                <a:gridCol w="1097280"/>
                <a:gridCol w="1097280"/>
              </a:tblGrid>
              <a:tr h="0">
                <a:tc>
                  <a:txBody>
                    <a:bodyPr/>
                    <a:lstStyle/>
                    <a:p>
                      <a:pPr algn="l" indent="0" marL="0">
                        <a:buNone/>
                      </a:pP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C2</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C3</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Assetto del corpo meno angolo rampa [deg]</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0.106</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0.259</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−7.54</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Beccheggio picco-picco sulla rampa [deg]</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0.994</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1.97</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0.839</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Rollio sulla rampa [deg]</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0.662</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0.563</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0.314</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100" dirty="0">
                          <a:solidFill>
                            <a:srgbClr val="1A2228"/>
                          </a:solidFill>
                          <a:latin typeface="Calibri" pitchFamily="34" charset="0"/>
                          <a:ea typeface="Calibri" pitchFamily="34" charset="-122"/>
                          <a:cs typeface="Calibri" pitchFamily="34" charset="-120"/>
                        </a:rPr>
                        <a:t>Costo di trasporto</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1.15</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1.09</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2228"/>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rampNote"/>
          <p:cNvSpPr txBox="1"/>
          <p:nvPr/>
        </p:nvSpPr>
        <p:spPr>
          <a:xfrm>
            <a:off x="548640" y="3200400"/>
            <a:ext cx="6309360" cy="365760"/>
          </a:xfrm>
          <a:prstGeom prst="rect">
            <a:avLst/>
          </a:prstGeom>
          <a:noFill/>
          <a:ln/>
        </p:spPr>
        <p:txBody>
          <a:bodyPr wrap="square" lIns="0" tIns="0" rIns="0" bIns="0" rtlCol="0" anchor="ctr"/>
          <a:lstStyle/>
          <a:p>
            <a:pPr indent="0" marL="0">
              <a:buNone/>
            </a:pPr>
            <a:r>
              <a:rPr lang="en-US" sz="1100" i="1" dirty="0">
                <a:solidFill>
                  <a:srgbClr val="8A979D"/>
                </a:solidFill>
              </a:rPr>
              <a:t>Rumore di fondo non misurato su questo task: non si emettono verdetti.</a:t>
            </a:r>
            <a:endParaRPr lang="en-US" sz="1100" dirty="0"/>
          </a:p>
        </p:txBody>
      </p:sp>
      <p:sp>
        <p:nvSpPr>
          <p:cNvPr id="5" name="panel"/>
          <p:cNvSpPr/>
          <p:nvPr/>
        </p:nvSpPr>
        <p:spPr>
          <a:xfrm>
            <a:off x="548640" y="3657600"/>
            <a:ext cx="6309360" cy="2011680"/>
          </a:xfrm>
          <a:prstGeom prst="roundRect">
            <a:avLst>
              <a:gd name="adj" fmla="val 2727"/>
            </a:avLst>
          </a:prstGeom>
          <a:solidFill>
            <a:srgbClr val="DCE6E9"/>
          </a:solidFill>
          <a:ln w="12700">
            <a:solidFill>
              <a:srgbClr val="DCE6E9"/>
            </a:solidFill>
            <a:prstDash val="solid"/>
          </a:ln>
        </p:spPr>
      </p:sp>
      <p:sp>
        <p:nvSpPr>
          <p:cNvPr id="6" name="rampRead"/>
          <p:cNvSpPr txBox="1"/>
          <p:nvPr/>
        </p:nvSpPr>
        <p:spPr>
          <a:xfrm>
            <a:off x="822960" y="3657600"/>
            <a:ext cx="5760720" cy="2011680"/>
          </a:xfrm>
          <a:prstGeom prst="rect">
            <a:avLst/>
          </a:prstGeom>
          <a:noFill/>
          <a:ln/>
        </p:spPr>
        <p:txBody>
          <a:bodyPr wrap="square" lIns="0" tIns="0" rIns="0" bIns="0" rtlCol="0" anchor="ctr"/>
          <a:lstStyle/>
          <a:p>
            <a:pPr indent="0" marL="0">
              <a:lnSpc>
                <a:spcPct val="112000"/>
              </a:lnSpc>
              <a:buNone/>
            </a:pPr>
            <a:r>
              <a:rPr lang="en-US" sz="1200" dirty="0">
                <a:solidFill>
                  <a:schemeClr val="accent1"/>
                </a:solidFill>
              </a:rPr>
              <a:t>C1 e C2 allineano il corpo alla rampa. C3 lo tiene entro mezzo grado dall'orizzontale — due comportamenti diversi, non due qualita' dello stesso, ed e' per questo che quella riga non porta verdetti percentuali. Costa il 45% in costo di trasporto.</a:t>
            </a:r>
            <a:endParaRPr lang="en-US" sz="1200" dirty="0"/>
          </a:p>
        </p:txBody>
      </p:sp>
      <p:sp>
        <p:nvSpPr>
          <p:cNvPr id="7" name="figBox"/>
          <p:cNvSpPr/>
          <p:nvPr/>
        </p:nvSpPr>
        <p:spPr>
          <a:xfrm>
            <a:off x="7315200" y="1325880"/>
            <a:ext cx="4327855" cy="4343400"/>
          </a:xfrm>
          <a:prstGeom prst="roundRect">
            <a:avLst>
              <a:gd name="adj" fmla="val 1056"/>
            </a:avLst>
          </a:prstGeom>
          <a:solidFill>
            <a:schemeClr val="bg2"/>
          </a:solidFill>
          <a:ln w="12700">
            <a:solidFill>
              <a:srgbClr val="C3CBCF"/>
            </a:solidFill>
            <a:prstDash val="dash"/>
          </a:ln>
        </p:spPr>
      </p:sp>
      <p:sp>
        <p:nvSpPr>
          <p:cNvPr id="8" name="figText"/>
          <p:cNvSpPr txBox="1"/>
          <p:nvPr/>
        </p:nvSpPr>
        <p:spPr>
          <a:xfrm>
            <a:off x="7498080" y="1325880"/>
            <a:ext cx="3962095" cy="4343400"/>
          </a:xfrm>
          <a:prstGeom prst="rect">
            <a:avLst/>
          </a:prstGeom>
          <a:noFill/>
          <a:ln/>
        </p:spPr>
        <p:txBody>
          <a:bodyPr wrap="square" lIns="0" tIns="0" rIns="0" bIns="0" rtlCol="0" anchor="ctr"/>
          <a:lstStyle/>
          <a:p>
            <a:pPr algn="ctr" indent="0" marL="0">
              <a:buNone/>
            </a:pPr>
            <a:r>
              <a:rPr lang="en-US" sz="1200" b="1" dirty="0">
                <a:solidFill>
                  <a:srgbClr val="8A979D"/>
                </a:solidFill>
              </a:rPr>
              <a:t>[ FIGURA ]</a:t>
            </a:r>
            <a:endParaRPr lang="en-US" sz="1200" dirty="0"/>
          </a:p>
          <a:p>
            <a:pPr algn="ctr" indent="0" marL="0">
              <a:buNone/>
            </a:pPr>
            <a:r>
              <a:rPr lang="en-US" sz="1150" i="1" dirty="0">
                <a:solidFill>
                  <a:srgbClr val="8A979D"/>
                </a:solidFill>
              </a:rPr>
              <a:t>beccheggio durante la salita della rampa di 8 gradi, con la pendenza come riferimento</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Percorso a ostacoli: il confronto non discrimina</a:t>
            </a:r>
            <a:endParaRPr lang="en-US" sz="29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743200"/>
                <a:gridCol w="1097280"/>
                <a:gridCol w="1097280"/>
                <a:gridCol w="1097280"/>
              </a:tblGrid>
              <a:tr h="0">
                <a:tc>
                  <a:txBody>
                    <a:bodyPr/>
                    <a:lstStyle/>
                    <a:p>
                      <a:pPr algn="l" indent="0" marL="0">
                        <a:buNone/>
                      </a:pP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Distanza percorsa [m]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Deriva laterale massima [m]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0.067</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0.104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0.058</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Percorso superato, valido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courseRead"/>
          <p:cNvSpPr txBox="1"/>
          <p:nvPr/>
        </p:nvSpPr>
        <p:spPr>
          <a:xfrm>
            <a:off x="548640" y="3429000"/>
            <a:ext cx="6035040" cy="2286000"/>
          </a:xfrm>
          <a:prstGeom prst="rect">
            <a:avLst/>
          </a:prstGeom>
          <a:noFill/>
          <a:ln/>
        </p:spPr>
        <p:txBody>
          <a:bodyPr wrap="square" lIns="0" tIns="0" rIns="0" bIns="0" rtlCol="0" anchor="t"/>
          <a:lstStyle/>
          <a:p>
            <a:pPr indent="0" marL="0">
              <a:lnSpc>
                <a:spcPct val="115000"/>
              </a:lnSpc>
              <a:buNone/>
            </a:pPr>
            <a:r>
              <a:rPr lang="en-US" sz="1300" dirty="0">
                <a:solidFill>
                  <a:schemeClr val="tx2"/>
                </a:solidFill>
              </a:rPr>
              <a:t>"Superato" vale solo sotto 0.183 m di deriva laterale, soglia ricavata dalla geometria degli ostacoli, calcolata indipendentemente dai controllori. Oltre, il robot puo' aver mancato per intero un ostacolo invece di scavalcarlo.</a:t>
            </a:r>
            <a:endParaRPr lang="en-US" sz="1300" dirty="0"/>
          </a:p>
        </p:txBody>
      </p:sp>
      <p:sp>
        <p:nvSpPr>
          <p:cNvPr id="5" name="panel"/>
          <p:cNvSpPr/>
          <p:nvPr/>
        </p:nvSpPr>
        <p:spPr>
          <a:xfrm>
            <a:off x="7040880" y="1417320"/>
            <a:ext cx="4602175" cy="4297680"/>
          </a:xfrm>
          <a:prstGeom prst="roundRect">
            <a:avLst>
              <a:gd name="adj" fmla="val 1277"/>
            </a:avLst>
          </a:prstGeom>
          <a:solidFill>
            <a:srgbClr val="F3E2D7"/>
          </a:solidFill>
          <a:ln w="12700">
            <a:solidFill>
              <a:srgbClr val="F3E2D7"/>
            </a:solidFill>
            <a:prstDash val="solid"/>
          </a:ln>
        </p:spPr>
      </p:sp>
      <p:sp>
        <p:nvSpPr>
          <p:cNvPr id="6" name="courseVerdict"/>
          <p:cNvSpPr txBox="1"/>
          <p:nvPr/>
        </p:nvSpPr>
        <p:spPr>
          <a:xfrm>
            <a:off x="7360920" y="1417320"/>
            <a:ext cx="3962095" cy="4297680"/>
          </a:xfrm>
          <a:prstGeom prst="rect">
            <a:avLst/>
          </a:prstGeom>
          <a:noFill/>
          <a:ln/>
        </p:spPr>
        <p:txBody>
          <a:bodyPr wrap="square" lIns="0" tIns="0" rIns="0" bIns="0" rtlCol="0" anchor="ctr"/>
          <a:lstStyle/>
          <a:p>
            <a:pPr indent="0" marL="0">
              <a:lnSpc>
                <a:spcPct val="115000"/>
              </a:lnSpc>
              <a:buNone/>
            </a:pPr>
            <a:r>
              <a:rPr lang="en-US" sz="1450" b="1" dirty="0">
                <a:solidFill>
                  <a:srgbClr val="8A3C12"/>
                </a:solidFill>
              </a:rPr>
              <a:t>Nessuno dei tre completa il percorso. Le metriche fini non vanno citate: i tre seguono traiettorie diverse e non incontrano gli stessi ostacoli. Su questo task il confronto non separa i controllori — e dirlo e' il risultato.</a:t>
            </a:r>
            <a:endParaRPr lang="en-US" sz="14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Impulso laterale: una lacuna comune a tutti e tre</a:t>
            </a:r>
            <a:endParaRPr lang="en-US" sz="29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743200"/>
                <a:gridCol w="1097280"/>
                <a:gridCol w="1097280"/>
                <a:gridCol w="1097280"/>
              </a:tblGrid>
              <a:tr h="0">
                <a:tc>
                  <a:txBody>
                    <a:bodyPr/>
                    <a:lstStyle/>
                    <a:p>
                      <a:pPr algn="l" indent="0" marL="0">
                        <a:buNone/>
                      </a:pP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Deviazione residua, 1x [mm]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6.04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0.164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Deviazione residua, 16x [mm]</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393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Recupera a 16x</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r" indent="0" marL="0">
                        <a:buNone/>
                      </a:pPr>
                      <a:r>
                        <a:rPr lang="en-US" sz="1200" dirty="0">
                          <a:solidFill>
                            <a:srgbClr val="1A2228"/>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bl>
          </a:graphicData>
        </a:graphic>
      </p:graphicFrame>
      <p:sp>
        <p:nvSpPr>
          <p:cNvPr id="4" name="impNote"/>
          <p:cNvSpPr txBox="1"/>
          <p:nvPr/>
        </p:nvSpPr>
        <p:spPr>
          <a:xfrm>
            <a:off x="548640" y="3154680"/>
            <a:ext cx="6035040" cy="777240"/>
          </a:xfrm>
          <a:prstGeom prst="rect">
            <a:avLst/>
          </a:prstGeom>
          <a:noFill/>
          <a:ln/>
        </p:spPr>
        <p:txBody>
          <a:bodyPr wrap="square" lIns="0" tIns="0" rIns="0" bIns="0" rtlCol="0" anchor="t"/>
          <a:lstStyle/>
          <a:p>
            <a:pPr indent="0" marL="0">
              <a:lnSpc>
                <a:spcPct val="110000"/>
              </a:lnSpc>
              <a:buNone/>
            </a:pPr>
            <a:r>
              <a:rPr lang="en-US" sz="1150" i="1" dirty="0">
                <a:solidFill>
                  <a:srgbClr val="8A979D"/>
                </a:solidFill>
              </a:rPr>
              <a:t>Rumore di fondo non misurato su questo task: il miglioramento del 97% a 1x e' riportato senza verdetto.</a:t>
            </a:r>
            <a:endParaRPr lang="en-US" sz="1150" dirty="0"/>
          </a:p>
        </p:txBody>
      </p:sp>
      <p:sp>
        <p:nvSpPr>
          <p:cNvPr id="5" name="panel"/>
          <p:cNvSpPr/>
          <p:nvPr/>
        </p:nvSpPr>
        <p:spPr>
          <a:xfrm>
            <a:off x="548640" y="4023360"/>
            <a:ext cx="6035040" cy="1691640"/>
          </a:xfrm>
          <a:prstGeom prst="roundRect">
            <a:avLst>
              <a:gd name="adj" fmla="val 3243"/>
            </a:avLst>
          </a:prstGeom>
          <a:solidFill>
            <a:schemeClr val="bg2"/>
          </a:solidFill>
          <a:ln w="12700">
            <a:solidFill>
              <a:schemeClr val="bg2"/>
            </a:solidFill>
            <a:prstDash val="solid"/>
          </a:ln>
        </p:spPr>
      </p:sp>
      <p:sp>
        <p:nvSpPr>
          <p:cNvPr id="6" name="statValue"/>
          <p:cNvSpPr txBox="1"/>
          <p:nvPr/>
        </p:nvSpPr>
        <p:spPr>
          <a:xfrm>
            <a:off x="868680" y="4206240"/>
            <a:ext cx="2468880" cy="713232"/>
          </a:xfrm>
          <a:prstGeom prst="rect">
            <a:avLst/>
          </a:prstGeom>
          <a:noFill/>
          <a:ln/>
        </p:spPr>
        <p:txBody>
          <a:bodyPr wrap="square" lIns="0" tIns="0" rIns="0" bIns="0" rtlCol="0" anchor="ctr"/>
          <a:lstStyle/>
          <a:p>
            <a:pPr indent="0" marL="0">
              <a:buNone/>
            </a:pPr>
            <a:r>
              <a:rPr lang="en-US" sz="4000" b="1" dirty="0">
                <a:solidFill>
                  <a:srgbClr val="6F9480"/>
                </a:solidFill>
              </a:rPr>
              <a:t>0.164 mm</a:t>
            </a:r>
            <a:endParaRPr lang="en-US" sz="4000" dirty="0"/>
          </a:p>
        </p:txBody>
      </p:sp>
      <p:sp>
        <p:nvSpPr>
          <p:cNvPr id="7" name="statLabel"/>
          <p:cNvSpPr txBox="1"/>
          <p:nvPr/>
        </p:nvSpPr>
        <p:spPr>
          <a:xfrm>
            <a:off x="868680" y="4956048"/>
            <a:ext cx="2468880"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deviazione residua di C3 a impulso 1x, contro 1.34 mm di C1</a:t>
            </a:r>
            <a:endParaRPr lang="en-US" sz="1200" dirty="0"/>
          </a:p>
        </p:txBody>
      </p:sp>
      <p:sp>
        <p:nvSpPr>
          <p:cNvPr id="8" name="statValue"/>
          <p:cNvSpPr txBox="1"/>
          <p:nvPr/>
        </p:nvSpPr>
        <p:spPr>
          <a:xfrm>
            <a:off x="3886200" y="4206240"/>
            <a:ext cx="2468880" cy="713232"/>
          </a:xfrm>
          <a:prstGeom prst="rect">
            <a:avLst/>
          </a:prstGeom>
          <a:noFill/>
          <a:ln/>
        </p:spPr>
        <p:txBody>
          <a:bodyPr wrap="square" lIns="0" tIns="0" rIns="0" bIns="0" rtlCol="0" anchor="ctr"/>
          <a:lstStyle/>
          <a:p>
            <a:pPr indent="0" marL="0">
              <a:buNone/>
            </a:pPr>
            <a:r>
              <a:rPr lang="en-US" sz="4000" b="1" dirty="0">
                <a:solidFill>
                  <a:srgbClr val="23424F"/>
                </a:solidFill>
              </a:rPr>
              <a:t>2%</a:t>
            </a:r>
            <a:endParaRPr lang="en-US" sz="4000" dirty="0"/>
          </a:p>
        </p:txBody>
      </p:sp>
      <p:sp>
        <p:nvSpPr>
          <p:cNvPr id="9" name="statLabel"/>
          <p:cNvSpPr txBox="1"/>
          <p:nvPr/>
        </p:nvSpPr>
        <p:spPr>
          <a:xfrm>
            <a:off x="3886200" y="4956048"/>
            <a:ext cx="2468880"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scarto fra i tre a 16x: nessuno dei tre recupera</a:t>
            </a:r>
            <a:endParaRPr lang="en-US" sz="1200" dirty="0"/>
          </a:p>
        </p:txBody>
      </p:sp>
      <p:sp>
        <p:nvSpPr>
          <p:cNvPr id="10" name="panel"/>
          <p:cNvSpPr/>
          <p:nvPr/>
        </p:nvSpPr>
        <p:spPr>
          <a:xfrm>
            <a:off x="7040880" y="1417320"/>
            <a:ext cx="4602175" cy="4297680"/>
          </a:xfrm>
          <a:prstGeom prst="roundRect">
            <a:avLst>
              <a:gd name="adj" fmla="val 1277"/>
            </a:avLst>
          </a:prstGeom>
          <a:solidFill>
            <a:srgbClr val="DCE6E9"/>
          </a:solidFill>
          <a:ln w="12700">
            <a:solidFill>
              <a:srgbClr val="DCE6E9"/>
            </a:solidFill>
            <a:prstDash val="solid"/>
          </a:ln>
        </p:spPr>
      </p:sp>
      <p:sp>
        <p:nvSpPr>
          <p:cNvPr id="11" name="impRead"/>
          <p:cNvSpPr txBox="1"/>
          <p:nvPr/>
        </p:nvSpPr>
        <p:spPr>
          <a:xfrm>
            <a:off x="7360920" y="1417320"/>
            <a:ext cx="3962095" cy="4297680"/>
          </a:xfrm>
          <a:prstGeom prst="rect">
            <a:avLst/>
          </a:prstGeom>
          <a:noFill/>
          <a:ln/>
        </p:spPr>
        <p:txBody>
          <a:bodyPr wrap="square" lIns="0" tIns="0" rIns="0" bIns="0" rtlCol="0" anchor="ctr"/>
          <a:lstStyle/>
          <a:p>
            <a:pPr indent="0" marL="0">
              <a:lnSpc>
                <a:spcPct val="115000"/>
              </a:lnSpc>
              <a:buNone/>
            </a:pPr>
            <a:r>
              <a:rPr lang="en-US" sz="1350" dirty="0">
                <a:solidFill>
                  <a:schemeClr val="accent1"/>
                </a:solidFill>
              </a:rPr>
              <a:t>A impulso grande i tre coincidono entro il 2%. La rilevazione del contatto non e' il meccanismo in gioco: e' una lacuna architetturale comune a tutti e tre, e la motivazione piu' chiara per qualunque controllore futuro su questa piattaforma.</a:t>
            </a:r>
            <a:endParaRPr lang="en-US" sz="13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Fattibilita' sui servo reali</a:t>
            </a:r>
            <a:endParaRPr lang="en-US" sz="2900" dirty="0"/>
          </a:p>
        </p:txBody>
      </p:sp>
      <p:sp>
        <p:nvSpPr>
          <p:cNvPr id="3" name="feasLead"/>
          <p:cNvSpPr txBox="1"/>
          <p:nvPr/>
        </p:nvSpPr>
        <p:spPr>
          <a:xfrm>
            <a:off x="548640" y="1280160"/>
            <a:ext cx="11094415" cy="73152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La campagna gira ad attuatore ideale. Poiche' i giunti sono comandati in posizione, quanto segue misura cio' che ciascun controllore chiede, non come si comporterebbe con i motori veri.</a:t>
            </a:r>
            <a:endParaRPr lang="en-US" sz="1300" dirty="0"/>
          </a:p>
        </p:txBody>
      </p:sp>
      <p:sp>
        <p:nvSpPr>
          <p:cNvPr id="4" name="panel"/>
          <p:cNvSpPr/>
          <p:nvPr/>
        </p:nvSpPr>
        <p:spPr>
          <a:xfrm>
            <a:off x="548640" y="2148840"/>
            <a:ext cx="11094415" cy="1783080"/>
          </a:xfrm>
          <a:prstGeom prst="roundRect">
            <a:avLst>
              <a:gd name="adj" fmla="val 3077"/>
            </a:avLst>
          </a:prstGeom>
          <a:solidFill>
            <a:schemeClr val="bg2"/>
          </a:solidFill>
          <a:ln w="12700">
            <a:solidFill>
              <a:schemeClr val="bg2"/>
            </a:solidFill>
            <a:prstDash val="solid"/>
          </a:ln>
        </p:spPr>
      </p:sp>
      <p:sp>
        <p:nvSpPr>
          <p:cNvPr id="5" name="statValue"/>
          <p:cNvSpPr txBox="1"/>
          <p:nvPr/>
        </p:nvSpPr>
        <p:spPr>
          <a:xfrm>
            <a:off x="1005840" y="2331720"/>
            <a:ext cx="2936138" cy="713232"/>
          </a:xfrm>
          <a:prstGeom prst="rect">
            <a:avLst/>
          </a:prstGeom>
          <a:noFill/>
          <a:ln/>
        </p:spPr>
        <p:txBody>
          <a:bodyPr wrap="square" lIns="0" tIns="0" rIns="0" bIns="0" rtlCol="0" anchor="ctr"/>
          <a:lstStyle/>
          <a:p>
            <a:pPr indent="0" marL="0">
              <a:buNone/>
            </a:pPr>
            <a:r>
              <a:rPr lang="en-US" sz="4000" b="1" dirty="0">
                <a:solidFill>
                  <a:srgbClr val="C2591F"/>
                </a:solidFill>
              </a:rPr>
              <a:t>39–46%</a:t>
            </a:r>
            <a:endParaRPr lang="en-US" sz="4000" dirty="0"/>
          </a:p>
        </p:txBody>
      </p:sp>
      <p:sp>
        <p:nvSpPr>
          <p:cNvPr id="6" name="statLabel"/>
          <p:cNvSpPr txBox="1"/>
          <p:nvPr/>
        </p:nvSpPr>
        <p:spPr>
          <a:xfrm>
            <a:off x="1005840" y="3081528"/>
            <a:ext cx="293613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dello stallo sul giunto piu' caricato, ogni task, ogni controllore</a:t>
            </a:r>
            <a:endParaRPr lang="en-US" sz="1200" dirty="0"/>
          </a:p>
        </p:txBody>
      </p:sp>
      <p:sp>
        <p:nvSpPr>
          <p:cNvPr id="7" name="statValue"/>
          <p:cNvSpPr txBox="1"/>
          <p:nvPr/>
        </p:nvSpPr>
        <p:spPr>
          <a:xfrm>
            <a:off x="4399178" y="2331720"/>
            <a:ext cx="2936138" cy="713232"/>
          </a:xfrm>
          <a:prstGeom prst="rect">
            <a:avLst/>
          </a:prstGeom>
          <a:noFill/>
          <a:ln/>
        </p:spPr>
        <p:txBody>
          <a:bodyPr wrap="square" lIns="0" tIns="0" rIns="0" bIns="0" rtlCol="0" anchor="ctr"/>
          <a:lstStyle/>
          <a:p>
            <a:pPr indent="0" marL="0">
              <a:buNone/>
            </a:pPr>
            <a:r>
              <a:rPr lang="en-US" sz="4000" b="1" dirty="0">
                <a:solidFill>
                  <a:srgbClr val="C2591F"/>
                </a:solidFill>
              </a:rPr>
              <a:t>2.3x</a:t>
            </a:r>
            <a:endParaRPr lang="en-US" sz="4000" dirty="0"/>
          </a:p>
        </p:txBody>
      </p:sp>
      <p:sp>
        <p:nvSpPr>
          <p:cNvPr id="8" name="statLabel"/>
          <p:cNvSpPr txBox="1"/>
          <p:nvPr/>
        </p:nvSpPr>
        <p:spPr>
          <a:xfrm>
            <a:off x="4399178" y="3081528"/>
            <a:ext cx="293613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il carico continuo che ROBOTIS raccomanda per un moto stabile</a:t>
            </a:r>
            <a:endParaRPr lang="en-US" sz="1200" dirty="0"/>
          </a:p>
        </p:txBody>
      </p:sp>
      <p:sp>
        <p:nvSpPr>
          <p:cNvPr id="9" name="statValue"/>
          <p:cNvSpPr txBox="1"/>
          <p:nvPr/>
        </p:nvSpPr>
        <p:spPr>
          <a:xfrm>
            <a:off x="7792517" y="2331720"/>
            <a:ext cx="2936138" cy="713232"/>
          </a:xfrm>
          <a:prstGeom prst="rect">
            <a:avLst/>
          </a:prstGeom>
          <a:noFill/>
          <a:ln/>
        </p:spPr>
        <p:txBody>
          <a:bodyPr wrap="square" lIns="0" tIns="0" rIns="0" bIns="0" rtlCol="0" anchor="ctr"/>
          <a:lstStyle/>
          <a:p>
            <a:pPr indent="0" marL="0">
              <a:buNone/>
            </a:pPr>
            <a:r>
              <a:rPr lang="en-US" sz="4000" b="1" dirty="0">
                <a:solidFill>
                  <a:srgbClr val="C2591F"/>
                </a:solidFill>
              </a:rPr>
              <a:t>≤ 0.91%</a:t>
            </a:r>
            <a:endParaRPr lang="en-US" sz="4000" dirty="0"/>
          </a:p>
        </p:txBody>
      </p:sp>
      <p:sp>
        <p:nvSpPr>
          <p:cNvPr id="10" name="statLabel"/>
          <p:cNvSpPr txBox="1"/>
          <p:nvPr/>
        </p:nvSpPr>
        <p:spPr>
          <a:xfrm>
            <a:off x="7792517" y="3081528"/>
            <a:ext cx="2936138" cy="86868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dei campioni sopra lo stallo: picchi d'urto isolati fino a 5.0x</a:t>
            </a:r>
            <a:endParaRPr lang="en-US" sz="1200" dirty="0"/>
          </a:p>
        </p:txBody>
      </p:sp>
      <p:sp>
        <p:nvSpPr>
          <p:cNvPr id="11" name="figBox"/>
          <p:cNvSpPr/>
          <p:nvPr/>
        </p:nvSpPr>
        <p:spPr>
          <a:xfrm>
            <a:off x="548640" y="4160520"/>
            <a:ext cx="5760720" cy="1600200"/>
          </a:xfrm>
          <a:prstGeom prst="roundRect">
            <a:avLst>
              <a:gd name="adj" fmla="val 2857"/>
            </a:avLst>
          </a:prstGeom>
          <a:solidFill>
            <a:schemeClr val="bg2"/>
          </a:solidFill>
          <a:ln w="12700">
            <a:solidFill>
              <a:srgbClr val="C3CBCF"/>
            </a:solidFill>
            <a:prstDash val="dash"/>
          </a:ln>
        </p:spPr>
      </p:sp>
      <p:sp>
        <p:nvSpPr>
          <p:cNvPr id="12" name="figText"/>
          <p:cNvSpPr txBox="1"/>
          <p:nvPr/>
        </p:nvSpPr>
        <p:spPr>
          <a:xfrm>
            <a:off x="731520" y="4160520"/>
            <a:ext cx="5394960" cy="1600200"/>
          </a:xfrm>
          <a:prstGeom prst="rect">
            <a:avLst/>
          </a:prstGeom>
          <a:noFill/>
          <a:ln/>
        </p:spPr>
        <p:txBody>
          <a:bodyPr wrap="square" lIns="0" tIns="0" rIns="0" bIns="0" rtlCol="0" anchor="ctr"/>
          <a:lstStyle/>
          <a:p>
            <a:pPr algn="ctr" indent="0" marL="0">
              <a:buNone/>
            </a:pPr>
            <a:r>
              <a:rPr lang="en-US" sz="1200" b="1" dirty="0">
                <a:solidFill>
                  <a:srgbClr val="8A979D"/>
                </a:solidFill>
              </a:rPr>
              <a:t>[ FIGURA ]</a:t>
            </a:r>
            <a:endParaRPr lang="en-US" sz="1200" dirty="0"/>
          </a:p>
          <a:p>
            <a:pPr algn="ctr" indent="0" marL="0">
              <a:buNone/>
            </a:pPr>
            <a:r>
              <a:rPr lang="en-US" sz="1150" i="1" dirty="0">
                <a:solidFill>
                  <a:srgbClr val="8A979D"/>
                </a:solidFill>
              </a:rPr>
              <a:t>coppia comandata contro il limite dell'AX-12A: continua e di picco, per task</a:t>
            </a:r>
            <a:endParaRPr lang="en-US" sz="1200" dirty="0"/>
          </a:p>
        </p:txBody>
      </p:sp>
      <p:sp>
        <p:nvSpPr>
          <p:cNvPr id="13" name="panel"/>
          <p:cNvSpPr/>
          <p:nvPr/>
        </p:nvSpPr>
        <p:spPr>
          <a:xfrm>
            <a:off x="6766560" y="4160520"/>
            <a:ext cx="4876495" cy="1600200"/>
          </a:xfrm>
          <a:prstGeom prst="roundRect">
            <a:avLst>
              <a:gd name="adj" fmla="val 3429"/>
            </a:avLst>
          </a:prstGeom>
          <a:solidFill>
            <a:srgbClr val="DCE6E9"/>
          </a:solidFill>
          <a:ln w="12700">
            <a:solidFill>
              <a:srgbClr val="DCE6E9"/>
            </a:solidFill>
            <a:prstDash val="solid"/>
          </a:ln>
        </p:spPr>
      </p:sp>
      <p:sp>
        <p:nvSpPr>
          <p:cNvPr id="14" name="feasRead"/>
          <p:cNvSpPr txBox="1"/>
          <p:nvPr/>
        </p:nvSpPr>
        <p:spPr>
          <a:xfrm>
            <a:off x="7040880" y="4160520"/>
            <a:ext cx="4327855" cy="1600200"/>
          </a:xfrm>
          <a:prstGeom prst="rect">
            <a:avLst/>
          </a:prstGeom>
          <a:noFill/>
          <a:ln/>
        </p:spPr>
        <p:txBody>
          <a:bodyPr wrap="square" lIns="0" tIns="0" rIns="0" bIns="0" rtlCol="0" anchor="ctr"/>
          <a:lstStyle/>
          <a:p>
            <a:pPr indent="0" marL="0">
              <a:lnSpc>
                <a:spcPct val="112000"/>
              </a:lnSpc>
              <a:buNone/>
            </a:pPr>
            <a:r>
              <a:rPr lang="en-US" sz="1200" dirty="0">
                <a:solidFill>
                  <a:schemeClr val="accent1"/>
                </a:solidFill>
              </a:rPr>
              <a:t>C3 chiede sistematicamente la coppia continua piu' bassa e i picchi d'urto piu' bassi sui task con discontinuita': l'anello d'assetto assorbe parte dell'urto nel moto del corpo invece che nei giunti.</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914400" y="2514600"/>
            <a:ext cx="2011680" cy="457200"/>
          </a:xfrm>
          <a:prstGeom prst="rect">
            <a:avLst/>
          </a:prstGeom>
          <a:noFill/>
          <a:ln/>
        </p:spPr>
        <p:txBody>
          <a:bodyPr wrap="square" rtlCol="0"/>
          <a:lstStyle/>
          <a:p>
            <a:pPr algn="l" indent="0" marL="0">
              <a:buNone/>
            </a:pPr>
            <a:r>
              <a:rPr lang="en-US" sz="1400" b="1" spc="200" kern="0" dirty="0">
                <a:solidFill>
                  <a:srgbClr val="A9C7D1"/>
                </a:solidFill>
              </a:rPr>
              <a:t>05</a:t>
            </a:r>
            <a:endParaRPr lang="en-US" sz="1400" dirty="0"/>
          </a:p>
        </p:txBody>
      </p:sp>
      <p:sp>
        <p:nvSpPr>
          <p:cNvPr id="3" name="Text 0"/>
          <p:cNvSpPr/>
          <p:nvPr>
            <p:ph idx="101" type="title" hasCustomPrompt="1"/>
          </p:nvPr>
        </p:nvSpPr>
        <p:spPr>
          <a:xfrm>
            <a:off x="914400" y="2926080"/>
            <a:ext cx="9265615" cy="1188720"/>
          </a:xfrm>
          <a:prstGeom prst="rect">
            <a:avLst/>
          </a:prstGeom>
          <a:noFill/>
          <a:ln/>
        </p:spPr>
        <p:txBody>
          <a:bodyPr wrap="square" rtlCol="0" anchor="t"/>
          <a:lstStyle/>
          <a:p>
            <a:pPr algn="l" indent="0" marL="0">
              <a:buNone/>
            </a:pPr>
            <a:r>
              <a:rPr lang="en-US" sz="3800" b="1" dirty="0">
                <a:solidFill>
                  <a:schemeClr val="bg1"/>
                </a:solidFill>
              </a:rPr>
              <a:t>Che cosa significa</a:t>
            </a:r>
            <a:endParaRPr lang="en-US" sz="3800" dirty="0"/>
          </a:p>
        </p:txBody>
      </p:sp>
      <p:sp>
        <p:nvSpPr>
          <p:cNvPr id="4" name="Text 0"/>
          <p:cNvSpPr/>
          <p:nvPr>
            <p:ph idx="102" type="body" hasCustomPrompt="1"/>
          </p:nvPr>
        </p:nvSpPr>
        <p:spPr>
          <a:xfrm>
            <a:off x="914400" y="4114800"/>
            <a:ext cx="8351215" cy="914400"/>
          </a:xfrm>
          <a:prstGeom prst="rect">
            <a:avLst/>
          </a:prstGeom>
          <a:noFill/>
          <a:ln/>
        </p:spPr>
        <p:txBody>
          <a:bodyPr wrap="square" rtlCol="0" anchor="t"/>
          <a:lstStyle/>
          <a:p>
            <a:pPr algn="l" indent="0" marL="0">
              <a:buNone/>
            </a:pPr>
            <a:r>
              <a:rPr lang="en-US" sz="1500" dirty="0">
                <a:solidFill>
                  <a:srgbClr val="C8D6DB"/>
                </a:solidFill>
              </a:rPr>
              <a:t>Composti in serie, C3 finisce meglio di C1 sul beccheggio: l'anello d'assetto ripaga piu' che interamente il disturbo introdotto dalla ricerca.</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I due meccanismi fanno cose diverse</a:t>
            </a:r>
            <a:endParaRPr lang="en-US" sz="2900" dirty="0"/>
          </a:p>
        </p:txBody>
      </p:sp>
      <p:sp>
        <p:nvSpPr>
          <p:cNvPr id="3" name="panel"/>
          <p:cNvSpPr/>
          <p:nvPr/>
        </p:nvSpPr>
        <p:spPr>
          <a:xfrm>
            <a:off x="548640" y="1325880"/>
            <a:ext cx="5318608" cy="3063240"/>
          </a:xfrm>
          <a:prstGeom prst="roundRect">
            <a:avLst>
              <a:gd name="adj" fmla="val 1791"/>
            </a:avLst>
          </a:prstGeom>
          <a:solidFill>
            <a:schemeClr val="bg2"/>
          </a:solidFill>
          <a:ln w="12700">
            <a:solidFill>
              <a:schemeClr val="bg2"/>
            </a:solidFill>
            <a:prstDash val="solid"/>
          </a:ln>
        </p:spPr>
      </p:sp>
      <p:sp>
        <p:nvSpPr>
          <p:cNvPr id="4" name="mechHead"/>
          <p:cNvSpPr txBox="1"/>
          <p:nvPr/>
        </p:nvSpPr>
        <p:spPr>
          <a:xfrm>
            <a:off x="822960" y="1481328"/>
            <a:ext cx="3581248" cy="411480"/>
          </a:xfrm>
          <a:prstGeom prst="rect">
            <a:avLst/>
          </a:prstGeom>
          <a:noFill/>
          <a:ln/>
        </p:spPr>
        <p:txBody>
          <a:bodyPr wrap="square" lIns="0" tIns="0" rIns="0" bIns="0" rtlCol="0" anchor="ctr"/>
          <a:lstStyle/>
          <a:p>
            <a:pPr indent="0" marL="0">
              <a:buNone/>
            </a:pPr>
            <a:r>
              <a:rPr lang="en-US" sz="1700" b="1" dirty="0">
                <a:solidFill>
                  <a:schemeClr val="accent1"/>
                </a:solidFill>
              </a:rPr>
              <a:t>Ricerca del terreno</a:t>
            </a:r>
            <a:endParaRPr lang="en-US" sz="1700" dirty="0"/>
          </a:p>
        </p:txBody>
      </p:sp>
      <p:sp>
        <p:nvSpPr>
          <p:cNvPr id="5" name="mechPill"/>
          <p:cNvSpPr/>
          <p:nvPr/>
        </p:nvSpPr>
        <p:spPr>
          <a:xfrm>
            <a:off x="4358488" y="1517904"/>
            <a:ext cx="1234440" cy="347472"/>
          </a:xfrm>
          <a:prstGeom prst="roundRect">
            <a:avLst>
              <a:gd name="adj" fmla="val 50000"/>
            </a:avLst>
          </a:prstGeom>
          <a:solidFill>
            <a:srgbClr val="A84E18"/>
          </a:solidFill>
          <a:ln w="12700">
            <a:solidFill>
              <a:srgbClr val="A84E18"/>
            </a:solidFill>
            <a:prstDash val="solid"/>
          </a:ln>
        </p:spPr>
      </p:sp>
      <p:sp>
        <p:nvSpPr>
          <p:cNvPr id="6" name="mechPillTxt"/>
          <p:cNvSpPr txBox="1"/>
          <p:nvPr/>
        </p:nvSpPr>
        <p:spPr>
          <a:xfrm>
            <a:off x="4358488" y="1517904"/>
            <a:ext cx="1234440" cy="347472"/>
          </a:xfrm>
          <a:prstGeom prst="rect">
            <a:avLst/>
          </a:prstGeom>
          <a:noFill/>
          <a:ln/>
        </p:spPr>
        <p:txBody>
          <a:bodyPr wrap="square" lIns="0" tIns="0" rIns="0" bIns="0" rtlCol="0" anchor="ctr"/>
          <a:lstStyle/>
          <a:p>
            <a:pPr algn="ctr" indent="0" marL="0">
              <a:buNone/>
            </a:pPr>
            <a:r>
              <a:rPr lang="en-US" sz="1150" b="1" dirty="0">
                <a:solidFill>
                  <a:srgbClr val="FFFFFF"/>
                </a:solidFill>
              </a:rPr>
              <a:t>C1 → C2</a:t>
            </a:r>
            <a:endParaRPr lang="en-US" sz="1150" dirty="0"/>
          </a:p>
        </p:txBody>
      </p:sp>
      <p:sp>
        <p:nvSpPr>
          <p:cNvPr id="7" name="mechList"/>
          <p:cNvSpPr txBox="1"/>
          <p:nvPr/>
        </p:nvSpPr>
        <p:spPr>
          <a:xfrm>
            <a:off x="822960" y="2057400"/>
            <a:ext cx="4769968" cy="214884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250" dirty="0">
                <a:solidFill>
                  <a:schemeClr val="tx2"/>
                </a:solidFill>
              </a:rPr>
              <a:t>Non e' un meccanismo d'assetto: beccheggio +219/+279% dove il terreno e' gia' modellato</a:t>
            </a:r>
            <a:endParaRPr lang="en-US" sz="1250" dirty="0"/>
          </a:p>
          <a:p>
            <a:pPr marL="342900" indent="-342900">
              <a:lnSpc>
                <a:spcPct val="110000"/>
              </a:lnSpc>
              <a:spcAft>
                <a:spcPts val="900"/>
              </a:spcAft>
              <a:buSzPct val="100000"/>
              <a:buChar char="•"/>
            </a:pPr>
            <a:r>
              <a:rPr lang="en-US" sz="1250" dirty="0">
                <a:solidFill>
                  <a:schemeClr val="tx2"/>
                </a:solidFill>
              </a:rPr>
              <a:t>Su terreno reale: rollio −30/−49%, costo di trasporto −7/−10%, velocita' +2/+3%</a:t>
            </a:r>
            <a:endParaRPr lang="en-US" sz="1250" dirty="0"/>
          </a:p>
          <a:p>
            <a:pPr marL="342900" indent="-342900">
              <a:lnSpc>
                <a:spcPct val="110000"/>
              </a:lnSpc>
              <a:spcAft>
                <a:spcPts val="900"/>
              </a:spcAft>
              <a:buSzPct val="100000"/>
              <a:buChar char="•"/>
            </a:pPr>
            <a:r>
              <a:rPr lang="en-US" sz="1250" dirty="0">
                <a:solidFill>
                  <a:schemeClr val="tx2"/>
                </a:solidFill>
              </a:rPr>
              <a:t>Il beccheggio peggiora comunque del 21% sul dosso</a:t>
            </a:r>
            <a:endParaRPr lang="en-US" sz="1250" dirty="0"/>
          </a:p>
          <a:p>
            <a:pPr marL="342900" indent="-342900">
              <a:lnSpc>
                <a:spcPct val="110000"/>
              </a:lnSpc>
              <a:spcAft>
                <a:spcPts val="900"/>
              </a:spcAft>
              <a:buSzPct val="100000"/>
              <a:buChar char="•"/>
            </a:pPr>
            <a:r>
              <a:rPr lang="en-US" sz="1250" dirty="0">
                <a:solidFill>
                  <a:schemeClr val="tx2"/>
                </a:solidFill>
              </a:rPr>
              <a:t>Perche': il contatto e' dichiarato per zampa, in modo asincrono, e la correzione e' un gradino</a:t>
            </a:r>
            <a:endParaRPr lang="en-US" sz="1250" dirty="0"/>
          </a:p>
        </p:txBody>
      </p:sp>
      <p:sp>
        <p:nvSpPr>
          <p:cNvPr id="8" name="panel"/>
          <p:cNvSpPr/>
          <p:nvPr/>
        </p:nvSpPr>
        <p:spPr>
          <a:xfrm>
            <a:off x="6324448" y="1325880"/>
            <a:ext cx="5318608" cy="3063240"/>
          </a:xfrm>
          <a:prstGeom prst="roundRect">
            <a:avLst>
              <a:gd name="adj" fmla="val 1791"/>
            </a:avLst>
          </a:prstGeom>
          <a:solidFill>
            <a:schemeClr val="bg2"/>
          </a:solidFill>
          <a:ln w="12700">
            <a:solidFill>
              <a:schemeClr val="bg2"/>
            </a:solidFill>
            <a:prstDash val="solid"/>
          </a:ln>
        </p:spPr>
      </p:sp>
      <p:sp>
        <p:nvSpPr>
          <p:cNvPr id="9" name="mechHead"/>
          <p:cNvSpPr txBox="1"/>
          <p:nvPr/>
        </p:nvSpPr>
        <p:spPr>
          <a:xfrm>
            <a:off x="6598768" y="1481328"/>
            <a:ext cx="3581248" cy="411480"/>
          </a:xfrm>
          <a:prstGeom prst="rect">
            <a:avLst/>
          </a:prstGeom>
          <a:noFill/>
          <a:ln/>
        </p:spPr>
        <p:txBody>
          <a:bodyPr wrap="square" lIns="0" tIns="0" rIns="0" bIns="0" rtlCol="0" anchor="ctr"/>
          <a:lstStyle/>
          <a:p>
            <a:pPr indent="0" marL="0">
              <a:buNone/>
            </a:pPr>
            <a:r>
              <a:rPr lang="en-US" sz="1700" b="1" dirty="0">
                <a:solidFill>
                  <a:schemeClr val="accent1"/>
                </a:solidFill>
              </a:rPr>
              <a:t>Retroazione d'assetto</a:t>
            </a:r>
            <a:endParaRPr lang="en-US" sz="1700" dirty="0"/>
          </a:p>
        </p:txBody>
      </p:sp>
      <p:sp>
        <p:nvSpPr>
          <p:cNvPr id="10" name="mechPill"/>
          <p:cNvSpPr/>
          <p:nvPr/>
        </p:nvSpPr>
        <p:spPr>
          <a:xfrm>
            <a:off x="10134295" y="1517904"/>
            <a:ext cx="1234440" cy="347472"/>
          </a:xfrm>
          <a:prstGeom prst="roundRect">
            <a:avLst>
              <a:gd name="adj" fmla="val 50000"/>
            </a:avLst>
          </a:prstGeom>
          <a:solidFill>
            <a:srgbClr val="4E7260"/>
          </a:solidFill>
          <a:ln w="12700">
            <a:solidFill>
              <a:srgbClr val="4E7260"/>
            </a:solidFill>
            <a:prstDash val="solid"/>
          </a:ln>
        </p:spPr>
      </p:sp>
      <p:sp>
        <p:nvSpPr>
          <p:cNvPr id="11" name="mechPillTxt"/>
          <p:cNvSpPr txBox="1"/>
          <p:nvPr/>
        </p:nvSpPr>
        <p:spPr>
          <a:xfrm>
            <a:off x="10134295" y="1517904"/>
            <a:ext cx="1234440" cy="347472"/>
          </a:xfrm>
          <a:prstGeom prst="rect">
            <a:avLst/>
          </a:prstGeom>
          <a:noFill/>
          <a:ln/>
        </p:spPr>
        <p:txBody>
          <a:bodyPr wrap="square" lIns="0" tIns="0" rIns="0" bIns="0" rtlCol="0" anchor="ctr"/>
          <a:lstStyle/>
          <a:p>
            <a:pPr algn="ctr" indent="0" marL="0">
              <a:buNone/>
            </a:pPr>
            <a:r>
              <a:rPr lang="en-US" sz="1150" b="1" dirty="0">
                <a:solidFill>
                  <a:srgbClr val="FFFFFF"/>
                </a:solidFill>
              </a:rPr>
              <a:t>C2 → C3</a:t>
            </a:r>
            <a:endParaRPr lang="en-US" sz="1150" dirty="0"/>
          </a:p>
        </p:txBody>
      </p:sp>
      <p:sp>
        <p:nvSpPr>
          <p:cNvPr id="12" name="mechList"/>
          <p:cNvSpPr txBox="1"/>
          <p:nvPr/>
        </p:nvSpPr>
        <p:spPr>
          <a:xfrm>
            <a:off x="6598768" y="2057400"/>
            <a:ext cx="4769968" cy="2148840"/>
          </a:xfrm>
          <a:prstGeom prst="rect">
            <a:avLst/>
          </a:prstGeom>
          <a:noFill/>
          <a:ln/>
        </p:spPr>
        <p:txBody>
          <a:bodyPr wrap="square" lIns="0" tIns="0" rIns="0" bIns="0" rtlCol="0" anchor="t"/>
          <a:lstStyle/>
          <a:p>
            <a:pPr marL="342900" indent="-342900">
              <a:lnSpc>
                <a:spcPct val="110000"/>
              </a:lnSpc>
              <a:spcAft>
                <a:spcPts val="900"/>
              </a:spcAft>
              <a:buSzPct val="100000"/>
              <a:buChar char="•"/>
            </a:pPr>
            <a:r>
              <a:rPr lang="en-US" sz="1250" dirty="0">
                <a:solidFill>
                  <a:schemeClr val="tx2"/>
                </a:solidFill>
              </a:rPr>
              <a:t>Compra assetto su ogni task: beccheggio −73/−82%, a 18-94 volte il rumore di fondo</a:t>
            </a:r>
            <a:endParaRPr lang="en-US" sz="1250" dirty="0"/>
          </a:p>
          <a:p>
            <a:pPr marL="342900" indent="-342900">
              <a:lnSpc>
                <a:spcPct val="110000"/>
              </a:lnSpc>
              <a:spcAft>
                <a:spcPts val="900"/>
              </a:spcAft>
              <a:buSzPct val="100000"/>
              <a:buChar char="•"/>
            </a:pPr>
            <a:r>
              <a:rPr lang="en-US" sz="1250" dirty="0">
                <a:solidFill>
                  <a:schemeClr val="tx2"/>
                </a:solidFill>
              </a:rPr>
              <a:t>Sulla rampa, un comportamento qualitativamente diverso</a:t>
            </a:r>
            <a:endParaRPr lang="en-US" sz="1250" dirty="0"/>
          </a:p>
          <a:p>
            <a:pPr marL="342900" indent="-342900">
              <a:lnSpc>
                <a:spcPct val="110000"/>
              </a:lnSpc>
              <a:spcAft>
                <a:spcPts val="900"/>
              </a:spcAft>
              <a:buSzPct val="100000"/>
              <a:buChar char="•"/>
            </a:pPr>
            <a:r>
              <a:rPr lang="en-US" sz="1250" dirty="0">
                <a:solidFill>
                  <a:schemeClr val="tx2"/>
                </a:solidFill>
              </a:rPr>
              <a:t>Costa il 28-40% in energia e costo di trasporto</a:t>
            </a:r>
            <a:endParaRPr lang="en-US" sz="1250" dirty="0"/>
          </a:p>
          <a:p>
            <a:pPr marL="342900" indent="-342900">
              <a:lnSpc>
                <a:spcPct val="110000"/>
              </a:lnSpc>
              <a:spcAft>
                <a:spcPts val="900"/>
              </a:spcAft>
              <a:buSzPct val="100000"/>
              <a:buChar char="•"/>
            </a:pPr>
            <a:r>
              <a:rPr lang="en-US" sz="1250" dirty="0">
                <a:solidFill>
                  <a:schemeClr val="tx2"/>
                </a:solidFill>
              </a:rPr>
              <a:t>Speso in corsa dei piedi, non in carico ai giunti: la coppia continua anzi cala</a:t>
            </a:r>
            <a:endParaRPr lang="en-US" sz="1250" dirty="0"/>
          </a:p>
        </p:txBody>
      </p:sp>
      <p:sp>
        <p:nvSpPr>
          <p:cNvPr id="13" name="panel"/>
          <p:cNvSpPr/>
          <p:nvPr/>
        </p:nvSpPr>
        <p:spPr>
          <a:xfrm>
            <a:off x="548640" y="4709160"/>
            <a:ext cx="11094415" cy="960120"/>
          </a:xfrm>
          <a:prstGeom prst="roundRect">
            <a:avLst>
              <a:gd name="adj" fmla="val 5714"/>
            </a:avLst>
          </a:prstGeom>
          <a:solidFill>
            <a:srgbClr val="23424F"/>
          </a:solidFill>
          <a:ln w="12700">
            <a:solidFill>
              <a:srgbClr val="23424F"/>
            </a:solidFill>
            <a:prstDash val="solid"/>
          </a:ln>
        </p:spPr>
      </p:sp>
      <p:sp>
        <p:nvSpPr>
          <p:cNvPr id="14" name="mechSynth"/>
          <p:cNvSpPr txBox="1"/>
          <p:nvPr/>
        </p:nvSpPr>
        <p:spPr>
          <a:xfrm>
            <a:off x="914400" y="4709160"/>
            <a:ext cx="10362895" cy="960120"/>
          </a:xfrm>
          <a:prstGeom prst="rect">
            <a:avLst/>
          </a:prstGeom>
          <a:noFill/>
          <a:ln/>
        </p:spPr>
        <p:txBody>
          <a:bodyPr wrap="square" lIns="0" tIns="0" rIns="0" bIns="0" rtlCol="0" anchor="ctr"/>
          <a:lstStyle/>
          <a:p>
            <a:pPr algn="ctr" indent="0" marL="0">
              <a:buNone/>
            </a:pPr>
            <a:r>
              <a:rPr lang="en-US" sz="1400" b="1" dirty="0">
                <a:solidFill>
                  <a:srgbClr val="FFFFFF"/>
                </a:solidFill>
              </a:rPr>
              <a:t>Composti in serie, C3 finisce meglio di C1 sul beccheggio: l'anello d'assetto ripaga piu' che interamente il disturbo introdotto dalla ricerca.</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Non pianificato: l'appoggio diventa inosservabile</a:t>
            </a:r>
            <a:endParaRPr lang="en-US" sz="2900" dirty="0"/>
          </a:p>
        </p:txBody>
      </p:sp>
      <p:sp>
        <p:nvSpPr>
          <p:cNvPr id="3" name="stanceLead"/>
          <p:cNvSpPr txBox="1"/>
          <p:nvPr/>
        </p:nvSpPr>
        <p:spPr>
          <a:xfrm>
            <a:off x="548640" y="1261872"/>
            <a:ext cx="11094415" cy="82296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Sulla rampa, il rilevatore cinematico di appoggio non trovava quasi nessun appoggio su C3. La nostra prima lettura e' stata che il robot non camminasse. Era sbagliata: la quota media citata era l'altezza della rampa, e i sensori di forza vedono solo il piano del pavimento.</a:t>
            </a:r>
            <a:endParaRPr lang="en-US" sz="125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1097280"/>
                <a:gridCol w="3840480"/>
                <a:gridCol w="6156655"/>
              </a:tblGrid>
              <a:tr h="0">
                <a:tc>
                  <a:txBody>
                    <a:bodyPr/>
                    <a:lstStyle/>
                    <a:p>
                      <a:pPr algn="l" indent="0" marL="0">
                        <a:buNone/>
                      </a:pP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campioni sotto 0.05 m/s</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tratto consecutivo piu' lungo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3424F"/>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41–54%</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71–113 campioni (un appoggio intero)</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BE5"/>
                    </a:solidFill>
                  </a:tcPr>
                </a:tc>
              </a:tr>
              <a:tr h="0">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228"/>
                          </a:solidFill>
                          <a:latin typeface="Calibri" pitchFamily="34" charset="0"/>
                          <a:ea typeface="Calibri" pitchFamily="34" charset="-122"/>
                          <a:cs typeface="Calibri" pitchFamily="34" charset="-120"/>
                        </a:rPr>
                        <a:t>3–12 campioni</a:t>
                      </a:r>
                      <a:endParaRPr lang="en-US" sz="1200" dirty="0">
                        <a:latin typeface="Calibri" charset="0"/>
                        <a:ea typeface="Calibri" charset="0"/>
                        <a:cs typeface="Calibri" charset="0"/>
                      </a:endParaRPr>
                    </a:p>
                  </a:txBody>
                  <a:tcPr marL="88900" marR="889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5" name="stanceRead"/>
          <p:cNvSpPr txBox="1"/>
          <p:nvPr/>
        </p:nvSpPr>
        <p:spPr>
          <a:xfrm>
            <a:off x="548640" y="3657600"/>
            <a:ext cx="11094415" cy="914400"/>
          </a:xfrm>
          <a:prstGeom prst="rect">
            <a:avLst/>
          </a:prstGeom>
          <a:noFill/>
          <a:ln/>
        </p:spPr>
        <p:txBody>
          <a:bodyPr wrap="square" lIns="0" tIns="0" rIns="0" bIns="0" rtlCol="0" anchor="t"/>
          <a:lstStyle/>
          <a:p>
            <a:pPr indent="0" marL="0">
              <a:lnSpc>
                <a:spcPct val="112000"/>
              </a:lnSpc>
              <a:buNone/>
            </a:pPr>
            <a:r>
              <a:rPr lang="en-US" sz="1250" dirty="0">
                <a:solidFill>
                  <a:schemeClr val="tx1"/>
                </a:solidFill>
              </a:rPr>
              <a:t>I piedi non mancano l'atterraggio: atterrano e vengono rimossi. L'anello d'assetto aggiunge una correzione continua di altezza a ogni piede, compresi quelli in appoggio, quindi un piede in appoggio non e' mai fermo nel mondo. L'ampiezza e' piccola, circa 17 mm, e l'andatura non ne risente.</a:t>
            </a:r>
            <a:endParaRPr lang="en-US" sz="1250" dirty="0"/>
          </a:p>
        </p:txBody>
      </p:sp>
      <p:sp>
        <p:nvSpPr>
          <p:cNvPr id="6" name="panel"/>
          <p:cNvSpPr/>
          <p:nvPr/>
        </p:nvSpPr>
        <p:spPr>
          <a:xfrm>
            <a:off x="548640" y="4709160"/>
            <a:ext cx="11094415" cy="1143000"/>
          </a:xfrm>
          <a:prstGeom prst="roundRect">
            <a:avLst>
              <a:gd name="adj" fmla="val 4800"/>
            </a:avLst>
          </a:prstGeom>
          <a:solidFill>
            <a:srgbClr val="DCE6E9"/>
          </a:solidFill>
          <a:ln w="12700">
            <a:solidFill>
              <a:srgbClr val="DCE6E9"/>
            </a:solidFill>
            <a:prstDash val="solid"/>
          </a:ln>
        </p:spPr>
      </p:sp>
      <p:sp>
        <p:nvSpPr>
          <p:cNvPr id="7" name="stanceVerdict"/>
          <p:cNvSpPr txBox="1"/>
          <p:nvPr/>
        </p:nvSpPr>
        <p:spPr>
          <a:xfrm>
            <a:off x="914400" y="4709160"/>
            <a:ext cx="10362895" cy="1143000"/>
          </a:xfrm>
          <a:prstGeom prst="rect">
            <a:avLst/>
          </a:prstGeom>
          <a:noFill/>
          <a:ln/>
        </p:spPr>
        <p:txBody>
          <a:bodyPr wrap="square" lIns="0" tIns="0" rIns="0" bIns="0" rtlCol="0" anchor="ctr"/>
          <a:lstStyle/>
          <a:p>
            <a:pPr indent="0" marL="0">
              <a:lnSpc>
                <a:spcPct val="112000"/>
              </a:lnSpc>
              <a:buNone/>
            </a:pPr>
            <a:r>
              <a:rPr lang="en-US" sz="1300" b="1" dirty="0">
                <a:solidFill>
                  <a:schemeClr val="accent1"/>
                </a:solidFill>
              </a:rPr>
              <a:t>Cio' che si rompe e' l'osservabilita' del contatto da parte di qualunque criterio basato sulla quiete. Comporre un anello d'assetto dopo un meccanismo innescato dal contatto da' al secondo un mondo in cui nulla e' mai fermo.</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Limiti</a:t>
            </a:r>
            <a:endParaRPr lang="en-US" sz="2900" dirty="0"/>
          </a:p>
        </p:txBody>
      </p:sp>
      <p:sp>
        <p:nvSpPr>
          <p:cNvPr id="3" name="panel"/>
          <p:cNvSpPr/>
          <p:nvPr/>
        </p:nvSpPr>
        <p:spPr>
          <a:xfrm>
            <a:off x="548640" y="1371600"/>
            <a:ext cx="5318608" cy="1298448"/>
          </a:xfrm>
          <a:prstGeom prst="roundRect">
            <a:avLst>
              <a:gd name="adj" fmla="val 4225"/>
            </a:avLst>
          </a:prstGeom>
          <a:solidFill>
            <a:schemeClr val="bg2"/>
          </a:solidFill>
          <a:ln w="12700">
            <a:solidFill>
              <a:schemeClr val="bg2"/>
            </a:solidFill>
            <a:prstDash val="solid"/>
          </a:ln>
        </p:spPr>
      </p:sp>
      <p:sp>
        <p:nvSpPr>
          <p:cNvPr id="4" name="cardHead"/>
          <p:cNvSpPr txBox="1"/>
          <p:nvPr/>
        </p:nvSpPr>
        <p:spPr>
          <a:xfrm>
            <a:off x="804672"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Attuatori ideali</a:t>
            </a:r>
            <a:endParaRPr lang="en-US" sz="1500" dirty="0"/>
          </a:p>
        </p:txBody>
      </p:sp>
      <p:sp>
        <p:nvSpPr>
          <p:cNvPr id="5" name="cardBody"/>
          <p:cNvSpPr txBox="1"/>
          <p:nvPr/>
        </p:nvSpPr>
        <p:spPr>
          <a:xfrm>
            <a:off x="804672" y="2029968"/>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La coppia e' domanda, non comportamento ottenibile. I limiti del servo nell'anello comprimerebbero le differenze.</a:t>
            </a:r>
            <a:endParaRPr lang="en-US" sz="1250" dirty="0"/>
          </a:p>
        </p:txBody>
      </p:sp>
      <p:sp>
        <p:nvSpPr>
          <p:cNvPr id="6" name="panel"/>
          <p:cNvSpPr/>
          <p:nvPr/>
        </p:nvSpPr>
        <p:spPr>
          <a:xfrm>
            <a:off x="6324448" y="1371600"/>
            <a:ext cx="5318608" cy="1298448"/>
          </a:xfrm>
          <a:prstGeom prst="roundRect">
            <a:avLst>
              <a:gd name="adj" fmla="val 4225"/>
            </a:avLst>
          </a:prstGeom>
          <a:solidFill>
            <a:schemeClr val="bg2"/>
          </a:solidFill>
          <a:ln w="12700">
            <a:solidFill>
              <a:schemeClr val="bg2"/>
            </a:solidFill>
            <a:prstDash val="solid"/>
          </a:ln>
        </p:spPr>
      </p:sp>
      <p:sp>
        <p:nvSpPr>
          <p:cNvPr id="7" name="cardHead"/>
          <p:cNvSpPr txBox="1"/>
          <p:nvPr/>
        </p:nvSpPr>
        <p:spPr>
          <a:xfrm>
            <a:off x="6580480" y="1554480"/>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I sensori vedono solo il pavimento</a:t>
            </a:r>
            <a:endParaRPr lang="en-US" sz="1500" dirty="0"/>
          </a:p>
        </p:txBody>
      </p:sp>
      <p:sp>
        <p:nvSpPr>
          <p:cNvPr id="8" name="cardBody"/>
          <p:cNvSpPr txBox="1"/>
          <p:nvPr/>
        </p:nvSpPr>
        <p:spPr>
          <a:xfrm>
            <a:off x="6580480" y="2029968"/>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Su rampa, dosso e ostacoli ogni metrica d'appoggio viene dal rilevatore cinematico — a sua volta degradato su C3.</a:t>
            </a:r>
            <a:endParaRPr lang="en-US" sz="1250" dirty="0"/>
          </a:p>
        </p:txBody>
      </p:sp>
      <p:sp>
        <p:nvSpPr>
          <p:cNvPr id="9" name="panel"/>
          <p:cNvSpPr/>
          <p:nvPr/>
        </p:nvSpPr>
        <p:spPr>
          <a:xfrm>
            <a:off x="548640" y="2862072"/>
            <a:ext cx="5318608" cy="1298448"/>
          </a:xfrm>
          <a:prstGeom prst="roundRect">
            <a:avLst>
              <a:gd name="adj" fmla="val 4225"/>
            </a:avLst>
          </a:prstGeom>
          <a:solidFill>
            <a:schemeClr val="bg2"/>
          </a:solidFill>
          <a:ln w="12700">
            <a:solidFill>
              <a:schemeClr val="bg2"/>
            </a:solidFill>
            <a:prstDash val="solid"/>
          </a:ln>
        </p:spPr>
      </p:sp>
      <p:sp>
        <p:nvSpPr>
          <p:cNvPr id="10" name="cardHead"/>
          <p:cNvSpPr txBox="1"/>
          <p:nvPr/>
        </p:nvSpPr>
        <p:spPr>
          <a:xfrm>
            <a:off x="804672" y="3044952"/>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Bracci di leva cablati</a:t>
            </a:r>
            <a:endParaRPr lang="en-US" sz="1500" dirty="0"/>
          </a:p>
        </p:txBody>
      </p:sp>
      <p:sp>
        <p:nvSpPr>
          <p:cNvPr id="11" name="cardBody"/>
          <p:cNvSpPr txBox="1"/>
          <p:nvPr/>
        </p:nvSpPr>
        <p:spPr>
          <a:xfrm>
            <a:off x="804672" y="3520440"/>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Circa 1.8x piu' piccoli delle posizioni nominali. Non corretti: i guadagni sono stati tarati con quei valori nell'anello.</a:t>
            </a:r>
            <a:endParaRPr lang="en-US" sz="1250" dirty="0"/>
          </a:p>
        </p:txBody>
      </p:sp>
      <p:sp>
        <p:nvSpPr>
          <p:cNvPr id="12" name="panel"/>
          <p:cNvSpPr/>
          <p:nvPr/>
        </p:nvSpPr>
        <p:spPr>
          <a:xfrm>
            <a:off x="6324448" y="2862072"/>
            <a:ext cx="5318608" cy="1298448"/>
          </a:xfrm>
          <a:prstGeom prst="roundRect">
            <a:avLst>
              <a:gd name="adj" fmla="val 4225"/>
            </a:avLst>
          </a:prstGeom>
          <a:solidFill>
            <a:schemeClr val="bg2"/>
          </a:solidFill>
          <a:ln w="12700">
            <a:solidFill>
              <a:schemeClr val="bg2"/>
            </a:solidFill>
            <a:prstDash val="solid"/>
          </a:ln>
        </p:spPr>
      </p:sp>
      <p:sp>
        <p:nvSpPr>
          <p:cNvPr id="13" name="cardHead"/>
          <p:cNvSpPr txBox="1"/>
          <p:nvPr/>
        </p:nvSpPr>
        <p:spPr>
          <a:xfrm>
            <a:off x="6580480" y="3044952"/>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Soglia autotarata</a:t>
            </a:r>
            <a:endParaRPr lang="en-US" sz="1500" dirty="0"/>
          </a:p>
        </p:txBody>
      </p:sp>
      <p:sp>
        <p:nvSpPr>
          <p:cNvPr id="14" name="cardBody"/>
          <p:cNvSpPr txBox="1"/>
          <p:nvPr/>
        </p:nvSpPr>
        <p:spPr>
          <a:xfrm>
            <a:off x="6580480" y="3520440"/>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Adattata su questo banco, quindi alla ricerca non si puo' accreditare robustezza rispetto ad essa.</a:t>
            </a:r>
            <a:endParaRPr lang="en-US" sz="1250" dirty="0"/>
          </a:p>
        </p:txBody>
      </p:sp>
      <p:sp>
        <p:nvSpPr>
          <p:cNvPr id="15" name="panel"/>
          <p:cNvSpPr/>
          <p:nvPr/>
        </p:nvSpPr>
        <p:spPr>
          <a:xfrm>
            <a:off x="548640" y="4352544"/>
            <a:ext cx="5318608" cy="1298448"/>
          </a:xfrm>
          <a:prstGeom prst="roundRect">
            <a:avLst>
              <a:gd name="adj" fmla="val 4225"/>
            </a:avLst>
          </a:prstGeom>
          <a:solidFill>
            <a:schemeClr val="bg2"/>
          </a:solidFill>
          <a:ln w="12700">
            <a:solidFill>
              <a:schemeClr val="bg2"/>
            </a:solidFill>
            <a:prstDash val="solid"/>
          </a:ln>
        </p:spPr>
      </p:sp>
      <p:sp>
        <p:nvSpPr>
          <p:cNvPr id="16" name="cardHead"/>
          <p:cNvSpPr txBox="1"/>
          <p:nvPr/>
        </p:nvSpPr>
        <p:spPr>
          <a:xfrm>
            <a:off x="804672" y="4535424"/>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Lo stimatore non e' l'impianto</a:t>
            </a:r>
            <a:endParaRPr lang="en-US" sz="1500" dirty="0"/>
          </a:p>
        </p:txBody>
      </p:sp>
      <p:sp>
        <p:nvSpPr>
          <p:cNvPr id="17" name="cardBody"/>
          <p:cNvSpPr txBox="1"/>
          <p:nvPr/>
        </p:nvSpPr>
        <p:spPr>
          <a:xfrm>
            <a:off x="804672" y="5010912"/>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Il disallineamento residuo e' l'1.6% di massa nei piedi, che l'albero URDF non porta.</a:t>
            </a:r>
            <a:endParaRPr lang="en-US" sz="1250" dirty="0"/>
          </a:p>
        </p:txBody>
      </p:sp>
      <p:sp>
        <p:nvSpPr>
          <p:cNvPr id="18" name="panel"/>
          <p:cNvSpPr/>
          <p:nvPr/>
        </p:nvSpPr>
        <p:spPr>
          <a:xfrm>
            <a:off x="6324448" y="4352544"/>
            <a:ext cx="5318608" cy="1298448"/>
          </a:xfrm>
          <a:prstGeom prst="roundRect">
            <a:avLst>
              <a:gd name="adj" fmla="val 4225"/>
            </a:avLst>
          </a:prstGeom>
          <a:solidFill>
            <a:schemeClr val="bg2"/>
          </a:solidFill>
          <a:ln w="12700">
            <a:solidFill>
              <a:schemeClr val="bg2"/>
            </a:solidFill>
            <a:prstDash val="solid"/>
          </a:ln>
        </p:spPr>
      </p:sp>
      <p:sp>
        <p:nvSpPr>
          <p:cNvPr id="19" name="cardHead"/>
          <p:cNvSpPr txBox="1"/>
          <p:nvPr/>
        </p:nvSpPr>
        <p:spPr>
          <a:xfrm>
            <a:off x="6580480" y="4535424"/>
            <a:ext cx="4806544" cy="402336"/>
          </a:xfrm>
          <a:prstGeom prst="rect">
            <a:avLst/>
          </a:prstGeom>
          <a:noFill/>
          <a:ln/>
        </p:spPr>
        <p:txBody>
          <a:bodyPr wrap="square" lIns="0" tIns="0" rIns="0" bIns="0" rtlCol="0" anchor="ctr"/>
          <a:lstStyle/>
          <a:p>
            <a:pPr indent="0" marL="0">
              <a:buNone/>
            </a:pPr>
            <a:r>
              <a:rPr lang="en-US" sz="1500" b="1" dirty="0">
                <a:solidFill>
                  <a:schemeClr val="accent1"/>
                </a:solidFill>
              </a:rPr>
              <a:t>Nessun hardware</a:t>
            </a:r>
            <a:endParaRPr lang="en-US" sz="1500" dirty="0"/>
          </a:p>
        </p:txBody>
      </p:sp>
      <p:sp>
        <p:nvSpPr>
          <p:cNvPr id="20" name="cardBody"/>
          <p:cNvSpPr txBox="1"/>
          <p:nvPr/>
        </p:nvSpPr>
        <p:spPr>
          <a:xfrm>
            <a:off x="6580480" y="5010912"/>
            <a:ext cx="4806544" cy="420624"/>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Nulla e' stato misurato su un PhantomX fisico. Il confronto non e' validato.</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accent1"/>
                </a:solidFill>
              </a:rPr>
              <a:t>Contributi</a:t>
            </a:r>
            <a:endParaRPr lang="en-US" sz="2900" dirty="0"/>
          </a:p>
        </p:txBody>
      </p:sp>
      <p:sp>
        <p:nvSpPr>
          <p:cNvPr id="3" name="panel"/>
          <p:cNvSpPr/>
          <p:nvPr/>
        </p:nvSpPr>
        <p:spPr>
          <a:xfrm>
            <a:off x="548640" y="1325880"/>
            <a:ext cx="5318608" cy="3566160"/>
          </a:xfrm>
          <a:prstGeom prst="roundRect">
            <a:avLst>
              <a:gd name="adj" fmla="val 1538"/>
            </a:avLst>
          </a:prstGeom>
          <a:solidFill>
            <a:schemeClr val="bg2"/>
          </a:solidFill>
          <a:ln w="12700">
            <a:solidFill>
              <a:schemeClr val="bg2"/>
            </a:solidFill>
            <a:prstDash val="solid"/>
          </a:ln>
        </p:spPr>
      </p:sp>
      <p:sp>
        <p:nvSpPr>
          <p:cNvPr id="4" name="chip"/>
          <p:cNvSpPr/>
          <p:nvPr/>
        </p:nvSpPr>
        <p:spPr>
          <a:xfrm>
            <a:off x="822960" y="1536192"/>
            <a:ext cx="603504" cy="603504"/>
          </a:xfrm>
          <a:prstGeom prst="ellipse">
            <a:avLst/>
          </a:prstGeom>
          <a:solidFill>
            <a:srgbClr val="23424F"/>
          </a:solidFill>
          <a:ln w="12700">
            <a:solidFill>
              <a:srgbClr val="23424F"/>
            </a:solidFill>
            <a:prstDash val="solid"/>
          </a:ln>
        </p:spPr>
      </p:sp>
      <p:sp>
        <p:nvSpPr>
          <p:cNvPr id="5" name="chipText"/>
          <p:cNvSpPr txBox="1"/>
          <p:nvPr/>
        </p:nvSpPr>
        <p:spPr>
          <a:xfrm>
            <a:off x="822960" y="1536192"/>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amName"/>
          <p:cNvSpPr txBox="1"/>
          <p:nvPr/>
        </p:nvSpPr>
        <p:spPr>
          <a:xfrm>
            <a:off x="1554480" y="1490472"/>
            <a:ext cx="4038448" cy="365760"/>
          </a:xfrm>
          <a:prstGeom prst="rect">
            <a:avLst/>
          </a:prstGeom>
          <a:noFill/>
          <a:ln/>
        </p:spPr>
        <p:txBody>
          <a:bodyPr wrap="square" lIns="0" tIns="0" rIns="0" bIns="0" rtlCol="0" anchor="ctr"/>
          <a:lstStyle/>
          <a:p>
            <a:pPr indent="0" marL="0">
              <a:buNone/>
            </a:pPr>
            <a:r>
              <a:rPr lang="en-US" sz="1600" b="1" dirty="0">
                <a:solidFill>
                  <a:schemeClr val="accent1"/>
                </a:solidFill>
              </a:rPr>
              <a:t>[Studente 1]</a:t>
            </a:r>
            <a:endParaRPr lang="en-US" sz="1600" dirty="0"/>
          </a:p>
        </p:txBody>
      </p:sp>
      <p:sp>
        <p:nvSpPr>
          <p:cNvPr id="7" name="teamRole"/>
          <p:cNvSpPr txBox="1"/>
          <p:nvPr/>
        </p:nvSpPr>
        <p:spPr>
          <a:xfrm>
            <a:off x="1554480" y="1856232"/>
            <a:ext cx="4038448" cy="310896"/>
          </a:xfrm>
          <a:prstGeom prst="rect">
            <a:avLst/>
          </a:prstGeom>
          <a:noFill/>
          <a:ln/>
        </p:spPr>
        <p:txBody>
          <a:bodyPr wrap="square" lIns="0" tIns="0" rIns="0" bIns="0" rtlCol="0" anchor="ctr"/>
          <a:lstStyle/>
          <a:p>
            <a:pPr indent="0" marL="0">
              <a:buNone/>
            </a:pPr>
            <a:r>
              <a:rPr lang="en-US" sz="1200" i="1" dirty="0">
                <a:solidFill>
                  <a:schemeClr val="tx2"/>
                </a:solidFill>
              </a:rPr>
              <a:t>Impianto e controllori</a:t>
            </a:r>
            <a:endParaRPr lang="en-US" sz="1200" dirty="0"/>
          </a:p>
        </p:txBody>
      </p:sp>
      <p:sp>
        <p:nvSpPr>
          <p:cNvPr id="8" name="teamList"/>
          <p:cNvSpPr txBox="1"/>
          <p:nvPr/>
        </p:nvSpPr>
        <p:spPr>
          <a:xfrm>
            <a:off x="822960" y="2331720"/>
            <a:ext cx="4769968" cy="2377440"/>
          </a:xfrm>
          <a:prstGeom prst="rect">
            <a:avLst/>
          </a:prstGeom>
          <a:noFill/>
          <a:ln/>
        </p:spPr>
        <p:txBody>
          <a:bodyPr wrap="square" lIns="0" tIns="0" rIns="0" bIns="0" rtlCol="0" anchor="t"/>
          <a:lstStyle/>
          <a:p>
            <a:pPr marL="342900" indent="-342900">
              <a:lnSpc>
                <a:spcPct val="108000"/>
              </a:lnSpc>
              <a:spcAft>
                <a:spcPts val="700"/>
              </a:spcAft>
              <a:buSzPct val="100000"/>
              <a:buChar char="•"/>
            </a:pPr>
            <a:r>
              <a:rPr lang="en-US" sz="1200" dirty="0">
                <a:solidFill>
                  <a:schemeClr val="tx1"/>
                </a:solidFill>
              </a:rPr>
              <a:t>Impianto Simscape Multibody dall'URDF</a:t>
            </a:r>
            <a:endParaRPr lang="en-US" sz="1200" dirty="0"/>
          </a:p>
          <a:p>
            <a:pPr marL="342900" indent="-342900">
              <a:lnSpc>
                <a:spcPct val="108000"/>
              </a:lnSpc>
              <a:spcAft>
                <a:spcPts val="700"/>
              </a:spcAft>
              <a:buSzPct val="100000"/>
              <a:buChar char="•"/>
            </a:pPr>
            <a:r>
              <a:rPr lang="en-US" sz="1200" dirty="0">
                <a:solidFill>
                  <a:schemeClr val="tx1"/>
                </a:solidFill>
              </a:rPr>
              <a:t>Generatore a tripode ad anello aperto (C1)</a:t>
            </a:r>
            <a:endParaRPr lang="en-US" sz="1200" dirty="0"/>
          </a:p>
          <a:p>
            <a:pPr marL="342900" indent="-342900">
              <a:lnSpc>
                <a:spcPct val="108000"/>
              </a:lnSpc>
              <a:spcAft>
                <a:spcPts val="700"/>
              </a:spcAft>
              <a:buSzPct val="100000"/>
              <a:buChar char="•"/>
            </a:pPr>
            <a:r>
              <a:rPr lang="en-US" sz="1200" dirty="0">
                <a:solidFill>
                  <a:schemeClr val="tx1"/>
                </a:solidFill>
              </a:rPr>
              <a:t>Strato di ricerca del terreno, residuo e flag (C2)</a:t>
            </a:r>
            <a:endParaRPr lang="en-US" sz="1200" dirty="0"/>
          </a:p>
          <a:p>
            <a:pPr marL="342900" indent="-342900">
              <a:lnSpc>
                <a:spcPct val="108000"/>
              </a:lnSpc>
              <a:spcAft>
                <a:spcPts val="700"/>
              </a:spcAft>
              <a:buSzPct val="100000"/>
              <a:buChar char="•"/>
            </a:pPr>
            <a:r>
              <a:rPr lang="en-US" sz="1200" dirty="0">
                <a:solidFill>
                  <a:schemeClr val="tx1"/>
                </a:solidFill>
              </a:rPr>
              <a:t>Anello d'assetto: progetto, implementazione, taratura (C3)</a:t>
            </a:r>
            <a:endParaRPr lang="en-US" sz="1200" dirty="0"/>
          </a:p>
          <a:p>
            <a:pPr marL="342900" indent="-342900">
              <a:lnSpc>
                <a:spcPct val="108000"/>
              </a:lnSpc>
              <a:spcAft>
                <a:spcPts val="700"/>
              </a:spcAft>
              <a:buSzPct val="100000"/>
              <a:buChar char="•"/>
            </a:pPr>
            <a:r>
              <a:rPr lang="en-US" sz="1200" dirty="0">
                <a:solidFill>
                  <a:schemeClr val="tx1"/>
                </a:solidFill>
              </a:rPr>
              <a:t>Saturazione e limitatore di pendenza</a:t>
            </a:r>
            <a:endParaRPr lang="en-US" sz="1200" dirty="0"/>
          </a:p>
        </p:txBody>
      </p:sp>
      <p:sp>
        <p:nvSpPr>
          <p:cNvPr id="9" name="panel"/>
          <p:cNvSpPr/>
          <p:nvPr/>
        </p:nvSpPr>
        <p:spPr>
          <a:xfrm>
            <a:off x="6324448" y="1325880"/>
            <a:ext cx="5318608" cy="3566160"/>
          </a:xfrm>
          <a:prstGeom prst="roundRect">
            <a:avLst>
              <a:gd name="adj" fmla="val 1538"/>
            </a:avLst>
          </a:prstGeom>
          <a:solidFill>
            <a:schemeClr val="bg2"/>
          </a:solidFill>
          <a:ln w="12700">
            <a:solidFill>
              <a:schemeClr val="bg2"/>
            </a:solidFill>
            <a:prstDash val="solid"/>
          </a:ln>
        </p:spPr>
      </p:sp>
      <p:sp>
        <p:nvSpPr>
          <p:cNvPr id="10" name="chip"/>
          <p:cNvSpPr/>
          <p:nvPr/>
        </p:nvSpPr>
        <p:spPr>
          <a:xfrm>
            <a:off x="6598768" y="1536192"/>
            <a:ext cx="603504" cy="603504"/>
          </a:xfrm>
          <a:prstGeom prst="ellipse">
            <a:avLst/>
          </a:prstGeom>
          <a:solidFill>
            <a:srgbClr val="6F9480"/>
          </a:solidFill>
          <a:ln w="12700">
            <a:solidFill>
              <a:srgbClr val="6F9480"/>
            </a:solidFill>
            <a:prstDash val="solid"/>
          </a:ln>
        </p:spPr>
      </p:sp>
      <p:sp>
        <p:nvSpPr>
          <p:cNvPr id="11" name="chipText"/>
          <p:cNvSpPr txBox="1"/>
          <p:nvPr/>
        </p:nvSpPr>
        <p:spPr>
          <a:xfrm>
            <a:off x="6598768" y="1536192"/>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amName"/>
          <p:cNvSpPr txBox="1"/>
          <p:nvPr/>
        </p:nvSpPr>
        <p:spPr>
          <a:xfrm>
            <a:off x="7330288" y="1490472"/>
            <a:ext cx="4038448" cy="365760"/>
          </a:xfrm>
          <a:prstGeom prst="rect">
            <a:avLst/>
          </a:prstGeom>
          <a:noFill/>
          <a:ln/>
        </p:spPr>
        <p:txBody>
          <a:bodyPr wrap="square" lIns="0" tIns="0" rIns="0" bIns="0" rtlCol="0" anchor="ctr"/>
          <a:lstStyle/>
          <a:p>
            <a:pPr indent="0" marL="0">
              <a:buNone/>
            </a:pPr>
            <a:r>
              <a:rPr lang="en-US" sz="1600" b="1" dirty="0">
                <a:solidFill>
                  <a:schemeClr val="accent1"/>
                </a:solidFill>
              </a:rPr>
              <a:t>[Studente 2]</a:t>
            </a:r>
            <a:endParaRPr lang="en-US" sz="1600" dirty="0"/>
          </a:p>
        </p:txBody>
      </p:sp>
      <p:sp>
        <p:nvSpPr>
          <p:cNvPr id="13" name="teamRole"/>
          <p:cNvSpPr txBox="1"/>
          <p:nvPr/>
        </p:nvSpPr>
        <p:spPr>
          <a:xfrm>
            <a:off x="7330288" y="1856232"/>
            <a:ext cx="4038448" cy="310896"/>
          </a:xfrm>
          <a:prstGeom prst="rect">
            <a:avLst/>
          </a:prstGeom>
          <a:noFill/>
          <a:ln/>
        </p:spPr>
        <p:txBody>
          <a:bodyPr wrap="square" lIns="0" tIns="0" rIns="0" bIns="0" rtlCol="0" anchor="ctr"/>
          <a:lstStyle/>
          <a:p>
            <a:pPr indent="0" marL="0">
              <a:buNone/>
            </a:pPr>
            <a:r>
              <a:rPr lang="en-US" sz="1200" i="1" dirty="0">
                <a:solidFill>
                  <a:schemeClr val="tx2"/>
                </a:solidFill>
              </a:rPr>
              <a:t>Misura e analisi</a:t>
            </a:r>
            <a:endParaRPr lang="en-US" sz="1200" dirty="0"/>
          </a:p>
        </p:txBody>
      </p:sp>
      <p:sp>
        <p:nvSpPr>
          <p:cNvPr id="14" name="teamList"/>
          <p:cNvSpPr txBox="1"/>
          <p:nvPr/>
        </p:nvSpPr>
        <p:spPr>
          <a:xfrm>
            <a:off x="6598768" y="2331720"/>
            <a:ext cx="4769968" cy="2377440"/>
          </a:xfrm>
          <a:prstGeom prst="rect">
            <a:avLst/>
          </a:prstGeom>
          <a:noFill/>
          <a:ln/>
        </p:spPr>
        <p:txBody>
          <a:bodyPr wrap="square" lIns="0" tIns="0" rIns="0" bIns="0" rtlCol="0" anchor="t"/>
          <a:lstStyle/>
          <a:p>
            <a:pPr marL="342900" indent="-342900">
              <a:lnSpc>
                <a:spcPct val="108000"/>
              </a:lnSpc>
              <a:spcAft>
                <a:spcPts val="700"/>
              </a:spcAft>
              <a:buSzPct val="100000"/>
              <a:buChar char="•"/>
            </a:pPr>
            <a:r>
              <a:rPr lang="en-US" sz="1200" dirty="0">
                <a:solidFill>
                  <a:schemeClr val="tx1"/>
                </a:solidFill>
              </a:rPr>
              <a:t>Batteria di task e protocollo di misura</a:t>
            </a:r>
            <a:endParaRPr lang="en-US" sz="1200" dirty="0"/>
          </a:p>
          <a:p>
            <a:pPr marL="342900" indent="-342900">
              <a:lnSpc>
                <a:spcPct val="108000"/>
              </a:lnSpc>
              <a:spcAft>
                <a:spcPts val="700"/>
              </a:spcAft>
              <a:buSzPct val="100000"/>
              <a:buChar char="•"/>
            </a:pPr>
            <a:r>
              <a:rPr lang="en-US" sz="1200" dirty="0">
                <a:solidFill>
                  <a:schemeClr val="tx1"/>
                </a:solidFill>
              </a:rPr>
              <a:t>Rumore di fondo e regola di dichiarabilita' a 3x</a:t>
            </a:r>
            <a:endParaRPr lang="en-US" sz="1200" dirty="0"/>
          </a:p>
          <a:p>
            <a:pPr marL="342900" indent="-342900">
              <a:lnSpc>
                <a:spcPct val="108000"/>
              </a:lnSpc>
              <a:spcAft>
                <a:spcPts val="700"/>
              </a:spcAft>
              <a:buSzPct val="100000"/>
              <a:buChar char="•"/>
            </a:pPr>
            <a:r>
              <a:rPr lang="en-US" sz="1200" dirty="0">
                <a:solidFill>
                  <a:schemeClr val="tx1"/>
                </a:solidFill>
              </a:rPr>
              <a:t>Campagna di misura e sua automazione</a:t>
            </a:r>
            <a:endParaRPr lang="en-US" sz="1200" dirty="0"/>
          </a:p>
          <a:p>
            <a:pPr marL="342900" indent="-342900">
              <a:lnSpc>
                <a:spcPct val="108000"/>
              </a:lnSpc>
              <a:spcAft>
                <a:spcPts val="700"/>
              </a:spcAft>
              <a:buSzPct val="100000"/>
              <a:buChar char="•"/>
            </a:pPr>
            <a:r>
              <a:rPr lang="en-US" sz="1200" dirty="0">
                <a:solidFill>
                  <a:schemeClr val="tx1"/>
                </a:solidFill>
              </a:rPr>
              <a:t>I due difetti del banco: trovati, misurati, corretti</a:t>
            </a:r>
            <a:endParaRPr lang="en-US" sz="1200" dirty="0"/>
          </a:p>
          <a:p>
            <a:pPr marL="342900" indent="-342900">
              <a:lnSpc>
                <a:spcPct val="108000"/>
              </a:lnSpc>
              <a:spcAft>
                <a:spcPts val="700"/>
              </a:spcAft>
              <a:buSzPct val="100000"/>
              <a:buChar char="•"/>
            </a:pPr>
            <a:r>
              <a:rPr lang="en-US" sz="1200" dirty="0">
                <a:solidFill>
                  <a:schemeClr val="tx1"/>
                </a:solidFill>
              </a:rPr>
              <a:t>Diagnosi dell'appoggio, stabilita', fattibilita'</a:t>
            </a:r>
            <a:endParaRPr lang="en-US" sz="1200" dirty="0"/>
          </a:p>
        </p:txBody>
      </p:sp>
      <p:sp>
        <p:nvSpPr>
          <p:cNvPr id="15" name="panel"/>
          <p:cNvSpPr/>
          <p:nvPr/>
        </p:nvSpPr>
        <p:spPr>
          <a:xfrm>
            <a:off x="548640" y="5120640"/>
            <a:ext cx="11094415" cy="777240"/>
          </a:xfrm>
          <a:prstGeom prst="roundRect">
            <a:avLst>
              <a:gd name="adj" fmla="val 7059"/>
            </a:avLst>
          </a:prstGeom>
          <a:solidFill>
            <a:srgbClr val="DCE6E9"/>
          </a:solidFill>
          <a:ln w="12700">
            <a:solidFill>
              <a:srgbClr val="DCE6E9"/>
            </a:solidFill>
            <a:prstDash val="solid"/>
          </a:ln>
        </p:spPr>
      </p:sp>
      <p:sp>
        <p:nvSpPr>
          <p:cNvPr id="16" name="teamJoint"/>
          <p:cNvSpPr txBox="1"/>
          <p:nvPr/>
        </p:nvSpPr>
        <p:spPr>
          <a:xfrm>
            <a:off x="914400" y="5120640"/>
            <a:ext cx="10362895" cy="777240"/>
          </a:xfrm>
          <a:prstGeom prst="rect">
            <a:avLst/>
          </a:prstGeom>
          <a:noFill/>
          <a:ln/>
        </p:spPr>
        <p:txBody>
          <a:bodyPr wrap="square" lIns="0" tIns="0" rIns="0" bIns="0" rtlCol="0" anchor="ctr"/>
          <a:lstStyle/>
          <a:p>
            <a:pPr indent="0" marL="0">
              <a:buNone/>
            </a:pPr>
            <a:r>
              <a:rPr lang="en-US" sz="1250" dirty="0">
                <a:solidFill>
                  <a:schemeClr val="accent1"/>
                </a:solidFill>
              </a:rPr>
              <a:t>In comune: scelta dei tre controllori e della struttura dell'ablazione, provenienza dell'andatura, interpretazione dei risultati, report e presentazione.</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A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0180015" cy="777240"/>
          </a:xfrm>
          <a:prstGeom prst="rect">
            <a:avLst/>
          </a:prstGeom>
          <a:noFill/>
          <a:ln/>
        </p:spPr>
        <p:txBody>
          <a:bodyPr wrap="square" lIns="0" tIns="0" rIns="0" bIns="0" rtlCol="0" anchor="ctr"/>
          <a:lstStyle/>
          <a:p>
            <a:pPr indent="0" marL="0">
              <a:buNone/>
            </a:pPr>
            <a:r>
              <a:rPr lang="en-US" sz="2900" b="1" dirty="0">
                <a:solidFill>
                  <a:schemeClr val="bg1"/>
                </a:solidFill>
              </a:rPr>
              <a:t>Conclusioni</a:t>
            </a:r>
            <a:endParaRPr lang="en-US" sz="2900" dirty="0"/>
          </a:p>
        </p:txBody>
      </p:sp>
      <p:sp>
        <p:nvSpPr>
          <p:cNvPr id="3" name="conclList"/>
          <p:cNvSpPr txBox="1"/>
          <p:nvPr/>
        </p:nvSpPr>
        <p:spPr>
          <a:xfrm>
            <a:off x="548640" y="1371600"/>
            <a:ext cx="7040880" cy="4206240"/>
          </a:xfrm>
          <a:prstGeom prst="rect">
            <a:avLst/>
          </a:prstGeom>
          <a:noFill/>
          <a:ln/>
        </p:spPr>
        <p:txBody>
          <a:bodyPr wrap="square" lIns="0" tIns="0" rIns="0" bIns="0" rtlCol="0" anchor="t"/>
          <a:lstStyle/>
          <a:p>
            <a:pPr marL="342900" indent="-342900">
              <a:lnSpc>
                <a:spcPct val="112000"/>
              </a:lnSpc>
              <a:spcAft>
                <a:spcPts val="1100"/>
              </a:spcAft>
              <a:buSzPct val="100000"/>
              <a:buChar char="•"/>
            </a:pPr>
            <a:r>
              <a:rPr lang="en-US" sz="1300" dirty="0">
                <a:solidFill>
                  <a:srgbClr val="E3ECEF"/>
                </a:solidFill>
              </a:rPr>
              <a:t>La sola ricerca del terreno e' un costo netto dove il generatore d'andatura gia' modella il terreno: beccheggio +219/+279% senza ritorno energetico. Su terreno irregolare migliora rollio, costo di trasporto e velocita', peggiorando comunque il beccheggio.</a:t>
            </a:r>
            <a:endParaRPr lang="en-US" sz="1300" dirty="0"/>
          </a:p>
          <a:p>
            <a:pPr marL="342900" indent="-342900">
              <a:lnSpc>
                <a:spcPct val="112000"/>
              </a:lnSpc>
              <a:spcAft>
                <a:spcPts val="1100"/>
              </a:spcAft>
              <a:buSzPct val="100000"/>
              <a:buChar char="•"/>
            </a:pPr>
            <a:r>
              <a:rPr lang="en-US" sz="1300" dirty="0">
                <a:solidFill>
                  <a:srgbClr val="E3ECEF"/>
                </a:solidFill>
              </a:rPr>
              <a:t>L'anello d'assetto e' il meccanismo che compra assetto, su ogni task, a 18-94 volte il rumore di fondo. Costa il 28-40% in energia, spesa in corsa dei piedi e non in carico ai giunti.</a:t>
            </a:r>
            <a:endParaRPr lang="en-US" sz="1300" dirty="0"/>
          </a:p>
          <a:p>
            <a:pPr marL="342900" indent="-342900">
              <a:lnSpc>
                <a:spcPct val="112000"/>
              </a:lnSpc>
              <a:spcAft>
                <a:spcPts val="1100"/>
              </a:spcAft>
              <a:buSzPct val="100000"/>
              <a:buChar char="•"/>
            </a:pPr>
            <a:r>
              <a:rPr lang="en-US" sz="1300" dirty="0">
                <a:solidFill>
                  <a:srgbClr val="E3ECEF"/>
                </a:solidFill>
              </a:rPr>
              <a:t>Composti in serie lasciano il corpo migliore dell'anello aperto, ma rendono il contatto inosservabile a qualunque rilevatore basato sulla quiete.</a:t>
            </a:r>
            <a:endParaRPr lang="en-US" sz="1300" dirty="0"/>
          </a:p>
          <a:p>
            <a:pPr marL="342900" indent="-342900">
              <a:lnSpc>
                <a:spcPct val="112000"/>
              </a:lnSpc>
              <a:spcAft>
                <a:spcPts val="1100"/>
              </a:spcAft>
              <a:buSzPct val="100000"/>
              <a:buChar char="•"/>
            </a:pPr>
            <a:r>
              <a:rPr lang="en-US" sz="1300" dirty="0">
                <a:solidFill>
                  <a:srgbClr val="E3ECEF"/>
                </a:solidFill>
              </a:rPr>
              <a:t>Sui servo reali la marcia girerebbe a 2.3x il carico continuo raccomandato.</a:t>
            </a:r>
            <a:endParaRPr lang="en-US" sz="1300" dirty="0"/>
          </a:p>
        </p:txBody>
      </p:sp>
      <p:sp>
        <p:nvSpPr>
          <p:cNvPr id="4" name="nextBox"/>
          <p:cNvSpPr/>
          <p:nvPr/>
        </p:nvSpPr>
        <p:spPr>
          <a:xfrm>
            <a:off x="7955280" y="1371600"/>
            <a:ext cx="3687775" cy="3017520"/>
          </a:xfrm>
          <a:prstGeom prst="roundRect">
            <a:avLst>
              <a:gd name="adj" fmla="val 1818"/>
            </a:avLst>
          </a:prstGeom>
          <a:solidFill>
            <a:srgbClr val="2E5564"/>
          </a:solidFill>
          <a:ln w="12700">
            <a:solidFill>
              <a:srgbClr val="2E5564"/>
            </a:solidFill>
            <a:prstDash val="solid"/>
          </a:ln>
        </p:spPr>
      </p:sp>
      <p:sp>
        <p:nvSpPr>
          <p:cNvPr id="5" name="nextHead"/>
          <p:cNvSpPr txBox="1"/>
          <p:nvPr/>
        </p:nvSpPr>
        <p:spPr>
          <a:xfrm>
            <a:off x="8275320" y="1600200"/>
            <a:ext cx="3047695" cy="384048"/>
          </a:xfrm>
          <a:prstGeom prst="rect">
            <a:avLst/>
          </a:prstGeom>
          <a:noFill/>
          <a:ln/>
        </p:spPr>
        <p:txBody>
          <a:bodyPr wrap="square" lIns="0" tIns="0" rIns="0" bIns="0" rtlCol="0" anchor="ctr"/>
          <a:lstStyle/>
          <a:p>
            <a:pPr indent="0" marL="0">
              <a:buNone/>
            </a:pPr>
            <a:r>
              <a:rPr lang="en-US" sz="1500" b="1" dirty="0">
                <a:solidFill>
                  <a:srgbClr val="FFFFFF"/>
                </a:solidFill>
              </a:rPr>
              <a:t>Che cosa viene dopo</a:t>
            </a:r>
            <a:endParaRPr lang="en-US" sz="1500" dirty="0"/>
          </a:p>
        </p:txBody>
      </p:sp>
      <p:sp>
        <p:nvSpPr>
          <p:cNvPr id="6" name="nextList"/>
          <p:cNvSpPr txBox="1"/>
          <p:nvPr/>
        </p:nvSpPr>
        <p:spPr>
          <a:xfrm>
            <a:off x="8275320" y="2103120"/>
            <a:ext cx="3047695" cy="2103120"/>
          </a:xfrm>
          <a:prstGeom prst="rect">
            <a:avLst/>
          </a:prstGeom>
          <a:noFill/>
          <a:ln/>
        </p:spPr>
        <p:txBody>
          <a:bodyPr wrap="square" lIns="0" tIns="0" rIns="0" bIns="0" rtlCol="0" anchor="t"/>
          <a:lstStyle/>
          <a:p>
            <a:pPr marL="342900" indent="-342900">
              <a:lnSpc>
                <a:spcPct val="112000"/>
              </a:lnSpc>
              <a:spcAft>
                <a:spcPts val="1000"/>
              </a:spcAft>
              <a:buSzPct val="100000"/>
              <a:buChar char="•"/>
            </a:pPr>
            <a:r>
              <a:rPr lang="en-US" sz="1250" dirty="0">
                <a:solidFill>
                  <a:srgbClr val="D7E3E7"/>
                </a:solidFill>
              </a:rPr>
              <a:t>La quarta cella dell'ablazione: retroazione d'assetto senza ricerca del terreno</a:t>
            </a:r>
            <a:endParaRPr lang="en-US" sz="1250" dirty="0"/>
          </a:p>
          <a:p>
            <a:pPr marL="342900" indent="-342900">
              <a:lnSpc>
                <a:spcPct val="112000"/>
              </a:lnSpc>
              <a:spcAft>
                <a:spcPts val="1000"/>
              </a:spcAft>
              <a:buSzPct val="100000"/>
              <a:buChar char="•"/>
            </a:pPr>
            <a:r>
              <a:rPr lang="en-US" sz="1250" dirty="0">
                <a:solidFill>
                  <a:srgbClr val="D7E3E7"/>
                </a:solidFill>
              </a:rPr>
              <a:t>Una campagna con i limiti dei servo nell'anello, dove il costo energetico di C3 smette di essere gratuito</a:t>
            </a:r>
            <a:endParaRPr lang="en-US" sz="1250" dirty="0"/>
          </a:p>
        </p:txBody>
      </p:sp>
      <p:sp>
        <p:nvSpPr>
          <p:cNvPr id="7" name="chip"/>
          <p:cNvSpPr/>
          <p:nvPr/>
        </p:nvSpPr>
        <p:spPr>
          <a:xfrm>
            <a:off x="7955280" y="4846320"/>
            <a:ext cx="566928" cy="566928"/>
          </a:xfrm>
          <a:prstGeom prst="ellipse">
            <a:avLst/>
          </a:prstGeom>
          <a:solidFill>
            <a:srgbClr val="7C8A91"/>
          </a:solidFill>
          <a:ln w="12700">
            <a:solidFill>
              <a:srgbClr val="7C8A91"/>
            </a:solidFill>
            <a:prstDash val="solid"/>
          </a:ln>
        </p:spPr>
      </p:sp>
      <p:sp>
        <p:nvSpPr>
          <p:cNvPr id="8" name="chipText"/>
          <p:cNvSpPr txBox="1"/>
          <p:nvPr/>
        </p:nvSpPr>
        <p:spPr>
          <a:xfrm>
            <a:off x="7955280" y="4846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C1</a:t>
            </a:r>
            <a:endParaRPr lang="en-US" sz="1500" dirty="0"/>
          </a:p>
        </p:txBody>
      </p:sp>
      <p:sp>
        <p:nvSpPr>
          <p:cNvPr id="9" name="chip"/>
          <p:cNvSpPr/>
          <p:nvPr/>
        </p:nvSpPr>
        <p:spPr>
          <a:xfrm>
            <a:off x="8668512" y="4846320"/>
            <a:ext cx="566928" cy="566928"/>
          </a:xfrm>
          <a:prstGeom prst="ellipse">
            <a:avLst/>
          </a:prstGeom>
          <a:solidFill>
            <a:srgbClr val="C2591F"/>
          </a:solidFill>
          <a:ln w="12700">
            <a:solidFill>
              <a:srgbClr val="C2591F"/>
            </a:solidFill>
            <a:prstDash val="solid"/>
          </a:ln>
        </p:spPr>
      </p:sp>
      <p:sp>
        <p:nvSpPr>
          <p:cNvPr id="10" name="chipText"/>
          <p:cNvSpPr txBox="1"/>
          <p:nvPr/>
        </p:nvSpPr>
        <p:spPr>
          <a:xfrm>
            <a:off x="8668512" y="4846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C2</a:t>
            </a:r>
            <a:endParaRPr lang="en-US" sz="1500" dirty="0"/>
          </a:p>
        </p:txBody>
      </p:sp>
      <p:sp>
        <p:nvSpPr>
          <p:cNvPr id="11" name="chip"/>
          <p:cNvSpPr/>
          <p:nvPr/>
        </p:nvSpPr>
        <p:spPr>
          <a:xfrm>
            <a:off x="9381744" y="4846320"/>
            <a:ext cx="566928" cy="566928"/>
          </a:xfrm>
          <a:prstGeom prst="ellipse">
            <a:avLst/>
          </a:prstGeom>
          <a:solidFill>
            <a:srgbClr val="6F9480"/>
          </a:solidFill>
          <a:ln w="12700">
            <a:solidFill>
              <a:srgbClr val="6F9480"/>
            </a:solidFill>
            <a:prstDash val="solid"/>
          </a:ln>
        </p:spPr>
      </p:sp>
      <p:sp>
        <p:nvSpPr>
          <p:cNvPr id="12" name="chipText"/>
          <p:cNvSpPr txBox="1"/>
          <p:nvPr/>
        </p:nvSpPr>
        <p:spPr>
          <a:xfrm>
            <a:off x="9381744" y="48463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C3</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E99A3"/>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PhantomX FSR">
  <a:themeElements>
    <a:clrScheme name="PhantomX FSR">
      <a:dk1>
        <a:srgbClr val="1A2228"/>
      </a:dk1>
      <a:lt1>
        <a:srgbClr val="FFFFFF"/>
      </a:lt1>
      <a:dk2>
        <a:srgbClr val="44606B"/>
      </a:dk2>
      <a:lt2>
        <a:srgbClr val="EFEBE5"/>
      </a:lt2>
      <a:accent1>
        <a:srgbClr val="23424F"/>
      </a:accent1>
      <a:accent2>
        <a:srgbClr val="C2591F"/>
      </a:accent2>
      <a:accent3>
        <a:srgbClr val="6F9480"/>
      </a:accent3>
      <a:accent4>
        <a:srgbClr val="7C8A91"/>
      </a:accent4>
      <a:accent5>
        <a:srgbClr val="9A6A3C"/>
      </a:accent5>
      <a:accent6>
        <a:srgbClr val="A8322A"/>
      </a:accent6>
      <a:hlink>
        <a:srgbClr val="23424F"/>
      </a:hlink>
      <a:folHlink>
        <a:srgbClr val="6F9480"/>
      </a:folHlink>
    </a:clrScheme>
    <a:fontScheme name="PhantomX FS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Controllo con interazione col terreno di un robot esapode</dc:title>
  <dc:subject>PptxGenJS Presentation</dc:subject>
  <dc:creator>FSR PhantomX</dc:creator>
  <cp:lastModifiedBy>FSR PhantomX</cp:lastModifiedBy>
  <cp:revision>1</cp:revision>
  <dcterms:created xsi:type="dcterms:W3CDTF">2026-10-05T13:44:34Z</dcterms:created>
  <dcterms:modified xsi:type="dcterms:W3CDTF">2026-10-05T13:44:34Z</dcterms:modified>
</cp:coreProperties>
</file>