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0289ef4-44e2-e5a5-9dda-0a1151ed10eb}">
          <p14:sldIdLst>
            <p14:sldId id="256"/>
            <p14:sldId id="257"/>
            <p14:sldId id="258"/>
            <p14:sldId id="259"/>
            <p14:sldId id="260"/>
          </p14:sldIdLst>
        </p14:section>
        <p14:section name="The test bench" id="{4da54d22-6f01-520b-0404-13dd5fca1ae8}">
          <p14:sldIdLst>
            <p14:sldId id="261"/>
            <p14:sldId id="262"/>
            <p14:sldId id="263"/>
            <p14:sldId id="264"/>
          </p14:sldIdLst>
        </p14:section>
        <p14:section name="Method" id="{d213d84e-08dd-f85f-7d4d-de207776b3ff}">
          <p14:sldIdLst>
            <p14:sldId id="265"/>
            <p14:sldId id="266"/>
            <p14:sldId id="267"/>
          </p14:sldIdLst>
        </p14:section>
        <p14:section name="Two defects" id="{4d0848c2-8520-0dfe-7f46-209c7bf1ee32}">
          <p14:sldIdLst>
            <p14:sldId id="268"/>
            <p14:sldId id="269"/>
            <p14:sldId id="270"/>
            <p14:sldId id="271"/>
          </p14:sldIdLst>
        </p14:section>
        <p14:section name="Results" id="{37844691-a81d-c245-0544-9cf785b8002a}">
          <p14:sldIdLst>
            <p14:sldId id="272"/>
            <p14:sldId id="273"/>
            <p14:sldId id="274"/>
            <p14:sldId id="275"/>
            <p14:sldId id="276"/>
            <p14:sldId id="277"/>
            <p14:sldId id="278"/>
          </p14:sldIdLst>
        </p14:section>
        <p14:section name="What it means" id="{5b224280-d49d-71cc-881f-1e9e0cf523dc}">
          <p14:sldIdLst>
            <p14:sldId id="279"/>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1920240"/>
            <a:ext cx="10362895" cy="1737360"/>
          </a:xfrm>
          <a:prstGeom prst="rect">
            <a:avLst/>
          </a:prstGeom>
          <a:noFill/>
          <a:ln/>
        </p:spPr>
        <p:txBody>
          <a:bodyPr wrap="square" rtlCol="0"/>
          <a:lstStyle>
            <a:lvl1pPr indent="0" marL="0">
              <a:lnSpc>
                <a:spcPct val="105000"/>
              </a:lnSpc>
              <a:buNone/>
              <a:defRPr lang="en-US" sz="4000" b="1" dirty="0">
                <a:solidFill>
                  <a:schemeClr val="bg1"/>
                </a:solidFill>
              </a:defRPr>
            </a:lvl1pPr>
          </a:lstStyle>
          <a:p>
            <a:pPr indent="0" marL="0">
              <a:lnSpc>
                <a:spcPct val="105000"/>
              </a:lnSpc>
              <a:buNone/>
            </a:pPr>
            <a:r>
              <a:rPr lang="en-US" sz="4000" b="1" dirty="0">
                <a:solidFill>
                  <a:schemeClr val="bg1"/>
                </a:solidFill>
              </a:rPr>
              <a:t> </a:t>
            </a:r>
            <a:endParaRPr lang="en-US" sz="4000" dirty="0"/>
          </a:p>
        </p:txBody>
      </p:sp>
      <p:sp>
        <p:nvSpPr>
          <p:cNvPr id="3" name="Text 0"/>
          <p:cNvSpPr/>
          <p:nvPr>
            <p:ph idx="101" type="body" hasCustomPrompt="1"/>
          </p:nvPr>
        </p:nvSpPr>
        <p:spPr>
          <a:xfrm>
            <a:off x="914400" y="3794760"/>
            <a:ext cx="8899855" cy="822960"/>
          </a:xfrm>
          <a:prstGeom prst="rect">
            <a:avLst/>
          </a:prstGeom>
          <a:noFill/>
          <a:ln/>
        </p:spPr>
        <p:txBody>
          <a:bodyPr wrap="square" rtlCol="0"/>
          <a:lstStyle>
            <a:lvl1pPr indent="0" marL="0">
              <a:buNone/>
              <a:defRPr lang="en-US" sz="1700" dirty="0">
                <a:solidFill>
                  <a:srgbClr val="C8D6DB"/>
                </a:solidFill>
              </a:defRPr>
            </a:lvl1pPr>
          </a:lstStyle>
          <a:p>
            <a:pPr indent="0" marL="0">
              <a:buNone/>
            </a:pPr>
            <a:r>
              <a:rPr lang="en-US" sz="1700" dirty="0">
                <a:solidFill>
                  <a:srgbClr val="C8D6DB"/>
                </a:solidFill>
              </a:rPr>
              <a:t> </a:t>
            </a:r>
            <a:endParaRPr lang="en-US" sz="1700" dirty="0"/>
          </a:p>
        </p:txBody>
      </p:sp>
      <p:sp>
        <p:nvSpPr>
          <p:cNvPr id="4" name="Text 0"/>
          <p:cNvSpPr/>
          <p:nvPr>
            <p:ph idx="102" type="body" hasCustomPrompt="1"/>
          </p:nvPr>
        </p:nvSpPr>
        <p:spPr>
          <a:xfrm>
            <a:off x="914400" y="5257800"/>
            <a:ext cx="10362895" cy="1005840"/>
          </a:xfrm>
          <a:prstGeom prst="rect">
            <a:avLst/>
          </a:prstGeom>
          <a:noFill/>
          <a:ln/>
        </p:spPr>
        <p:txBody>
          <a:bodyPr wrap="square" rtlCol="0"/>
          <a:lstStyle>
            <a:lvl1pPr indent="0" marL="0">
              <a:buNone/>
              <a:defRPr lang="en-US" sz="1300" dirty="0">
                <a:solidFill>
                  <a:srgbClr val="9FB6BD"/>
                </a:solidFill>
              </a:defRPr>
            </a:lvl1pPr>
          </a:lstStyle>
          <a:p>
            <a:pPr indent="0" marL="0">
              <a:buNone/>
            </a:pPr>
            <a:r>
              <a:rPr lang="en-US" sz="1300" dirty="0">
                <a:solidFill>
                  <a:srgbClr val="9FB6BD"/>
                </a:solidFill>
              </a:rPr>
              <a:t> </a:t>
            </a: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914400" y="2514600"/>
            <a:ext cx="2011680" cy="457200"/>
          </a:xfrm>
          <a:prstGeom prst="rect">
            <a:avLst/>
          </a:prstGeom>
          <a:noFill/>
          <a:ln/>
        </p:spPr>
        <p:txBody>
          <a:bodyPr wrap="square" rtlCol="0"/>
          <a:lstStyle>
            <a:lvl1pPr algn="l" indent="0" marL="0">
              <a:buNone/>
              <a:defRPr lang="en-US" sz="1400" b="1" spc="200" kern="0" dirty="0">
                <a:solidFill>
                  <a:srgbClr val="A9C7D1"/>
                </a:solidFill>
              </a:defRPr>
            </a:lvl1pPr>
          </a:lstStyle>
          <a:p>
            <a:pPr algn="l" indent="0" marL="0">
              <a:buNone/>
            </a:pPr>
            <a:r>
              <a:rPr lang="en-US" sz="1400" b="1" spc="200" kern="0" dirty="0">
                <a:solidFill>
                  <a:srgbClr val="A9C7D1"/>
                </a:solidFill>
              </a:rPr>
              <a:t> </a:t>
            </a:r>
            <a:endParaRPr lang="en-US" sz="1400" dirty="0"/>
          </a:p>
        </p:txBody>
      </p:sp>
      <p:sp>
        <p:nvSpPr>
          <p:cNvPr id="3" name="Text 0"/>
          <p:cNvSpPr/>
          <p:nvPr>
            <p:ph idx="101" type="title" hasCustomPrompt="1"/>
          </p:nvPr>
        </p:nvSpPr>
        <p:spPr>
          <a:xfrm>
            <a:off x="914400" y="2926080"/>
            <a:ext cx="9265615"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r>
              <a:rPr lang="en-US" sz="3800" b="1" dirty="0">
                <a:solidFill>
                  <a:schemeClr val="bg1"/>
                </a:solidFill>
              </a:rPr>
              <a:t> </a:t>
            </a:r>
            <a:endParaRPr lang="en-US" sz="3800" dirty="0"/>
          </a:p>
        </p:txBody>
      </p:sp>
      <p:sp>
        <p:nvSpPr>
          <p:cNvPr id="4" name="Text 0"/>
          <p:cNvSpPr/>
          <p:nvPr>
            <p:ph idx="102" type="body" hasCustomPrompt="1"/>
          </p:nvPr>
        </p:nvSpPr>
        <p:spPr>
          <a:xfrm>
            <a:off x="914400" y="4114800"/>
            <a:ext cx="8351215" cy="914400"/>
          </a:xfrm>
          <a:prstGeom prst="rect">
            <a:avLst/>
          </a:prstGeom>
          <a:noFill/>
          <a:ln/>
        </p:spPr>
        <p:txBody>
          <a:bodyPr wrap="square" rtlCol="0"/>
          <a:lstStyle>
            <a:lvl1pPr algn="l" indent="0" marL="0">
              <a:buNone/>
              <a:defRPr lang="en-US" sz="1500" dirty="0">
                <a:solidFill>
                  <a:srgbClr val="C8D6DB"/>
                </a:solidFill>
              </a:defRPr>
            </a:lvl1pPr>
          </a:lstStyle>
          <a:p>
            <a:pPr algn="l" indent="0" marL="0">
              <a:buNone/>
            </a:pPr>
            <a:r>
              <a:rPr lang="en-US" sz="1500" dirty="0">
                <a:solidFill>
                  <a:srgbClr val="C8D6DB"/>
                </a:solidFill>
              </a:rPr>
              <a:t> </a:t>
            </a: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rtlCol="0"/>
          <a:lstStyle>
            <a:lvl1pPr indent="0" marL="0">
              <a:buNone/>
              <a:defRPr lang="en-US" sz="2900" b="1" dirty="0">
                <a:solidFill>
                  <a:schemeClr val="accent1"/>
                </a:solidFill>
              </a:defRPr>
            </a:lvl1pPr>
          </a:lstStyle>
          <a:p>
            <a:pPr indent="0" marL="0">
              <a:buNone/>
            </a:pPr>
            <a:r>
              <a:rPr lang="en-US" sz="2900" b="1" dirty="0">
                <a:solidFill>
                  <a:schemeClr val="accent1"/>
                </a:solidFill>
              </a:rPr>
              <a:t> </a:t>
            </a:r>
            <a:endParaRPr lang="en-US" sz="2900" dirty="0"/>
          </a:p>
        </p:txBody>
      </p:sp>
      <p:sp>
        <p:nvSpPr>
          <p:cNvPr id="3" name="Text 0"/>
          <p:cNvSpPr txBox="1"/>
          <p:nvPr/>
        </p:nvSpPr>
        <p:spPr>
          <a:xfrm>
            <a:off x="548640" y="6382512"/>
            <a:ext cx="2743200" cy="274320"/>
          </a:xfrm>
          <a:prstGeom prst="rect">
            <a:avLst/>
          </a:prstGeom>
          <a:noFill/>
          <a:ln/>
        </p:spPr>
        <p:txBody>
          <a:bodyPr wrap="square" lIns="0" tIns="0" rIns="0" bIns="0" rtlCol="0" anchor="ctr"/>
          <a:lstStyle/>
          <a:p>
            <a:pPr indent="0" marL="0">
              <a:buNone/>
            </a:pPr>
            <a:r>
              <a:rPr lang="en-US" sz="1000" dirty="0">
                <a:solidFill>
                  <a:srgbClr val="9AA7AD"/>
                </a:solidFill>
              </a:rPr>
              <a:t>FSR PhantomX</a:t>
            </a:r>
            <a:endParaRPr lang="en-US" sz="1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rtlCol="0"/>
          <a:lstStyle>
            <a:lvl1pPr indent="0" marL="0">
              <a:buNone/>
              <a:defRPr lang="en-US" sz="2900" b="1" dirty="0">
                <a:solidFill>
                  <a:schemeClr val="bg1"/>
                </a:solidFill>
              </a:defRPr>
            </a:lvl1pPr>
          </a:lstStyle>
          <a:p>
            <a:pPr indent="0" marL="0">
              <a:buNone/>
            </a:pPr>
            <a:r>
              <a:rPr lang="en-US" sz="2900" b="1" dirty="0">
                <a:solidFill>
                  <a:schemeClr val="bg1"/>
                </a:solidFill>
              </a:rPr>
              <a:t> </a:t>
            </a:r>
            <a:endParaRPr lang="en-US" sz="2900" dirty="0"/>
          </a:p>
        </p:txBody>
      </p:sp>
      <p:sp>
        <p:nvSpPr>
          <p:cNvPr id="3" name="Text 0"/>
          <p:cNvSpPr txBox="1"/>
          <p:nvPr/>
        </p:nvSpPr>
        <p:spPr>
          <a:xfrm>
            <a:off x="548640" y="6382512"/>
            <a:ext cx="2743200" cy="274320"/>
          </a:xfrm>
          <a:prstGeom prst="rect">
            <a:avLst/>
          </a:prstGeom>
          <a:noFill/>
          <a:ln/>
        </p:spPr>
        <p:txBody>
          <a:bodyPr wrap="square" lIns="0" tIns="0" rIns="0" bIns="0" rtlCol="0" anchor="ctr"/>
          <a:lstStyle/>
          <a:p>
            <a:pPr indent="0" marL="0">
              <a:buNone/>
            </a:pPr>
            <a:r>
              <a:rPr lang="en-US" sz="1000" dirty="0">
                <a:solidFill>
                  <a:srgbClr val="7E99A3"/>
                </a:solidFill>
              </a:rPr>
              <a:t>FSR PhantomX</a:t>
            </a:r>
            <a:endParaRPr lang="en-US" sz="1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99A3"/>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914400" y="1920240"/>
            <a:ext cx="10362895" cy="1737360"/>
          </a:xfrm>
          <a:prstGeom prst="rect">
            <a:avLst/>
          </a:prstGeom>
          <a:noFill/>
          <a:ln/>
        </p:spPr>
        <p:txBody>
          <a:bodyPr wrap="square" rtlCol="0" anchor="b"/>
          <a:lstStyle/>
          <a:p>
            <a:pPr indent="0" marL="0">
              <a:lnSpc>
                <a:spcPct val="105000"/>
              </a:lnSpc>
              <a:buNone/>
            </a:pPr>
            <a:r>
              <a:rPr lang="en-US" sz="4000" b="1" dirty="0">
                <a:solidFill>
                  <a:schemeClr val="bg1"/>
                </a:solidFill>
              </a:rPr>
              <a:t>Terrain-Interaction Control</a:t>
            </a:r>
            <a:endParaRPr lang="en-US" sz="4000" dirty="0"/>
          </a:p>
          <a:p>
            <a:pPr indent="0" marL="0">
              <a:lnSpc>
                <a:spcPct val="105000"/>
              </a:lnSpc>
              <a:buNone/>
            </a:pPr>
            <a:r>
              <a:rPr lang="en-US" sz="4000" b="1" dirty="0">
                <a:solidFill>
                  <a:schemeClr val="bg1"/>
                </a:solidFill>
              </a:rPr>
              <a:t>of a Hexapod Robot</a:t>
            </a:r>
            <a:endParaRPr lang="en-US" sz="4000" dirty="0"/>
          </a:p>
        </p:txBody>
      </p:sp>
      <p:sp>
        <p:nvSpPr>
          <p:cNvPr id="3" name="Text 0"/>
          <p:cNvSpPr/>
          <p:nvPr>
            <p:ph idx="101" type="body" hasCustomPrompt="1"/>
          </p:nvPr>
        </p:nvSpPr>
        <p:spPr>
          <a:xfrm>
            <a:off x="914400" y="3794760"/>
            <a:ext cx="8899855" cy="822960"/>
          </a:xfrm>
          <a:prstGeom prst="rect">
            <a:avLst/>
          </a:prstGeom>
          <a:noFill/>
          <a:ln/>
        </p:spPr>
        <p:txBody>
          <a:bodyPr wrap="square" rtlCol="0" anchor="t"/>
          <a:lstStyle/>
          <a:p>
            <a:pPr indent="0" marL="0">
              <a:buNone/>
            </a:pPr>
            <a:r>
              <a:rPr lang="en-US" sz="1700" dirty="0">
                <a:solidFill>
                  <a:srgbClr val="C8D6DB"/>
                </a:solidFill>
              </a:rPr>
              <a:t>A measured comparison of three controllers on a shared simulation plant</a:t>
            </a:r>
            <a:endParaRPr lang="en-US" sz="1700" dirty="0"/>
          </a:p>
        </p:txBody>
      </p:sp>
      <p:sp>
        <p:nvSpPr>
          <p:cNvPr id="4" name="Text 0"/>
          <p:cNvSpPr/>
          <p:nvPr>
            <p:ph idx="102" type="body" hasCustomPrompt="1"/>
          </p:nvPr>
        </p:nvSpPr>
        <p:spPr>
          <a:xfrm>
            <a:off x="914400" y="5257800"/>
            <a:ext cx="10362895" cy="1005840"/>
          </a:xfrm>
          <a:prstGeom prst="rect">
            <a:avLst/>
          </a:prstGeom>
          <a:noFill/>
          <a:ln/>
        </p:spPr>
        <p:txBody>
          <a:bodyPr wrap="square" rtlCol="0" anchor="t"/>
          <a:lstStyle/>
          <a:p>
            <a:pPr indent="0" marL="0">
              <a:buNone/>
            </a:pPr>
            <a:r>
              <a:rPr lang="en-US" sz="1500" b="1" dirty="0">
                <a:solidFill>
                  <a:srgbClr val="FFFFFF"/>
                </a:solidFill>
              </a:rPr>
              <a:t>[Student 1]  ·  [Student 2]</a:t>
            </a:r>
            <a:endParaRPr lang="en-US" sz="1300" dirty="0"/>
          </a:p>
          <a:p>
            <a:pPr indent="0" marL="0">
              <a:buNone/>
            </a:pPr>
            <a:r>
              <a:rPr lang="en-US" sz="1300" dirty="0">
                <a:solidFill>
                  <a:srgbClr val="9FB6BD"/>
                </a:solidFill>
              </a:rPr>
              <a:t>Field and Service Robotics — A.Y. 2025/2026</a:t>
            </a:r>
            <a:endParaRPr lang="en-US" sz="1300" dirty="0"/>
          </a:p>
          <a:p>
            <a:pPr indent="0" marL="0">
              <a:buNone/>
            </a:pPr>
            <a:r>
              <a:rPr lang="en-US" sz="1300" dirty="0">
                <a:solidFill>
                  <a:srgbClr val="9FB6BD"/>
                </a:solidFill>
              </a:rPr>
              <a:t>Universita degli Studi di Napoli Federico II</a:t>
            </a:r>
            <a:endParaRPr lang="en-US" sz="1300" dirty="0"/>
          </a:p>
        </p:txBody>
      </p:sp>
      <p:sp>
        <p:nvSpPr>
          <p:cNvPr id="5" name="chip"/>
          <p:cNvSpPr/>
          <p:nvPr/>
        </p:nvSpPr>
        <p:spPr>
          <a:xfrm>
            <a:off x="9430207" y="5532120"/>
            <a:ext cx="566928" cy="566928"/>
          </a:xfrm>
          <a:prstGeom prst="ellipse">
            <a:avLst/>
          </a:prstGeom>
          <a:solidFill>
            <a:srgbClr val="7C8A91"/>
          </a:solidFill>
          <a:ln w="12700">
            <a:solidFill>
              <a:srgbClr val="7C8A91"/>
            </a:solidFill>
            <a:prstDash val="solid"/>
          </a:ln>
        </p:spPr>
      </p:sp>
      <p:sp>
        <p:nvSpPr>
          <p:cNvPr id="6" name="chipText"/>
          <p:cNvSpPr txBox="1"/>
          <p:nvPr/>
        </p:nvSpPr>
        <p:spPr>
          <a:xfrm>
            <a:off x="9430207" y="55321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rPr>
              <a:t>C1</a:t>
            </a:r>
            <a:endParaRPr lang="en-US" sz="1500" dirty="0"/>
          </a:p>
        </p:txBody>
      </p:sp>
      <p:sp>
        <p:nvSpPr>
          <p:cNvPr id="7" name="chip"/>
          <p:cNvSpPr/>
          <p:nvPr/>
        </p:nvSpPr>
        <p:spPr>
          <a:xfrm>
            <a:off x="10143439" y="5532120"/>
            <a:ext cx="566928" cy="566928"/>
          </a:xfrm>
          <a:prstGeom prst="ellipse">
            <a:avLst/>
          </a:prstGeom>
          <a:solidFill>
            <a:srgbClr val="C2591F"/>
          </a:solidFill>
          <a:ln w="12700">
            <a:solidFill>
              <a:srgbClr val="C2591F"/>
            </a:solidFill>
            <a:prstDash val="solid"/>
          </a:ln>
        </p:spPr>
      </p:sp>
      <p:sp>
        <p:nvSpPr>
          <p:cNvPr id="8" name="chipText"/>
          <p:cNvSpPr txBox="1"/>
          <p:nvPr/>
        </p:nvSpPr>
        <p:spPr>
          <a:xfrm>
            <a:off x="10143439" y="55321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rPr>
              <a:t>C2</a:t>
            </a:r>
            <a:endParaRPr lang="en-US" sz="1500" dirty="0"/>
          </a:p>
        </p:txBody>
      </p:sp>
      <p:sp>
        <p:nvSpPr>
          <p:cNvPr id="9" name="chip"/>
          <p:cNvSpPr/>
          <p:nvPr/>
        </p:nvSpPr>
        <p:spPr>
          <a:xfrm>
            <a:off x="10856671" y="5532120"/>
            <a:ext cx="566928" cy="566928"/>
          </a:xfrm>
          <a:prstGeom prst="ellipse">
            <a:avLst/>
          </a:prstGeom>
          <a:solidFill>
            <a:srgbClr val="6F9480"/>
          </a:solidFill>
          <a:ln w="12700">
            <a:solidFill>
              <a:srgbClr val="6F9480"/>
            </a:solidFill>
            <a:prstDash val="solid"/>
          </a:ln>
        </p:spPr>
      </p:sp>
      <p:sp>
        <p:nvSpPr>
          <p:cNvPr id="10" name="chipText"/>
          <p:cNvSpPr txBox="1"/>
          <p:nvPr/>
        </p:nvSpPr>
        <p:spPr>
          <a:xfrm>
            <a:off x="10856671" y="55321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rPr>
              <a:t>C3</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The question</a:t>
            </a:r>
            <a:endParaRPr lang="en-US" sz="2900" dirty="0"/>
          </a:p>
        </p:txBody>
      </p:sp>
      <p:sp>
        <p:nvSpPr>
          <p:cNvPr id="3" name="lead"/>
          <p:cNvSpPr txBox="1"/>
          <p:nvPr/>
        </p:nvSpPr>
        <p:spPr>
          <a:xfrm>
            <a:off x="548640" y="1325880"/>
            <a:ext cx="10545775" cy="1005840"/>
          </a:xfrm>
          <a:prstGeom prst="rect">
            <a:avLst/>
          </a:prstGeom>
          <a:noFill/>
          <a:ln/>
        </p:spPr>
        <p:txBody>
          <a:bodyPr wrap="square" lIns="0" tIns="0" rIns="0" bIns="0" rtlCol="0" anchor="ctr"/>
          <a:lstStyle/>
          <a:p>
            <a:pPr indent="0" marL="0">
              <a:lnSpc>
                <a:spcPct val="115000"/>
              </a:lnSpc>
              <a:buNone/>
            </a:pPr>
            <a:r>
              <a:rPr lang="en-US" sz="1900" i="1" dirty="0">
                <a:solidFill>
                  <a:schemeClr val="accent1"/>
                </a:solidFill>
              </a:rPr>
              <a:t>Terrain search buys terrain adaptation without adding a single sensor.</a:t>
            </a:r>
            <a:endParaRPr lang="en-US" sz="1900" dirty="0"/>
          </a:p>
          <a:p>
            <a:pPr indent="0" marL="0">
              <a:lnSpc>
                <a:spcPct val="115000"/>
              </a:lnSpc>
              <a:buNone/>
            </a:pPr>
            <a:r>
              <a:rPr lang="en-US" sz="1900" i="1" dirty="0">
                <a:solidFill>
                  <a:schemeClr val="accent1"/>
                </a:solidFill>
              </a:rPr>
              <a:t>What does it cost where there is no terrain to discover?</a:t>
            </a:r>
            <a:endParaRPr lang="en-US" sz="1900" dirty="0"/>
          </a:p>
        </p:txBody>
      </p:sp>
      <p:sp>
        <p:nvSpPr>
          <p:cNvPr id="4" name="panel"/>
          <p:cNvSpPr/>
          <p:nvPr/>
        </p:nvSpPr>
        <p:spPr>
          <a:xfrm>
            <a:off x="548640" y="2971800"/>
            <a:ext cx="3454298" cy="2057400"/>
          </a:xfrm>
          <a:prstGeom prst="roundRect">
            <a:avLst>
              <a:gd name="adj" fmla="val 2667"/>
            </a:avLst>
          </a:prstGeom>
          <a:solidFill>
            <a:schemeClr val="bg2"/>
          </a:solidFill>
          <a:ln w="12700">
            <a:solidFill>
              <a:schemeClr val="bg2"/>
            </a:solidFill>
            <a:prstDash val="solid"/>
          </a:ln>
        </p:spPr>
      </p:sp>
      <p:sp>
        <p:nvSpPr>
          <p:cNvPr id="5" name="cardHead"/>
          <p:cNvSpPr txBox="1"/>
          <p:nvPr/>
        </p:nvSpPr>
        <p:spPr>
          <a:xfrm>
            <a:off x="804672" y="3154680"/>
            <a:ext cx="2942234" cy="402336"/>
          </a:xfrm>
          <a:prstGeom prst="rect">
            <a:avLst/>
          </a:prstGeom>
          <a:noFill/>
          <a:ln/>
        </p:spPr>
        <p:txBody>
          <a:bodyPr wrap="square" lIns="0" tIns="0" rIns="0" bIns="0" rtlCol="0" anchor="ctr"/>
          <a:lstStyle/>
          <a:p>
            <a:pPr indent="0" marL="0">
              <a:buNone/>
            </a:pPr>
            <a:r>
              <a:rPr lang="en-US" sz="1500" b="1" dirty="0">
                <a:solidFill>
                  <a:schemeClr val="accent1"/>
                </a:solidFill>
              </a:rPr>
              <a:t>Falsifiable</a:t>
            </a:r>
            <a:endParaRPr lang="en-US" sz="1500" dirty="0"/>
          </a:p>
        </p:txBody>
      </p:sp>
      <p:sp>
        <p:nvSpPr>
          <p:cNvPr id="6" name="cardBody"/>
          <p:cNvSpPr txBox="1"/>
          <p:nvPr/>
        </p:nvSpPr>
        <p:spPr>
          <a:xfrm>
            <a:off x="804672" y="3630168"/>
            <a:ext cx="2942234" cy="1179576"/>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The reference work shows the mechanism helps on unmodelled terrain. It never reports its price on terrain the gait already models.</a:t>
            </a:r>
            <a:endParaRPr lang="en-US" sz="1250" dirty="0"/>
          </a:p>
        </p:txBody>
      </p:sp>
      <p:sp>
        <p:nvSpPr>
          <p:cNvPr id="7" name="panel"/>
          <p:cNvSpPr/>
          <p:nvPr/>
        </p:nvSpPr>
        <p:spPr>
          <a:xfrm>
            <a:off x="4368698" y="2971800"/>
            <a:ext cx="3454298" cy="2057400"/>
          </a:xfrm>
          <a:prstGeom prst="roundRect">
            <a:avLst>
              <a:gd name="adj" fmla="val 2667"/>
            </a:avLst>
          </a:prstGeom>
          <a:solidFill>
            <a:schemeClr val="bg2"/>
          </a:solidFill>
          <a:ln w="12700">
            <a:solidFill>
              <a:schemeClr val="bg2"/>
            </a:solidFill>
            <a:prstDash val="solid"/>
          </a:ln>
        </p:spPr>
      </p:sp>
      <p:sp>
        <p:nvSpPr>
          <p:cNvPr id="8" name="cardHead"/>
          <p:cNvSpPr txBox="1"/>
          <p:nvPr/>
        </p:nvSpPr>
        <p:spPr>
          <a:xfrm>
            <a:off x="4624730" y="3154680"/>
            <a:ext cx="2942234" cy="402336"/>
          </a:xfrm>
          <a:prstGeom prst="rect">
            <a:avLst/>
          </a:prstGeom>
          <a:noFill/>
          <a:ln/>
        </p:spPr>
        <p:txBody>
          <a:bodyPr wrap="square" lIns="0" tIns="0" rIns="0" bIns="0" rtlCol="0" anchor="ctr"/>
          <a:lstStyle/>
          <a:p>
            <a:pPr indent="0" marL="0">
              <a:buNone/>
            </a:pPr>
            <a:r>
              <a:rPr lang="en-US" sz="1500" b="1" dirty="0">
                <a:solidFill>
                  <a:schemeClr val="accent1"/>
                </a:solidFill>
              </a:rPr>
              <a:t>Isolable</a:t>
            </a:r>
            <a:endParaRPr lang="en-US" sz="1500" dirty="0"/>
          </a:p>
        </p:txBody>
      </p:sp>
      <p:sp>
        <p:nvSpPr>
          <p:cNvPr id="9" name="cardBody"/>
          <p:cNvSpPr txBox="1"/>
          <p:nvPr/>
        </p:nvSpPr>
        <p:spPr>
          <a:xfrm>
            <a:off x="4624730" y="3630168"/>
            <a:ext cx="2942234" cy="1179576"/>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Three controllers, one plant. Each adds exactly one mechanism, so every adjacent comparison has one cause.</a:t>
            </a:r>
            <a:endParaRPr lang="en-US" sz="1250" dirty="0"/>
          </a:p>
        </p:txBody>
      </p:sp>
      <p:sp>
        <p:nvSpPr>
          <p:cNvPr id="10" name="panel"/>
          <p:cNvSpPr/>
          <p:nvPr/>
        </p:nvSpPr>
        <p:spPr>
          <a:xfrm>
            <a:off x="8188757" y="2971800"/>
            <a:ext cx="3454298" cy="2057400"/>
          </a:xfrm>
          <a:prstGeom prst="roundRect">
            <a:avLst>
              <a:gd name="adj" fmla="val 2667"/>
            </a:avLst>
          </a:prstGeom>
          <a:solidFill>
            <a:schemeClr val="bg2"/>
          </a:solidFill>
          <a:ln w="12700">
            <a:solidFill>
              <a:schemeClr val="bg2"/>
            </a:solidFill>
            <a:prstDash val="solid"/>
          </a:ln>
        </p:spPr>
      </p:sp>
      <p:sp>
        <p:nvSpPr>
          <p:cNvPr id="11" name="cardHead"/>
          <p:cNvSpPr txBox="1"/>
          <p:nvPr/>
        </p:nvSpPr>
        <p:spPr>
          <a:xfrm>
            <a:off x="8444789" y="3154680"/>
            <a:ext cx="2942234" cy="402336"/>
          </a:xfrm>
          <a:prstGeom prst="rect">
            <a:avLst/>
          </a:prstGeom>
          <a:noFill/>
          <a:ln/>
        </p:spPr>
        <p:txBody>
          <a:bodyPr wrap="square" lIns="0" tIns="0" rIns="0" bIns="0" rtlCol="0" anchor="ctr"/>
          <a:lstStyle/>
          <a:p>
            <a:pPr indent="0" marL="0">
              <a:buNone/>
            </a:pPr>
            <a:r>
              <a:rPr lang="en-US" sz="1500" b="1" dirty="0">
                <a:solidFill>
                  <a:schemeClr val="accent1"/>
                </a:solidFill>
              </a:rPr>
              <a:t>Declarable</a:t>
            </a:r>
            <a:endParaRPr lang="en-US" sz="1500" dirty="0"/>
          </a:p>
        </p:txBody>
      </p:sp>
      <p:sp>
        <p:nvSpPr>
          <p:cNvPr id="12" name="cardBody"/>
          <p:cNvSpPr txBox="1"/>
          <p:nvPr/>
        </p:nvSpPr>
        <p:spPr>
          <a:xfrm>
            <a:off x="8444789" y="3630168"/>
            <a:ext cx="2942234" cy="1179576"/>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A measured noise floor decides which differences are results and which are not.</a:t>
            </a:r>
            <a:endParaRPr lang="en-US"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The platform and the reference work</a:t>
            </a:r>
            <a:endParaRPr lang="en-US" sz="2900" dirty="0"/>
          </a:p>
        </p:txBody>
      </p:sp>
      <p:sp>
        <p:nvSpPr>
          <p:cNvPr id="3" name="panel"/>
          <p:cNvSpPr/>
          <p:nvPr/>
        </p:nvSpPr>
        <p:spPr>
          <a:xfrm>
            <a:off x="548640" y="1371600"/>
            <a:ext cx="5318608" cy="2286000"/>
          </a:xfrm>
          <a:prstGeom prst="roundRect">
            <a:avLst>
              <a:gd name="adj" fmla="val 2400"/>
            </a:avLst>
          </a:prstGeom>
          <a:solidFill>
            <a:schemeClr val="bg2"/>
          </a:solidFill>
          <a:ln w="12700">
            <a:solidFill>
              <a:schemeClr val="bg2"/>
            </a:solidFill>
            <a:prstDash val="solid"/>
          </a:ln>
        </p:spPr>
      </p:sp>
      <p:sp>
        <p:nvSpPr>
          <p:cNvPr id="4" name="platformLeft"/>
          <p:cNvSpPr txBox="1"/>
          <p:nvPr/>
        </p:nvSpPr>
        <p:spPr>
          <a:xfrm>
            <a:off x="868680" y="1645920"/>
            <a:ext cx="4678528" cy="246888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chemeClr val="tx1"/>
                </a:solidFill>
              </a:rPr>
              <a:t>PhantomX AX Metal Hexapod Mark II</a:t>
            </a:r>
            <a:endParaRPr lang="en-US" sz="1350" dirty="0"/>
          </a:p>
          <a:p>
            <a:pPr marL="342900" indent="-342900">
              <a:spcAft>
                <a:spcPts val="900"/>
              </a:spcAft>
              <a:buSzPct val="100000"/>
              <a:buChar char="•"/>
            </a:pPr>
            <a:r>
              <a:rPr lang="en-US" sz="1350" dirty="0">
                <a:solidFill>
                  <a:schemeClr val="tx1"/>
                </a:solidFill>
              </a:rPr>
              <a:t>18 Dynamixel AX-12A servos, three per leg</a:t>
            </a:r>
            <a:endParaRPr lang="en-US" sz="1350" dirty="0"/>
          </a:p>
          <a:p>
            <a:pPr marL="342900" indent="-342900">
              <a:spcAft>
                <a:spcPts val="900"/>
              </a:spcAft>
              <a:buSzPct val="100000"/>
              <a:buChar char="•"/>
            </a:pPr>
            <a:r>
              <a:rPr lang="en-US" sz="1350" dirty="0">
                <a:solidFill>
                  <a:schemeClr val="tx1"/>
                </a:solidFill>
              </a:rPr>
              <a:t>No foot force sensors, no IMU</a:t>
            </a:r>
            <a:endParaRPr lang="en-US" sz="1350" dirty="0"/>
          </a:p>
          <a:p>
            <a:pPr marL="342900" indent="-342900">
              <a:spcAft>
                <a:spcPts val="900"/>
              </a:spcAft>
              <a:buSzPct val="100000"/>
              <a:buChar char="•"/>
            </a:pPr>
            <a:r>
              <a:rPr lang="en-US" sz="1350" dirty="0">
                <a:solidFill>
                  <a:schemeClr val="tx1"/>
                </a:solidFill>
              </a:rPr>
              <a:t>The only feedback is each servo's own position and load</a:t>
            </a:r>
            <a:endParaRPr lang="en-US" sz="1350" dirty="0"/>
          </a:p>
        </p:txBody>
      </p:sp>
      <p:sp>
        <p:nvSpPr>
          <p:cNvPr id="5" name="panel"/>
          <p:cNvSpPr/>
          <p:nvPr/>
        </p:nvSpPr>
        <p:spPr>
          <a:xfrm>
            <a:off x="6324448" y="1371600"/>
            <a:ext cx="5318608" cy="2286000"/>
          </a:xfrm>
          <a:prstGeom prst="roundRect">
            <a:avLst>
              <a:gd name="adj" fmla="val 2400"/>
            </a:avLst>
          </a:prstGeom>
          <a:solidFill>
            <a:srgbClr val="DCE6E9"/>
          </a:solidFill>
          <a:ln w="12700">
            <a:solidFill>
              <a:srgbClr val="DCE6E9"/>
            </a:solidFill>
            <a:prstDash val="solid"/>
          </a:ln>
        </p:spPr>
      </p:sp>
      <p:sp>
        <p:nvSpPr>
          <p:cNvPr id="6" name="cardHead"/>
          <p:cNvSpPr txBox="1"/>
          <p:nvPr/>
        </p:nvSpPr>
        <p:spPr>
          <a:xfrm>
            <a:off x="6580480" y="1554480"/>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Arrigoni et al., Robotics 2024</a:t>
            </a:r>
            <a:endParaRPr lang="en-US" sz="1500" dirty="0"/>
          </a:p>
        </p:txBody>
      </p:sp>
      <p:sp>
        <p:nvSpPr>
          <p:cNvPr id="7" name="cardBody"/>
          <p:cNvSpPr txBox="1"/>
          <p:nvPr/>
        </p:nvSpPr>
        <p:spPr>
          <a:xfrm>
            <a:off x="6580480" y="2029968"/>
            <a:ext cx="4806544" cy="1408176"/>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Detect foot-ground contact from motor torque alone: compare the measured joint torque against an inverse-dynamics prediction, and use the detection to adapt commanded foot height.</a:t>
            </a:r>
            <a:endParaRPr lang="en-US" sz="1250" dirty="0"/>
          </a:p>
        </p:txBody>
      </p:sp>
      <p:sp>
        <p:nvSpPr>
          <p:cNvPr id="8" name="panel"/>
          <p:cNvSpPr/>
          <p:nvPr/>
        </p:nvSpPr>
        <p:spPr>
          <a:xfrm>
            <a:off x="548640" y="4069080"/>
            <a:ext cx="11094415" cy="914400"/>
          </a:xfrm>
          <a:prstGeom prst="roundRect">
            <a:avLst>
              <a:gd name="adj" fmla="val 6000"/>
            </a:avLst>
          </a:prstGeom>
          <a:solidFill>
            <a:srgbClr val="23424F"/>
          </a:solidFill>
          <a:ln w="12700">
            <a:solidFill>
              <a:srgbClr val="23424F"/>
            </a:solidFill>
            <a:prstDash val="solid"/>
          </a:ln>
        </p:spPr>
      </p:sp>
      <p:sp>
        <p:nvSpPr>
          <p:cNvPr id="9" name="eqFlag"/>
          <p:cNvSpPr txBox="1"/>
          <p:nvPr/>
        </p:nvSpPr>
        <p:spPr>
          <a:xfrm>
            <a:off x="548640" y="4069080"/>
            <a:ext cx="11094415"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contact  =  OR over j  ( | tau_meas − tau_exp |  &gt;  sigma_j )</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Why we picked it</a:t>
            </a:r>
            <a:endParaRPr lang="en-US" sz="2900" dirty="0"/>
          </a:p>
        </p:txBody>
      </p:sp>
      <p:sp>
        <p:nvSpPr>
          <p:cNvPr id="3" name="chip"/>
          <p:cNvSpPr/>
          <p:nvPr/>
        </p:nvSpPr>
        <p:spPr>
          <a:xfrm>
            <a:off x="548640" y="1508760"/>
            <a:ext cx="658368" cy="658368"/>
          </a:xfrm>
          <a:prstGeom prst="ellipse">
            <a:avLst/>
          </a:prstGeom>
          <a:solidFill>
            <a:srgbClr val="23424F"/>
          </a:solidFill>
          <a:ln w="12700">
            <a:solidFill>
              <a:srgbClr val="23424F"/>
            </a:solidFill>
            <a:prstDash val="solid"/>
          </a:ln>
        </p:spPr>
      </p:sp>
      <p:sp>
        <p:nvSpPr>
          <p:cNvPr id="4" name="chipText"/>
          <p:cNvSpPr txBox="1"/>
          <p:nvPr/>
        </p:nvSpPr>
        <p:spPr>
          <a:xfrm>
            <a:off x="548640" y="1508760"/>
            <a:ext cx="658368" cy="658368"/>
          </a:xfrm>
          <a:prstGeom prst="rect">
            <a:avLst/>
          </a:prstGeom>
          <a:noFill/>
          <a:ln/>
        </p:spPr>
        <p:txBody>
          <a:bodyPr wrap="square" lIns="0" tIns="0" rIns="0" bIns="0" rtlCol="0" anchor="ctr"/>
          <a:lstStyle/>
          <a:p>
            <a:pPr algn="ctr" indent="0" marL="0">
              <a:buNone/>
            </a:pPr>
            <a:r>
              <a:rPr lang="en-US" sz="1500" b="1" dirty="0">
                <a:solidFill>
                  <a:srgbClr val="FFFFFF"/>
                </a:solidFill>
              </a:rPr>
              <a:t>01</a:t>
            </a:r>
            <a:endParaRPr lang="en-US" sz="1500" dirty="0"/>
          </a:p>
        </p:txBody>
      </p:sp>
      <p:sp>
        <p:nvSpPr>
          <p:cNvPr id="5" name="whyHead"/>
          <p:cNvSpPr txBox="1"/>
          <p:nvPr/>
        </p:nvSpPr>
        <p:spPr>
          <a:xfrm>
            <a:off x="1508760" y="1463040"/>
            <a:ext cx="9997135" cy="411480"/>
          </a:xfrm>
          <a:prstGeom prst="rect">
            <a:avLst/>
          </a:prstGeom>
          <a:noFill/>
          <a:ln/>
        </p:spPr>
        <p:txBody>
          <a:bodyPr wrap="square" lIns="0" tIns="0" rIns="0" bIns="0" rtlCol="0" anchor="ctr"/>
          <a:lstStyle/>
          <a:p>
            <a:pPr indent="0" marL="0">
              <a:buNone/>
            </a:pPr>
            <a:r>
              <a:rPr lang="en-US" sz="1650" b="1" dirty="0">
                <a:solidFill>
                  <a:schemeClr val="accent1"/>
                </a:solidFill>
              </a:rPr>
              <a:t>The claim has a price nobody quoted</a:t>
            </a:r>
            <a:endParaRPr lang="en-US" sz="1650" dirty="0"/>
          </a:p>
        </p:txBody>
      </p:sp>
      <p:sp>
        <p:nvSpPr>
          <p:cNvPr id="6" name="whyBody"/>
          <p:cNvSpPr txBox="1"/>
          <p:nvPr/>
        </p:nvSpPr>
        <p:spPr>
          <a:xfrm>
            <a:off x="1508760" y="1920240"/>
            <a:ext cx="9997135" cy="868680"/>
          </a:xfrm>
          <a:prstGeom prst="rect">
            <a:avLst/>
          </a:prstGeom>
          <a:noFill/>
          <a:ln/>
        </p:spPr>
        <p:txBody>
          <a:bodyPr wrap="square" lIns="0" tIns="0" rIns="0" bIns="0" rtlCol="0" anchor="t"/>
          <a:lstStyle/>
          <a:p>
            <a:pPr indent="0" marL="0">
              <a:lnSpc>
                <a:spcPct val="112000"/>
              </a:lnSpc>
              <a:buNone/>
            </a:pPr>
            <a:r>
              <a:rPr lang="en-US" sz="1300" dirty="0">
                <a:solidFill>
                  <a:schemeClr val="tx2"/>
                </a:solidFill>
              </a:rPr>
              <a:t>A controlled comparison on identical ground can measure it. The answer turned out to be a real and systematic cost.</a:t>
            </a:r>
            <a:endParaRPr lang="en-US" sz="1300" dirty="0"/>
          </a:p>
        </p:txBody>
      </p:sp>
      <p:sp>
        <p:nvSpPr>
          <p:cNvPr id="7" name="chip"/>
          <p:cNvSpPr/>
          <p:nvPr/>
        </p:nvSpPr>
        <p:spPr>
          <a:xfrm>
            <a:off x="548640" y="3081528"/>
            <a:ext cx="658368" cy="658368"/>
          </a:xfrm>
          <a:prstGeom prst="ellipse">
            <a:avLst/>
          </a:prstGeom>
          <a:solidFill>
            <a:srgbClr val="C2591F"/>
          </a:solidFill>
          <a:ln w="12700">
            <a:solidFill>
              <a:srgbClr val="C2591F"/>
            </a:solidFill>
            <a:prstDash val="solid"/>
          </a:ln>
        </p:spPr>
      </p:sp>
      <p:sp>
        <p:nvSpPr>
          <p:cNvPr id="8" name="chipText"/>
          <p:cNvSpPr txBox="1"/>
          <p:nvPr/>
        </p:nvSpPr>
        <p:spPr>
          <a:xfrm>
            <a:off x="548640" y="3081528"/>
            <a:ext cx="658368" cy="658368"/>
          </a:xfrm>
          <a:prstGeom prst="rect">
            <a:avLst/>
          </a:prstGeom>
          <a:noFill/>
          <a:ln/>
        </p:spPr>
        <p:txBody>
          <a:bodyPr wrap="square" lIns="0" tIns="0" rIns="0" bIns="0" rtlCol="0" anchor="ctr"/>
          <a:lstStyle/>
          <a:p>
            <a:pPr algn="ctr" indent="0" marL="0">
              <a:buNone/>
            </a:pPr>
            <a:r>
              <a:rPr lang="en-US" sz="1500" b="1" dirty="0">
                <a:solidFill>
                  <a:srgbClr val="FFFFFF"/>
                </a:solidFill>
              </a:rPr>
              <a:t>02</a:t>
            </a:r>
            <a:endParaRPr lang="en-US" sz="1500" dirty="0"/>
          </a:p>
        </p:txBody>
      </p:sp>
      <p:sp>
        <p:nvSpPr>
          <p:cNvPr id="9" name="whyHead"/>
          <p:cNvSpPr txBox="1"/>
          <p:nvPr/>
        </p:nvSpPr>
        <p:spPr>
          <a:xfrm>
            <a:off x="1508760" y="3035808"/>
            <a:ext cx="9997135" cy="411480"/>
          </a:xfrm>
          <a:prstGeom prst="rect">
            <a:avLst/>
          </a:prstGeom>
          <a:noFill/>
          <a:ln/>
        </p:spPr>
        <p:txBody>
          <a:bodyPr wrap="square" lIns="0" tIns="0" rIns="0" bIns="0" rtlCol="0" anchor="ctr"/>
          <a:lstStyle/>
          <a:p>
            <a:pPr indent="0" marL="0">
              <a:buNone/>
            </a:pPr>
            <a:r>
              <a:rPr lang="en-US" sz="1650" b="1" dirty="0">
                <a:solidFill>
                  <a:schemeClr val="accent1"/>
                </a:solidFill>
              </a:rPr>
              <a:t>The contact detector is a model-based observer in disguise</a:t>
            </a:r>
            <a:endParaRPr lang="en-US" sz="1650" dirty="0"/>
          </a:p>
        </p:txBody>
      </p:sp>
      <p:sp>
        <p:nvSpPr>
          <p:cNvPr id="10" name="whyBody"/>
          <p:cNvSpPr txBox="1"/>
          <p:nvPr/>
        </p:nvSpPr>
        <p:spPr>
          <a:xfrm>
            <a:off x="1508760" y="3493008"/>
            <a:ext cx="9997135" cy="868680"/>
          </a:xfrm>
          <a:prstGeom prst="rect">
            <a:avLst/>
          </a:prstGeom>
          <a:noFill/>
          <a:ln/>
        </p:spPr>
        <p:txBody>
          <a:bodyPr wrap="square" lIns="0" tIns="0" rIns="0" bIns="0" rtlCol="0" anchor="t"/>
          <a:lstStyle/>
          <a:p>
            <a:pPr indent="0" marL="0">
              <a:lnSpc>
                <a:spcPct val="112000"/>
              </a:lnSpc>
              <a:buNone/>
            </a:pPr>
            <a:r>
              <a:rPr lang="en-US" sz="1300" dirty="0">
                <a:solidFill>
                  <a:schemeClr val="tx2"/>
                </a:solidFill>
              </a:rPr>
              <a:t>Its quality depends on the accuracy of a dynamic model. We found out the hard way how directly.</a:t>
            </a:r>
            <a:endParaRPr lang="en-US" sz="1300" dirty="0"/>
          </a:p>
        </p:txBody>
      </p:sp>
      <p:sp>
        <p:nvSpPr>
          <p:cNvPr id="11" name="chip"/>
          <p:cNvSpPr/>
          <p:nvPr/>
        </p:nvSpPr>
        <p:spPr>
          <a:xfrm>
            <a:off x="548640" y="4654296"/>
            <a:ext cx="658368" cy="658368"/>
          </a:xfrm>
          <a:prstGeom prst="ellipse">
            <a:avLst/>
          </a:prstGeom>
          <a:solidFill>
            <a:srgbClr val="6F9480"/>
          </a:solidFill>
          <a:ln w="12700">
            <a:solidFill>
              <a:srgbClr val="6F9480"/>
            </a:solidFill>
            <a:prstDash val="solid"/>
          </a:ln>
        </p:spPr>
      </p:sp>
      <p:sp>
        <p:nvSpPr>
          <p:cNvPr id="12" name="chipText"/>
          <p:cNvSpPr txBox="1"/>
          <p:nvPr/>
        </p:nvSpPr>
        <p:spPr>
          <a:xfrm>
            <a:off x="548640" y="4654296"/>
            <a:ext cx="658368" cy="658368"/>
          </a:xfrm>
          <a:prstGeom prst="rect">
            <a:avLst/>
          </a:prstGeom>
          <a:noFill/>
          <a:ln/>
        </p:spPr>
        <p:txBody>
          <a:bodyPr wrap="square" lIns="0" tIns="0" rIns="0" bIns="0" rtlCol="0" anchor="ctr"/>
          <a:lstStyle/>
          <a:p>
            <a:pPr algn="ctr" indent="0" marL="0">
              <a:buNone/>
            </a:pPr>
            <a:r>
              <a:rPr lang="en-US" sz="1500" b="1" dirty="0">
                <a:solidFill>
                  <a:srgbClr val="FFFFFF"/>
                </a:solidFill>
              </a:rPr>
              <a:t>03</a:t>
            </a:r>
            <a:endParaRPr lang="en-US" sz="1500" dirty="0"/>
          </a:p>
        </p:txBody>
      </p:sp>
      <p:sp>
        <p:nvSpPr>
          <p:cNvPr id="13" name="whyHead"/>
          <p:cNvSpPr txBox="1"/>
          <p:nvPr/>
        </p:nvSpPr>
        <p:spPr>
          <a:xfrm>
            <a:off x="1508760" y="4608576"/>
            <a:ext cx="9997135" cy="411480"/>
          </a:xfrm>
          <a:prstGeom prst="rect">
            <a:avLst/>
          </a:prstGeom>
          <a:noFill/>
          <a:ln/>
        </p:spPr>
        <p:txBody>
          <a:bodyPr wrap="square" lIns="0" tIns="0" rIns="0" bIns="0" rtlCol="0" anchor="ctr"/>
          <a:lstStyle/>
          <a:p>
            <a:pPr indent="0" marL="0">
              <a:buNone/>
            </a:pPr>
            <a:r>
              <a:rPr lang="en-US" sz="1650" b="1" dirty="0">
                <a:solidFill>
                  <a:schemeClr val="accent1"/>
                </a:solidFill>
              </a:rPr>
              <a:t>A shared plant makes the ablation clean</a:t>
            </a:r>
            <a:endParaRPr lang="en-US" sz="1650" dirty="0"/>
          </a:p>
        </p:txBody>
      </p:sp>
      <p:sp>
        <p:nvSpPr>
          <p:cNvPr id="14" name="whyBody"/>
          <p:cNvSpPr txBox="1"/>
          <p:nvPr/>
        </p:nvSpPr>
        <p:spPr>
          <a:xfrm>
            <a:off x="1508760" y="5065776"/>
            <a:ext cx="9997135" cy="868680"/>
          </a:xfrm>
          <a:prstGeom prst="rect">
            <a:avLst/>
          </a:prstGeom>
          <a:noFill/>
          <a:ln/>
        </p:spPr>
        <p:txBody>
          <a:bodyPr wrap="square" lIns="0" tIns="0" rIns="0" bIns="0" rtlCol="0" anchor="t"/>
          <a:lstStyle/>
          <a:p>
            <a:pPr indent="0" marL="0">
              <a:lnSpc>
                <a:spcPct val="112000"/>
              </a:lnSpc>
              <a:buNone/>
            </a:pPr>
            <a:r>
              <a:rPr lang="en-US" sz="1300" dirty="0">
                <a:solidFill>
                  <a:schemeClr val="tx2"/>
                </a:solidFill>
              </a:rPr>
              <a:t>Same ground, same contact law, same gait generator. Rarely available when comparing published controllers.</a:t>
            </a:r>
            <a:endParaRPr lang="en-US" sz="13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Three controllers, one mechanism apart</a:t>
            </a:r>
            <a:endParaRPr lang="en-US" sz="2900" dirty="0"/>
          </a:p>
        </p:txBody>
      </p:sp>
      <p:sp>
        <p:nvSpPr>
          <p:cNvPr id="3" name="panel"/>
          <p:cNvSpPr/>
          <p:nvPr/>
        </p:nvSpPr>
        <p:spPr>
          <a:xfrm>
            <a:off x="548640" y="1371600"/>
            <a:ext cx="11094415" cy="1024128"/>
          </a:xfrm>
          <a:prstGeom prst="roundRect">
            <a:avLst>
              <a:gd name="adj" fmla="val 5357"/>
            </a:avLst>
          </a:prstGeom>
          <a:solidFill>
            <a:schemeClr val="bg2"/>
          </a:solidFill>
          <a:ln w="12700">
            <a:solidFill>
              <a:schemeClr val="bg2"/>
            </a:solidFill>
            <a:prstDash val="solid"/>
          </a:ln>
        </p:spPr>
      </p:sp>
      <p:sp>
        <p:nvSpPr>
          <p:cNvPr id="4" name="chip"/>
          <p:cNvSpPr/>
          <p:nvPr/>
        </p:nvSpPr>
        <p:spPr>
          <a:xfrm>
            <a:off x="822960" y="1609344"/>
            <a:ext cx="548640" cy="548640"/>
          </a:xfrm>
          <a:prstGeom prst="ellipse">
            <a:avLst/>
          </a:prstGeom>
          <a:solidFill>
            <a:srgbClr val="7C8A91"/>
          </a:solidFill>
          <a:ln w="12700">
            <a:solidFill>
              <a:srgbClr val="7C8A91"/>
            </a:solidFill>
            <a:prstDash val="solid"/>
          </a:ln>
        </p:spPr>
      </p:sp>
      <p:sp>
        <p:nvSpPr>
          <p:cNvPr id="5" name="chipText"/>
          <p:cNvSpPr txBox="1"/>
          <p:nvPr/>
        </p:nvSpPr>
        <p:spPr>
          <a:xfrm>
            <a:off x="822960" y="1609344"/>
            <a:ext cx="548640" cy="548640"/>
          </a:xfrm>
          <a:prstGeom prst="rect">
            <a:avLst/>
          </a:prstGeom>
          <a:noFill/>
          <a:ln/>
        </p:spPr>
        <p:txBody>
          <a:bodyPr wrap="square" lIns="0" tIns="0" rIns="0" bIns="0" rtlCol="0" anchor="ctr"/>
          <a:lstStyle/>
          <a:p>
            <a:pPr algn="ctr" indent="0" marL="0">
              <a:buNone/>
            </a:pPr>
            <a:r>
              <a:rPr lang="en-US" sz="1200" b="1" dirty="0">
                <a:solidFill>
                  <a:srgbClr val="FFFFFF"/>
                </a:solidFill>
              </a:rPr>
              <a:t>C1</a:t>
            </a:r>
            <a:endParaRPr lang="en-US" sz="1200" dirty="0"/>
          </a:p>
        </p:txBody>
      </p:sp>
      <p:sp>
        <p:nvSpPr>
          <p:cNvPr id="6" name="ctrlName"/>
          <p:cNvSpPr txBox="1"/>
          <p:nvPr/>
        </p:nvSpPr>
        <p:spPr>
          <a:xfrm>
            <a:off x="1554480" y="1691640"/>
            <a:ext cx="3017520" cy="384048"/>
          </a:xfrm>
          <a:prstGeom prst="rect">
            <a:avLst/>
          </a:prstGeom>
          <a:noFill/>
          <a:ln/>
        </p:spPr>
        <p:txBody>
          <a:bodyPr wrap="square" lIns="0" tIns="0" rIns="0" bIns="0" rtlCol="0" anchor="ctr"/>
          <a:lstStyle/>
          <a:p>
            <a:pPr indent="0" marL="0">
              <a:buNone/>
            </a:pPr>
            <a:r>
              <a:rPr lang="en-US" sz="1450" b="1" dirty="0">
                <a:solidFill>
                  <a:schemeClr val="accent1"/>
                </a:solidFill>
              </a:rPr>
              <a:t>Open-loop kinematic tripod</a:t>
            </a:r>
            <a:endParaRPr lang="en-US" sz="1450" dirty="0"/>
          </a:p>
        </p:txBody>
      </p:sp>
      <p:sp>
        <p:nvSpPr>
          <p:cNvPr id="7" name="ctrlDesc"/>
          <p:cNvSpPr txBox="1"/>
          <p:nvPr/>
        </p:nvSpPr>
        <p:spPr>
          <a:xfrm>
            <a:off x="4663440" y="1472184"/>
            <a:ext cx="6613855" cy="822960"/>
          </a:xfrm>
          <a:prstGeom prst="rect">
            <a:avLst/>
          </a:prstGeom>
          <a:noFill/>
          <a:ln/>
        </p:spPr>
        <p:txBody>
          <a:bodyPr wrap="square" lIns="0" tIns="0" rIns="0" bIns="0" rtlCol="0" anchor="ctr"/>
          <a:lstStyle/>
          <a:p>
            <a:pPr indent="0" marL="0">
              <a:lnSpc>
                <a:spcPct val="110000"/>
              </a:lnSpc>
              <a:buNone/>
            </a:pPr>
            <a:r>
              <a:rPr lang="en-US" sz="1200" dirty="0">
                <a:solidFill>
                  <a:schemeClr val="tx2"/>
                </a:solidFill>
              </a:rPr>
              <a:t>Foot trajectories from the gait parameters, inverse kinematics per leg, joints in position. No feedback.</a:t>
            </a:r>
            <a:endParaRPr lang="en-US" sz="1200" dirty="0"/>
          </a:p>
        </p:txBody>
      </p:sp>
      <p:sp>
        <p:nvSpPr>
          <p:cNvPr id="8" name="panel"/>
          <p:cNvSpPr/>
          <p:nvPr/>
        </p:nvSpPr>
        <p:spPr>
          <a:xfrm>
            <a:off x="548640" y="2542032"/>
            <a:ext cx="11094415" cy="1024128"/>
          </a:xfrm>
          <a:prstGeom prst="roundRect">
            <a:avLst>
              <a:gd name="adj" fmla="val 5357"/>
            </a:avLst>
          </a:prstGeom>
          <a:solidFill>
            <a:schemeClr val="bg2"/>
          </a:solidFill>
          <a:ln w="12700">
            <a:solidFill>
              <a:schemeClr val="bg2"/>
            </a:solidFill>
            <a:prstDash val="solid"/>
          </a:ln>
        </p:spPr>
      </p:sp>
      <p:sp>
        <p:nvSpPr>
          <p:cNvPr id="9" name="chip"/>
          <p:cNvSpPr/>
          <p:nvPr/>
        </p:nvSpPr>
        <p:spPr>
          <a:xfrm>
            <a:off x="822960" y="2779776"/>
            <a:ext cx="548640" cy="548640"/>
          </a:xfrm>
          <a:prstGeom prst="ellipse">
            <a:avLst/>
          </a:prstGeom>
          <a:solidFill>
            <a:srgbClr val="C2591F"/>
          </a:solidFill>
          <a:ln w="12700">
            <a:solidFill>
              <a:srgbClr val="C2591F"/>
            </a:solidFill>
            <a:prstDash val="solid"/>
          </a:ln>
        </p:spPr>
      </p:sp>
      <p:sp>
        <p:nvSpPr>
          <p:cNvPr id="10" name="chipText"/>
          <p:cNvSpPr txBox="1"/>
          <p:nvPr/>
        </p:nvSpPr>
        <p:spPr>
          <a:xfrm>
            <a:off x="822960" y="2779776"/>
            <a:ext cx="548640" cy="548640"/>
          </a:xfrm>
          <a:prstGeom prst="rect">
            <a:avLst/>
          </a:prstGeom>
          <a:noFill/>
          <a:ln/>
        </p:spPr>
        <p:txBody>
          <a:bodyPr wrap="square" lIns="0" tIns="0" rIns="0" bIns="0" rtlCol="0" anchor="ctr"/>
          <a:lstStyle/>
          <a:p>
            <a:pPr algn="ctr" indent="0" marL="0">
              <a:buNone/>
            </a:pPr>
            <a:r>
              <a:rPr lang="en-US" sz="1200" b="1" dirty="0">
                <a:solidFill>
                  <a:srgbClr val="FFFFFF"/>
                </a:solidFill>
              </a:rPr>
              <a:t>C2</a:t>
            </a:r>
            <a:endParaRPr lang="en-US" sz="1200" dirty="0"/>
          </a:p>
        </p:txBody>
      </p:sp>
      <p:sp>
        <p:nvSpPr>
          <p:cNvPr id="11" name="ctrlName"/>
          <p:cNvSpPr txBox="1"/>
          <p:nvPr/>
        </p:nvSpPr>
        <p:spPr>
          <a:xfrm>
            <a:off x="1554480" y="2862072"/>
            <a:ext cx="3017520" cy="384048"/>
          </a:xfrm>
          <a:prstGeom prst="rect">
            <a:avLst/>
          </a:prstGeom>
          <a:noFill/>
          <a:ln/>
        </p:spPr>
        <p:txBody>
          <a:bodyPr wrap="square" lIns="0" tIns="0" rIns="0" bIns="0" rtlCol="0" anchor="ctr"/>
          <a:lstStyle/>
          <a:p>
            <a:pPr indent="0" marL="0">
              <a:buNone/>
            </a:pPr>
            <a:r>
              <a:rPr lang="en-US" sz="1450" b="1" dirty="0">
                <a:solidFill>
                  <a:schemeClr val="accent1"/>
                </a:solidFill>
              </a:rPr>
              <a:t>C1 + terrain search</a:t>
            </a:r>
            <a:endParaRPr lang="en-US" sz="1450" dirty="0"/>
          </a:p>
        </p:txBody>
      </p:sp>
      <p:sp>
        <p:nvSpPr>
          <p:cNvPr id="12" name="ctrlDesc"/>
          <p:cNvSpPr txBox="1"/>
          <p:nvPr/>
        </p:nvSpPr>
        <p:spPr>
          <a:xfrm>
            <a:off x="4663440" y="2642616"/>
            <a:ext cx="6613855" cy="822960"/>
          </a:xfrm>
          <a:prstGeom prst="rect">
            <a:avLst/>
          </a:prstGeom>
          <a:noFill/>
          <a:ln/>
        </p:spPr>
        <p:txBody>
          <a:bodyPr wrap="square" lIns="0" tIns="0" rIns="0" bIns="0" rtlCol="0" anchor="ctr"/>
          <a:lstStyle/>
          <a:p>
            <a:pPr indent="0" marL="0">
              <a:lnSpc>
                <a:spcPct val="110000"/>
              </a:lnSpc>
              <a:buNone/>
            </a:pPr>
            <a:r>
              <a:rPr lang="en-US" sz="1200" dirty="0">
                <a:solidFill>
                  <a:schemeClr val="tx2"/>
                </a:solidFill>
              </a:rPr>
              <a:t>While a leg is in stance and the contact flag is low, commanded foot height keeps descending until the torque residual crosses threshold.</a:t>
            </a:r>
            <a:endParaRPr lang="en-US" sz="1200" dirty="0"/>
          </a:p>
        </p:txBody>
      </p:sp>
      <p:sp>
        <p:nvSpPr>
          <p:cNvPr id="13" name="panel"/>
          <p:cNvSpPr/>
          <p:nvPr/>
        </p:nvSpPr>
        <p:spPr>
          <a:xfrm>
            <a:off x="548640" y="3712464"/>
            <a:ext cx="11094415" cy="1024128"/>
          </a:xfrm>
          <a:prstGeom prst="roundRect">
            <a:avLst>
              <a:gd name="adj" fmla="val 5357"/>
            </a:avLst>
          </a:prstGeom>
          <a:solidFill>
            <a:schemeClr val="bg2"/>
          </a:solidFill>
          <a:ln w="12700">
            <a:solidFill>
              <a:schemeClr val="bg2"/>
            </a:solidFill>
            <a:prstDash val="solid"/>
          </a:ln>
        </p:spPr>
      </p:sp>
      <p:sp>
        <p:nvSpPr>
          <p:cNvPr id="14" name="chip"/>
          <p:cNvSpPr/>
          <p:nvPr/>
        </p:nvSpPr>
        <p:spPr>
          <a:xfrm>
            <a:off x="822960" y="3950208"/>
            <a:ext cx="548640" cy="548640"/>
          </a:xfrm>
          <a:prstGeom prst="ellipse">
            <a:avLst/>
          </a:prstGeom>
          <a:solidFill>
            <a:srgbClr val="6F9480"/>
          </a:solidFill>
          <a:ln w="12700">
            <a:solidFill>
              <a:srgbClr val="6F9480"/>
            </a:solidFill>
            <a:prstDash val="solid"/>
          </a:ln>
        </p:spPr>
      </p:sp>
      <p:sp>
        <p:nvSpPr>
          <p:cNvPr id="15" name="chipText"/>
          <p:cNvSpPr txBox="1"/>
          <p:nvPr/>
        </p:nvSpPr>
        <p:spPr>
          <a:xfrm>
            <a:off x="822960" y="3950208"/>
            <a:ext cx="548640" cy="548640"/>
          </a:xfrm>
          <a:prstGeom prst="rect">
            <a:avLst/>
          </a:prstGeom>
          <a:noFill/>
          <a:ln/>
        </p:spPr>
        <p:txBody>
          <a:bodyPr wrap="square" lIns="0" tIns="0" rIns="0" bIns="0" rtlCol="0" anchor="ctr"/>
          <a:lstStyle/>
          <a:p>
            <a:pPr algn="ctr" indent="0" marL="0">
              <a:buNone/>
            </a:pPr>
            <a:r>
              <a:rPr lang="en-US" sz="1200" b="1" dirty="0">
                <a:solidFill>
                  <a:srgbClr val="FFFFFF"/>
                </a:solidFill>
              </a:rPr>
              <a:t>C3</a:t>
            </a:r>
            <a:endParaRPr lang="en-US" sz="1200" dirty="0"/>
          </a:p>
        </p:txBody>
      </p:sp>
      <p:sp>
        <p:nvSpPr>
          <p:cNvPr id="16" name="ctrlName"/>
          <p:cNvSpPr txBox="1"/>
          <p:nvPr/>
        </p:nvSpPr>
        <p:spPr>
          <a:xfrm>
            <a:off x="1554480" y="4032504"/>
            <a:ext cx="3017520" cy="384048"/>
          </a:xfrm>
          <a:prstGeom prst="rect">
            <a:avLst/>
          </a:prstGeom>
          <a:noFill/>
          <a:ln/>
        </p:spPr>
        <p:txBody>
          <a:bodyPr wrap="square" lIns="0" tIns="0" rIns="0" bIns="0" rtlCol="0" anchor="ctr"/>
          <a:lstStyle/>
          <a:p>
            <a:pPr indent="0" marL="0">
              <a:buNone/>
            </a:pPr>
            <a:r>
              <a:rPr lang="en-US" sz="1450" b="1" dirty="0">
                <a:solidFill>
                  <a:schemeClr val="accent1"/>
                </a:solidFill>
              </a:rPr>
              <a:t>C2 + attitude loop</a:t>
            </a:r>
            <a:endParaRPr lang="en-US" sz="1450" dirty="0"/>
          </a:p>
        </p:txBody>
      </p:sp>
      <p:sp>
        <p:nvSpPr>
          <p:cNvPr id="17" name="ctrlDesc"/>
          <p:cNvSpPr txBox="1"/>
          <p:nvPr/>
        </p:nvSpPr>
        <p:spPr>
          <a:xfrm>
            <a:off x="4663440" y="3813048"/>
            <a:ext cx="6613855" cy="822960"/>
          </a:xfrm>
          <a:prstGeom prst="rect">
            <a:avLst/>
          </a:prstGeom>
          <a:noFill/>
          <a:ln/>
        </p:spPr>
        <p:txBody>
          <a:bodyPr wrap="square" lIns="0" tIns="0" rIns="0" bIns="0" rtlCol="0" anchor="ctr"/>
          <a:lstStyle/>
          <a:p>
            <a:pPr indent="0" marL="0">
              <a:lnSpc>
                <a:spcPct val="110000"/>
              </a:lnSpc>
              <a:buNone/>
            </a:pPr>
            <a:r>
              <a:rPr lang="en-US" sz="1200" dirty="0">
                <a:solidFill>
                  <a:schemeClr val="tx2"/>
                </a:solidFill>
              </a:rPr>
              <a:t>Two discrete PI regulators on pitch and roll; their output is distributed over the six feet as an additive height offset.</a:t>
            </a:r>
            <a:endParaRPr lang="en-US" sz="1200" dirty="0"/>
          </a:p>
        </p:txBody>
      </p:sp>
      <p:sp>
        <p:nvSpPr>
          <p:cNvPr id="18" name="chain"/>
          <p:cNvSpPr txBox="1"/>
          <p:nvPr/>
        </p:nvSpPr>
        <p:spPr>
          <a:xfrm>
            <a:off x="548640" y="4983480"/>
            <a:ext cx="11094415" cy="384048"/>
          </a:xfrm>
          <a:prstGeom prst="rect">
            <a:avLst/>
          </a:prstGeom>
          <a:no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terrain_search  →  z_i  →  Σ (+Δz_i)  →  Saturation  →  Rate limiter  →  leg</a:t>
            </a:r>
            <a:endParaRPr lang="en-US" sz="1300" dirty="0"/>
          </a:p>
        </p:txBody>
      </p:sp>
      <p:sp>
        <p:nvSpPr>
          <p:cNvPr id="19" name="chainNote"/>
          <p:cNvSpPr txBox="1"/>
          <p:nvPr/>
        </p:nvSpPr>
        <p:spPr>
          <a:xfrm>
            <a:off x="1280160" y="5440680"/>
            <a:ext cx="9631375" cy="685800"/>
          </a:xfrm>
          <a:prstGeom prst="rect">
            <a:avLst/>
          </a:prstGeom>
          <a:noFill/>
          <a:ln/>
        </p:spPr>
        <p:txBody>
          <a:bodyPr wrap="square" lIns="0" tIns="0" rIns="0" bIns="0" rtlCol="0" anchor="t"/>
          <a:lstStyle/>
          <a:p>
            <a:pPr algn="ctr" indent="0" marL="0">
              <a:buNone/>
            </a:pPr>
            <a:r>
              <a:rPr lang="en-US" sz="1150" i="1" dirty="0">
                <a:solidFill>
                  <a:schemeClr val="tx2"/>
                </a:solidFill>
              </a:rPr>
              <a:t>Verified by reading block connectivity inside the model file, not from documentation. C3 contains C2: C2→C3 isolates the attitude loop, C1→C2 the search.</a:t>
            </a:r>
            <a:endParaRPr lang="en-US" sz="11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914400" y="2514600"/>
            <a:ext cx="2011680" cy="457200"/>
          </a:xfrm>
          <a:prstGeom prst="rect">
            <a:avLst/>
          </a:prstGeom>
          <a:noFill/>
          <a:ln/>
        </p:spPr>
        <p:txBody>
          <a:bodyPr wrap="square" rtlCol="0"/>
          <a:lstStyle/>
          <a:p>
            <a:pPr algn="l" indent="0" marL="0">
              <a:buNone/>
            </a:pPr>
            <a:r>
              <a:rPr lang="en-US" sz="1400" b="1" spc="200" kern="0" dirty="0">
                <a:solidFill>
                  <a:srgbClr val="A9C7D1"/>
                </a:solidFill>
              </a:rPr>
              <a:t>01</a:t>
            </a:r>
            <a:endParaRPr lang="en-US" sz="1400" dirty="0"/>
          </a:p>
        </p:txBody>
      </p:sp>
      <p:sp>
        <p:nvSpPr>
          <p:cNvPr id="3" name="Text 0"/>
          <p:cNvSpPr/>
          <p:nvPr>
            <p:ph idx="101" type="title" hasCustomPrompt="1"/>
          </p:nvPr>
        </p:nvSpPr>
        <p:spPr>
          <a:xfrm>
            <a:off x="914400" y="2926080"/>
            <a:ext cx="9265615" cy="1188720"/>
          </a:xfrm>
          <a:prstGeom prst="rect">
            <a:avLst/>
          </a:prstGeom>
          <a:noFill/>
          <a:ln/>
        </p:spPr>
        <p:txBody>
          <a:bodyPr wrap="square" rtlCol="0" anchor="t"/>
          <a:lstStyle/>
          <a:p>
            <a:pPr algn="l" indent="0" marL="0">
              <a:buNone/>
            </a:pPr>
            <a:r>
              <a:rPr lang="en-US" sz="3800" b="1" dirty="0">
                <a:solidFill>
                  <a:schemeClr val="bg1"/>
                </a:solidFill>
              </a:rPr>
              <a:t>The test bench</a:t>
            </a:r>
            <a:endParaRPr lang="en-US" sz="3800" dirty="0"/>
          </a:p>
        </p:txBody>
      </p:sp>
      <p:sp>
        <p:nvSpPr>
          <p:cNvPr id="4" name="Text 0"/>
          <p:cNvSpPr/>
          <p:nvPr>
            <p:ph idx="102" type="body" hasCustomPrompt="1"/>
          </p:nvPr>
        </p:nvSpPr>
        <p:spPr>
          <a:xfrm>
            <a:off x="914400" y="4114800"/>
            <a:ext cx="8351215" cy="914400"/>
          </a:xfrm>
          <a:prstGeom prst="rect">
            <a:avLst/>
          </a:prstGeom>
          <a:noFill/>
          <a:ln/>
        </p:spPr>
        <p:txBody>
          <a:bodyPr wrap="square" rtlCol="0" anchor="t"/>
          <a:lstStyle/>
          <a:p>
            <a:pPr algn="l" indent="0" marL="0">
              <a:buNone/>
            </a:pPr>
            <a:r>
              <a:rPr lang="en-US" sz="1500" dirty="0">
                <a:solidFill>
                  <a:srgbClr val="C8D6DB"/>
                </a:solidFill>
              </a:rPr>
              <a:t>Imported from the public PhantomX URDF into Simscape Multibody</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The plant</a:t>
            </a:r>
            <a:endParaRPr lang="en-US" sz="2900" dirty="0"/>
          </a:p>
        </p:txBody>
      </p:sp>
      <p:sp>
        <p:nvSpPr>
          <p:cNvPr id="3" name="plantBullets"/>
          <p:cNvSpPr txBox="1"/>
          <p:nvPr/>
        </p:nvSpPr>
        <p:spPr>
          <a:xfrm>
            <a:off x="548640" y="1417320"/>
            <a:ext cx="5318608" cy="182880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chemeClr val="tx1"/>
                </a:solidFill>
              </a:rPr>
              <a:t>Imported from the public PhantomX URDF into Simscape Multibody</a:t>
            </a:r>
            <a:endParaRPr lang="en-US" sz="1350" dirty="0"/>
          </a:p>
          <a:p>
            <a:pPr marL="342900" indent="-342900">
              <a:spcAft>
                <a:spcPts val="900"/>
              </a:spcAft>
              <a:buSzPct val="100000"/>
              <a:buChar char="•"/>
            </a:pPr>
            <a:r>
              <a:rPr lang="en-US" sz="1350" dirty="0">
                <a:solidFill>
                  <a:schemeClr val="tx1"/>
                </a:solidFill>
              </a:rPr>
              <a:t>25 rigid bodies, 18 revolute joints, 6 spherical contact elements</a:t>
            </a:r>
            <a:endParaRPr lang="en-US" sz="1350" dirty="0"/>
          </a:p>
          <a:p>
            <a:pPr marL="342900" indent="-342900">
              <a:spcAft>
                <a:spcPts val="900"/>
              </a:spcAft>
              <a:buSzPct val="100000"/>
              <a:buChar char="•"/>
            </a:pPr>
            <a:r>
              <a:rPr lang="en-US" sz="1350" dirty="0">
                <a:solidFill>
                  <a:schemeClr val="tx1"/>
                </a:solidFill>
              </a:rPr>
              <a:t>Joints commanded in position: torque is a reaction, not an input</a:t>
            </a:r>
            <a:endParaRPr lang="en-US" sz="1350" dirty="0"/>
          </a:p>
          <a:p>
            <a:pPr marL="342900" indent="-342900">
              <a:spcAft>
                <a:spcPts val="900"/>
              </a:spcAft>
              <a:buSzPct val="100000"/>
              <a:buChar char="•"/>
            </a:pPr>
            <a:r>
              <a:rPr lang="en-US" sz="1350" dirty="0">
                <a:solidFill>
                  <a:schemeClr val="tx1"/>
                </a:solidFill>
              </a:rPr>
              <a:t>Penalty contact law with Coulomb friction</a:t>
            </a:r>
            <a:endParaRPr lang="en-US" sz="1350" dirty="0"/>
          </a:p>
        </p:txBody>
      </p:sp>
      <p:sp>
        <p:nvSpPr>
          <p:cNvPr id="4" name="panel"/>
          <p:cNvSpPr/>
          <p:nvPr/>
        </p:nvSpPr>
        <p:spPr>
          <a:xfrm>
            <a:off x="548640" y="3474720"/>
            <a:ext cx="5318608" cy="1737360"/>
          </a:xfrm>
          <a:prstGeom prst="roundRect">
            <a:avLst>
              <a:gd name="adj" fmla="val 3158"/>
            </a:avLst>
          </a:prstGeom>
          <a:solidFill>
            <a:schemeClr val="bg2"/>
          </a:solidFill>
          <a:ln w="12700">
            <a:solidFill>
              <a:schemeClr val="bg2"/>
            </a:solidFill>
            <a:prstDash val="solid"/>
          </a:ln>
        </p:spPr>
      </p:sp>
      <p:sp>
        <p:nvSpPr>
          <p:cNvPr id="5" name="statValue"/>
          <p:cNvSpPr txBox="1"/>
          <p:nvPr/>
        </p:nvSpPr>
        <p:spPr>
          <a:xfrm>
            <a:off x="822960" y="3611880"/>
            <a:ext cx="4769968" cy="713232"/>
          </a:xfrm>
          <a:prstGeom prst="rect">
            <a:avLst/>
          </a:prstGeom>
          <a:noFill/>
          <a:ln/>
        </p:spPr>
        <p:txBody>
          <a:bodyPr wrap="square" lIns="0" tIns="0" rIns="0" bIns="0" rtlCol="0" anchor="ctr"/>
          <a:lstStyle/>
          <a:p>
            <a:pPr indent="0" marL="0">
              <a:buNone/>
            </a:pPr>
            <a:r>
              <a:rPr lang="en-US" sz="4000" b="1" dirty="0">
                <a:solidFill>
                  <a:srgbClr val="C2591F"/>
                </a:solidFill>
              </a:rPr>
              <a:t>4.3 mm</a:t>
            </a:r>
            <a:endParaRPr lang="en-US" sz="4000" dirty="0"/>
          </a:p>
        </p:txBody>
      </p:sp>
      <p:sp>
        <p:nvSpPr>
          <p:cNvPr id="6" name="statLabel"/>
          <p:cNvSpPr txBox="1"/>
          <p:nvPr/>
        </p:nvSpPr>
        <p:spPr>
          <a:xfrm>
            <a:off x="822960" y="4361688"/>
            <a:ext cx="4769968" cy="868680"/>
          </a:xfrm>
          <a:prstGeom prst="rect">
            <a:avLst/>
          </a:prstGeom>
          <a:noFill/>
          <a:ln/>
        </p:spPr>
        <p:txBody>
          <a:bodyPr wrap="square" lIns="0" tIns="0" rIns="0" bIns="0" rtlCol="0" anchor="t"/>
          <a:lstStyle/>
          <a:p>
            <a:pPr indent="0" marL="0">
              <a:lnSpc>
                <a:spcPct val="110000"/>
              </a:lnSpc>
              <a:buNone/>
            </a:pPr>
            <a:r>
              <a:rPr lang="en-US" sz="1200" dirty="0">
                <a:solidFill>
                  <a:schemeClr val="tx2"/>
                </a:solidFill>
              </a:rPr>
              <a:t>static penetration in tripod stance, against a 2.0 mm transition region — tuned so the force law stays well defined</a:t>
            </a:r>
            <a:endParaRPr lang="en-US" sz="1200" dirty="0"/>
          </a:p>
        </p:txBody>
      </p:sp>
      <p:sp>
        <p:nvSpPr>
          <p:cNvPr id="7" name="figBox"/>
          <p:cNvSpPr/>
          <p:nvPr/>
        </p:nvSpPr>
        <p:spPr>
          <a:xfrm>
            <a:off x="6324448" y="1417320"/>
            <a:ext cx="5318608" cy="3794760"/>
          </a:xfrm>
          <a:prstGeom prst="roundRect">
            <a:avLst>
              <a:gd name="adj" fmla="val 1205"/>
            </a:avLst>
          </a:prstGeom>
          <a:solidFill>
            <a:schemeClr val="bg2"/>
          </a:solidFill>
          <a:ln w="12700">
            <a:solidFill>
              <a:srgbClr val="C3CBCF"/>
            </a:solidFill>
            <a:prstDash val="dash"/>
          </a:ln>
        </p:spPr>
      </p:sp>
      <p:sp>
        <p:nvSpPr>
          <p:cNvPr id="8" name="figText"/>
          <p:cNvSpPr txBox="1"/>
          <p:nvPr/>
        </p:nvSpPr>
        <p:spPr>
          <a:xfrm>
            <a:off x="6507328" y="1417320"/>
            <a:ext cx="4952848" cy="3794760"/>
          </a:xfrm>
          <a:prstGeom prst="rect">
            <a:avLst/>
          </a:prstGeom>
          <a:noFill/>
          <a:ln/>
        </p:spPr>
        <p:txBody>
          <a:bodyPr wrap="square" lIns="0" tIns="0" rIns="0" bIns="0" rtlCol="0" anchor="ctr"/>
          <a:lstStyle/>
          <a:p>
            <a:pPr algn="ctr" indent="0" marL="0">
              <a:buNone/>
            </a:pPr>
            <a:r>
              <a:rPr lang="en-US" sz="1200" b="1" dirty="0">
                <a:solidFill>
                  <a:srgbClr val="8A979D"/>
                </a:solidFill>
              </a:rPr>
              <a:t>[ FIGURE ]</a:t>
            </a:r>
            <a:endParaRPr lang="en-US" sz="1200" dirty="0"/>
          </a:p>
          <a:p>
            <a:pPr algn="ctr" indent="0" marL="0">
              <a:buNone/>
            </a:pPr>
            <a:r>
              <a:rPr lang="en-US" sz="1150" i="1" dirty="0">
                <a:solidFill>
                  <a:srgbClr val="8A979D"/>
                </a:solidFill>
              </a:rPr>
              <a:t>Simscape model / plant block diagram</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Gait parameters and where they come from</a:t>
            </a:r>
            <a:endParaRPr lang="en-US" sz="2900" dirty="0"/>
          </a:p>
        </p:txBody>
      </p:sp>
      <p:sp>
        <p:nvSpPr>
          <p:cNvPr id="3" name="gaitIntro"/>
          <p:cNvSpPr txBox="1"/>
          <p:nvPr/>
        </p:nvSpPr>
        <p:spPr>
          <a:xfrm>
            <a:off x="548640" y="1280160"/>
            <a:ext cx="7802575" cy="685800"/>
          </a:xfrm>
          <a:prstGeom prst="rect">
            <a:avLst/>
          </a:prstGeom>
          <a:noFill/>
          <a:ln/>
        </p:spPr>
        <p:txBody>
          <a:bodyPr wrap="square" lIns="0" tIns="0" rIns="0" bIns="0" rtlCol="0" anchor="t"/>
          <a:lstStyle/>
          <a:p>
            <a:pPr indent="0" marL="0">
              <a:lnSpc>
                <a:spcPct val="110000"/>
              </a:lnSpc>
              <a:buNone/>
            </a:pPr>
            <a:r>
              <a:rPr lang="en-US" sz="1300" dirty="0">
                <a:solidFill>
                  <a:schemeClr val="tx2"/>
                </a:solidFill>
              </a:rPr>
              <a:t>The reference work delegates the gait to NUKE and declines to discuss it. Three of five parameters are fixed by a measured constraint, and only one degree of freedom is left.</a:t>
            </a:r>
            <a:endParaRPr lang="en-US" sz="1300" dirty="0"/>
          </a:p>
        </p:txBody>
      </p:sp>
      <p:sp>
        <p:nvSpPr>
          <p:cNvPr id="4" name="panel"/>
          <p:cNvSpPr/>
          <p:nvPr/>
        </p:nvSpPr>
        <p:spPr>
          <a:xfrm>
            <a:off x="8442655" y="1280160"/>
            <a:ext cx="3200400" cy="731520"/>
          </a:xfrm>
          <a:prstGeom prst="roundRect">
            <a:avLst>
              <a:gd name="adj" fmla="val 7500"/>
            </a:avLst>
          </a:prstGeom>
          <a:solidFill>
            <a:srgbClr val="23424F"/>
          </a:solidFill>
          <a:ln w="12700">
            <a:solidFill>
              <a:srgbClr val="23424F"/>
            </a:solidFill>
            <a:prstDash val="solid"/>
          </a:ln>
        </p:spPr>
      </p:sp>
      <p:sp>
        <p:nvSpPr>
          <p:cNvPr id="5" name="gaitEq"/>
          <p:cNvSpPr txBox="1"/>
          <p:nvPr/>
        </p:nvSpPr>
        <p:spPr>
          <a:xfrm>
            <a:off x="8442655" y="1280160"/>
            <a:ext cx="3200400"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onsolas" pitchFamily="34" charset="0"/>
                <a:ea typeface="Consolas" pitchFamily="34" charset="-122"/>
                <a:cs typeface="Consolas" pitchFamily="34" charset="-120"/>
              </a:rPr>
              <a:t>T = S / (beta_st · v_nom)</a:t>
            </a:r>
            <a:endParaRPr lang="en-US" sz="135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2286000"/>
          <a:ext cx="11094415" cy="914400"/>
        </p:xfrm>
        <a:graphic>
          <a:graphicData uri="http://schemas.openxmlformats.org/drawingml/2006/table">
            <a:tbl>
              <a:tblPr/>
              <a:tblGrid>
                <a:gridCol w="2103120"/>
                <a:gridCol w="1005840"/>
                <a:gridCol w="7985455"/>
              </a:tblGrid>
              <a:tr h="548640">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phase vector</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Definition of the alternating tripod. Not a tunable.</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548640">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beta_stance</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0.50</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The only duty factor giving continuous support on exactly three legs.</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S</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0.06 m</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80.9% of leg reach; the internal assert trips at 85%, i.e. S = 0.095 m.</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548640">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H</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0.05 m</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1.5x the measured obstacle height, 32.8 mm, read from the stance-foot elevation.</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T</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1.00 s</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Dependent variable. Gives v_nom = 0.12 m/s, at 83% of the measured envelope.</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bl>
          </a:graphicData>
        </a:graphic>
      </p:graphicFrame>
      <p:sp>
        <p:nvSpPr>
          <p:cNvPr id="7" name="froude"/>
          <p:cNvSpPr txBox="1"/>
          <p:nvPr/>
        </p:nvSpPr>
        <p:spPr>
          <a:xfrm>
            <a:off x="548640" y="5349240"/>
            <a:ext cx="11094415" cy="502920"/>
          </a:xfrm>
          <a:prstGeom prst="rect">
            <a:avLst/>
          </a:prstGeom>
          <a:noFill/>
          <a:ln/>
        </p:spPr>
        <p:txBody>
          <a:bodyPr wrap="square" lIns="0" tIns="0" rIns="0" bIns="0" rtlCol="0" anchor="ctr"/>
          <a:lstStyle/>
          <a:p>
            <a:pPr indent="0" marL="0">
              <a:buNone/>
            </a:pPr>
            <a:r>
              <a:rPr lang="en-US" sz="1250" b="1" dirty="0">
                <a:solidFill>
                  <a:schemeClr val="accent1"/>
                </a:solidFill>
              </a:rPr>
              <a:t>Froude number  v²/(gh) = 0.0095  —  inertial forces are one percent of gravity, so the march is firmly quasi-static.</a:t>
            </a:r>
            <a:endParaRPr lang="en-US"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Seven tasks</a:t>
            </a:r>
            <a:endParaRPr lang="en-US" sz="29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6400800" cy="914400"/>
        </p:xfrm>
        <a:graphic>
          <a:graphicData uri="http://schemas.openxmlformats.org/drawingml/2006/table">
            <a:tbl>
              <a:tblPr/>
              <a:tblGrid>
                <a:gridCol w="685800"/>
                <a:gridCol w="2057400"/>
                <a:gridCol w="3657600"/>
              </a:tblGrid>
              <a:tr h="521208">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T2</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Flat, speed sweep</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Baseline and the stability envelope in speed</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521208">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T3</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Curved path</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Yaw command 0.1 rad/s</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21208">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T4</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8 deg ramp</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Continuous slope: body attitude versus terrain</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521208">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T4D</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8/8 deg bump</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Up then down, two angular interfaces</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21208">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T5</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Single obstacle</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One unmodelled step, 32.8 mm</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521208">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T6</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Seven obstacles</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Repeated discontinuities, left and right raised alternately</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21208">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T7</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Lateral impulse</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Momentum step from 1% to 1600% of nominal</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bl>
          </a:graphicData>
        </a:graphic>
      </p:graphicFrame>
      <p:sp>
        <p:nvSpPr>
          <p:cNvPr id="4" name="figBox"/>
          <p:cNvSpPr/>
          <p:nvPr/>
        </p:nvSpPr>
        <p:spPr>
          <a:xfrm>
            <a:off x="7406640" y="1371600"/>
            <a:ext cx="4236415" cy="3931920"/>
          </a:xfrm>
          <a:prstGeom prst="roundRect">
            <a:avLst>
              <a:gd name="adj" fmla="val 1163"/>
            </a:avLst>
          </a:prstGeom>
          <a:solidFill>
            <a:schemeClr val="bg2"/>
          </a:solidFill>
          <a:ln w="12700">
            <a:solidFill>
              <a:srgbClr val="C3CBCF"/>
            </a:solidFill>
            <a:prstDash val="dash"/>
          </a:ln>
        </p:spPr>
      </p:sp>
      <p:sp>
        <p:nvSpPr>
          <p:cNvPr id="5" name="figText"/>
          <p:cNvSpPr txBox="1"/>
          <p:nvPr/>
        </p:nvSpPr>
        <p:spPr>
          <a:xfrm>
            <a:off x="7589520" y="1371600"/>
            <a:ext cx="3870655" cy="3931920"/>
          </a:xfrm>
          <a:prstGeom prst="rect">
            <a:avLst/>
          </a:prstGeom>
          <a:noFill/>
          <a:ln/>
        </p:spPr>
        <p:txBody>
          <a:bodyPr wrap="square" lIns="0" tIns="0" rIns="0" bIns="0" rtlCol="0" anchor="ctr"/>
          <a:lstStyle/>
          <a:p>
            <a:pPr algn="ctr" indent="0" marL="0">
              <a:buNone/>
            </a:pPr>
            <a:r>
              <a:rPr lang="en-US" sz="1200" b="1" dirty="0">
                <a:solidFill>
                  <a:srgbClr val="8A979D"/>
                </a:solidFill>
              </a:rPr>
              <a:t>[ FIGURE ]</a:t>
            </a:r>
            <a:endParaRPr lang="en-US" sz="1200" dirty="0"/>
          </a:p>
          <a:p>
            <a:pPr algn="ctr" indent="0" marL="0">
              <a:buNone/>
            </a:pPr>
            <a:r>
              <a:rPr lang="en-US" sz="1150" i="1" dirty="0">
                <a:solidFill>
                  <a:srgbClr val="8A979D"/>
                </a:solidFill>
              </a:rPr>
              <a:t>Terrain configurations: flat, ramp, bump, obstacle, course</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914400" y="2514600"/>
            <a:ext cx="2011680" cy="457200"/>
          </a:xfrm>
          <a:prstGeom prst="rect">
            <a:avLst/>
          </a:prstGeom>
          <a:noFill/>
          <a:ln/>
        </p:spPr>
        <p:txBody>
          <a:bodyPr wrap="square" rtlCol="0"/>
          <a:lstStyle/>
          <a:p>
            <a:pPr algn="l" indent="0" marL="0">
              <a:buNone/>
            </a:pPr>
            <a:r>
              <a:rPr lang="en-US" sz="1400" b="1" spc="200" kern="0" dirty="0">
                <a:solidFill>
                  <a:srgbClr val="A9C7D1"/>
                </a:solidFill>
              </a:rPr>
              <a:t>02</a:t>
            </a:r>
            <a:endParaRPr lang="en-US" sz="1400" dirty="0"/>
          </a:p>
        </p:txBody>
      </p:sp>
      <p:sp>
        <p:nvSpPr>
          <p:cNvPr id="3" name="Text 0"/>
          <p:cNvSpPr/>
          <p:nvPr>
            <p:ph idx="101" type="title" hasCustomPrompt="1"/>
          </p:nvPr>
        </p:nvSpPr>
        <p:spPr>
          <a:xfrm>
            <a:off x="914400" y="2926080"/>
            <a:ext cx="9265615" cy="1188720"/>
          </a:xfrm>
          <a:prstGeom prst="rect">
            <a:avLst/>
          </a:prstGeom>
          <a:noFill/>
          <a:ln/>
        </p:spPr>
        <p:txBody>
          <a:bodyPr wrap="square" rtlCol="0" anchor="t"/>
          <a:lstStyle/>
          <a:p>
            <a:pPr algn="l" indent="0" marL="0">
              <a:buNone/>
            </a:pPr>
            <a:r>
              <a:rPr lang="en-US" sz="3800" b="1" dirty="0">
                <a:solidFill>
                  <a:schemeClr val="bg1"/>
                </a:solidFill>
              </a:rPr>
              <a:t>Method</a:t>
            </a:r>
            <a:endParaRPr lang="en-US" sz="3800" dirty="0"/>
          </a:p>
        </p:txBody>
      </p:sp>
      <p:sp>
        <p:nvSpPr>
          <p:cNvPr id="4" name="Text 0"/>
          <p:cNvSpPr/>
          <p:nvPr>
            <p:ph idx="102" type="body" hasCustomPrompt="1"/>
          </p:nvPr>
        </p:nvSpPr>
        <p:spPr>
          <a:xfrm>
            <a:off x="914400" y="4114800"/>
            <a:ext cx="8351215" cy="914400"/>
          </a:xfrm>
          <a:prstGeom prst="rect">
            <a:avLst/>
          </a:prstGeom>
          <a:noFill/>
          <a:ln/>
        </p:spPr>
        <p:txBody>
          <a:bodyPr wrap="square" rtlCol="0" anchor="t"/>
          <a:lstStyle/>
          <a:p>
            <a:pPr algn="l" indent="0" marL="0">
              <a:buNone/>
            </a:pPr>
            <a:r>
              <a:rPr lang="en-US" sz="1500" dirty="0">
                <a:solidFill>
                  <a:srgbClr val="C8D6DB"/>
                </a:solidFill>
              </a:rPr>
              <a:t>A difference is declared only if it is at least three times the worse of the two noise floors.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When is a difference a result?</a:t>
            </a:r>
            <a:endParaRPr lang="en-US" sz="2900" dirty="0"/>
          </a:p>
        </p:txBody>
      </p:sp>
      <p:sp>
        <p:nvSpPr>
          <p:cNvPr id="3" name="noiseLead"/>
          <p:cNvSpPr txBox="1"/>
          <p:nvPr/>
        </p:nvSpPr>
        <p:spPr>
          <a:xfrm>
            <a:off x="548640" y="1280160"/>
            <a:ext cx="11094415" cy="868680"/>
          </a:xfrm>
          <a:prstGeom prst="rect">
            <a:avLst/>
          </a:prstGeom>
          <a:noFill/>
          <a:ln/>
        </p:spPr>
        <p:txBody>
          <a:bodyPr wrap="square" lIns="0" tIns="0" rIns="0" bIns="0" rtlCol="0" anchor="t"/>
          <a:lstStyle/>
          <a:p>
            <a:pPr indent="0" marL="0">
              <a:lnSpc>
                <a:spcPct val="112000"/>
              </a:lnSpc>
              <a:buNone/>
            </a:pPr>
            <a:r>
              <a:rPr lang="en-US" sz="1350" dirty="0">
                <a:solidFill>
                  <a:schemeClr val="tx2"/>
                </a:solidFill>
              </a:rPr>
              <a:t>Every run is repeated three times with the stance height displaced by ±0.2 mm — a quantity that has nothing to do with the controller. The resulting excursion is that metric's noise floor.</a:t>
            </a:r>
            <a:endParaRPr lang="en-US" sz="1350" dirty="0"/>
          </a:p>
        </p:txBody>
      </p:sp>
      <p:sp>
        <p:nvSpPr>
          <p:cNvPr id="4" name="panel"/>
          <p:cNvSpPr/>
          <p:nvPr/>
        </p:nvSpPr>
        <p:spPr>
          <a:xfrm>
            <a:off x="548640" y="2331720"/>
            <a:ext cx="11094415" cy="1143000"/>
          </a:xfrm>
          <a:prstGeom prst="roundRect">
            <a:avLst>
              <a:gd name="adj" fmla="val 4800"/>
            </a:avLst>
          </a:prstGeom>
          <a:solidFill>
            <a:srgbClr val="23424F"/>
          </a:solidFill>
          <a:ln w="12700">
            <a:solidFill>
              <a:srgbClr val="23424F"/>
            </a:solidFill>
            <a:prstDash val="solid"/>
          </a:ln>
        </p:spPr>
      </p:sp>
      <p:sp>
        <p:nvSpPr>
          <p:cNvPr id="5" name="rule"/>
          <p:cNvSpPr txBox="1"/>
          <p:nvPr/>
        </p:nvSpPr>
        <p:spPr>
          <a:xfrm>
            <a:off x="1005840" y="2331720"/>
            <a:ext cx="10180015" cy="1143000"/>
          </a:xfrm>
          <a:prstGeom prst="rect">
            <a:avLst/>
          </a:prstGeom>
          <a:noFill/>
          <a:ln/>
        </p:spPr>
        <p:txBody>
          <a:bodyPr wrap="square" lIns="0" tIns="0" rIns="0" bIns="0" rtlCol="0" anchor="ctr"/>
          <a:lstStyle/>
          <a:p>
            <a:pPr algn="ctr" indent="0" marL="0">
              <a:buNone/>
            </a:pPr>
            <a:r>
              <a:rPr lang="en-US" sz="1900" b="1" dirty="0">
                <a:solidFill>
                  <a:srgbClr val="FFFFFF"/>
                </a:solidFill>
              </a:rPr>
              <a:t>A difference is declared only if it is at least three times the worse of the two noise floors.</a:t>
            </a:r>
            <a:endParaRPr lang="en-US" sz="1900" dirty="0"/>
          </a:p>
        </p:txBody>
      </p:sp>
      <p:sp>
        <p:nvSpPr>
          <p:cNvPr id="6" name="panel"/>
          <p:cNvSpPr/>
          <p:nvPr/>
        </p:nvSpPr>
        <p:spPr>
          <a:xfrm>
            <a:off x="548640" y="3794760"/>
            <a:ext cx="5318608" cy="1783080"/>
          </a:xfrm>
          <a:prstGeom prst="roundRect">
            <a:avLst>
              <a:gd name="adj" fmla="val 3077"/>
            </a:avLst>
          </a:prstGeom>
          <a:solidFill>
            <a:schemeClr val="bg2"/>
          </a:solidFill>
          <a:ln w="12700">
            <a:solidFill>
              <a:schemeClr val="bg2"/>
            </a:solidFill>
            <a:prstDash val="solid"/>
          </a:ln>
        </p:spPr>
      </p:sp>
      <p:sp>
        <p:nvSpPr>
          <p:cNvPr id="7" name="cardHead"/>
          <p:cNvSpPr txBox="1"/>
          <p:nvPr/>
        </p:nvSpPr>
        <p:spPr>
          <a:xfrm>
            <a:off x="804672" y="3977640"/>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Not a formality</a:t>
            </a:r>
            <a:endParaRPr lang="en-US" sz="1500" dirty="0"/>
          </a:p>
        </p:txBody>
      </p:sp>
      <p:sp>
        <p:nvSpPr>
          <p:cNvPr id="8" name="cardBody"/>
          <p:cNvSpPr txBox="1"/>
          <p:nvPr/>
        </p:nvSpPr>
        <p:spPr>
          <a:xfrm>
            <a:off x="804672" y="4453128"/>
            <a:ext cx="4806544" cy="905256"/>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Applying it removed several differences that looked like results. Roughly a third of what we measured does not survive.</a:t>
            </a:r>
            <a:endParaRPr lang="en-US" sz="1250" dirty="0"/>
          </a:p>
        </p:txBody>
      </p:sp>
      <p:sp>
        <p:nvSpPr>
          <p:cNvPr id="9" name="panel"/>
          <p:cNvSpPr/>
          <p:nvPr/>
        </p:nvSpPr>
        <p:spPr>
          <a:xfrm>
            <a:off x="6324448" y="3794760"/>
            <a:ext cx="5318608" cy="1783080"/>
          </a:xfrm>
          <a:prstGeom prst="roundRect">
            <a:avLst>
              <a:gd name="adj" fmla="val 3077"/>
            </a:avLst>
          </a:prstGeom>
          <a:solidFill>
            <a:schemeClr val="bg2"/>
          </a:solidFill>
          <a:ln w="12700">
            <a:solidFill>
              <a:schemeClr val="bg2"/>
            </a:solidFill>
            <a:prstDash val="solid"/>
          </a:ln>
        </p:spPr>
      </p:sp>
      <p:sp>
        <p:nvSpPr>
          <p:cNvPr id="10" name="cardHead"/>
          <p:cNvSpPr txBox="1"/>
          <p:nvPr/>
        </p:nvSpPr>
        <p:spPr>
          <a:xfrm>
            <a:off x="6580480" y="3977640"/>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Including our own</a:t>
            </a:r>
            <a:endParaRPr lang="en-US" sz="1500" dirty="0"/>
          </a:p>
        </p:txBody>
      </p:sp>
      <p:sp>
        <p:nvSpPr>
          <p:cNvPr id="11" name="cardBody"/>
          <p:cNvSpPr txBox="1"/>
          <p:nvPr/>
        </p:nvSpPr>
        <p:spPr>
          <a:xfrm>
            <a:off x="6580480" y="4453128"/>
            <a:ext cx="4806544" cy="905256"/>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Every peak-torque comparison fails the rule, on every task — despite differences as large as +87%.</a:t>
            </a:r>
            <a:endParaRPr lang="en-US"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Two more rules, each adopted after breaking it</a:t>
            </a:r>
            <a:endParaRPr lang="en-US" sz="2900" dirty="0"/>
          </a:p>
        </p:txBody>
      </p:sp>
      <p:sp>
        <p:nvSpPr>
          <p:cNvPr id="3" name="panel"/>
          <p:cNvSpPr/>
          <p:nvPr/>
        </p:nvSpPr>
        <p:spPr>
          <a:xfrm>
            <a:off x="548640" y="1508760"/>
            <a:ext cx="5318608" cy="3291840"/>
          </a:xfrm>
          <a:prstGeom prst="roundRect">
            <a:avLst>
              <a:gd name="adj" fmla="val 1667"/>
            </a:avLst>
          </a:prstGeom>
          <a:solidFill>
            <a:schemeClr val="bg2"/>
          </a:solidFill>
          <a:ln w="12700">
            <a:solidFill>
              <a:schemeClr val="bg2"/>
            </a:solidFill>
            <a:prstDash val="solid"/>
          </a:ln>
        </p:spPr>
      </p:sp>
      <p:sp>
        <p:nvSpPr>
          <p:cNvPr id="4" name="cardHead"/>
          <p:cNvSpPr txBox="1"/>
          <p:nvPr/>
        </p:nvSpPr>
        <p:spPr>
          <a:xfrm>
            <a:off x="804672" y="1691640"/>
            <a:ext cx="4806544" cy="402336"/>
          </a:xfrm>
          <a:prstGeom prst="rect">
            <a:avLst/>
          </a:prstGeom>
          <a:noFill/>
          <a:ln/>
        </p:spPr>
        <p:txBody>
          <a:bodyPr wrap="square" lIns="0" tIns="0" rIns="0" bIns="0" rtlCol="0" anchor="ctr"/>
          <a:lstStyle/>
          <a:p>
            <a:pPr indent="0" marL="0">
              <a:buNone/>
            </a:pPr>
            <a:r>
              <a:rPr lang="en-US" sz="1800" b="1" dirty="0">
                <a:solidFill>
                  <a:schemeClr val="accent1"/>
                </a:solidFill>
              </a:rPr>
              <a:t>The criterion is written before the run</a:t>
            </a:r>
            <a:endParaRPr lang="en-US" sz="1800" dirty="0"/>
          </a:p>
        </p:txBody>
      </p:sp>
      <p:sp>
        <p:nvSpPr>
          <p:cNvPr id="5" name="cardBody"/>
          <p:cNvSpPr txBox="1"/>
          <p:nvPr/>
        </p:nvSpPr>
        <p:spPr>
          <a:xfrm>
            <a:off x="804672" y="2167128"/>
            <a:ext cx="4806544" cy="2414016"/>
          </a:xfrm>
          <a:prstGeom prst="rect">
            <a:avLst/>
          </a:prstGeom>
          <a:noFill/>
          <a:ln/>
        </p:spPr>
        <p:txBody>
          <a:bodyPr wrap="square" lIns="0" tIns="0" rIns="0" bIns="0" rtlCol="0" anchor="t"/>
          <a:lstStyle/>
          <a:p>
            <a:pPr indent="0" marL="0">
              <a:lnSpc>
                <a:spcPct val="112000"/>
              </a:lnSpc>
              <a:buNone/>
            </a:pPr>
            <a:r>
              <a:rPr lang="en-US" sz="1450" dirty="0">
                <a:solidFill>
                  <a:schemeClr val="tx2"/>
                </a:solidFill>
              </a:rPr>
              <a:t>Every diagnostic script carries, in its header, the question it asks, the threshold it will apply and the possible conclusions — all written before the data exist. A threshold calibrated afterwards would have moved the stability limit from 1.0x to 1.2x depending on the multiple we chose.</a:t>
            </a:r>
            <a:endParaRPr lang="en-US" sz="1450" dirty="0"/>
          </a:p>
        </p:txBody>
      </p:sp>
      <p:sp>
        <p:nvSpPr>
          <p:cNvPr id="6" name="panel"/>
          <p:cNvSpPr/>
          <p:nvPr/>
        </p:nvSpPr>
        <p:spPr>
          <a:xfrm>
            <a:off x="6324448" y="1508760"/>
            <a:ext cx="5318608" cy="3291840"/>
          </a:xfrm>
          <a:prstGeom prst="roundRect">
            <a:avLst>
              <a:gd name="adj" fmla="val 1667"/>
            </a:avLst>
          </a:prstGeom>
          <a:solidFill>
            <a:schemeClr val="bg2"/>
          </a:solidFill>
          <a:ln w="12700">
            <a:solidFill>
              <a:schemeClr val="bg2"/>
            </a:solidFill>
            <a:prstDash val="solid"/>
          </a:ln>
        </p:spPr>
      </p:sp>
      <p:sp>
        <p:nvSpPr>
          <p:cNvPr id="7" name="cardHead"/>
          <p:cNvSpPr txBox="1"/>
          <p:nvPr/>
        </p:nvSpPr>
        <p:spPr>
          <a:xfrm>
            <a:off x="6580480" y="1691640"/>
            <a:ext cx="4806544" cy="402336"/>
          </a:xfrm>
          <a:prstGeom prst="rect">
            <a:avLst/>
          </a:prstGeom>
          <a:noFill/>
          <a:ln/>
        </p:spPr>
        <p:txBody>
          <a:bodyPr wrap="square" lIns="0" tIns="0" rIns="0" bIns="0" rtlCol="0" anchor="ctr"/>
          <a:lstStyle/>
          <a:p>
            <a:pPr indent="0" marL="0">
              <a:buNone/>
            </a:pPr>
            <a:r>
              <a:rPr lang="en-US" sz="1800" b="1" dirty="0">
                <a:solidFill>
                  <a:schemeClr val="accent1"/>
                </a:solidFill>
              </a:rPr>
              <a:t>Retractions stay written</a:t>
            </a:r>
            <a:endParaRPr lang="en-US" sz="1800" dirty="0"/>
          </a:p>
        </p:txBody>
      </p:sp>
      <p:sp>
        <p:nvSpPr>
          <p:cNvPr id="8" name="cardBody"/>
          <p:cNvSpPr txBox="1"/>
          <p:nvPr/>
        </p:nvSpPr>
        <p:spPr>
          <a:xfrm>
            <a:off x="6580480" y="2167128"/>
            <a:ext cx="4806544" cy="2414016"/>
          </a:xfrm>
          <a:prstGeom prst="rect">
            <a:avLst/>
          </a:prstGeom>
          <a:noFill/>
          <a:ln/>
        </p:spPr>
        <p:txBody>
          <a:bodyPr wrap="square" lIns="0" tIns="0" rIns="0" bIns="0" rtlCol="0" anchor="t"/>
          <a:lstStyle/>
          <a:p>
            <a:pPr indent="0" marL="0">
              <a:lnSpc>
                <a:spcPct val="112000"/>
              </a:lnSpc>
              <a:buNone/>
            </a:pPr>
            <a:r>
              <a:rPr lang="en-US" sz="1450" dirty="0">
                <a:solidFill>
                  <a:schemeClr val="tx2"/>
                </a:solidFill>
              </a:rPr>
              <a:t>Every withdrawn claim is marked in place, with the reason. We withdrew at least five. One wrong claim survived three days precisely because it was plausible.</a:t>
            </a:r>
            <a:endParaRPr lang="en-US" sz="14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914400" y="2514600"/>
            <a:ext cx="2011680" cy="457200"/>
          </a:xfrm>
          <a:prstGeom prst="rect">
            <a:avLst/>
          </a:prstGeom>
          <a:noFill/>
          <a:ln/>
        </p:spPr>
        <p:txBody>
          <a:bodyPr wrap="square" rtlCol="0"/>
          <a:lstStyle/>
          <a:p>
            <a:pPr algn="l" indent="0" marL="0">
              <a:buNone/>
            </a:pPr>
            <a:r>
              <a:rPr lang="en-US" sz="1400" b="1" spc="200" kern="0" dirty="0">
                <a:solidFill>
                  <a:srgbClr val="A9C7D1"/>
                </a:solidFill>
              </a:rPr>
              <a:t>03</a:t>
            </a:r>
            <a:endParaRPr lang="en-US" sz="1400" dirty="0"/>
          </a:p>
        </p:txBody>
      </p:sp>
      <p:sp>
        <p:nvSpPr>
          <p:cNvPr id="3" name="Text 0"/>
          <p:cNvSpPr/>
          <p:nvPr>
            <p:ph idx="101" type="title" hasCustomPrompt="1"/>
          </p:nvPr>
        </p:nvSpPr>
        <p:spPr>
          <a:xfrm>
            <a:off x="914400" y="2926080"/>
            <a:ext cx="9265615" cy="1188720"/>
          </a:xfrm>
          <a:prstGeom prst="rect">
            <a:avLst/>
          </a:prstGeom>
          <a:noFill/>
          <a:ln/>
        </p:spPr>
        <p:txBody>
          <a:bodyPr wrap="square" rtlCol="0" anchor="t"/>
          <a:lstStyle/>
          <a:p>
            <a:pPr algn="l" indent="0" marL="0">
              <a:buNone/>
            </a:pPr>
            <a:r>
              <a:rPr lang="en-US" sz="3800" b="1" dirty="0">
                <a:solidFill>
                  <a:schemeClr val="bg1"/>
                </a:solidFill>
              </a:rPr>
              <a:t>Two defects</a:t>
            </a:r>
            <a:endParaRPr lang="en-US" sz="3800" dirty="0"/>
          </a:p>
        </p:txBody>
      </p:sp>
      <p:sp>
        <p:nvSpPr>
          <p:cNvPr id="4" name="Text 0"/>
          <p:cNvSpPr/>
          <p:nvPr>
            <p:ph idx="102" type="body" hasCustomPrompt="1"/>
          </p:nvPr>
        </p:nvSpPr>
        <p:spPr>
          <a:xfrm>
            <a:off x="914400" y="4114800"/>
            <a:ext cx="8351215" cy="914400"/>
          </a:xfrm>
          <a:prstGeom prst="rect">
            <a:avLst/>
          </a:prstGeom>
          <a:noFill/>
          <a:ln/>
        </p:spPr>
        <p:txBody>
          <a:bodyPr wrap="square" rtlCol="0" anchor="t"/>
          <a:lstStyle/>
          <a:p>
            <a:pPr algn="l" indent="0" marL="0">
              <a:buNone/>
            </a:pPr>
            <a:r>
              <a:rPr lang="en-US" sz="1500" dirty="0">
                <a:solidFill>
                  <a:srgbClr val="C8D6DB"/>
                </a:solidFill>
              </a:rPr>
              <a:t>For three days C2 did not search the terrain. Nothing signalled it: the robot walked, the animation was plausible, the metrics came out.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URDF inertias: wrong by a factor of about one thousand</a:t>
            </a:r>
            <a:endParaRPr lang="en-US" sz="2900" dirty="0"/>
          </a:p>
        </p:txBody>
      </p:sp>
      <p:sp>
        <p:nvSpPr>
          <p:cNvPr id="3" name="panel"/>
          <p:cNvSpPr/>
          <p:nvPr/>
        </p:nvSpPr>
        <p:spPr>
          <a:xfrm>
            <a:off x="548640" y="1371600"/>
            <a:ext cx="5318608" cy="1783080"/>
          </a:xfrm>
          <a:prstGeom prst="roundRect">
            <a:avLst>
              <a:gd name="adj" fmla="val 3077"/>
            </a:avLst>
          </a:prstGeom>
          <a:solidFill>
            <a:schemeClr val="bg2"/>
          </a:solidFill>
          <a:ln w="12700">
            <a:solidFill>
              <a:schemeClr val="bg2"/>
            </a:solidFill>
            <a:prstDash val="solid"/>
          </a:ln>
        </p:spPr>
      </p:sp>
      <p:sp>
        <p:nvSpPr>
          <p:cNvPr id="4" name="cardHead"/>
          <p:cNvSpPr txBox="1"/>
          <p:nvPr/>
        </p:nvSpPr>
        <p:spPr>
          <a:xfrm>
            <a:off x="804672" y="1554480"/>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Radius of gyration</a:t>
            </a:r>
            <a:endParaRPr lang="en-US" sz="1500" dirty="0"/>
          </a:p>
        </p:txBody>
      </p:sp>
      <p:sp>
        <p:nvSpPr>
          <p:cNvPr id="5" name="cardBody"/>
          <p:cNvSpPr txBox="1"/>
          <p:nvPr/>
        </p:nvSpPr>
        <p:spPr>
          <a:xfrm>
            <a:off x="804672" y="2029968"/>
            <a:ext cx="4806544" cy="905256"/>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From I = m r², the declared trunk inertia places the trunk's mass 1.79 m from its own centre. The trunk is 25 cm across. Every link gives 0.46 m; the links are 2 to 12 cm long.</a:t>
            </a:r>
            <a:endParaRPr lang="en-US" sz="1250" dirty="0"/>
          </a:p>
        </p:txBody>
      </p:sp>
      <p:sp>
        <p:nvSpPr>
          <p:cNvPr id="6" name="panel"/>
          <p:cNvSpPr/>
          <p:nvPr/>
        </p:nvSpPr>
        <p:spPr>
          <a:xfrm>
            <a:off x="6324448" y="1371600"/>
            <a:ext cx="5318608" cy="1783080"/>
          </a:xfrm>
          <a:prstGeom prst="roundRect">
            <a:avLst>
              <a:gd name="adj" fmla="val 3077"/>
            </a:avLst>
          </a:prstGeom>
          <a:solidFill>
            <a:schemeClr val="bg2"/>
          </a:solidFill>
          <a:ln w="12700">
            <a:solidFill>
              <a:schemeClr val="bg2"/>
            </a:solidFill>
            <a:prstDash val="solid"/>
          </a:ln>
        </p:spPr>
      </p:sp>
      <p:sp>
        <p:nvSpPr>
          <p:cNvPr id="7" name="cardHead"/>
          <p:cNvSpPr txBox="1"/>
          <p:nvPr/>
        </p:nvSpPr>
        <p:spPr>
          <a:xfrm>
            <a:off x="6580480" y="1554480"/>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All 24 links identical</a:t>
            </a:r>
            <a:endParaRPr lang="en-US" sz="1500" dirty="0"/>
          </a:p>
        </p:txBody>
      </p:sp>
      <p:sp>
        <p:nvSpPr>
          <p:cNvPr id="8" name="cardBody"/>
          <p:cNvSpPr txBox="1"/>
          <p:nvPr/>
        </p:nvSpPr>
        <p:spPr>
          <a:xfrm>
            <a:off x="6580480" y="2029968"/>
            <a:ext cx="4806544" cy="905256"/>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Same inertia to the same decimal, for coxa, femur and tibia. A placeholder, not a measurement.</a:t>
            </a:r>
            <a:endParaRPr lang="en-US" sz="1250" dirty="0"/>
          </a:p>
        </p:txBody>
      </p:sp>
      <p:sp>
        <p:nvSpPr>
          <p:cNvPr id="9" name="d1verdict"/>
          <p:cNvSpPr txBox="1"/>
          <p:nvPr/>
        </p:nvSpPr>
        <p:spPr>
          <a:xfrm>
            <a:off x="548640" y="3383280"/>
            <a:ext cx="11094415" cy="548640"/>
          </a:xfrm>
          <a:prstGeom prst="rect">
            <a:avLst/>
          </a:prstGeom>
          <a:noFill/>
          <a:ln/>
        </p:spPr>
        <p:txBody>
          <a:bodyPr wrap="square" lIns="0" tIns="0" rIns="0" bIns="0" rtlCol="0" anchor="ctr"/>
          <a:lstStyle/>
          <a:p>
            <a:pPr indent="0" marL="0">
              <a:buNone/>
            </a:pPr>
            <a:r>
              <a:rPr lang="en-US" sz="1400" b="1" dirty="0">
                <a:solidFill>
                  <a:schemeClr val="accent1"/>
                </a:solidFill>
              </a:rPr>
              <a:t>Dividing by 10³ brings everything into the physically plausible range — the signature of a CAD export with masses in grams.</a:t>
            </a:r>
            <a:endParaRPr lang="en-US" sz="1400" dirty="0"/>
          </a:p>
        </p:txBody>
      </p:sp>
      <p:sp>
        <p:nvSpPr>
          <p:cNvPr id="10" name="panel"/>
          <p:cNvSpPr/>
          <p:nvPr/>
        </p:nvSpPr>
        <p:spPr>
          <a:xfrm>
            <a:off x="548640" y="4069080"/>
            <a:ext cx="11094415" cy="1691640"/>
          </a:xfrm>
          <a:prstGeom prst="roundRect">
            <a:avLst>
              <a:gd name="adj" fmla="val 3243"/>
            </a:avLst>
          </a:prstGeom>
          <a:solidFill>
            <a:schemeClr val="bg2"/>
          </a:solidFill>
          <a:ln w="12700">
            <a:solidFill>
              <a:schemeClr val="bg2"/>
            </a:solidFill>
            <a:prstDash val="solid"/>
          </a:ln>
        </p:spPr>
      </p:sp>
      <p:sp>
        <p:nvSpPr>
          <p:cNvPr id="11" name="statValue"/>
          <p:cNvSpPr txBox="1"/>
          <p:nvPr/>
        </p:nvSpPr>
        <p:spPr>
          <a:xfrm>
            <a:off x="1005840" y="4251960"/>
            <a:ext cx="4815688" cy="713232"/>
          </a:xfrm>
          <a:prstGeom prst="rect">
            <a:avLst/>
          </a:prstGeom>
          <a:noFill/>
          <a:ln/>
        </p:spPr>
        <p:txBody>
          <a:bodyPr wrap="square" lIns="0" tIns="0" rIns="0" bIns="0" rtlCol="0" anchor="ctr"/>
          <a:lstStyle/>
          <a:p>
            <a:pPr indent="0" marL="0">
              <a:buNone/>
            </a:pPr>
            <a:r>
              <a:rPr lang="en-US" sz="4000" b="1" dirty="0">
                <a:solidFill>
                  <a:srgbClr val="A8322A"/>
                </a:solidFill>
              </a:rPr>
              <a:t>45° → 15°</a:t>
            </a:r>
            <a:endParaRPr lang="en-US" sz="4000" dirty="0"/>
          </a:p>
        </p:txBody>
      </p:sp>
      <p:sp>
        <p:nvSpPr>
          <p:cNvPr id="12" name="statLabel"/>
          <p:cNvSpPr txBox="1"/>
          <p:nvPr/>
        </p:nvSpPr>
        <p:spPr>
          <a:xfrm>
            <a:off x="1005840" y="5001768"/>
            <a:ext cx="4815688" cy="868680"/>
          </a:xfrm>
          <a:prstGeom prst="rect">
            <a:avLst/>
          </a:prstGeom>
          <a:noFill/>
          <a:ln/>
        </p:spPr>
        <p:txBody>
          <a:bodyPr wrap="square" lIns="0" tIns="0" rIns="0" bIns="0" rtlCol="0" anchor="t"/>
          <a:lstStyle/>
          <a:p>
            <a:pPr indent="0" marL="0">
              <a:lnSpc>
                <a:spcPct val="110000"/>
              </a:lnSpc>
              <a:buNone/>
            </a:pPr>
            <a:r>
              <a:rPr lang="en-US" sz="1200" dirty="0">
                <a:solidFill>
                  <a:schemeClr val="tx2"/>
                </a:solidFill>
              </a:rPr>
              <a:t>peak pitch of C1 on rough ground</a:t>
            </a:r>
            <a:endParaRPr lang="en-US" sz="1200" dirty="0"/>
          </a:p>
        </p:txBody>
      </p:sp>
      <p:sp>
        <p:nvSpPr>
          <p:cNvPr id="13" name="statValue"/>
          <p:cNvSpPr txBox="1"/>
          <p:nvPr/>
        </p:nvSpPr>
        <p:spPr>
          <a:xfrm>
            <a:off x="6553048" y="4251960"/>
            <a:ext cx="4815688" cy="713232"/>
          </a:xfrm>
          <a:prstGeom prst="rect">
            <a:avLst/>
          </a:prstGeom>
          <a:noFill/>
          <a:ln/>
        </p:spPr>
        <p:txBody>
          <a:bodyPr wrap="square" lIns="0" tIns="0" rIns="0" bIns="0" rtlCol="0" anchor="ctr"/>
          <a:lstStyle/>
          <a:p>
            <a:pPr indent="0" marL="0">
              <a:buNone/>
            </a:pPr>
            <a:r>
              <a:rPr lang="en-US" sz="4000" b="1" dirty="0">
                <a:solidFill>
                  <a:srgbClr val="A8322A"/>
                </a:solidFill>
              </a:rPr>
              <a:t>1.35 → 0.68</a:t>
            </a:r>
            <a:endParaRPr lang="en-US" sz="4000" dirty="0"/>
          </a:p>
        </p:txBody>
      </p:sp>
      <p:sp>
        <p:nvSpPr>
          <p:cNvPr id="14" name="statLabel"/>
          <p:cNvSpPr txBox="1"/>
          <p:nvPr/>
        </p:nvSpPr>
        <p:spPr>
          <a:xfrm>
            <a:off x="6553048" y="5001768"/>
            <a:ext cx="4815688" cy="868680"/>
          </a:xfrm>
          <a:prstGeom prst="rect">
            <a:avLst/>
          </a:prstGeom>
          <a:noFill/>
          <a:ln/>
        </p:spPr>
        <p:txBody>
          <a:bodyPr wrap="square" lIns="0" tIns="0" rIns="0" bIns="0" rtlCol="0" anchor="t"/>
          <a:lstStyle/>
          <a:p>
            <a:pPr indent="0" marL="0">
              <a:lnSpc>
                <a:spcPct val="110000"/>
              </a:lnSpc>
              <a:buNone/>
            </a:pPr>
            <a:r>
              <a:rPr lang="en-US" sz="1200" dirty="0">
                <a:solidFill>
                  <a:schemeClr val="tx2"/>
                </a:solidFill>
              </a:rPr>
              <a:t>cost ratio C2/C1 — it changed sign</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Correcting the robot broke the contact detector</a:t>
            </a:r>
            <a:endParaRPr lang="en-US" sz="2900" dirty="0"/>
          </a:p>
        </p:txBody>
      </p:sp>
      <p:sp>
        <p:nvSpPr>
          <p:cNvPr id="3" name="d2lead"/>
          <p:cNvSpPr txBox="1"/>
          <p:nvPr/>
        </p:nvSpPr>
        <p:spPr>
          <a:xfrm>
            <a:off x="548640" y="1280160"/>
            <a:ext cx="5943600" cy="868680"/>
          </a:xfrm>
          <a:prstGeom prst="rect">
            <a:avLst/>
          </a:prstGeom>
          <a:noFill/>
          <a:ln/>
        </p:spPr>
        <p:txBody>
          <a:bodyPr wrap="square" lIns="0" tIns="0" rIns="0" bIns="0" rtlCol="0" anchor="t"/>
          <a:lstStyle/>
          <a:p>
            <a:pPr indent="0" marL="0">
              <a:lnSpc>
                <a:spcPct val="112000"/>
              </a:lnSpc>
              <a:buNone/>
            </a:pPr>
            <a:r>
              <a:rPr lang="en-US" sz="1300" dirty="0">
                <a:solidFill>
                  <a:schemeClr val="tx1"/>
                </a:solidFill>
              </a:rPr>
              <a:t>We corrected the inertias of the simulated robot only. From that moment the robot and the model predicting its torque were two different robots, three orders of magnitude apart.</a:t>
            </a:r>
            <a:endParaRPr lang="en-US" sz="1300" dirty="0"/>
          </a:p>
        </p:txBody>
      </p:sp>
      <p:sp>
        <p:nvSpPr>
          <p:cNvPr id="4" name="d2cons"/>
          <p:cNvSpPr txBox="1"/>
          <p:nvPr/>
        </p:nvSpPr>
        <p:spPr>
          <a:xfrm>
            <a:off x="548640" y="2240280"/>
            <a:ext cx="5943600" cy="1234440"/>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The residual became large always, with or without contact. The flag stayed high over 95% of swing, so the terrain search never entered the branch that grows foot extension — and the command degenerated into a constant.</a:t>
            </a:r>
            <a:endParaRPr lang="en-US" sz="1250" dirty="0"/>
          </a:p>
        </p:txBody>
      </p:sp>
      <p:sp>
        <p:nvSpPr>
          <p:cNvPr id="5" name="panel"/>
          <p:cNvSpPr/>
          <p:nvPr/>
        </p:nvSpPr>
        <p:spPr>
          <a:xfrm>
            <a:off x="548640" y="3611880"/>
            <a:ext cx="5943600" cy="1691640"/>
          </a:xfrm>
          <a:prstGeom prst="roundRect">
            <a:avLst>
              <a:gd name="adj" fmla="val 3243"/>
            </a:avLst>
          </a:prstGeom>
          <a:solidFill>
            <a:srgbClr val="F3E2D7"/>
          </a:solidFill>
          <a:ln w="12700">
            <a:solidFill>
              <a:srgbClr val="F3E2D7"/>
            </a:solidFill>
            <a:prstDash val="solid"/>
          </a:ln>
        </p:spPr>
      </p:sp>
      <p:sp>
        <p:nvSpPr>
          <p:cNvPr id="6" name="d2quote"/>
          <p:cNvSpPr txBox="1"/>
          <p:nvPr/>
        </p:nvSpPr>
        <p:spPr>
          <a:xfrm>
            <a:off x="822960" y="3611880"/>
            <a:ext cx="5394960" cy="1691640"/>
          </a:xfrm>
          <a:prstGeom prst="rect">
            <a:avLst/>
          </a:prstGeom>
          <a:noFill/>
          <a:ln/>
        </p:spPr>
        <p:txBody>
          <a:bodyPr wrap="square" lIns="0" tIns="0" rIns="0" bIns="0" rtlCol="0" anchor="ctr"/>
          <a:lstStyle/>
          <a:p>
            <a:pPr indent="0" marL="0">
              <a:lnSpc>
                <a:spcPct val="115000"/>
              </a:lnSpc>
              <a:buNone/>
            </a:pPr>
            <a:r>
              <a:rPr lang="en-US" sz="1350" b="1" i="1" dirty="0">
                <a:solidFill>
                  <a:srgbClr val="8A3C12"/>
                </a:solidFill>
              </a:rPr>
              <a:t>For three days C2 did not search the terrain. Nothing signalled it: the robot walked, the animation was plausible, the metrics came out.</a:t>
            </a:r>
            <a:endParaRPr lang="en-US" sz="135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6949440" y="1280160"/>
          <a:ext cx="4693615" cy="914400"/>
        </p:xfrm>
        <a:graphic>
          <a:graphicData uri="http://schemas.openxmlformats.org/drawingml/2006/table">
            <a:tbl>
              <a:tblPr/>
              <a:tblGrid>
                <a:gridCol w="2221992"/>
                <a:gridCol w="1234440"/>
                <a:gridCol w="1234440"/>
              </a:tblGrid>
              <a:tr h="475488">
                <a:tc>
                  <a:txBody>
                    <a:bodyPr/>
                    <a:lstStyle/>
                    <a:p>
                      <a:pPr algn="l" indent="0" marL="0">
                        <a:buNone/>
                      </a:pP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misaligned</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aligned</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r>
              <a:tr h="475488">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Flag error during stance</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0.6%</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475488">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Error of an always-high flag</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3.2%</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75488">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Does the flag carry information?</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475488">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Swings with no reset of the search</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20/60</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2/60</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panel"/>
          <p:cNvSpPr/>
          <p:nvPr/>
        </p:nvSpPr>
        <p:spPr>
          <a:xfrm>
            <a:off x="6949440" y="3977640"/>
            <a:ext cx="4693615" cy="1325880"/>
          </a:xfrm>
          <a:prstGeom prst="roundRect">
            <a:avLst>
              <a:gd name="adj" fmla="val 4138"/>
            </a:avLst>
          </a:prstGeom>
          <a:solidFill>
            <a:schemeClr val="bg2"/>
          </a:solidFill>
          <a:ln w="12700">
            <a:solidFill>
              <a:schemeClr val="bg2"/>
            </a:solidFill>
            <a:prstDash val="solid"/>
          </a:ln>
        </p:spPr>
      </p:sp>
      <p:sp>
        <p:nvSpPr>
          <p:cNvPr id="9" name="statValue"/>
          <p:cNvSpPr txBox="1"/>
          <p:nvPr/>
        </p:nvSpPr>
        <p:spPr>
          <a:xfrm>
            <a:off x="7223760" y="4114800"/>
            <a:ext cx="4144975" cy="713232"/>
          </a:xfrm>
          <a:prstGeom prst="rect">
            <a:avLst/>
          </a:prstGeom>
          <a:noFill/>
          <a:ln/>
        </p:spPr>
        <p:txBody>
          <a:bodyPr wrap="square" lIns="0" tIns="0" rIns="0" bIns="0" rtlCol="0" anchor="ctr"/>
          <a:lstStyle/>
          <a:p>
            <a:pPr indent="0" marL="0">
              <a:buNone/>
            </a:pPr>
            <a:r>
              <a:rPr lang="en-US" sz="4000" b="1" dirty="0">
                <a:solidFill>
                  <a:srgbClr val="A8322A"/>
                </a:solidFill>
              </a:rPr>
              <a:t>&gt; 95%</a:t>
            </a:r>
            <a:endParaRPr lang="en-US" sz="4000" dirty="0"/>
          </a:p>
        </p:txBody>
      </p:sp>
      <p:sp>
        <p:nvSpPr>
          <p:cNvPr id="10" name="statLabel"/>
          <p:cNvSpPr txBox="1"/>
          <p:nvPr/>
        </p:nvSpPr>
        <p:spPr>
          <a:xfrm>
            <a:off x="7223760" y="4864608"/>
            <a:ext cx="4144975" cy="868680"/>
          </a:xfrm>
          <a:prstGeom prst="rect">
            <a:avLst/>
          </a:prstGeom>
          <a:noFill/>
          <a:ln/>
        </p:spPr>
        <p:txBody>
          <a:bodyPr wrap="square" lIns="0" tIns="0" rIns="0" bIns="0" rtlCol="0" anchor="t"/>
          <a:lstStyle/>
          <a:p>
            <a:pPr indent="0" marL="0">
              <a:lnSpc>
                <a:spcPct val="110000"/>
              </a:lnSpc>
              <a:buNone/>
            </a:pPr>
            <a:r>
              <a:rPr lang="en-US" sz="1200" dirty="0">
                <a:solidFill>
                  <a:schemeClr val="tx2"/>
                </a:solidFill>
              </a:rPr>
              <a:t>of the swing phase with the contact flag stuck high</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Two corrections that are our own choice</a:t>
            </a:r>
            <a:endParaRPr lang="en-US" sz="2900" dirty="0"/>
          </a:p>
        </p:txBody>
      </p:sp>
      <p:sp>
        <p:nvSpPr>
          <p:cNvPr id="3" name="panel"/>
          <p:cNvSpPr/>
          <p:nvPr/>
        </p:nvSpPr>
        <p:spPr>
          <a:xfrm>
            <a:off x="548640" y="1371600"/>
            <a:ext cx="5318608" cy="3200400"/>
          </a:xfrm>
          <a:prstGeom prst="roundRect">
            <a:avLst>
              <a:gd name="adj" fmla="val 1714"/>
            </a:avLst>
          </a:prstGeom>
          <a:solidFill>
            <a:schemeClr val="bg2"/>
          </a:solidFill>
          <a:ln w="12700">
            <a:solidFill>
              <a:schemeClr val="bg2"/>
            </a:solidFill>
            <a:prstDash val="solid"/>
          </a:ln>
        </p:spPr>
      </p:sp>
      <p:sp>
        <p:nvSpPr>
          <p:cNvPr id="4" name="cardHead"/>
          <p:cNvSpPr txBox="1"/>
          <p:nvPr/>
        </p:nvSpPr>
        <p:spPr>
          <a:xfrm>
            <a:off x="804672" y="1554480"/>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Contact threshold re-tuned</a:t>
            </a:r>
            <a:endParaRPr lang="en-US" sz="1500" dirty="0"/>
          </a:p>
        </p:txBody>
      </p:sp>
      <p:sp>
        <p:nvSpPr>
          <p:cNvPr id="5" name="cardBody"/>
          <p:cNvSpPr txBox="1"/>
          <p:nvPr/>
        </p:nvSpPr>
        <p:spPr>
          <a:xfrm>
            <a:off x="804672" y="2029968"/>
            <a:ext cx="4806544" cy="2322576"/>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At the original threshold the flag still stayed high over 41.9% of swing, and 39.7% of that was the coxa alone: it rotates about the vertical axis while contact is vertical, so contact transmits almost no torque to it. The adopted triple switches the coxa off — a change of rule, not a re-tuning: the flag becomes an OR over two joints.</a:t>
            </a:r>
            <a:endParaRPr lang="en-US" sz="1250" dirty="0"/>
          </a:p>
        </p:txBody>
      </p:sp>
      <p:sp>
        <p:nvSpPr>
          <p:cNvPr id="6" name="panel"/>
          <p:cNvSpPr/>
          <p:nvPr/>
        </p:nvSpPr>
        <p:spPr>
          <a:xfrm>
            <a:off x="6324448" y="1371600"/>
            <a:ext cx="5318608" cy="3200400"/>
          </a:xfrm>
          <a:prstGeom prst="roundRect">
            <a:avLst>
              <a:gd name="adj" fmla="val 1714"/>
            </a:avLst>
          </a:prstGeom>
          <a:solidFill>
            <a:schemeClr val="bg2"/>
          </a:solidFill>
          <a:ln w="12700">
            <a:solidFill>
              <a:schemeClr val="bg2"/>
            </a:solidFill>
            <a:prstDash val="solid"/>
          </a:ln>
        </p:spPr>
      </p:sp>
      <p:sp>
        <p:nvSpPr>
          <p:cNvPr id="7" name="cardHead"/>
          <p:cNvSpPr txBox="1"/>
          <p:nvPr/>
        </p:nvSpPr>
        <p:spPr>
          <a:xfrm>
            <a:off x="6580480" y="1554480"/>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Slew-rate limiter in both plants</a:t>
            </a:r>
            <a:endParaRPr lang="en-US" sz="1500" dirty="0"/>
          </a:p>
        </p:txBody>
      </p:sp>
      <p:sp>
        <p:nvSpPr>
          <p:cNvPr id="8" name="cardBody"/>
          <p:cNvSpPr txBox="1"/>
          <p:nvPr/>
        </p:nvSpPr>
        <p:spPr>
          <a:xfrm>
            <a:off x="6580480" y="2029968"/>
            <a:ext cx="4806544" cy="2322576"/>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The attitude model carried a rate limiter the open-loop plant did not have — an asymmetry that would have confounded the attitude loop with its own limiter. We placed ±0.4 m/s in both. The nominal gait peaks at 0.375 m/s, so the nominal march is untouched.</a:t>
            </a:r>
            <a:endParaRPr lang="en-US" sz="1250" dirty="0"/>
          </a:p>
        </p:txBody>
      </p:sp>
      <p:sp>
        <p:nvSpPr>
          <p:cNvPr id="9" name="panel"/>
          <p:cNvSpPr/>
          <p:nvPr/>
        </p:nvSpPr>
        <p:spPr>
          <a:xfrm>
            <a:off x="548640" y="4800600"/>
            <a:ext cx="11094415" cy="1005840"/>
          </a:xfrm>
          <a:prstGeom prst="roundRect">
            <a:avLst>
              <a:gd name="adj" fmla="val 5455"/>
            </a:avLst>
          </a:prstGeom>
          <a:solidFill>
            <a:srgbClr val="DCE6E9"/>
          </a:solidFill>
          <a:ln w="12700">
            <a:solidFill>
              <a:srgbClr val="DCE6E9"/>
            </a:solidFill>
            <a:prstDash val="solid"/>
          </a:ln>
        </p:spPr>
      </p:sp>
      <p:sp>
        <p:nvSpPr>
          <p:cNvPr id="10" name="fixNote"/>
          <p:cNvSpPr txBox="1"/>
          <p:nvPr/>
        </p:nvSpPr>
        <p:spPr>
          <a:xfrm>
            <a:off x="914400" y="4800600"/>
            <a:ext cx="10362895" cy="1005840"/>
          </a:xfrm>
          <a:prstGeom prst="rect">
            <a:avLst/>
          </a:prstGeom>
          <a:noFill/>
          <a:ln/>
        </p:spPr>
        <p:txBody>
          <a:bodyPr wrap="square" lIns="0" tIns="0" rIns="0" bIns="0" rtlCol="0" anchor="ctr"/>
          <a:lstStyle/>
          <a:p>
            <a:pPr indent="0" marL="0">
              <a:lnSpc>
                <a:spcPct val="110000"/>
              </a:lnSpc>
              <a:buNone/>
            </a:pPr>
            <a:r>
              <a:rPr lang="en-US" sz="1250" dirty="0">
                <a:solidFill>
                  <a:schemeClr val="accent1"/>
                </a:solidFill>
              </a:rPr>
              <a:t>The limiter mattered more than expected: it removed C2's lateral drift on the obstacle course, from 0.296 to 0.104 m. An implementation detail, with effects larger than some of the differences between controllers.</a:t>
            </a:r>
            <a:endParaRPr lang="en-US"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914400" y="2514600"/>
            <a:ext cx="2011680" cy="457200"/>
          </a:xfrm>
          <a:prstGeom prst="rect">
            <a:avLst/>
          </a:prstGeom>
          <a:noFill/>
          <a:ln/>
        </p:spPr>
        <p:txBody>
          <a:bodyPr wrap="square" rtlCol="0"/>
          <a:lstStyle/>
          <a:p>
            <a:pPr algn="l" indent="0" marL="0">
              <a:buNone/>
            </a:pPr>
            <a:r>
              <a:rPr lang="en-US" sz="1400" b="1" spc="200" kern="0" dirty="0">
                <a:solidFill>
                  <a:srgbClr val="A9C7D1"/>
                </a:solidFill>
              </a:rPr>
              <a:t>04</a:t>
            </a:r>
            <a:endParaRPr lang="en-US" sz="1400" dirty="0"/>
          </a:p>
        </p:txBody>
      </p:sp>
      <p:sp>
        <p:nvSpPr>
          <p:cNvPr id="3" name="Text 0"/>
          <p:cNvSpPr/>
          <p:nvPr>
            <p:ph idx="101" type="title" hasCustomPrompt="1"/>
          </p:nvPr>
        </p:nvSpPr>
        <p:spPr>
          <a:xfrm>
            <a:off x="914400" y="2926080"/>
            <a:ext cx="9265615" cy="1188720"/>
          </a:xfrm>
          <a:prstGeom prst="rect">
            <a:avLst/>
          </a:prstGeom>
          <a:noFill/>
          <a:ln/>
        </p:spPr>
        <p:txBody>
          <a:bodyPr wrap="square" rtlCol="0" anchor="t"/>
          <a:lstStyle/>
          <a:p>
            <a:pPr algn="l" indent="0" marL="0">
              <a:buNone/>
            </a:pPr>
            <a:r>
              <a:rPr lang="en-US" sz="3800" b="1" dirty="0">
                <a:solidFill>
                  <a:schemeClr val="bg1"/>
                </a:solidFill>
              </a:rPr>
              <a:t>Results</a:t>
            </a:r>
            <a:endParaRPr lang="en-US" sz="3800" dirty="0"/>
          </a:p>
        </p:txBody>
      </p:sp>
      <p:sp>
        <p:nvSpPr>
          <p:cNvPr id="4" name="Text 0"/>
          <p:cNvSpPr/>
          <p:nvPr>
            <p:ph idx="102" type="body" hasCustomPrompt="1"/>
          </p:nvPr>
        </p:nvSpPr>
        <p:spPr>
          <a:xfrm>
            <a:off x="914400" y="4114800"/>
            <a:ext cx="8351215" cy="914400"/>
          </a:xfrm>
          <a:prstGeom prst="rect">
            <a:avLst/>
          </a:prstGeom>
          <a:noFill/>
          <a:ln/>
        </p:spPr>
        <p:txBody>
          <a:bodyPr wrap="square" rtlCol="0" anchor="t"/>
          <a:lstStyle/>
          <a:p>
            <a:pPr algn="l" indent="0" marL="0">
              <a:buNone/>
            </a:pPr>
            <a:r>
              <a:rPr lang="en-US" sz="1500" dirty="0">
                <a:solidFill>
                  <a:srgbClr val="C8D6DB"/>
                </a:solidFill>
              </a:rPr>
              <a:t>On ground that is exactly what the trajectory generator believes it to be, terrain search makes attitude three to four times worse and buys nothing. The mechanism keeps working where there is nothing to find, and the body pays for it.</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Flat and curve: terrain search costs attitude</a:t>
            </a:r>
            <a:endParaRPr lang="en-US" sz="29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7406640" cy="914400"/>
        </p:xfrm>
        <a:graphic>
          <a:graphicData uri="http://schemas.openxmlformats.org/drawingml/2006/table">
            <a:tbl>
              <a:tblPr/>
              <a:tblGrid>
                <a:gridCol w="2331720"/>
                <a:gridCol w="777240"/>
                <a:gridCol w="777240"/>
                <a:gridCol w="777240"/>
                <a:gridCol w="1371600"/>
                <a:gridCol w="1371600"/>
              </a:tblGrid>
              <a:tr h="0">
                <a:tc>
                  <a:txBody>
                    <a:bodyPr/>
                    <a:lstStyle/>
                    <a:p>
                      <a:pPr algn="l" indent="0" marL="0">
                        <a:buNone/>
                      </a:pP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C1</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C2</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C3</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C1→C2</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C2→C3</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r>
              <a:tr h="0">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T2 pitch max [deg]</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0.514</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1.95</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0.356</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+279% (16.3x)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−82% (18.1x)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0">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T2 cost of transport</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0.888</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0.865</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1.11</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−3% (n.c.)</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+28% (27.7x)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T3 pitch max [deg]</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0.579</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1.85</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0.392</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+219% (40.0x)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−79% (45.9x)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0">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T3 roll max [deg]</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0.224</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0.351</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0.210</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+57% (4.6x)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−40% (5.1x)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T3 energy [J]</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30.3</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29.5</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37.8</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−3% (6.4x)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+28% (22.5x)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bl>
          </a:graphicData>
        </a:graphic>
      </p:graphicFrame>
      <p:sp>
        <p:nvSpPr>
          <p:cNvPr id="4" name="figBox"/>
          <p:cNvSpPr/>
          <p:nvPr/>
        </p:nvSpPr>
        <p:spPr>
          <a:xfrm>
            <a:off x="8366760" y="1325880"/>
            <a:ext cx="3276295" cy="4343400"/>
          </a:xfrm>
          <a:prstGeom prst="roundRect">
            <a:avLst>
              <a:gd name="adj" fmla="val 1395"/>
            </a:avLst>
          </a:prstGeom>
          <a:solidFill>
            <a:schemeClr val="bg2"/>
          </a:solidFill>
          <a:ln w="12700">
            <a:solidFill>
              <a:srgbClr val="C3CBCF"/>
            </a:solidFill>
            <a:prstDash val="dash"/>
          </a:ln>
        </p:spPr>
      </p:sp>
      <p:sp>
        <p:nvSpPr>
          <p:cNvPr id="5" name="figText"/>
          <p:cNvSpPr txBox="1"/>
          <p:nvPr/>
        </p:nvSpPr>
        <p:spPr>
          <a:xfrm>
            <a:off x="8549640" y="1325880"/>
            <a:ext cx="2910535" cy="4343400"/>
          </a:xfrm>
          <a:prstGeom prst="rect">
            <a:avLst/>
          </a:prstGeom>
          <a:noFill/>
          <a:ln/>
        </p:spPr>
        <p:txBody>
          <a:bodyPr wrap="square" lIns="0" tIns="0" rIns="0" bIns="0" rtlCol="0" anchor="ctr"/>
          <a:lstStyle/>
          <a:p>
            <a:pPr algn="ctr" indent="0" marL="0">
              <a:buNone/>
            </a:pPr>
            <a:r>
              <a:rPr lang="en-US" sz="1200" b="1" dirty="0">
                <a:solidFill>
                  <a:srgbClr val="8A979D"/>
                </a:solidFill>
              </a:rPr>
              <a:t>[ FIGURE ]</a:t>
            </a:r>
            <a:endParaRPr lang="en-US" sz="1200" dirty="0"/>
          </a:p>
          <a:p>
            <a:pPr algn="ctr" indent="0" marL="0">
              <a:buNone/>
            </a:pPr>
            <a:r>
              <a:rPr lang="en-US" sz="1150" i="1" dirty="0">
                <a:solidFill>
                  <a:srgbClr val="8A979D"/>
                </a:solidFill>
              </a:rPr>
              <a:t>Body pitch over two gait cycles, flat ground, three controllers</a:t>
            </a:r>
            <a:endParaRPr lang="en-US" sz="1200" dirty="0"/>
          </a:p>
        </p:txBody>
      </p:sp>
      <p:sp>
        <p:nvSpPr>
          <p:cNvPr id="6" name="panel"/>
          <p:cNvSpPr/>
          <p:nvPr/>
        </p:nvSpPr>
        <p:spPr>
          <a:xfrm>
            <a:off x="548640" y="3931920"/>
            <a:ext cx="7406640" cy="1737360"/>
          </a:xfrm>
          <a:prstGeom prst="roundRect">
            <a:avLst>
              <a:gd name="adj" fmla="val 3158"/>
            </a:avLst>
          </a:prstGeom>
          <a:solidFill>
            <a:srgbClr val="DCE6E9"/>
          </a:solidFill>
          <a:ln w="12700">
            <a:solidFill>
              <a:srgbClr val="DCE6E9"/>
            </a:solidFill>
            <a:prstDash val="solid"/>
          </a:ln>
        </p:spPr>
      </p:sp>
      <p:sp>
        <p:nvSpPr>
          <p:cNvPr id="7" name="flatRead"/>
          <p:cNvSpPr txBox="1"/>
          <p:nvPr/>
        </p:nvSpPr>
        <p:spPr>
          <a:xfrm>
            <a:off x="868680" y="3931920"/>
            <a:ext cx="6766560" cy="1737360"/>
          </a:xfrm>
          <a:prstGeom prst="rect">
            <a:avLst/>
          </a:prstGeom>
          <a:noFill/>
          <a:ln/>
        </p:spPr>
        <p:txBody>
          <a:bodyPr wrap="square" lIns="0" tIns="0" rIns="0" bIns="0" rtlCol="0" anchor="ctr"/>
          <a:lstStyle/>
          <a:p>
            <a:pPr indent="0" marL="0">
              <a:lnSpc>
                <a:spcPct val="112000"/>
              </a:lnSpc>
              <a:buNone/>
            </a:pPr>
            <a:r>
              <a:rPr lang="en-US" sz="1250" dirty="0">
                <a:solidFill>
                  <a:schemeClr val="accent1"/>
                </a:solidFill>
              </a:rPr>
              <a:t>On ground that is exactly what the trajectory generator believes it to be, terrain search makes attitude three to four times worse and buys nothing. The mechanism keeps working where there is nothing to find, and the body pays for it.</a:t>
            </a:r>
            <a:endParaRPr lang="en-US"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Discontinuities: terrain search repays</a:t>
            </a:r>
            <a:endParaRPr lang="en-US" sz="29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7406640" cy="914400"/>
        </p:xfrm>
        <a:graphic>
          <a:graphicData uri="http://schemas.openxmlformats.org/drawingml/2006/table">
            <a:tbl>
              <a:tblPr/>
              <a:tblGrid>
                <a:gridCol w="2331720"/>
                <a:gridCol w="777240"/>
                <a:gridCol w="777240"/>
                <a:gridCol w="777240"/>
                <a:gridCol w="1371600"/>
                <a:gridCol w="1371600"/>
              </a:tblGrid>
              <a:tr h="0">
                <a:tc>
                  <a:txBody>
                    <a:bodyPr/>
                    <a:lstStyle/>
                    <a:p>
                      <a:pPr algn="l" indent="0" marL="0">
                        <a:buNone/>
                      </a:pP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C1</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C2</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C3</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C1→C2</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C2→C3</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r>
              <a:tr h="0">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T4D pitch max [deg]</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8.65</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10.4</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1.98</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+21% (19.8x)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−81% (93.8x)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0">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T4D roll max [deg]</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2.12</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1.49</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0.611</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−30% (6.4x)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−59% (7.6x)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T4D energy [J]</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64.1</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59.9</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83.6</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−7% (3.5x)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+40% (18.8x)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0">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T5 pitch max [deg]</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7.56</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6.41</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1.73</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−15% (16.4x)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−73% (19.8x)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T5 cost of transport</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1.08</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1.40</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−10% (5.2x)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+30% (17.1x)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bl>
          </a:graphicData>
        </a:graphic>
      </p:graphicFrame>
      <p:sp>
        <p:nvSpPr>
          <p:cNvPr id="4" name="figBox"/>
          <p:cNvSpPr/>
          <p:nvPr/>
        </p:nvSpPr>
        <p:spPr>
          <a:xfrm>
            <a:off x="8366760" y="1325880"/>
            <a:ext cx="3276295" cy="4343400"/>
          </a:xfrm>
          <a:prstGeom prst="roundRect">
            <a:avLst>
              <a:gd name="adj" fmla="val 1395"/>
            </a:avLst>
          </a:prstGeom>
          <a:solidFill>
            <a:schemeClr val="bg2"/>
          </a:solidFill>
          <a:ln w="12700">
            <a:solidFill>
              <a:srgbClr val="C3CBCF"/>
            </a:solidFill>
            <a:prstDash val="dash"/>
          </a:ln>
        </p:spPr>
      </p:sp>
      <p:sp>
        <p:nvSpPr>
          <p:cNvPr id="5" name="figText"/>
          <p:cNvSpPr txBox="1"/>
          <p:nvPr/>
        </p:nvSpPr>
        <p:spPr>
          <a:xfrm>
            <a:off x="8549640" y="1325880"/>
            <a:ext cx="2910535" cy="4343400"/>
          </a:xfrm>
          <a:prstGeom prst="rect">
            <a:avLst/>
          </a:prstGeom>
          <a:noFill/>
          <a:ln/>
        </p:spPr>
        <p:txBody>
          <a:bodyPr wrap="square" lIns="0" tIns="0" rIns="0" bIns="0" rtlCol="0" anchor="ctr"/>
          <a:lstStyle/>
          <a:p>
            <a:pPr algn="ctr" indent="0" marL="0">
              <a:buNone/>
            </a:pPr>
            <a:r>
              <a:rPr lang="en-US" sz="1200" b="1" dirty="0">
                <a:solidFill>
                  <a:srgbClr val="8A979D"/>
                </a:solidFill>
              </a:rPr>
              <a:t>[ FIGURE ]</a:t>
            </a:r>
            <a:endParaRPr lang="en-US" sz="1200" dirty="0"/>
          </a:p>
          <a:p>
            <a:pPr algn="ctr" indent="0" marL="0">
              <a:buNone/>
            </a:pPr>
            <a:r>
              <a:rPr lang="en-US" sz="1150" i="1" dirty="0">
                <a:solidFill>
                  <a:srgbClr val="8A979D"/>
                </a:solidFill>
              </a:rPr>
              <a:t>Body attitude during the obstacle crossing, with the crossing window shaded</a:t>
            </a:r>
            <a:endParaRPr lang="en-US" sz="1200" dirty="0"/>
          </a:p>
        </p:txBody>
      </p:sp>
      <p:sp>
        <p:nvSpPr>
          <p:cNvPr id="6" name="panel"/>
          <p:cNvSpPr/>
          <p:nvPr/>
        </p:nvSpPr>
        <p:spPr>
          <a:xfrm>
            <a:off x="548640" y="3931920"/>
            <a:ext cx="7406640" cy="1737360"/>
          </a:xfrm>
          <a:prstGeom prst="roundRect">
            <a:avLst>
              <a:gd name="adj" fmla="val 3158"/>
            </a:avLst>
          </a:prstGeom>
          <a:solidFill>
            <a:srgbClr val="DCE6E9"/>
          </a:solidFill>
          <a:ln w="12700">
            <a:solidFill>
              <a:srgbClr val="DCE6E9"/>
            </a:solidFill>
            <a:prstDash val="solid"/>
          </a:ln>
        </p:spPr>
      </p:sp>
      <p:sp>
        <p:nvSpPr>
          <p:cNvPr id="7" name="discRead"/>
          <p:cNvSpPr txBox="1"/>
          <p:nvPr/>
        </p:nvSpPr>
        <p:spPr>
          <a:xfrm>
            <a:off x="868680" y="3931920"/>
            <a:ext cx="6766560" cy="1737360"/>
          </a:xfrm>
          <a:prstGeom prst="rect">
            <a:avLst/>
          </a:prstGeom>
          <a:noFill/>
          <a:ln/>
        </p:spPr>
        <p:txBody>
          <a:bodyPr wrap="square" lIns="0" tIns="0" rIns="0" bIns="0" rtlCol="0" anchor="ctr"/>
          <a:lstStyle/>
          <a:p>
            <a:pPr indent="0" marL="0">
              <a:lnSpc>
                <a:spcPct val="112000"/>
              </a:lnSpc>
              <a:buNone/>
            </a:pPr>
            <a:r>
              <a:rPr lang="en-US" sz="1250" dirty="0">
                <a:solidFill>
                  <a:schemeClr val="accent1"/>
                </a:solidFill>
              </a:rPr>
              <a:t>Here the picture reverses: the search improves roll, energy, cost of transport and speed. One solid exception on the bump — peak pitch is 21% worse, at 19.8 times the noise floor.</a:t>
            </a:r>
            <a:endParaRPr lang="en-US"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The ramp: what the attitude loop is for</a:t>
            </a:r>
            <a:endParaRPr lang="en-US" sz="2900" dirty="0"/>
          </a:p>
        </p:txBody>
      </p:sp>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6309360" cy="914400"/>
        </p:xfrm>
        <a:graphic>
          <a:graphicData uri="http://schemas.openxmlformats.org/drawingml/2006/table">
            <a:tbl>
              <a:tblPr/>
              <a:tblGrid>
                <a:gridCol w="3017520"/>
                <a:gridCol w="1097280"/>
                <a:gridCol w="1097280"/>
                <a:gridCol w="1097280"/>
              </a:tblGrid>
              <a:tr h="0">
                <a:tc>
                  <a:txBody>
                    <a:bodyPr/>
                    <a:lstStyle/>
                    <a:p>
                      <a:pPr algn="l" indent="0" marL="0">
                        <a:buNone/>
                      </a:pP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r>
              <a:tr h="0">
                <a:tc>
                  <a:txBody>
                    <a:bodyPr/>
                    <a:lstStyle/>
                    <a:p>
                      <a:pPr algn="l" indent="0" marL="0">
                        <a:buNone/>
                      </a:pPr>
                      <a:r>
                        <a:rPr lang="en-US" sz="1100" dirty="0">
                          <a:solidFill>
                            <a:srgbClr val="1A2228"/>
                          </a:solidFill>
                          <a:latin typeface="Calibri" pitchFamily="34" charset="0"/>
                          <a:ea typeface="Calibri" pitchFamily="34" charset="-122"/>
                          <a:cs typeface="Calibri" pitchFamily="34" charset="-120"/>
                        </a:rPr>
                        <a:t>Body attitude minus ramp angle [deg]</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0.106</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0.259</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−7.54</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0">
                <a:tc>
                  <a:txBody>
                    <a:bodyPr/>
                    <a:lstStyle/>
                    <a:p>
                      <a:pPr algn="l" indent="0" marL="0">
                        <a:buNone/>
                      </a:pPr>
                      <a:r>
                        <a:rPr lang="en-US" sz="1100" dirty="0">
                          <a:solidFill>
                            <a:srgbClr val="1A2228"/>
                          </a:solidFill>
                          <a:latin typeface="Calibri" pitchFamily="34" charset="0"/>
                          <a:ea typeface="Calibri" pitchFamily="34" charset="-122"/>
                          <a:cs typeface="Calibri" pitchFamily="34" charset="-120"/>
                        </a:rPr>
                        <a:t>Peak-to-peak pitch on the ramp [deg]</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0.994</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1.97</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0.839</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1A2228"/>
                          </a:solidFill>
                          <a:latin typeface="Calibri" pitchFamily="34" charset="0"/>
                          <a:ea typeface="Calibri" pitchFamily="34" charset="-122"/>
                          <a:cs typeface="Calibri" pitchFamily="34" charset="-120"/>
                        </a:rPr>
                        <a:t>Roll on the ramp [deg]</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0.662</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0.563</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0.314</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0">
                <a:tc>
                  <a:txBody>
                    <a:bodyPr/>
                    <a:lstStyle/>
                    <a:p>
                      <a:pPr algn="l" indent="0" marL="0">
                        <a:buNone/>
                      </a:pPr>
                      <a:r>
                        <a:rPr lang="en-US" sz="1100" dirty="0">
                          <a:solidFill>
                            <a:srgbClr val="1A2228"/>
                          </a:solidFill>
                          <a:latin typeface="Calibri" pitchFamily="34" charset="0"/>
                          <a:ea typeface="Calibri" pitchFamily="34" charset="-122"/>
                          <a:cs typeface="Calibri" pitchFamily="34" charset="-120"/>
                        </a:rPr>
                        <a:t>Cost of transport</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1.15</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1.09</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1.58</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4" name="rampNote"/>
          <p:cNvSpPr txBox="1"/>
          <p:nvPr/>
        </p:nvSpPr>
        <p:spPr>
          <a:xfrm>
            <a:off x="548640" y="3200400"/>
            <a:ext cx="6309360" cy="365760"/>
          </a:xfrm>
          <a:prstGeom prst="rect">
            <a:avLst/>
          </a:prstGeom>
          <a:noFill/>
          <a:ln/>
        </p:spPr>
        <p:txBody>
          <a:bodyPr wrap="square" lIns="0" tIns="0" rIns="0" bIns="0" rtlCol="0" anchor="ctr"/>
          <a:lstStyle/>
          <a:p>
            <a:pPr indent="0" marL="0">
              <a:buNone/>
            </a:pPr>
            <a:r>
              <a:rPr lang="en-US" sz="1100" i="1" dirty="0">
                <a:solidFill>
                  <a:srgbClr val="8A979D"/>
                </a:solidFill>
              </a:rPr>
              <a:t>Noise floor not measured on this task: no verdicts are issued.</a:t>
            </a:r>
            <a:endParaRPr lang="en-US" sz="1100" dirty="0"/>
          </a:p>
        </p:txBody>
      </p:sp>
      <p:sp>
        <p:nvSpPr>
          <p:cNvPr id="5" name="panel"/>
          <p:cNvSpPr/>
          <p:nvPr/>
        </p:nvSpPr>
        <p:spPr>
          <a:xfrm>
            <a:off x="548640" y="3657600"/>
            <a:ext cx="6309360" cy="2011680"/>
          </a:xfrm>
          <a:prstGeom prst="roundRect">
            <a:avLst>
              <a:gd name="adj" fmla="val 2727"/>
            </a:avLst>
          </a:prstGeom>
          <a:solidFill>
            <a:srgbClr val="DCE6E9"/>
          </a:solidFill>
          <a:ln w="12700">
            <a:solidFill>
              <a:srgbClr val="DCE6E9"/>
            </a:solidFill>
            <a:prstDash val="solid"/>
          </a:ln>
        </p:spPr>
      </p:sp>
      <p:sp>
        <p:nvSpPr>
          <p:cNvPr id="6" name="rampRead"/>
          <p:cNvSpPr txBox="1"/>
          <p:nvPr/>
        </p:nvSpPr>
        <p:spPr>
          <a:xfrm>
            <a:off x="822960" y="3657600"/>
            <a:ext cx="5760720" cy="2011680"/>
          </a:xfrm>
          <a:prstGeom prst="rect">
            <a:avLst/>
          </a:prstGeom>
          <a:noFill/>
          <a:ln/>
        </p:spPr>
        <p:txBody>
          <a:bodyPr wrap="square" lIns="0" tIns="0" rIns="0" bIns="0" rtlCol="0" anchor="ctr"/>
          <a:lstStyle/>
          <a:p>
            <a:pPr indent="0" marL="0">
              <a:lnSpc>
                <a:spcPct val="112000"/>
              </a:lnSpc>
              <a:buNone/>
            </a:pPr>
            <a:r>
              <a:rPr lang="en-US" sz="1200" dirty="0">
                <a:solidFill>
                  <a:schemeClr val="accent1"/>
                </a:solidFill>
              </a:rPr>
              <a:t>C1 and C2 align the body with the ramp. C3 holds it within half a degree of horizontal — two different behaviours, not two qualities of the same one, which is why that row carries no percentage verdict. It costs 45% in cost of transport.</a:t>
            </a:r>
            <a:endParaRPr lang="en-US" sz="1200" dirty="0"/>
          </a:p>
        </p:txBody>
      </p:sp>
      <p:sp>
        <p:nvSpPr>
          <p:cNvPr id="7" name="figBox"/>
          <p:cNvSpPr/>
          <p:nvPr/>
        </p:nvSpPr>
        <p:spPr>
          <a:xfrm>
            <a:off x="7315200" y="1325880"/>
            <a:ext cx="4327855" cy="4343400"/>
          </a:xfrm>
          <a:prstGeom prst="roundRect">
            <a:avLst>
              <a:gd name="adj" fmla="val 1056"/>
            </a:avLst>
          </a:prstGeom>
          <a:solidFill>
            <a:schemeClr val="bg2"/>
          </a:solidFill>
          <a:ln w="12700">
            <a:solidFill>
              <a:srgbClr val="C3CBCF"/>
            </a:solidFill>
            <a:prstDash val="dash"/>
          </a:ln>
        </p:spPr>
      </p:sp>
      <p:sp>
        <p:nvSpPr>
          <p:cNvPr id="8" name="figText"/>
          <p:cNvSpPr txBox="1"/>
          <p:nvPr/>
        </p:nvSpPr>
        <p:spPr>
          <a:xfrm>
            <a:off x="7498080" y="1325880"/>
            <a:ext cx="3962095" cy="4343400"/>
          </a:xfrm>
          <a:prstGeom prst="rect">
            <a:avLst/>
          </a:prstGeom>
          <a:noFill/>
          <a:ln/>
        </p:spPr>
        <p:txBody>
          <a:bodyPr wrap="square" lIns="0" tIns="0" rIns="0" bIns="0" rtlCol="0" anchor="ctr"/>
          <a:lstStyle/>
          <a:p>
            <a:pPr algn="ctr" indent="0" marL="0">
              <a:buNone/>
            </a:pPr>
            <a:r>
              <a:rPr lang="en-US" sz="1200" b="1" dirty="0">
                <a:solidFill>
                  <a:srgbClr val="8A979D"/>
                </a:solidFill>
              </a:rPr>
              <a:t>[ FIGURE ]</a:t>
            </a:r>
            <a:endParaRPr lang="en-US" sz="1200" dirty="0"/>
          </a:p>
          <a:p>
            <a:pPr algn="ctr" indent="0" marL="0">
              <a:buNone/>
            </a:pPr>
            <a:r>
              <a:rPr lang="en-US" sz="1150" i="1" dirty="0">
                <a:solidFill>
                  <a:srgbClr val="8A979D"/>
                </a:solidFill>
              </a:rPr>
              <a:t>Body pitch while climbing the 8 deg ramp, with the slope as reference</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Obstacle course: the comparison does not discriminate</a:t>
            </a:r>
            <a:endParaRPr lang="en-US" sz="2900" dirty="0"/>
          </a:p>
        </p:txBody>
      </p:sp>
      <p:graphicFrame>
        <p:nvGraphicFramePr>
          <p:cNvPr id="22"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2743200"/>
                <a:gridCol w="1097280"/>
                <a:gridCol w="1097280"/>
                <a:gridCol w="1097280"/>
              </a:tblGrid>
              <a:tr h="0">
                <a:tc>
                  <a:txBody>
                    <a:bodyPr/>
                    <a:lstStyle/>
                    <a:p>
                      <a:pPr algn="l" indent="0" marL="0">
                        <a:buNone/>
                      </a:pP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C1</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C2</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C3</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r>
              <a:tr h="0">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Distance travelled [m]</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2.91</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3.12</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2.99</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0">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Max lateral drift [m]</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0.067</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0.104</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0.058</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Course completed, valid</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bl>
          </a:graphicData>
        </a:graphic>
      </p:graphicFrame>
      <p:sp>
        <p:nvSpPr>
          <p:cNvPr id="4" name="courseRead"/>
          <p:cNvSpPr txBox="1"/>
          <p:nvPr/>
        </p:nvSpPr>
        <p:spPr>
          <a:xfrm>
            <a:off x="548640" y="3429000"/>
            <a:ext cx="6035040" cy="2286000"/>
          </a:xfrm>
          <a:prstGeom prst="rect">
            <a:avLst/>
          </a:prstGeom>
          <a:noFill/>
          <a:ln/>
        </p:spPr>
        <p:txBody>
          <a:bodyPr wrap="square" lIns="0" tIns="0" rIns="0" bIns="0" rtlCol="0" anchor="t"/>
          <a:lstStyle/>
          <a:p>
            <a:pPr indent="0" marL="0">
              <a:lnSpc>
                <a:spcPct val="115000"/>
              </a:lnSpc>
              <a:buNone/>
            </a:pPr>
            <a:r>
              <a:rPr lang="en-US" sz="1300" dirty="0">
                <a:solidFill>
                  <a:schemeClr val="tx2"/>
                </a:solidFill>
              </a:rPr>
              <a:t>"Completed" counts only below 0.183 m of lateral drift, a threshold from the obstacle geometry, computed independently of any controller. Beyond it the robot may have missed an obstacle entirely rather than stepped over it.</a:t>
            </a:r>
            <a:endParaRPr lang="en-US" sz="1300" dirty="0"/>
          </a:p>
        </p:txBody>
      </p:sp>
      <p:sp>
        <p:nvSpPr>
          <p:cNvPr id="5" name="panel"/>
          <p:cNvSpPr/>
          <p:nvPr/>
        </p:nvSpPr>
        <p:spPr>
          <a:xfrm>
            <a:off x="7040880" y="1417320"/>
            <a:ext cx="4602175" cy="4297680"/>
          </a:xfrm>
          <a:prstGeom prst="roundRect">
            <a:avLst>
              <a:gd name="adj" fmla="val 1277"/>
            </a:avLst>
          </a:prstGeom>
          <a:solidFill>
            <a:srgbClr val="F3E2D7"/>
          </a:solidFill>
          <a:ln w="12700">
            <a:solidFill>
              <a:srgbClr val="F3E2D7"/>
            </a:solidFill>
            <a:prstDash val="solid"/>
          </a:ln>
        </p:spPr>
      </p:sp>
      <p:sp>
        <p:nvSpPr>
          <p:cNvPr id="6" name="courseVerdict"/>
          <p:cNvSpPr txBox="1"/>
          <p:nvPr/>
        </p:nvSpPr>
        <p:spPr>
          <a:xfrm>
            <a:off x="7360920" y="1417320"/>
            <a:ext cx="3962095" cy="4297680"/>
          </a:xfrm>
          <a:prstGeom prst="rect">
            <a:avLst/>
          </a:prstGeom>
          <a:noFill/>
          <a:ln/>
        </p:spPr>
        <p:txBody>
          <a:bodyPr wrap="square" lIns="0" tIns="0" rIns="0" bIns="0" rtlCol="0" anchor="ctr"/>
          <a:lstStyle/>
          <a:p>
            <a:pPr indent="0" marL="0">
              <a:lnSpc>
                <a:spcPct val="115000"/>
              </a:lnSpc>
              <a:buNone/>
            </a:pPr>
            <a:r>
              <a:rPr lang="en-US" sz="1450" b="1" dirty="0">
                <a:solidFill>
                  <a:srgbClr val="8A3C12"/>
                </a:solidFill>
              </a:rPr>
              <a:t>None of the three completes the course. The fine metrics must not be quoted: the three follow different trajectories and do not meet the same obstacles. On this task the comparison does not separate the controllers — and saying so is the result.</a:t>
            </a:r>
            <a:endParaRPr lang="en-US" sz="14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Lateral impulse: a gap common to all three</a:t>
            </a:r>
            <a:endParaRPr lang="en-US" sz="2900" dirty="0"/>
          </a:p>
        </p:txBody>
      </p:sp>
      <p:graphicFrame>
        <p:nvGraphicFramePr>
          <p:cNvPr id="23"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2743200"/>
                <a:gridCol w="1097280"/>
                <a:gridCol w="1097280"/>
                <a:gridCol w="1097280"/>
              </a:tblGrid>
              <a:tr h="0">
                <a:tc>
                  <a:txBody>
                    <a:bodyPr/>
                    <a:lstStyle/>
                    <a:p>
                      <a:pPr algn="l" indent="0" marL="0">
                        <a:buNone/>
                      </a:pP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C1</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C2</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C3</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r>
              <a:tr h="0">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Residual deviation, 1x [mm]</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6.04</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0.164</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0">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Residual deviation, 16x [mm]</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393</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400</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392</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Recovers at 16x</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bl>
          </a:graphicData>
        </a:graphic>
      </p:graphicFrame>
      <p:sp>
        <p:nvSpPr>
          <p:cNvPr id="4" name="impNote"/>
          <p:cNvSpPr txBox="1"/>
          <p:nvPr/>
        </p:nvSpPr>
        <p:spPr>
          <a:xfrm>
            <a:off x="548640" y="3154680"/>
            <a:ext cx="6035040" cy="777240"/>
          </a:xfrm>
          <a:prstGeom prst="rect">
            <a:avLst/>
          </a:prstGeom>
          <a:noFill/>
          <a:ln/>
        </p:spPr>
        <p:txBody>
          <a:bodyPr wrap="square" lIns="0" tIns="0" rIns="0" bIns="0" rtlCol="0" anchor="t"/>
          <a:lstStyle/>
          <a:p>
            <a:pPr indent="0" marL="0">
              <a:lnSpc>
                <a:spcPct val="110000"/>
              </a:lnSpc>
              <a:buNone/>
            </a:pPr>
            <a:r>
              <a:rPr lang="en-US" sz="1150" i="1" dirty="0">
                <a:solidFill>
                  <a:srgbClr val="8A979D"/>
                </a:solidFill>
              </a:rPr>
              <a:t>Noise floor not measured on this task: the 97% improvement at 1x is reported without a verdict.</a:t>
            </a:r>
            <a:endParaRPr lang="en-US" sz="1150" dirty="0"/>
          </a:p>
        </p:txBody>
      </p:sp>
      <p:sp>
        <p:nvSpPr>
          <p:cNvPr id="5" name="panel"/>
          <p:cNvSpPr/>
          <p:nvPr/>
        </p:nvSpPr>
        <p:spPr>
          <a:xfrm>
            <a:off x="548640" y="4023360"/>
            <a:ext cx="6035040" cy="1691640"/>
          </a:xfrm>
          <a:prstGeom prst="roundRect">
            <a:avLst>
              <a:gd name="adj" fmla="val 3243"/>
            </a:avLst>
          </a:prstGeom>
          <a:solidFill>
            <a:schemeClr val="bg2"/>
          </a:solidFill>
          <a:ln w="12700">
            <a:solidFill>
              <a:schemeClr val="bg2"/>
            </a:solidFill>
            <a:prstDash val="solid"/>
          </a:ln>
        </p:spPr>
      </p:sp>
      <p:sp>
        <p:nvSpPr>
          <p:cNvPr id="6" name="statValue"/>
          <p:cNvSpPr txBox="1"/>
          <p:nvPr/>
        </p:nvSpPr>
        <p:spPr>
          <a:xfrm>
            <a:off x="868680" y="4206240"/>
            <a:ext cx="2468880" cy="713232"/>
          </a:xfrm>
          <a:prstGeom prst="rect">
            <a:avLst/>
          </a:prstGeom>
          <a:noFill/>
          <a:ln/>
        </p:spPr>
        <p:txBody>
          <a:bodyPr wrap="square" lIns="0" tIns="0" rIns="0" bIns="0" rtlCol="0" anchor="ctr"/>
          <a:lstStyle/>
          <a:p>
            <a:pPr indent="0" marL="0">
              <a:buNone/>
            </a:pPr>
            <a:r>
              <a:rPr lang="en-US" sz="4000" b="1" dirty="0">
                <a:solidFill>
                  <a:srgbClr val="6F9480"/>
                </a:solidFill>
              </a:rPr>
              <a:t>0.164 mm</a:t>
            </a:r>
            <a:endParaRPr lang="en-US" sz="4000" dirty="0"/>
          </a:p>
        </p:txBody>
      </p:sp>
      <p:sp>
        <p:nvSpPr>
          <p:cNvPr id="7" name="statLabel"/>
          <p:cNvSpPr txBox="1"/>
          <p:nvPr/>
        </p:nvSpPr>
        <p:spPr>
          <a:xfrm>
            <a:off x="868680" y="4956048"/>
            <a:ext cx="2468880" cy="868680"/>
          </a:xfrm>
          <a:prstGeom prst="rect">
            <a:avLst/>
          </a:prstGeom>
          <a:noFill/>
          <a:ln/>
        </p:spPr>
        <p:txBody>
          <a:bodyPr wrap="square" lIns="0" tIns="0" rIns="0" bIns="0" rtlCol="0" anchor="t"/>
          <a:lstStyle/>
          <a:p>
            <a:pPr indent="0" marL="0">
              <a:lnSpc>
                <a:spcPct val="110000"/>
              </a:lnSpc>
              <a:buNone/>
            </a:pPr>
            <a:r>
              <a:rPr lang="en-US" sz="1200" dirty="0">
                <a:solidFill>
                  <a:schemeClr val="tx2"/>
                </a:solidFill>
              </a:rPr>
              <a:t>residual deviation of C3 at 1x impulse, against 1.34 mm for C1</a:t>
            </a:r>
            <a:endParaRPr lang="en-US" sz="1200" dirty="0"/>
          </a:p>
        </p:txBody>
      </p:sp>
      <p:sp>
        <p:nvSpPr>
          <p:cNvPr id="8" name="statValue"/>
          <p:cNvSpPr txBox="1"/>
          <p:nvPr/>
        </p:nvSpPr>
        <p:spPr>
          <a:xfrm>
            <a:off x="3886200" y="4206240"/>
            <a:ext cx="2468880" cy="713232"/>
          </a:xfrm>
          <a:prstGeom prst="rect">
            <a:avLst/>
          </a:prstGeom>
          <a:noFill/>
          <a:ln/>
        </p:spPr>
        <p:txBody>
          <a:bodyPr wrap="square" lIns="0" tIns="0" rIns="0" bIns="0" rtlCol="0" anchor="ctr"/>
          <a:lstStyle/>
          <a:p>
            <a:pPr indent="0" marL="0">
              <a:buNone/>
            </a:pPr>
            <a:r>
              <a:rPr lang="en-US" sz="4000" b="1" dirty="0">
                <a:solidFill>
                  <a:srgbClr val="23424F"/>
                </a:solidFill>
              </a:rPr>
              <a:t>2%</a:t>
            </a:r>
            <a:endParaRPr lang="en-US" sz="4000" dirty="0"/>
          </a:p>
        </p:txBody>
      </p:sp>
      <p:sp>
        <p:nvSpPr>
          <p:cNvPr id="9" name="statLabel"/>
          <p:cNvSpPr txBox="1"/>
          <p:nvPr/>
        </p:nvSpPr>
        <p:spPr>
          <a:xfrm>
            <a:off x="3886200" y="4956048"/>
            <a:ext cx="2468880" cy="868680"/>
          </a:xfrm>
          <a:prstGeom prst="rect">
            <a:avLst/>
          </a:prstGeom>
          <a:noFill/>
          <a:ln/>
        </p:spPr>
        <p:txBody>
          <a:bodyPr wrap="square" lIns="0" tIns="0" rIns="0" bIns="0" rtlCol="0" anchor="t"/>
          <a:lstStyle/>
          <a:p>
            <a:pPr indent="0" marL="0">
              <a:lnSpc>
                <a:spcPct val="110000"/>
              </a:lnSpc>
              <a:buNone/>
            </a:pPr>
            <a:r>
              <a:rPr lang="en-US" sz="1200" dirty="0">
                <a:solidFill>
                  <a:schemeClr val="tx2"/>
                </a:solidFill>
              </a:rPr>
              <a:t>spread between the three at 16x: none of them recovers</a:t>
            </a:r>
            <a:endParaRPr lang="en-US" sz="1200" dirty="0"/>
          </a:p>
        </p:txBody>
      </p:sp>
      <p:sp>
        <p:nvSpPr>
          <p:cNvPr id="10" name="panel"/>
          <p:cNvSpPr/>
          <p:nvPr/>
        </p:nvSpPr>
        <p:spPr>
          <a:xfrm>
            <a:off x="7040880" y="1417320"/>
            <a:ext cx="4602175" cy="4297680"/>
          </a:xfrm>
          <a:prstGeom prst="roundRect">
            <a:avLst>
              <a:gd name="adj" fmla="val 1277"/>
            </a:avLst>
          </a:prstGeom>
          <a:solidFill>
            <a:srgbClr val="DCE6E9"/>
          </a:solidFill>
          <a:ln w="12700">
            <a:solidFill>
              <a:srgbClr val="DCE6E9"/>
            </a:solidFill>
            <a:prstDash val="solid"/>
          </a:ln>
        </p:spPr>
      </p:sp>
      <p:sp>
        <p:nvSpPr>
          <p:cNvPr id="11" name="impRead"/>
          <p:cNvSpPr txBox="1"/>
          <p:nvPr/>
        </p:nvSpPr>
        <p:spPr>
          <a:xfrm>
            <a:off x="7360920" y="1417320"/>
            <a:ext cx="3962095" cy="4297680"/>
          </a:xfrm>
          <a:prstGeom prst="rect">
            <a:avLst/>
          </a:prstGeom>
          <a:noFill/>
          <a:ln/>
        </p:spPr>
        <p:txBody>
          <a:bodyPr wrap="square" lIns="0" tIns="0" rIns="0" bIns="0" rtlCol="0" anchor="ctr"/>
          <a:lstStyle/>
          <a:p>
            <a:pPr indent="0" marL="0">
              <a:lnSpc>
                <a:spcPct val="115000"/>
              </a:lnSpc>
              <a:buNone/>
            </a:pPr>
            <a:r>
              <a:rPr lang="en-US" sz="1350" dirty="0">
                <a:solidFill>
                  <a:schemeClr val="accent1"/>
                </a:solidFill>
              </a:rPr>
              <a:t>At large impulse the three coincide to within 2%. Contact detection is not the mechanism in play: this is an architectural gap shared by all three, and the clearest motivation for any future controller on this platform.</a:t>
            </a:r>
            <a:endParaRPr lang="en-US" sz="13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Feasibility on the real servos</a:t>
            </a:r>
            <a:endParaRPr lang="en-US" sz="2900" dirty="0"/>
          </a:p>
        </p:txBody>
      </p:sp>
      <p:sp>
        <p:nvSpPr>
          <p:cNvPr id="3" name="feasLead"/>
          <p:cNvSpPr txBox="1"/>
          <p:nvPr/>
        </p:nvSpPr>
        <p:spPr>
          <a:xfrm>
            <a:off x="548640" y="1280160"/>
            <a:ext cx="11094415" cy="731520"/>
          </a:xfrm>
          <a:prstGeom prst="rect">
            <a:avLst/>
          </a:prstGeom>
          <a:noFill/>
          <a:ln/>
        </p:spPr>
        <p:txBody>
          <a:bodyPr wrap="square" lIns="0" tIns="0" rIns="0" bIns="0" rtlCol="0" anchor="t"/>
          <a:lstStyle/>
          <a:p>
            <a:pPr indent="0" marL="0">
              <a:lnSpc>
                <a:spcPct val="110000"/>
              </a:lnSpc>
              <a:buNone/>
            </a:pPr>
            <a:r>
              <a:rPr lang="en-US" sz="1300" dirty="0">
                <a:solidFill>
                  <a:schemeClr val="tx2"/>
                </a:solidFill>
              </a:rPr>
              <a:t>The campaign runs with ideal actuators. Since joints are commanded in position, what follows measures what each controller demands, not how it would behave with real motors.</a:t>
            </a:r>
            <a:endParaRPr lang="en-US" sz="1300" dirty="0"/>
          </a:p>
        </p:txBody>
      </p:sp>
      <p:sp>
        <p:nvSpPr>
          <p:cNvPr id="4" name="panel"/>
          <p:cNvSpPr/>
          <p:nvPr/>
        </p:nvSpPr>
        <p:spPr>
          <a:xfrm>
            <a:off x="548640" y="2148840"/>
            <a:ext cx="11094415" cy="1783080"/>
          </a:xfrm>
          <a:prstGeom prst="roundRect">
            <a:avLst>
              <a:gd name="adj" fmla="val 3077"/>
            </a:avLst>
          </a:prstGeom>
          <a:solidFill>
            <a:schemeClr val="bg2"/>
          </a:solidFill>
          <a:ln w="12700">
            <a:solidFill>
              <a:schemeClr val="bg2"/>
            </a:solidFill>
            <a:prstDash val="solid"/>
          </a:ln>
        </p:spPr>
      </p:sp>
      <p:sp>
        <p:nvSpPr>
          <p:cNvPr id="5" name="statValue"/>
          <p:cNvSpPr txBox="1"/>
          <p:nvPr/>
        </p:nvSpPr>
        <p:spPr>
          <a:xfrm>
            <a:off x="1005840" y="2331720"/>
            <a:ext cx="2936138" cy="713232"/>
          </a:xfrm>
          <a:prstGeom prst="rect">
            <a:avLst/>
          </a:prstGeom>
          <a:noFill/>
          <a:ln/>
        </p:spPr>
        <p:txBody>
          <a:bodyPr wrap="square" lIns="0" tIns="0" rIns="0" bIns="0" rtlCol="0" anchor="ctr"/>
          <a:lstStyle/>
          <a:p>
            <a:pPr indent="0" marL="0">
              <a:buNone/>
            </a:pPr>
            <a:r>
              <a:rPr lang="en-US" sz="4000" b="1" dirty="0">
                <a:solidFill>
                  <a:srgbClr val="C2591F"/>
                </a:solidFill>
              </a:rPr>
              <a:t>39–46%</a:t>
            </a:r>
            <a:endParaRPr lang="en-US" sz="4000" dirty="0"/>
          </a:p>
        </p:txBody>
      </p:sp>
      <p:sp>
        <p:nvSpPr>
          <p:cNvPr id="6" name="statLabel"/>
          <p:cNvSpPr txBox="1"/>
          <p:nvPr/>
        </p:nvSpPr>
        <p:spPr>
          <a:xfrm>
            <a:off x="1005840" y="3081528"/>
            <a:ext cx="2936138" cy="868680"/>
          </a:xfrm>
          <a:prstGeom prst="rect">
            <a:avLst/>
          </a:prstGeom>
          <a:noFill/>
          <a:ln/>
        </p:spPr>
        <p:txBody>
          <a:bodyPr wrap="square" lIns="0" tIns="0" rIns="0" bIns="0" rtlCol="0" anchor="t"/>
          <a:lstStyle/>
          <a:p>
            <a:pPr indent="0" marL="0">
              <a:lnSpc>
                <a:spcPct val="110000"/>
              </a:lnSpc>
              <a:buNone/>
            </a:pPr>
            <a:r>
              <a:rPr lang="en-US" sz="1200" dirty="0">
                <a:solidFill>
                  <a:schemeClr val="tx2"/>
                </a:solidFill>
              </a:rPr>
              <a:t>of stall on the worst-loaded joint, every task, every controller</a:t>
            </a:r>
            <a:endParaRPr lang="en-US" sz="1200" dirty="0"/>
          </a:p>
        </p:txBody>
      </p:sp>
      <p:sp>
        <p:nvSpPr>
          <p:cNvPr id="7" name="statValue"/>
          <p:cNvSpPr txBox="1"/>
          <p:nvPr/>
        </p:nvSpPr>
        <p:spPr>
          <a:xfrm>
            <a:off x="4399178" y="2331720"/>
            <a:ext cx="2936138" cy="713232"/>
          </a:xfrm>
          <a:prstGeom prst="rect">
            <a:avLst/>
          </a:prstGeom>
          <a:noFill/>
          <a:ln/>
        </p:spPr>
        <p:txBody>
          <a:bodyPr wrap="square" lIns="0" tIns="0" rIns="0" bIns="0" rtlCol="0" anchor="ctr"/>
          <a:lstStyle/>
          <a:p>
            <a:pPr indent="0" marL="0">
              <a:buNone/>
            </a:pPr>
            <a:r>
              <a:rPr lang="en-US" sz="4000" b="1" dirty="0">
                <a:solidFill>
                  <a:srgbClr val="C2591F"/>
                </a:solidFill>
              </a:rPr>
              <a:t>2.3x</a:t>
            </a:r>
            <a:endParaRPr lang="en-US" sz="4000" dirty="0"/>
          </a:p>
        </p:txBody>
      </p:sp>
      <p:sp>
        <p:nvSpPr>
          <p:cNvPr id="8" name="statLabel"/>
          <p:cNvSpPr txBox="1"/>
          <p:nvPr/>
        </p:nvSpPr>
        <p:spPr>
          <a:xfrm>
            <a:off x="4399178" y="3081528"/>
            <a:ext cx="2936138" cy="868680"/>
          </a:xfrm>
          <a:prstGeom prst="rect">
            <a:avLst/>
          </a:prstGeom>
          <a:noFill/>
          <a:ln/>
        </p:spPr>
        <p:txBody>
          <a:bodyPr wrap="square" lIns="0" tIns="0" rIns="0" bIns="0" rtlCol="0" anchor="t"/>
          <a:lstStyle/>
          <a:p>
            <a:pPr indent="0" marL="0">
              <a:lnSpc>
                <a:spcPct val="110000"/>
              </a:lnSpc>
              <a:buNone/>
            </a:pPr>
            <a:r>
              <a:rPr lang="en-US" sz="1200" dirty="0">
                <a:solidFill>
                  <a:schemeClr val="tx2"/>
                </a:solidFill>
              </a:rPr>
              <a:t>the continuous load ROBOTIS recommends for stable motion</a:t>
            </a:r>
            <a:endParaRPr lang="en-US" sz="1200" dirty="0"/>
          </a:p>
        </p:txBody>
      </p:sp>
      <p:sp>
        <p:nvSpPr>
          <p:cNvPr id="9" name="statValue"/>
          <p:cNvSpPr txBox="1"/>
          <p:nvPr/>
        </p:nvSpPr>
        <p:spPr>
          <a:xfrm>
            <a:off x="7792517" y="2331720"/>
            <a:ext cx="2936138" cy="713232"/>
          </a:xfrm>
          <a:prstGeom prst="rect">
            <a:avLst/>
          </a:prstGeom>
          <a:noFill/>
          <a:ln/>
        </p:spPr>
        <p:txBody>
          <a:bodyPr wrap="square" lIns="0" tIns="0" rIns="0" bIns="0" rtlCol="0" anchor="ctr"/>
          <a:lstStyle/>
          <a:p>
            <a:pPr indent="0" marL="0">
              <a:buNone/>
            </a:pPr>
            <a:r>
              <a:rPr lang="en-US" sz="4000" b="1" dirty="0">
                <a:solidFill>
                  <a:srgbClr val="C2591F"/>
                </a:solidFill>
              </a:rPr>
              <a:t>≤ 0.91%</a:t>
            </a:r>
            <a:endParaRPr lang="en-US" sz="4000" dirty="0"/>
          </a:p>
        </p:txBody>
      </p:sp>
      <p:sp>
        <p:nvSpPr>
          <p:cNvPr id="10" name="statLabel"/>
          <p:cNvSpPr txBox="1"/>
          <p:nvPr/>
        </p:nvSpPr>
        <p:spPr>
          <a:xfrm>
            <a:off x="7792517" y="3081528"/>
            <a:ext cx="2936138" cy="868680"/>
          </a:xfrm>
          <a:prstGeom prst="rect">
            <a:avLst/>
          </a:prstGeom>
          <a:noFill/>
          <a:ln/>
        </p:spPr>
        <p:txBody>
          <a:bodyPr wrap="square" lIns="0" tIns="0" rIns="0" bIns="0" rtlCol="0" anchor="t"/>
          <a:lstStyle/>
          <a:p>
            <a:pPr indent="0" marL="0">
              <a:lnSpc>
                <a:spcPct val="110000"/>
              </a:lnSpc>
              <a:buNone/>
            </a:pPr>
            <a:r>
              <a:rPr lang="en-US" sz="1200" dirty="0">
                <a:solidFill>
                  <a:schemeClr val="tx2"/>
                </a:solidFill>
              </a:rPr>
              <a:t>of samples above stall: isolated impact peaks reaching 5.0x</a:t>
            </a:r>
            <a:endParaRPr lang="en-US" sz="1200" dirty="0"/>
          </a:p>
        </p:txBody>
      </p:sp>
      <p:sp>
        <p:nvSpPr>
          <p:cNvPr id="11" name="figBox"/>
          <p:cNvSpPr/>
          <p:nvPr/>
        </p:nvSpPr>
        <p:spPr>
          <a:xfrm>
            <a:off x="548640" y="4160520"/>
            <a:ext cx="5760720" cy="1600200"/>
          </a:xfrm>
          <a:prstGeom prst="roundRect">
            <a:avLst>
              <a:gd name="adj" fmla="val 2857"/>
            </a:avLst>
          </a:prstGeom>
          <a:solidFill>
            <a:schemeClr val="bg2"/>
          </a:solidFill>
          <a:ln w="12700">
            <a:solidFill>
              <a:srgbClr val="C3CBCF"/>
            </a:solidFill>
            <a:prstDash val="dash"/>
          </a:ln>
        </p:spPr>
      </p:sp>
      <p:sp>
        <p:nvSpPr>
          <p:cNvPr id="12" name="figText"/>
          <p:cNvSpPr txBox="1"/>
          <p:nvPr/>
        </p:nvSpPr>
        <p:spPr>
          <a:xfrm>
            <a:off x="731520" y="4160520"/>
            <a:ext cx="5394960" cy="1600200"/>
          </a:xfrm>
          <a:prstGeom prst="rect">
            <a:avLst/>
          </a:prstGeom>
          <a:noFill/>
          <a:ln/>
        </p:spPr>
        <p:txBody>
          <a:bodyPr wrap="square" lIns="0" tIns="0" rIns="0" bIns="0" rtlCol="0" anchor="ctr"/>
          <a:lstStyle/>
          <a:p>
            <a:pPr algn="ctr" indent="0" marL="0">
              <a:buNone/>
            </a:pPr>
            <a:r>
              <a:rPr lang="en-US" sz="1200" b="1" dirty="0">
                <a:solidFill>
                  <a:srgbClr val="8A979D"/>
                </a:solidFill>
              </a:rPr>
              <a:t>[ FIGURE ]</a:t>
            </a:r>
            <a:endParaRPr lang="en-US" sz="1200" dirty="0"/>
          </a:p>
          <a:p>
            <a:pPr algn="ctr" indent="0" marL="0">
              <a:buNone/>
            </a:pPr>
            <a:r>
              <a:rPr lang="en-US" sz="1150" i="1" dirty="0">
                <a:solidFill>
                  <a:srgbClr val="8A979D"/>
                </a:solidFill>
              </a:rPr>
              <a:t>Commanded torque against the AX-12A limit: continuous and peak, per task</a:t>
            </a:r>
            <a:endParaRPr lang="en-US" sz="1200" dirty="0"/>
          </a:p>
        </p:txBody>
      </p:sp>
      <p:sp>
        <p:nvSpPr>
          <p:cNvPr id="13" name="panel"/>
          <p:cNvSpPr/>
          <p:nvPr/>
        </p:nvSpPr>
        <p:spPr>
          <a:xfrm>
            <a:off x="6766560" y="4160520"/>
            <a:ext cx="4876495" cy="1600200"/>
          </a:xfrm>
          <a:prstGeom prst="roundRect">
            <a:avLst>
              <a:gd name="adj" fmla="val 3429"/>
            </a:avLst>
          </a:prstGeom>
          <a:solidFill>
            <a:srgbClr val="DCE6E9"/>
          </a:solidFill>
          <a:ln w="12700">
            <a:solidFill>
              <a:srgbClr val="DCE6E9"/>
            </a:solidFill>
            <a:prstDash val="solid"/>
          </a:ln>
        </p:spPr>
      </p:sp>
      <p:sp>
        <p:nvSpPr>
          <p:cNvPr id="14" name="feasRead"/>
          <p:cNvSpPr txBox="1"/>
          <p:nvPr/>
        </p:nvSpPr>
        <p:spPr>
          <a:xfrm>
            <a:off x="7040880" y="4160520"/>
            <a:ext cx="4327855" cy="1600200"/>
          </a:xfrm>
          <a:prstGeom prst="rect">
            <a:avLst/>
          </a:prstGeom>
          <a:noFill/>
          <a:ln/>
        </p:spPr>
        <p:txBody>
          <a:bodyPr wrap="square" lIns="0" tIns="0" rIns="0" bIns="0" rtlCol="0" anchor="ctr"/>
          <a:lstStyle/>
          <a:p>
            <a:pPr indent="0" marL="0">
              <a:lnSpc>
                <a:spcPct val="112000"/>
              </a:lnSpc>
              <a:buNone/>
            </a:pPr>
            <a:r>
              <a:rPr lang="en-US" sz="1200" dirty="0">
                <a:solidFill>
                  <a:schemeClr val="accent1"/>
                </a:solidFill>
              </a:rPr>
              <a:t>C3 consistently demands the lowest continuous torque and the lowest impact peaks on the tasks with discontinuities: the attitude loop absorbs part of the impact in body motion rather than in the joints.</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914400" y="2514600"/>
            <a:ext cx="2011680" cy="457200"/>
          </a:xfrm>
          <a:prstGeom prst="rect">
            <a:avLst/>
          </a:prstGeom>
          <a:noFill/>
          <a:ln/>
        </p:spPr>
        <p:txBody>
          <a:bodyPr wrap="square" rtlCol="0"/>
          <a:lstStyle/>
          <a:p>
            <a:pPr algn="l" indent="0" marL="0">
              <a:buNone/>
            </a:pPr>
            <a:r>
              <a:rPr lang="en-US" sz="1400" b="1" spc="200" kern="0" dirty="0">
                <a:solidFill>
                  <a:srgbClr val="A9C7D1"/>
                </a:solidFill>
              </a:rPr>
              <a:t>05</a:t>
            </a:r>
            <a:endParaRPr lang="en-US" sz="1400" dirty="0"/>
          </a:p>
        </p:txBody>
      </p:sp>
      <p:sp>
        <p:nvSpPr>
          <p:cNvPr id="3" name="Text 0"/>
          <p:cNvSpPr/>
          <p:nvPr>
            <p:ph idx="101" type="title" hasCustomPrompt="1"/>
          </p:nvPr>
        </p:nvSpPr>
        <p:spPr>
          <a:xfrm>
            <a:off x="914400" y="2926080"/>
            <a:ext cx="9265615" cy="1188720"/>
          </a:xfrm>
          <a:prstGeom prst="rect">
            <a:avLst/>
          </a:prstGeom>
          <a:noFill/>
          <a:ln/>
        </p:spPr>
        <p:txBody>
          <a:bodyPr wrap="square" rtlCol="0" anchor="t"/>
          <a:lstStyle/>
          <a:p>
            <a:pPr algn="l" indent="0" marL="0">
              <a:buNone/>
            </a:pPr>
            <a:r>
              <a:rPr lang="en-US" sz="3800" b="1" dirty="0">
                <a:solidFill>
                  <a:schemeClr val="bg1"/>
                </a:solidFill>
              </a:rPr>
              <a:t>What it means</a:t>
            </a:r>
            <a:endParaRPr lang="en-US" sz="3800" dirty="0"/>
          </a:p>
        </p:txBody>
      </p:sp>
      <p:sp>
        <p:nvSpPr>
          <p:cNvPr id="4" name="Text 0"/>
          <p:cNvSpPr/>
          <p:nvPr>
            <p:ph idx="102" type="body" hasCustomPrompt="1"/>
          </p:nvPr>
        </p:nvSpPr>
        <p:spPr>
          <a:xfrm>
            <a:off x="914400" y="4114800"/>
            <a:ext cx="8351215" cy="914400"/>
          </a:xfrm>
          <a:prstGeom prst="rect">
            <a:avLst/>
          </a:prstGeom>
          <a:noFill/>
          <a:ln/>
        </p:spPr>
        <p:txBody>
          <a:bodyPr wrap="square" rtlCol="0" anchor="t"/>
          <a:lstStyle/>
          <a:p>
            <a:pPr algn="l" indent="0" marL="0">
              <a:buNone/>
            </a:pPr>
            <a:r>
              <a:rPr lang="en-US" sz="1500" dirty="0">
                <a:solidFill>
                  <a:srgbClr val="C8D6DB"/>
                </a:solidFill>
              </a:rPr>
              <a:t>Composed in series, C3 ends up better than C1 on pitch: the attitude loop more than pays back the disturbance the search introduced.</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The two mechanisms do different things</a:t>
            </a:r>
            <a:endParaRPr lang="en-US" sz="2900" dirty="0"/>
          </a:p>
        </p:txBody>
      </p:sp>
      <p:sp>
        <p:nvSpPr>
          <p:cNvPr id="3" name="panel"/>
          <p:cNvSpPr/>
          <p:nvPr/>
        </p:nvSpPr>
        <p:spPr>
          <a:xfrm>
            <a:off x="548640" y="1325880"/>
            <a:ext cx="5318608" cy="3063240"/>
          </a:xfrm>
          <a:prstGeom prst="roundRect">
            <a:avLst>
              <a:gd name="adj" fmla="val 1791"/>
            </a:avLst>
          </a:prstGeom>
          <a:solidFill>
            <a:schemeClr val="bg2"/>
          </a:solidFill>
          <a:ln w="12700">
            <a:solidFill>
              <a:schemeClr val="bg2"/>
            </a:solidFill>
            <a:prstDash val="solid"/>
          </a:ln>
        </p:spPr>
      </p:sp>
      <p:sp>
        <p:nvSpPr>
          <p:cNvPr id="4" name="mechHead"/>
          <p:cNvSpPr txBox="1"/>
          <p:nvPr/>
        </p:nvSpPr>
        <p:spPr>
          <a:xfrm>
            <a:off x="822960" y="1481328"/>
            <a:ext cx="3581248" cy="411480"/>
          </a:xfrm>
          <a:prstGeom prst="rect">
            <a:avLst/>
          </a:prstGeom>
          <a:noFill/>
          <a:ln/>
        </p:spPr>
        <p:txBody>
          <a:bodyPr wrap="square" lIns="0" tIns="0" rIns="0" bIns="0" rtlCol="0" anchor="ctr"/>
          <a:lstStyle/>
          <a:p>
            <a:pPr indent="0" marL="0">
              <a:buNone/>
            </a:pPr>
            <a:r>
              <a:rPr lang="en-US" sz="1700" b="1" dirty="0">
                <a:solidFill>
                  <a:schemeClr val="accent1"/>
                </a:solidFill>
              </a:rPr>
              <a:t>Terrain search</a:t>
            </a:r>
            <a:endParaRPr lang="en-US" sz="1700" dirty="0"/>
          </a:p>
        </p:txBody>
      </p:sp>
      <p:sp>
        <p:nvSpPr>
          <p:cNvPr id="5" name="mechPill"/>
          <p:cNvSpPr/>
          <p:nvPr/>
        </p:nvSpPr>
        <p:spPr>
          <a:xfrm>
            <a:off x="4358488" y="1517904"/>
            <a:ext cx="1234440" cy="347472"/>
          </a:xfrm>
          <a:prstGeom prst="roundRect">
            <a:avLst>
              <a:gd name="adj" fmla="val 50000"/>
            </a:avLst>
          </a:prstGeom>
          <a:solidFill>
            <a:srgbClr val="A84E18"/>
          </a:solidFill>
          <a:ln w="12700">
            <a:solidFill>
              <a:srgbClr val="A84E18"/>
            </a:solidFill>
            <a:prstDash val="solid"/>
          </a:ln>
        </p:spPr>
      </p:sp>
      <p:sp>
        <p:nvSpPr>
          <p:cNvPr id="6" name="mechPillTxt"/>
          <p:cNvSpPr txBox="1"/>
          <p:nvPr/>
        </p:nvSpPr>
        <p:spPr>
          <a:xfrm>
            <a:off x="4358488" y="1517904"/>
            <a:ext cx="1234440" cy="347472"/>
          </a:xfrm>
          <a:prstGeom prst="rect">
            <a:avLst/>
          </a:prstGeom>
          <a:noFill/>
          <a:ln/>
        </p:spPr>
        <p:txBody>
          <a:bodyPr wrap="square" lIns="0" tIns="0" rIns="0" bIns="0" rtlCol="0" anchor="ctr"/>
          <a:lstStyle/>
          <a:p>
            <a:pPr algn="ctr" indent="0" marL="0">
              <a:buNone/>
            </a:pPr>
            <a:r>
              <a:rPr lang="en-US" sz="1150" b="1" dirty="0">
                <a:solidFill>
                  <a:srgbClr val="FFFFFF"/>
                </a:solidFill>
              </a:rPr>
              <a:t>C1 → C2</a:t>
            </a:r>
            <a:endParaRPr lang="en-US" sz="1150" dirty="0"/>
          </a:p>
        </p:txBody>
      </p:sp>
      <p:sp>
        <p:nvSpPr>
          <p:cNvPr id="7" name="mechList"/>
          <p:cNvSpPr txBox="1"/>
          <p:nvPr/>
        </p:nvSpPr>
        <p:spPr>
          <a:xfrm>
            <a:off x="822960" y="2057400"/>
            <a:ext cx="4769968" cy="2148840"/>
          </a:xfrm>
          <a:prstGeom prst="rect">
            <a:avLst/>
          </a:prstGeom>
          <a:noFill/>
          <a:ln/>
        </p:spPr>
        <p:txBody>
          <a:bodyPr wrap="square" lIns="0" tIns="0" rIns="0" bIns="0" rtlCol="0" anchor="t"/>
          <a:lstStyle/>
          <a:p>
            <a:pPr marL="342900" indent="-342900">
              <a:lnSpc>
                <a:spcPct val="110000"/>
              </a:lnSpc>
              <a:spcAft>
                <a:spcPts val="900"/>
              </a:spcAft>
              <a:buSzPct val="100000"/>
              <a:buChar char="•"/>
            </a:pPr>
            <a:r>
              <a:rPr lang="en-US" sz="1250" dirty="0">
                <a:solidFill>
                  <a:schemeClr val="tx2"/>
                </a:solidFill>
              </a:rPr>
              <a:t>Not an attitude mechanism: pitch +219 to +279% where the ground is already modelled</a:t>
            </a:r>
            <a:endParaRPr lang="en-US" sz="1250" dirty="0"/>
          </a:p>
          <a:p>
            <a:pPr marL="342900" indent="-342900">
              <a:lnSpc>
                <a:spcPct val="110000"/>
              </a:lnSpc>
              <a:spcAft>
                <a:spcPts val="900"/>
              </a:spcAft>
              <a:buSzPct val="100000"/>
              <a:buChar char="•"/>
            </a:pPr>
            <a:r>
              <a:rPr lang="en-US" sz="1250" dirty="0">
                <a:solidFill>
                  <a:schemeClr val="tx2"/>
                </a:solidFill>
              </a:rPr>
              <a:t>On real terrain: roll −30 to −49%, cost of transport −7 to −10%, speed +2 to +3%</a:t>
            </a:r>
            <a:endParaRPr lang="en-US" sz="1250" dirty="0"/>
          </a:p>
          <a:p>
            <a:pPr marL="342900" indent="-342900">
              <a:lnSpc>
                <a:spcPct val="110000"/>
              </a:lnSpc>
              <a:spcAft>
                <a:spcPts val="900"/>
              </a:spcAft>
              <a:buSzPct val="100000"/>
              <a:buChar char="•"/>
            </a:pPr>
            <a:r>
              <a:rPr lang="en-US" sz="1250" dirty="0">
                <a:solidFill>
                  <a:schemeClr val="tx2"/>
                </a:solidFill>
              </a:rPr>
              <a:t>Pitch still worsens by 21% on the bump</a:t>
            </a:r>
            <a:endParaRPr lang="en-US" sz="1250" dirty="0"/>
          </a:p>
          <a:p>
            <a:pPr marL="342900" indent="-342900">
              <a:lnSpc>
                <a:spcPct val="110000"/>
              </a:lnSpc>
              <a:spcAft>
                <a:spcPts val="900"/>
              </a:spcAft>
              <a:buSzPct val="100000"/>
              <a:buChar char="•"/>
            </a:pPr>
            <a:r>
              <a:rPr lang="en-US" sz="1250" dirty="0">
                <a:solidFill>
                  <a:schemeClr val="tx2"/>
                </a:solidFill>
              </a:rPr>
              <a:t>Why: contact is declared per leg, asynchronously, and the height correction is a step</a:t>
            </a:r>
            <a:endParaRPr lang="en-US" sz="1250" dirty="0"/>
          </a:p>
        </p:txBody>
      </p:sp>
      <p:sp>
        <p:nvSpPr>
          <p:cNvPr id="8" name="panel"/>
          <p:cNvSpPr/>
          <p:nvPr/>
        </p:nvSpPr>
        <p:spPr>
          <a:xfrm>
            <a:off x="6324448" y="1325880"/>
            <a:ext cx="5318608" cy="3063240"/>
          </a:xfrm>
          <a:prstGeom prst="roundRect">
            <a:avLst>
              <a:gd name="adj" fmla="val 1791"/>
            </a:avLst>
          </a:prstGeom>
          <a:solidFill>
            <a:schemeClr val="bg2"/>
          </a:solidFill>
          <a:ln w="12700">
            <a:solidFill>
              <a:schemeClr val="bg2"/>
            </a:solidFill>
            <a:prstDash val="solid"/>
          </a:ln>
        </p:spPr>
      </p:sp>
      <p:sp>
        <p:nvSpPr>
          <p:cNvPr id="9" name="mechHead"/>
          <p:cNvSpPr txBox="1"/>
          <p:nvPr/>
        </p:nvSpPr>
        <p:spPr>
          <a:xfrm>
            <a:off x="6598768" y="1481328"/>
            <a:ext cx="3581248" cy="411480"/>
          </a:xfrm>
          <a:prstGeom prst="rect">
            <a:avLst/>
          </a:prstGeom>
          <a:noFill/>
          <a:ln/>
        </p:spPr>
        <p:txBody>
          <a:bodyPr wrap="square" lIns="0" tIns="0" rIns="0" bIns="0" rtlCol="0" anchor="ctr"/>
          <a:lstStyle/>
          <a:p>
            <a:pPr indent="0" marL="0">
              <a:buNone/>
            </a:pPr>
            <a:r>
              <a:rPr lang="en-US" sz="1700" b="1" dirty="0">
                <a:solidFill>
                  <a:schemeClr val="accent1"/>
                </a:solidFill>
              </a:rPr>
              <a:t>Attitude feedback</a:t>
            </a:r>
            <a:endParaRPr lang="en-US" sz="1700" dirty="0"/>
          </a:p>
        </p:txBody>
      </p:sp>
      <p:sp>
        <p:nvSpPr>
          <p:cNvPr id="10" name="mechPill"/>
          <p:cNvSpPr/>
          <p:nvPr/>
        </p:nvSpPr>
        <p:spPr>
          <a:xfrm>
            <a:off x="10134295" y="1517904"/>
            <a:ext cx="1234440" cy="347472"/>
          </a:xfrm>
          <a:prstGeom prst="roundRect">
            <a:avLst>
              <a:gd name="adj" fmla="val 50000"/>
            </a:avLst>
          </a:prstGeom>
          <a:solidFill>
            <a:srgbClr val="4E7260"/>
          </a:solidFill>
          <a:ln w="12700">
            <a:solidFill>
              <a:srgbClr val="4E7260"/>
            </a:solidFill>
            <a:prstDash val="solid"/>
          </a:ln>
        </p:spPr>
      </p:sp>
      <p:sp>
        <p:nvSpPr>
          <p:cNvPr id="11" name="mechPillTxt"/>
          <p:cNvSpPr txBox="1"/>
          <p:nvPr/>
        </p:nvSpPr>
        <p:spPr>
          <a:xfrm>
            <a:off x="10134295" y="1517904"/>
            <a:ext cx="1234440" cy="347472"/>
          </a:xfrm>
          <a:prstGeom prst="rect">
            <a:avLst/>
          </a:prstGeom>
          <a:noFill/>
          <a:ln/>
        </p:spPr>
        <p:txBody>
          <a:bodyPr wrap="square" lIns="0" tIns="0" rIns="0" bIns="0" rtlCol="0" anchor="ctr"/>
          <a:lstStyle/>
          <a:p>
            <a:pPr algn="ctr" indent="0" marL="0">
              <a:buNone/>
            </a:pPr>
            <a:r>
              <a:rPr lang="en-US" sz="1150" b="1" dirty="0">
                <a:solidFill>
                  <a:srgbClr val="FFFFFF"/>
                </a:solidFill>
              </a:rPr>
              <a:t>C2 → C3</a:t>
            </a:r>
            <a:endParaRPr lang="en-US" sz="1150" dirty="0"/>
          </a:p>
        </p:txBody>
      </p:sp>
      <p:sp>
        <p:nvSpPr>
          <p:cNvPr id="12" name="mechList"/>
          <p:cNvSpPr txBox="1"/>
          <p:nvPr/>
        </p:nvSpPr>
        <p:spPr>
          <a:xfrm>
            <a:off x="6598768" y="2057400"/>
            <a:ext cx="4769968" cy="2148840"/>
          </a:xfrm>
          <a:prstGeom prst="rect">
            <a:avLst/>
          </a:prstGeom>
          <a:noFill/>
          <a:ln/>
        </p:spPr>
        <p:txBody>
          <a:bodyPr wrap="square" lIns="0" tIns="0" rIns="0" bIns="0" rtlCol="0" anchor="t"/>
          <a:lstStyle/>
          <a:p>
            <a:pPr marL="342900" indent="-342900">
              <a:lnSpc>
                <a:spcPct val="110000"/>
              </a:lnSpc>
              <a:spcAft>
                <a:spcPts val="900"/>
              </a:spcAft>
              <a:buSzPct val="100000"/>
              <a:buChar char="•"/>
            </a:pPr>
            <a:r>
              <a:rPr lang="en-US" sz="1250" dirty="0">
                <a:solidFill>
                  <a:schemeClr val="tx2"/>
                </a:solidFill>
              </a:rPr>
              <a:t>Buys attitude on every task: pitch −73 to −82%, at 18 to 94 times the noise floor</a:t>
            </a:r>
            <a:endParaRPr lang="en-US" sz="1250" dirty="0"/>
          </a:p>
          <a:p>
            <a:pPr marL="342900" indent="-342900">
              <a:lnSpc>
                <a:spcPct val="110000"/>
              </a:lnSpc>
              <a:spcAft>
                <a:spcPts val="900"/>
              </a:spcAft>
              <a:buSzPct val="100000"/>
              <a:buChar char="•"/>
            </a:pPr>
            <a:r>
              <a:rPr lang="en-US" sz="1250" dirty="0">
                <a:solidFill>
                  <a:schemeClr val="tx2"/>
                </a:solidFill>
              </a:rPr>
              <a:t>On the ramp, a qualitatively different behaviour</a:t>
            </a:r>
            <a:endParaRPr lang="en-US" sz="1250" dirty="0"/>
          </a:p>
          <a:p>
            <a:pPr marL="342900" indent="-342900">
              <a:lnSpc>
                <a:spcPct val="110000"/>
              </a:lnSpc>
              <a:spcAft>
                <a:spcPts val="900"/>
              </a:spcAft>
              <a:buSzPct val="100000"/>
              <a:buChar char="•"/>
            </a:pPr>
            <a:r>
              <a:rPr lang="en-US" sz="1250" dirty="0">
                <a:solidFill>
                  <a:schemeClr val="tx2"/>
                </a:solidFill>
              </a:rPr>
              <a:t>Costs 28 to 40% in energy and cost of transport</a:t>
            </a:r>
            <a:endParaRPr lang="en-US" sz="1250" dirty="0"/>
          </a:p>
          <a:p>
            <a:pPr marL="342900" indent="-342900">
              <a:lnSpc>
                <a:spcPct val="110000"/>
              </a:lnSpc>
              <a:spcAft>
                <a:spcPts val="900"/>
              </a:spcAft>
              <a:buSzPct val="100000"/>
              <a:buChar char="•"/>
            </a:pPr>
            <a:r>
              <a:rPr lang="en-US" sz="1250" dirty="0">
                <a:solidFill>
                  <a:schemeClr val="tx2"/>
                </a:solidFill>
              </a:rPr>
              <a:t>Spent on foot travel, not joint load: continuous torque actually falls</a:t>
            </a:r>
            <a:endParaRPr lang="en-US" sz="1250" dirty="0"/>
          </a:p>
        </p:txBody>
      </p:sp>
      <p:sp>
        <p:nvSpPr>
          <p:cNvPr id="13" name="panel"/>
          <p:cNvSpPr/>
          <p:nvPr/>
        </p:nvSpPr>
        <p:spPr>
          <a:xfrm>
            <a:off x="548640" y="4709160"/>
            <a:ext cx="11094415" cy="960120"/>
          </a:xfrm>
          <a:prstGeom prst="roundRect">
            <a:avLst>
              <a:gd name="adj" fmla="val 5714"/>
            </a:avLst>
          </a:prstGeom>
          <a:solidFill>
            <a:srgbClr val="23424F"/>
          </a:solidFill>
          <a:ln w="12700">
            <a:solidFill>
              <a:srgbClr val="23424F"/>
            </a:solidFill>
            <a:prstDash val="solid"/>
          </a:ln>
        </p:spPr>
      </p:sp>
      <p:sp>
        <p:nvSpPr>
          <p:cNvPr id="14" name="mechSynth"/>
          <p:cNvSpPr txBox="1"/>
          <p:nvPr/>
        </p:nvSpPr>
        <p:spPr>
          <a:xfrm>
            <a:off x="914400" y="4709160"/>
            <a:ext cx="10362895" cy="960120"/>
          </a:xfrm>
          <a:prstGeom prst="rect">
            <a:avLst/>
          </a:prstGeom>
          <a:noFill/>
          <a:ln/>
        </p:spPr>
        <p:txBody>
          <a:bodyPr wrap="square" lIns="0" tIns="0" rIns="0" bIns="0" rtlCol="0" anchor="ctr"/>
          <a:lstStyle/>
          <a:p>
            <a:pPr algn="ctr" indent="0" marL="0">
              <a:buNone/>
            </a:pPr>
            <a:r>
              <a:rPr lang="en-US" sz="1400" b="1" dirty="0">
                <a:solidFill>
                  <a:srgbClr val="FFFFFF"/>
                </a:solidFill>
              </a:rPr>
              <a:t>Composed in series, C3 ends up better than C1 on pitch: the attitude loop more than pays back the disturbance the search introduced.</a:t>
            </a:r>
            <a:endParaRPr lang="en-US" sz="14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Unplanned finding: stance becomes unobservable</a:t>
            </a:r>
            <a:endParaRPr lang="en-US" sz="2900" dirty="0"/>
          </a:p>
        </p:txBody>
      </p:sp>
      <p:sp>
        <p:nvSpPr>
          <p:cNvPr id="3" name="stanceLead"/>
          <p:cNvSpPr txBox="1"/>
          <p:nvPr/>
        </p:nvSpPr>
        <p:spPr>
          <a:xfrm>
            <a:off x="548640" y="1261872"/>
            <a:ext cx="11094415" cy="822960"/>
          </a:xfrm>
          <a:prstGeom prst="rect">
            <a:avLst/>
          </a:prstGeom>
          <a:noFill/>
          <a:ln/>
        </p:spPr>
        <p:txBody>
          <a:bodyPr wrap="square" lIns="0" tIns="0" rIns="0" bIns="0" rtlCol="0" anchor="t"/>
          <a:lstStyle/>
          <a:p>
            <a:pPr indent="0" marL="0">
              <a:lnSpc>
                <a:spcPct val="110000"/>
              </a:lnSpc>
              <a:buNone/>
            </a:pPr>
            <a:r>
              <a:rPr lang="en-US" sz="1250" dirty="0">
                <a:solidFill>
                  <a:schemeClr val="tx2"/>
                </a:solidFill>
              </a:rPr>
              <a:t>On the ramp, the kinematic stance detector found almost no stance on C3. Our first reading was that the robot was not walking. It was wrong — the mean body height we quoted was the ramp's own height, and the force sensors see only the floor plane.</a:t>
            </a:r>
            <a:endParaRPr lang="en-US" sz="1250" dirty="0"/>
          </a:p>
        </p:txBody>
      </p:sp>
      <p:graphicFrame>
        <p:nvGraphicFramePr>
          <p:cNvPr id="27"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1097280"/>
                <a:gridCol w="3840480"/>
                <a:gridCol w="6156655"/>
              </a:tblGrid>
              <a:tr h="0">
                <a:tc>
                  <a:txBody>
                    <a:bodyPr/>
                    <a:lstStyle/>
                    <a:p>
                      <a:pPr algn="l" indent="0" marL="0">
                        <a:buNone/>
                      </a:pP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samples under 0.05 m/s</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longest consecutive stretch</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r>
              <a:tr h="0">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C2</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41–54%</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71–113 samples (one full stance)</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0">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C3</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4–8%</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3–12 samples</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5" name="stanceRead"/>
          <p:cNvSpPr txBox="1"/>
          <p:nvPr/>
        </p:nvSpPr>
        <p:spPr>
          <a:xfrm>
            <a:off x="548640" y="3657600"/>
            <a:ext cx="11094415" cy="914400"/>
          </a:xfrm>
          <a:prstGeom prst="rect">
            <a:avLst/>
          </a:prstGeom>
          <a:noFill/>
          <a:ln/>
        </p:spPr>
        <p:txBody>
          <a:bodyPr wrap="square" lIns="0" tIns="0" rIns="0" bIns="0" rtlCol="0" anchor="t"/>
          <a:lstStyle/>
          <a:p>
            <a:pPr indent="0" marL="0">
              <a:lnSpc>
                <a:spcPct val="112000"/>
              </a:lnSpc>
              <a:buNone/>
            </a:pPr>
            <a:r>
              <a:rPr lang="en-US" sz="1250" dirty="0">
                <a:solidFill>
                  <a:schemeClr val="tx1"/>
                </a:solidFill>
              </a:rPr>
              <a:t>The feet are not failing to land: they land and are moved again. The attitude loop adds a continuous height correction to every foot, stance feet included, so a foot in stance is never at rest in the world frame. The amplitude is small — about 17 mm — so the gait is unaffected.</a:t>
            </a:r>
            <a:endParaRPr lang="en-US" sz="1250" dirty="0"/>
          </a:p>
        </p:txBody>
      </p:sp>
      <p:sp>
        <p:nvSpPr>
          <p:cNvPr id="6" name="panel"/>
          <p:cNvSpPr/>
          <p:nvPr/>
        </p:nvSpPr>
        <p:spPr>
          <a:xfrm>
            <a:off x="548640" y="4709160"/>
            <a:ext cx="11094415" cy="1143000"/>
          </a:xfrm>
          <a:prstGeom prst="roundRect">
            <a:avLst>
              <a:gd name="adj" fmla="val 4800"/>
            </a:avLst>
          </a:prstGeom>
          <a:solidFill>
            <a:srgbClr val="DCE6E9"/>
          </a:solidFill>
          <a:ln w="12700">
            <a:solidFill>
              <a:srgbClr val="DCE6E9"/>
            </a:solidFill>
            <a:prstDash val="solid"/>
          </a:ln>
        </p:spPr>
      </p:sp>
      <p:sp>
        <p:nvSpPr>
          <p:cNvPr id="7" name="stanceVerdict"/>
          <p:cNvSpPr txBox="1"/>
          <p:nvPr/>
        </p:nvSpPr>
        <p:spPr>
          <a:xfrm>
            <a:off x="914400" y="4709160"/>
            <a:ext cx="10362895" cy="1143000"/>
          </a:xfrm>
          <a:prstGeom prst="rect">
            <a:avLst/>
          </a:prstGeom>
          <a:noFill/>
          <a:ln/>
        </p:spPr>
        <p:txBody>
          <a:bodyPr wrap="square" lIns="0" tIns="0" rIns="0" bIns="0" rtlCol="0" anchor="ctr"/>
          <a:lstStyle/>
          <a:p>
            <a:pPr indent="0" marL="0">
              <a:lnSpc>
                <a:spcPct val="112000"/>
              </a:lnSpc>
              <a:buNone/>
            </a:pPr>
            <a:r>
              <a:rPr lang="en-US" sz="1300" b="1" dirty="0">
                <a:solidFill>
                  <a:schemeClr val="accent1"/>
                </a:solidFill>
              </a:rPr>
              <a:t>What breaks is the observability of contact by any rest-based criterion. Composing an attitude loop after a contact-triggered mechanism feeds the second one a world in which nothing is ever stationary.</a:t>
            </a:r>
            <a:endParaRPr lang="en-US" sz="13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Limitations</a:t>
            </a:r>
            <a:endParaRPr lang="en-US" sz="2900" dirty="0"/>
          </a:p>
        </p:txBody>
      </p:sp>
      <p:sp>
        <p:nvSpPr>
          <p:cNvPr id="3" name="panel"/>
          <p:cNvSpPr/>
          <p:nvPr/>
        </p:nvSpPr>
        <p:spPr>
          <a:xfrm>
            <a:off x="548640" y="1371600"/>
            <a:ext cx="5318608" cy="1298448"/>
          </a:xfrm>
          <a:prstGeom prst="roundRect">
            <a:avLst>
              <a:gd name="adj" fmla="val 4225"/>
            </a:avLst>
          </a:prstGeom>
          <a:solidFill>
            <a:schemeClr val="bg2"/>
          </a:solidFill>
          <a:ln w="12700">
            <a:solidFill>
              <a:schemeClr val="bg2"/>
            </a:solidFill>
            <a:prstDash val="solid"/>
          </a:ln>
        </p:spPr>
      </p:sp>
      <p:sp>
        <p:nvSpPr>
          <p:cNvPr id="4" name="cardHead"/>
          <p:cNvSpPr txBox="1"/>
          <p:nvPr/>
        </p:nvSpPr>
        <p:spPr>
          <a:xfrm>
            <a:off x="804672" y="1554480"/>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Ideal actuators</a:t>
            </a:r>
            <a:endParaRPr lang="en-US" sz="1500" dirty="0"/>
          </a:p>
        </p:txBody>
      </p:sp>
      <p:sp>
        <p:nvSpPr>
          <p:cNvPr id="5" name="cardBody"/>
          <p:cNvSpPr txBox="1"/>
          <p:nvPr/>
        </p:nvSpPr>
        <p:spPr>
          <a:xfrm>
            <a:off x="804672" y="2029968"/>
            <a:ext cx="4806544" cy="420624"/>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Torque is demand, not achievable behaviour. Servo limits in the loop would likely compress the differences.</a:t>
            </a:r>
            <a:endParaRPr lang="en-US" sz="1250" dirty="0"/>
          </a:p>
        </p:txBody>
      </p:sp>
      <p:sp>
        <p:nvSpPr>
          <p:cNvPr id="6" name="panel"/>
          <p:cNvSpPr/>
          <p:nvPr/>
        </p:nvSpPr>
        <p:spPr>
          <a:xfrm>
            <a:off x="6324448" y="1371600"/>
            <a:ext cx="5318608" cy="1298448"/>
          </a:xfrm>
          <a:prstGeom prst="roundRect">
            <a:avLst>
              <a:gd name="adj" fmla="val 4225"/>
            </a:avLst>
          </a:prstGeom>
          <a:solidFill>
            <a:schemeClr val="bg2"/>
          </a:solidFill>
          <a:ln w="12700">
            <a:solidFill>
              <a:schemeClr val="bg2"/>
            </a:solidFill>
            <a:prstDash val="solid"/>
          </a:ln>
        </p:spPr>
      </p:sp>
      <p:sp>
        <p:nvSpPr>
          <p:cNvPr id="7" name="cardHead"/>
          <p:cNvSpPr txBox="1"/>
          <p:nvPr/>
        </p:nvSpPr>
        <p:spPr>
          <a:xfrm>
            <a:off x="6580480" y="1554480"/>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Sensors see only the floor</a:t>
            </a:r>
            <a:endParaRPr lang="en-US" sz="1500" dirty="0"/>
          </a:p>
        </p:txBody>
      </p:sp>
      <p:sp>
        <p:nvSpPr>
          <p:cNvPr id="8" name="cardBody"/>
          <p:cNvSpPr txBox="1"/>
          <p:nvPr/>
        </p:nvSpPr>
        <p:spPr>
          <a:xfrm>
            <a:off x="6580480" y="2029968"/>
            <a:ext cx="4806544" cy="420624"/>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On ramp, bump and obstacles every stance metric comes from the kinematic detector — itself degraded on C3.</a:t>
            </a:r>
            <a:endParaRPr lang="en-US" sz="1250" dirty="0"/>
          </a:p>
        </p:txBody>
      </p:sp>
      <p:sp>
        <p:nvSpPr>
          <p:cNvPr id="9" name="panel"/>
          <p:cNvSpPr/>
          <p:nvPr/>
        </p:nvSpPr>
        <p:spPr>
          <a:xfrm>
            <a:off x="548640" y="2862072"/>
            <a:ext cx="5318608" cy="1298448"/>
          </a:xfrm>
          <a:prstGeom prst="roundRect">
            <a:avLst>
              <a:gd name="adj" fmla="val 4225"/>
            </a:avLst>
          </a:prstGeom>
          <a:solidFill>
            <a:schemeClr val="bg2"/>
          </a:solidFill>
          <a:ln w="12700">
            <a:solidFill>
              <a:schemeClr val="bg2"/>
            </a:solidFill>
            <a:prstDash val="solid"/>
          </a:ln>
        </p:spPr>
      </p:sp>
      <p:sp>
        <p:nvSpPr>
          <p:cNvPr id="10" name="cardHead"/>
          <p:cNvSpPr txBox="1"/>
          <p:nvPr/>
        </p:nvSpPr>
        <p:spPr>
          <a:xfrm>
            <a:off x="804672" y="3044952"/>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Lever arms hardcoded</a:t>
            </a:r>
            <a:endParaRPr lang="en-US" sz="1500" dirty="0"/>
          </a:p>
        </p:txBody>
      </p:sp>
      <p:sp>
        <p:nvSpPr>
          <p:cNvPr id="11" name="cardBody"/>
          <p:cNvSpPr txBox="1"/>
          <p:nvPr/>
        </p:nvSpPr>
        <p:spPr>
          <a:xfrm>
            <a:off x="804672" y="3520440"/>
            <a:ext cx="4806544" cy="420624"/>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About 1.8x smaller than nominal foot positions. Not corrected: the gains were tuned with those values in the loop.</a:t>
            </a:r>
            <a:endParaRPr lang="en-US" sz="1250" dirty="0"/>
          </a:p>
        </p:txBody>
      </p:sp>
      <p:sp>
        <p:nvSpPr>
          <p:cNvPr id="12" name="panel"/>
          <p:cNvSpPr/>
          <p:nvPr/>
        </p:nvSpPr>
        <p:spPr>
          <a:xfrm>
            <a:off x="6324448" y="2862072"/>
            <a:ext cx="5318608" cy="1298448"/>
          </a:xfrm>
          <a:prstGeom prst="roundRect">
            <a:avLst>
              <a:gd name="adj" fmla="val 4225"/>
            </a:avLst>
          </a:prstGeom>
          <a:solidFill>
            <a:schemeClr val="bg2"/>
          </a:solidFill>
          <a:ln w="12700">
            <a:solidFill>
              <a:schemeClr val="bg2"/>
            </a:solidFill>
            <a:prstDash val="solid"/>
          </a:ln>
        </p:spPr>
      </p:sp>
      <p:sp>
        <p:nvSpPr>
          <p:cNvPr id="13" name="cardHead"/>
          <p:cNvSpPr txBox="1"/>
          <p:nvPr/>
        </p:nvSpPr>
        <p:spPr>
          <a:xfrm>
            <a:off x="6580480" y="3044952"/>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Self-tuned threshold</a:t>
            </a:r>
            <a:endParaRPr lang="en-US" sz="1500" dirty="0"/>
          </a:p>
        </p:txBody>
      </p:sp>
      <p:sp>
        <p:nvSpPr>
          <p:cNvPr id="14" name="cardBody"/>
          <p:cNvSpPr txBox="1"/>
          <p:nvPr/>
        </p:nvSpPr>
        <p:spPr>
          <a:xfrm>
            <a:off x="6580480" y="3520440"/>
            <a:ext cx="4806544" cy="420624"/>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Fitted on this bench, so the search cannot be credited with robustness to it.</a:t>
            </a:r>
            <a:endParaRPr lang="en-US" sz="1250" dirty="0"/>
          </a:p>
        </p:txBody>
      </p:sp>
      <p:sp>
        <p:nvSpPr>
          <p:cNvPr id="15" name="panel"/>
          <p:cNvSpPr/>
          <p:nvPr/>
        </p:nvSpPr>
        <p:spPr>
          <a:xfrm>
            <a:off x="548640" y="4352544"/>
            <a:ext cx="5318608" cy="1298448"/>
          </a:xfrm>
          <a:prstGeom prst="roundRect">
            <a:avLst>
              <a:gd name="adj" fmla="val 4225"/>
            </a:avLst>
          </a:prstGeom>
          <a:solidFill>
            <a:schemeClr val="bg2"/>
          </a:solidFill>
          <a:ln w="12700">
            <a:solidFill>
              <a:schemeClr val="bg2"/>
            </a:solidFill>
            <a:prstDash val="solid"/>
          </a:ln>
        </p:spPr>
      </p:sp>
      <p:sp>
        <p:nvSpPr>
          <p:cNvPr id="16" name="cardHead"/>
          <p:cNvSpPr txBox="1"/>
          <p:nvPr/>
        </p:nvSpPr>
        <p:spPr>
          <a:xfrm>
            <a:off x="804672" y="4535424"/>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Estimator is not the plant</a:t>
            </a:r>
            <a:endParaRPr lang="en-US" sz="1500" dirty="0"/>
          </a:p>
        </p:txBody>
      </p:sp>
      <p:sp>
        <p:nvSpPr>
          <p:cNvPr id="17" name="cardBody"/>
          <p:cNvSpPr txBox="1"/>
          <p:nvPr/>
        </p:nvSpPr>
        <p:spPr>
          <a:xfrm>
            <a:off x="804672" y="5010912"/>
            <a:ext cx="4806544" cy="420624"/>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Residual mismatch is the 1.6% of mass in the feet, which the URDF tree does not carry.</a:t>
            </a:r>
            <a:endParaRPr lang="en-US" sz="1250" dirty="0"/>
          </a:p>
        </p:txBody>
      </p:sp>
      <p:sp>
        <p:nvSpPr>
          <p:cNvPr id="18" name="panel"/>
          <p:cNvSpPr/>
          <p:nvPr/>
        </p:nvSpPr>
        <p:spPr>
          <a:xfrm>
            <a:off x="6324448" y="4352544"/>
            <a:ext cx="5318608" cy="1298448"/>
          </a:xfrm>
          <a:prstGeom prst="roundRect">
            <a:avLst>
              <a:gd name="adj" fmla="val 4225"/>
            </a:avLst>
          </a:prstGeom>
          <a:solidFill>
            <a:schemeClr val="bg2"/>
          </a:solidFill>
          <a:ln w="12700">
            <a:solidFill>
              <a:schemeClr val="bg2"/>
            </a:solidFill>
            <a:prstDash val="solid"/>
          </a:ln>
        </p:spPr>
      </p:sp>
      <p:sp>
        <p:nvSpPr>
          <p:cNvPr id="19" name="cardHead"/>
          <p:cNvSpPr txBox="1"/>
          <p:nvPr/>
        </p:nvSpPr>
        <p:spPr>
          <a:xfrm>
            <a:off x="6580480" y="4535424"/>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No hardware</a:t>
            </a:r>
            <a:endParaRPr lang="en-US" sz="1500" dirty="0"/>
          </a:p>
        </p:txBody>
      </p:sp>
      <p:sp>
        <p:nvSpPr>
          <p:cNvPr id="20" name="cardBody"/>
          <p:cNvSpPr txBox="1"/>
          <p:nvPr/>
        </p:nvSpPr>
        <p:spPr>
          <a:xfrm>
            <a:off x="6580480" y="5010912"/>
            <a:ext cx="4806544" cy="420624"/>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Nothing here was measured on a physical PhantomX. The comparison is not validated.</a:t>
            </a:r>
            <a:endParaRPr lang="en-US"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Contributions</a:t>
            </a:r>
            <a:endParaRPr lang="en-US" sz="2900" dirty="0"/>
          </a:p>
        </p:txBody>
      </p:sp>
      <p:sp>
        <p:nvSpPr>
          <p:cNvPr id="3" name="panel"/>
          <p:cNvSpPr/>
          <p:nvPr/>
        </p:nvSpPr>
        <p:spPr>
          <a:xfrm>
            <a:off x="548640" y="1325880"/>
            <a:ext cx="5318608" cy="3566160"/>
          </a:xfrm>
          <a:prstGeom prst="roundRect">
            <a:avLst>
              <a:gd name="adj" fmla="val 1538"/>
            </a:avLst>
          </a:prstGeom>
          <a:solidFill>
            <a:schemeClr val="bg2"/>
          </a:solidFill>
          <a:ln w="12700">
            <a:solidFill>
              <a:schemeClr val="bg2"/>
            </a:solidFill>
            <a:prstDash val="solid"/>
          </a:ln>
        </p:spPr>
      </p:sp>
      <p:sp>
        <p:nvSpPr>
          <p:cNvPr id="4" name="chip"/>
          <p:cNvSpPr/>
          <p:nvPr/>
        </p:nvSpPr>
        <p:spPr>
          <a:xfrm>
            <a:off x="822960" y="1536192"/>
            <a:ext cx="603504" cy="603504"/>
          </a:xfrm>
          <a:prstGeom prst="ellipse">
            <a:avLst/>
          </a:prstGeom>
          <a:solidFill>
            <a:srgbClr val="23424F"/>
          </a:solidFill>
          <a:ln w="12700">
            <a:solidFill>
              <a:srgbClr val="23424F"/>
            </a:solidFill>
            <a:prstDash val="solid"/>
          </a:ln>
        </p:spPr>
      </p:sp>
      <p:sp>
        <p:nvSpPr>
          <p:cNvPr id="5" name="chipText"/>
          <p:cNvSpPr txBox="1"/>
          <p:nvPr/>
        </p:nvSpPr>
        <p:spPr>
          <a:xfrm>
            <a:off x="822960" y="1536192"/>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amName"/>
          <p:cNvSpPr txBox="1"/>
          <p:nvPr/>
        </p:nvSpPr>
        <p:spPr>
          <a:xfrm>
            <a:off x="1554480" y="1490472"/>
            <a:ext cx="4038448" cy="365760"/>
          </a:xfrm>
          <a:prstGeom prst="rect">
            <a:avLst/>
          </a:prstGeom>
          <a:noFill/>
          <a:ln/>
        </p:spPr>
        <p:txBody>
          <a:bodyPr wrap="square" lIns="0" tIns="0" rIns="0" bIns="0" rtlCol="0" anchor="ctr"/>
          <a:lstStyle/>
          <a:p>
            <a:pPr indent="0" marL="0">
              <a:buNone/>
            </a:pPr>
            <a:r>
              <a:rPr lang="en-US" sz="1600" b="1" dirty="0">
                <a:solidFill>
                  <a:schemeClr val="accent1"/>
                </a:solidFill>
              </a:rPr>
              <a:t>[Student 1]</a:t>
            </a:r>
            <a:endParaRPr lang="en-US" sz="1600" dirty="0"/>
          </a:p>
        </p:txBody>
      </p:sp>
      <p:sp>
        <p:nvSpPr>
          <p:cNvPr id="7" name="teamRole"/>
          <p:cNvSpPr txBox="1"/>
          <p:nvPr/>
        </p:nvSpPr>
        <p:spPr>
          <a:xfrm>
            <a:off x="1554480" y="1856232"/>
            <a:ext cx="4038448" cy="310896"/>
          </a:xfrm>
          <a:prstGeom prst="rect">
            <a:avLst/>
          </a:prstGeom>
          <a:noFill/>
          <a:ln/>
        </p:spPr>
        <p:txBody>
          <a:bodyPr wrap="square" lIns="0" tIns="0" rIns="0" bIns="0" rtlCol="0" anchor="ctr"/>
          <a:lstStyle/>
          <a:p>
            <a:pPr indent="0" marL="0">
              <a:buNone/>
            </a:pPr>
            <a:r>
              <a:rPr lang="en-US" sz="1200" i="1" dirty="0">
                <a:solidFill>
                  <a:schemeClr val="tx2"/>
                </a:solidFill>
              </a:rPr>
              <a:t>Plant and controllers</a:t>
            </a:r>
            <a:endParaRPr lang="en-US" sz="1200" dirty="0"/>
          </a:p>
        </p:txBody>
      </p:sp>
      <p:sp>
        <p:nvSpPr>
          <p:cNvPr id="8" name="teamList"/>
          <p:cNvSpPr txBox="1"/>
          <p:nvPr/>
        </p:nvSpPr>
        <p:spPr>
          <a:xfrm>
            <a:off x="822960" y="2331720"/>
            <a:ext cx="4769968" cy="2377440"/>
          </a:xfrm>
          <a:prstGeom prst="rect">
            <a:avLst/>
          </a:prstGeom>
          <a:noFill/>
          <a:ln/>
        </p:spPr>
        <p:txBody>
          <a:bodyPr wrap="square" lIns="0" tIns="0" rIns="0" bIns="0" rtlCol="0" anchor="t"/>
          <a:lstStyle/>
          <a:p>
            <a:pPr marL="342900" indent="-342900">
              <a:lnSpc>
                <a:spcPct val="108000"/>
              </a:lnSpc>
              <a:spcAft>
                <a:spcPts val="700"/>
              </a:spcAft>
              <a:buSzPct val="100000"/>
              <a:buChar char="•"/>
            </a:pPr>
            <a:r>
              <a:rPr lang="en-US" sz="1200" dirty="0">
                <a:solidFill>
                  <a:schemeClr val="tx1"/>
                </a:solidFill>
              </a:rPr>
              <a:t>Simscape Multibody plant from the URDF</a:t>
            </a:r>
            <a:endParaRPr lang="en-US" sz="1200" dirty="0"/>
          </a:p>
          <a:p>
            <a:pPr marL="342900" indent="-342900">
              <a:lnSpc>
                <a:spcPct val="108000"/>
              </a:lnSpc>
              <a:spcAft>
                <a:spcPts val="700"/>
              </a:spcAft>
              <a:buSzPct val="100000"/>
              <a:buChar char="•"/>
            </a:pPr>
            <a:r>
              <a:rPr lang="en-US" sz="1200" dirty="0">
                <a:solidFill>
                  <a:schemeClr val="tx1"/>
                </a:solidFill>
              </a:rPr>
              <a:t>Open-loop tripod generator (C1)</a:t>
            </a:r>
            <a:endParaRPr lang="en-US" sz="1200" dirty="0"/>
          </a:p>
          <a:p>
            <a:pPr marL="342900" indent="-342900">
              <a:lnSpc>
                <a:spcPct val="108000"/>
              </a:lnSpc>
              <a:spcAft>
                <a:spcPts val="700"/>
              </a:spcAft>
              <a:buSzPct val="100000"/>
              <a:buChar char="•"/>
            </a:pPr>
            <a:r>
              <a:rPr lang="en-US" sz="1200" dirty="0">
                <a:solidFill>
                  <a:schemeClr val="tx1"/>
                </a:solidFill>
              </a:rPr>
              <a:t>Terrain-search layer, residual and contact flag (C2)</a:t>
            </a:r>
            <a:endParaRPr lang="en-US" sz="1200" dirty="0"/>
          </a:p>
          <a:p>
            <a:pPr marL="342900" indent="-342900">
              <a:lnSpc>
                <a:spcPct val="108000"/>
              </a:lnSpc>
              <a:spcAft>
                <a:spcPts val="700"/>
              </a:spcAft>
              <a:buSzPct val="100000"/>
              <a:buChar char="•"/>
            </a:pPr>
            <a:r>
              <a:rPr lang="en-US" sz="1200" dirty="0">
                <a:solidFill>
                  <a:schemeClr val="tx1"/>
                </a:solidFill>
              </a:rPr>
              <a:t>Attitude loop: design, implementation, empirical tuning (C3)</a:t>
            </a:r>
            <a:endParaRPr lang="en-US" sz="1200" dirty="0"/>
          </a:p>
          <a:p>
            <a:pPr marL="342900" indent="-342900">
              <a:lnSpc>
                <a:spcPct val="108000"/>
              </a:lnSpc>
              <a:spcAft>
                <a:spcPts val="700"/>
              </a:spcAft>
              <a:buSzPct val="100000"/>
              <a:buChar char="•"/>
            </a:pPr>
            <a:r>
              <a:rPr lang="en-US" sz="1200" dirty="0">
                <a:solidFill>
                  <a:schemeClr val="tx1"/>
                </a:solidFill>
              </a:rPr>
              <a:t>Saturation and rate limiter</a:t>
            </a:r>
            <a:endParaRPr lang="en-US" sz="1200" dirty="0"/>
          </a:p>
        </p:txBody>
      </p:sp>
      <p:sp>
        <p:nvSpPr>
          <p:cNvPr id="9" name="panel"/>
          <p:cNvSpPr/>
          <p:nvPr/>
        </p:nvSpPr>
        <p:spPr>
          <a:xfrm>
            <a:off x="6324448" y="1325880"/>
            <a:ext cx="5318608" cy="3566160"/>
          </a:xfrm>
          <a:prstGeom prst="roundRect">
            <a:avLst>
              <a:gd name="adj" fmla="val 1538"/>
            </a:avLst>
          </a:prstGeom>
          <a:solidFill>
            <a:schemeClr val="bg2"/>
          </a:solidFill>
          <a:ln w="12700">
            <a:solidFill>
              <a:schemeClr val="bg2"/>
            </a:solidFill>
            <a:prstDash val="solid"/>
          </a:ln>
        </p:spPr>
      </p:sp>
      <p:sp>
        <p:nvSpPr>
          <p:cNvPr id="10" name="chip"/>
          <p:cNvSpPr/>
          <p:nvPr/>
        </p:nvSpPr>
        <p:spPr>
          <a:xfrm>
            <a:off x="6598768" y="1536192"/>
            <a:ext cx="603504" cy="603504"/>
          </a:xfrm>
          <a:prstGeom prst="ellipse">
            <a:avLst/>
          </a:prstGeom>
          <a:solidFill>
            <a:srgbClr val="6F9480"/>
          </a:solidFill>
          <a:ln w="12700">
            <a:solidFill>
              <a:srgbClr val="6F9480"/>
            </a:solidFill>
            <a:prstDash val="solid"/>
          </a:ln>
        </p:spPr>
      </p:sp>
      <p:sp>
        <p:nvSpPr>
          <p:cNvPr id="11" name="chipText"/>
          <p:cNvSpPr txBox="1"/>
          <p:nvPr/>
        </p:nvSpPr>
        <p:spPr>
          <a:xfrm>
            <a:off x="6598768" y="1536192"/>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amName"/>
          <p:cNvSpPr txBox="1"/>
          <p:nvPr/>
        </p:nvSpPr>
        <p:spPr>
          <a:xfrm>
            <a:off x="7330288" y="1490472"/>
            <a:ext cx="4038448" cy="365760"/>
          </a:xfrm>
          <a:prstGeom prst="rect">
            <a:avLst/>
          </a:prstGeom>
          <a:noFill/>
          <a:ln/>
        </p:spPr>
        <p:txBody>
          <a:bodyPr wrap="square" lIns="0" tIns="0" rIns="0" bIns="0" rtlCol="0" anchor="ctr"/>
          <a:lstStyle/>
          <a:p>
            <a:pPr indent="0" marL="0">
              <a:buNone/>
            </a:pPr>
            <a:r>
              <a:rPr lang="en-US" sz="1600" b="1" dirty="0">
                <a:solidFill>
                  <a:schemeClr val="accent1"/>
                </a:solidFill>
              </a:rPr>
              <a:t>[Student 2]</a:t>
            </a:r>
            <a:endParaRPr lang="en-US" sz="1600" dirty="0"/>
          </a:p>
        </p:txBody>
      </p:sp>
      <p:sp>
        <p:nvSpPr>
          <p:cNvPr id="13" name="teamRole"/>
          <p:cNvSpPr txBox="1"/>
          <p:nvPr/>
        </p:nvSpPr>
        <p:spPr>
          <a:xfrm>
            <a:off x="7330288" y="1856232"/>
            <a:ext cx="4038448" cy="310896"/>
          </a:xfrm>
          <a:prstGeom prst="rect">
            <a:avLst/>
          </a:prstGeom>
          <a:noFill/>
          <a:ln/>
        </p:spPr>
        <p:txBody>
          <a:bodyPr wrap="square" lIns="0" tIns="0" rIns="0" bIns="0" rtlCol="0" anchor="ctr"/>
          <a:lstStyle/>
          <a:p>
            <a:pPr indent="0" marL="0">
              <a:buNone/>
            </a:pPr>
            <a:r>
              <a:rPr lang="en-US" sz="1200" i="1" dirty="0">
                <a:solidFill>
                  <a:schemeClr val="tx2"/>
                </a:solidFill>
              </a:rPr>
              <a:t>Measurement and analysis</a:t>
            </a:r>
            <a:endParaRPr lang="en-US" sz="1200" dirty="0"/>
          </a:p>
        </p:txBody>
      </p:sp>
      <p:sp>
        <p:nvSpPr>
          <p:cNvPr id="14" name="teamList"/>
          <p:cNvSpPr txBox="1"/>
          <p:nvPr/>
        </p:nvSpPr>
        <p:spPr>
          <a:xfrm>
            <a:off x="6598768" y="2331720"/>
            <a:ext cx="4769968" cy="2377440"/>
          </a:xfrm>
          <a:prstGeom prst="rect">
            <a:avLst/>
          </a:prstGeom>
          <a:noFill/>
          <a:ln/>
        </p:spPr>
        <p:txBody>
          <a:bodyPr wrap="square" lIns="0" tIns="0" rIns="0" bIns="0" rtlCol="0" anchor="t"/>
          <a:lstStyle/>
          <a:p>
            <a:pPr marL="342900" indent="-342900">
              <a:lnSpc>
                <a:spcPct val="108000"/>
              </a:lnSpc>
              <a:spcAft>
                <a:spcPts val="700"/>
              </a:spcAft>
              <a:buSzPct val="100000"/>
              <a:buChar char="•"/>
            </a:pPr>
            <a:r>
              <a:rPr lang="en-US" sz="1200" dirty="0">
                <a:solidFill>
                  <a:schemeClr val="tx1"/>
                </a:solidFill>
              </a:rPr>
              <a:t>Task battery and measurement protocol</a:t>
            </a:r>
            <a:endParaRPr lang="en-US" sz="1200" dirty="0"/>
          </a:p>
          <a:p>
            <a:pPr marL="342900" indent="-342900">
              <a:lnSpc>
                <a:spcPct val="108000"/>
              </a:lnSpc>
              <a:spcAft>
                <a:spcPts val="700"/>
              </a:spcAft>
              <a:buSzPct val="100000"/>
              <a:buChar char="•"/>
            </a:pPr>
            <a:r>
              <a:rPr lang="en-US" sz="1200" dirty="0">
                <a:solidFill>
                  <a:schemeClr val="tx1"/>
                </a:solidFill>
              </a:rPr>
              <a:t>Noise floor and the 3x declarability rule</a:t>
            </a:r>
            <a:endParaRPr lang="en-US" sz="1200" dirty="0"/>
          </a:p>
          <a:p>
            <a:pPr marL="342900" indent="-342900">
              <a:lnSpc>
                <a:spcPct val="108000"/>
              </a:lnSpc>
              <a:spcAft>
                <a:spcPts val="700"/>
              </a:spcAft>
              <a:buSzPct val="100000"/>
              <a:buChar char="•"/>
            </a:pPr>
            <a:r>
              <a:rPr lang="en-US" sz="1200" dirty="0">
                <a:solidFill>
                  <a:schemeClr val="tx1"/>
                </a:solidFill>
              </a:rPr>
              <a:t>Campaign and its automation</a:t>
            </a:r>
            <a:endParaRPr lang="en-US" sz="1200" dirty="0"/>
          </a:p>
          <a:p>
            <a:pPr marL="342900" indent="-342900">
              <a:lnSpc>
                <a:spcPct val="108000"/>
              </a:lnSpc>
              <a:spcAft>
                <a:spcPts val="700"/>
              </a:spcAft>
              <a:buSzPct val="100000"/>
              <a:buChar char="•"/>
            </a:pPr>
            <a:r>
              <a:rPr lang="en-US" sz="1200" dirty="0">
                <a:solidFill>
                  <a:schemeClr val="tx1"/>
                </a:solidFill>
              </a:rPr>
              <a:t>The two bench defects: found, measured, corrected</a:t>
            </a:r>
            <a:endParaRPr lang="en-US" sz="1200" dirty="0"/>
          </a:p>
          <a:p>
            <a:pPr marL="342900" indent="-342900">
              <a:lnSpc>
                <a:spcPct val="108000"/>
              </a:lnSpc>
              <a:spcAft>
                <a:spcPts val="700"/>
              </a:spcAft>
              <a:buSzPct val="100000"/>
              <a:buChar char="•"/>
            </a:pPr>
            <a:r>
              <a:rPr lang="en-US" sz="1200" dirty="0">
                <a:solidFill>
                  <a:schemeClr val="tx1"/>
                </a:solidFill>
              </a:rPr>
              <a:t>Stance diagnosis, stability check, feasibility</a:t>
            </a:r>
            <a:endParaRPr lang="en-US" sz="1200" dirty="0"/>
          </a:p>
        </p:txBody>
      </p:sp>
      <p:sp>
        <p:nvSpPr>
          <p:cNvPr id="15" name="panel"/>
          <p:cNvSpPr/>
          <p:nvPr/>
        </p:nvSpPr>
        <p:spPr>
          <a:xfrm>
            <a:off x="548640" y="5120640"/>
            <a:ext cx="11094415" cy="777240"/>
          </a:xfrm>
          <a:prstGeom prst="roundRect">
            <a:avLst>
              <a:gd name="adj" fmla="val 7059"/>
            </a:avLst>
          </a:prstGeom>
          <a:solidFill>
            <a:srgbClr val="DCE6E9"/>
          </a:solidFill>
          <a:ln w="12700">
            <a:solidFill>
              <a:srgbClr val="DCE6E9"/>
            </a:solidFill>
            <a:prstDash val="solid"/>
          </a:ln>
        </p:spPr>
      </p:sp>
      <p:sp>
        <p:nvSpPr>
          <p:cNvPr id="16" name="teamJoint"/>
          <p:cNvSpPr txBox="1"/>
          <p:nvPr/>
        </p:nvSpPr>
        <p:spPr>
          <a:xfrm>
            <a:off x="914400" y="5120640"/>
            <a:ext cx="10362895" cy="777240"/>
          </a:xfrm>
          <a:prstGeom prst="rect">
            <a:avLst/>
          </a:prstGeom>
          <a:noFill/>
          <a:ln/>
        </p:spPr>
        <p:txBody>
          <a:bodyPr wrap="square" lIns="0" tIns="0" rIns="0" bIns="0" rtlCol="0" anchor="ctr"/>
          <a:lstStyle/>
          <a:p>
            <a:pPr indent="0" marL="0">
              <a:buNone/>
            </a:pPr>
            <a:r>
              <a:rPr lang="en-US" sz="1250" dirty="0">
                <a:solidFill>
                  <a:schemeClr val="accent1"/>
                </a:solidFill>
              </a:rPr>
              <a:t>Joint: choice of the three controllers and of the ablation structure, gait provenance, interpretation of the results, report and deck.</a:t>
            </a:r>
            <a:endParaRPr lang="en-US"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bg1"/>
                </a:solidFill>
              </a:rPr>
              <a:t>Conclusions</a:t>
            </a:r>
            <a:endParaRPr lang="en-US" sz="2900" dirty="0"/>
          </a:p>
        </p:txBody>
      </p:sp>
      <p:sp>
        <p:nvSpPr>
          <p:cNvPr id="3" name="conclList"/>
          <p:cNvSpPr txBox="1"/>
          <p:nvPr/>
        </p:nvSpPr>
        <p:spPr>
          <a:xfrm>
            <a:off x="548640" y="1371600"/>
            <a:ext cx="7040880" cy="4206240"/>
          </a:xfrm>
          <a:prstGeom prst="rect">
            <a:avLst/>
          </a:prstGeom>
          <a:noFill/>
          <a:ln/>
        </p:spPr>
        <p:txBody>
          <a:bodyPr wrap="square" lIns="0" tIns="0" rIns="0" bIns="0" rtlCol="0" anchor="t"/>
          <a:lstStyle/>
          <a:p>
            <a:pPr marL="342900" indent="-342900">
              <a:lnSpc>
                <a:spcPct val="112000"/>
              </a:lnSpc>
              <a:spcAft>
                <a:spcPts val="1100"/>
              </a:spcAft>
              <a:buSzPct val="100000"/>
              <a:buChar char="•"/>
            </a:pPr>
            <a:r>
              <a:rPr lang="en-US" sz="1300" dirty="0">
                <a:solidFill>
                  <a:srgbClr val="E3ECEF"/>
                </a:solidFill>
              </a:rPr>
              <a:t>Terrain search alone is a net cost on terrain the gait generator already models: pitch +219 to +279% with no energy return. On irregular terrain it improves roll, cost of transport and speed, while still worsening pitch.</a:t>
            </a:r>
            <a:endParaRPr lang="en-US" sz="1300" dirty="0"/>
          </a:p>
          <a:p>
            <a:pPr marL="342900" indent="-342900">
              <a:lnSpc>
                <a:spcPct val="112000"/>
              </a:lnSpc>
              <a:spcAft>
                <a:spcPts val="1100"/>
              </a:spcAft>
              <a:buSzPct val="100000"/>
              <a:buChar char="•"/>
            </a:pPr>
            <a:r>
              <a:rPr lang="en-US" sz="1300" dirty="0">
                <a:solidFill>
                  <a:srgbClr val="E3ECEF"/>
                </a:solidFill>
              </a:rPr>
              <a:t>The attitude loop is the mechanism that buys attitude, on every task, at 18 to 94 times the noise floor. It costs 28 to 40% in energy, spent on foot travel rather than joint load.</a:t>
            </a:r>
            <a:endParaRPr lang="en-US" sz="1300" dirty="0"/>
          </a:p>
          <a:p>
            <a:pPr marL="342900" indent="-342900">
              <a:lnSpc>
                <a:spcPct val="112000"/>
              </a:lnSpc>
              <a:spcAft>
                <a:spcPts val="1100"/>
              </a:spcAft>
              <a:buSzPct val="100000"/>
              <a:buChar char="•"/>
            </a:pPr>
            <a:r>
              <a:rPr lang="en-US" sz="1300" dirty="0">
                <a:solidFill>
                  <a:srgbClr val="E3ECEF"/>
                </a:solidFill>
              </a:rPr>
              <a:t>Composed in series the two leave the body better than open loop, but make foot contact unobservable to any rest-based detector.</a:t>
            </a:r>
            <a:endParaRPr lang="en-US" sz="1300" dirty="0"/>
          </a:p>
          <a:p>
            <a:pPr marL="342900" indent="-342900">
              <a:lnSpc>
                <a:spcPct val="112000"/>
              </a:lnSpc>
              <a:spcAft>
                <a:spcPts val="1100"/>
              </a:spcAft>
              <a:buSzPct val="100000"/>
              <a:buChar char="•"/>
            </a:pPr>
            <a:r>
              <a:rPr lang="en-US" sz="1300" dirty="0">
                <a:solidFill>
                  <a:srgbClr val="E3ECEF"/>
                </a:solidFill>
              </a:rPr>
              <a:t>On the real servos the march itself would run at 2.3x the recommended continuous load.</a:t>
            </a:r>
            <a:endParaRPr lang="en-US" sz="1300" dirty="0"/>
          </a:p>
        </p:txBody>
      </p:sp>
      <p:sp>
        <p:nvSpPr>
          <p:cNvPr id="4" name="nextBox"/>
          <p:cNvSpPr/>
          <p:nvPr/>
        </p:nvSpPr>
        <p:spPr>
          <a:xfrm>
            <a:off x="7955280" y="1371600"/>
            <a:ext cx="3687775" cy="3017520"/>
          </a:xfrm>
          <a:prstGeom prst="roundRect">
            <a:avLst>
              <a:gd name="adj" fmla="val 1818"/>
            </a:avLst>
          </a:prstGeom>
          <a:solidFill>
            <a:srgbClr val="2E5564"/>
          </a:solidFill>
          <a:ln w="12700">
            <a:solidFill>
              <a:srgbClr val="2E5564"/>
            </a:solidFill>
            <a:prstDash val="solid"/>
          </a:ln>
        </p:spPr>
      </p:sp>
      <p:sp>
        <p:nvSpPr>
          <p:cNvPr id="5" name="nextHead"/>
          <p:cNvSpPr txBox="1"/>
          <p:nvPr/>
        </p:nvSpPr>
        <p:spPr>
          <a:xfrm>
            <a:off x="8275320" y="1600200"/>
            <a:ext cx="3047695" cy="384048"/>
          </a:xfrm>
          <a:prstGeom prst="rect">
            <a:avLst/>
          </a:prstGeom>
          <a:noFill/>
          <a:ln/>
        </p:spPr>
        <p:txBody>
          <a:bodyPr wrap="square" lIns="0" tIns="0" rIns="0" bIns="0" rtlCol="0" anchor="ctr"/>
          <a:lstStyle/>
          <a:p>
            <a:pPr indent="0" marL="0">
              <a:buNone/>
            </a:pPr>
            <a:r>
              <a:rPr lang="en-US" sz="1500" b="1" dirty="0">
                <a:solidFill>
                  <a:srgbClr val="FFFFFF"/>
                </a:solidFill>
              </a:rPr>
              <a:t>What comes next</a:t>
            </a:r>
            <a:endParaRPr lang="en-US" sz="1500" dirty="0"/>
          </a:p>
        </p:txBody>
      </p:sp>
      <p:sp>
        <p:nvSpPr>
          <p:cNvPr id="6" name="nextList"/>
          <p:cNvSpPr txBox="1"/>
          <p:nvPr/>
        </p:nvSpPr>
        <p:spPr>
          <a:xfrm>
            <a:off x="8275320" y="2103120"/>
            <a:ext cx="3047695" cy="2103120"/>
          </a:xfrm>
          <a:prstGeom prst="rect">
            <a:avLst/>
          </a:prstGeom>
          <a:noFill/>
          <a:ln/>
        </p:spPr>
        <p:txBody>
          <a:bodyPr wrap="square" lIns="0" tIns="0" rIns="0" bIns="0" rtlCol="0" anchor="t"/>
          <a:lstStyle/>
          <a:p>
            <a:pPr marL="342900" indent="-342900">
              <a:lnSpc>
                <a:spcPct val="112000"/>
              </a:lnSpc>
              <a:spcAft>
                <a:spcPts val="1000"/>
              </a:spcAft>
              <a:buSzPct val="100000"/>
              <a:buChar char="•"/>
            </a:pPr>
            <a:r>
              <a:rPr lang="en-US" sz="1250" dirty="0">
                <a:solidFill>
                  <a:srgbClr val="D7E3E7"/>
                </a:solidFill>
              </a:rPr>
              <a:t>The fourth cell of the ablation: attitude feedback without terrain search</a:t>
            </a:r>
            <a:endParaRPr lang="en-US" sz="1250" dirty="0"/>
          </a:p>
          <a:p>
            <a:pPr marL="342900" indent="-342900">
              <a:lnSpc>
                <a:spcPct val="112000"/>
              </a:lnSpc>
              <a:spcAft>
                <a:spcPts val="1000"/>
              </a:spcAft>
              <a:buSzPct val="100000"/>
              <a:buChar char="•"/>
            </a:pPr>
            <a:r>
              <a:rPr lang="en-US" sz="1250" dirty="0">
                <a:solidFill>
                  <a:srgbClr val="D7E3E7"/>
                </a:solidFill>
              </a:rPr>
              <a:t>A campaign with the servo limits in the loop, where C3's energy cost stops being free</a:t>
            </a:r>
            <a:endParaRPr lang="en-US" sz="1250" dirty="0"/>
          </a:p>
        </p:txBody>
      </p:sp>
      <p:sp>
        <p:nvSpPr>
          <p:cNvPr id="7" name="chip"/>
          <p:cNvSpPr/>
          <p:nvPr/>
        </p:nvSpPr>
        <p:spPr>
          <a:xfrm>
            <a:off x="7955280" y="4846320"/>
            <a:ext cx="566928" cy="566928"/>
          </a:xfrm>
          <a:prstGeom prst="ellipse">
            <a:avLst/>
          </a:prstGeom>
          <a:solidFill>
            <a:srgbClr val="7C8A91"/>
          </a:solidFill>
          <a:ln w="12700">
            <a:solidFill>
              <a:srgbClr val="7C8A91"/>
            </a:solidFill>
            <a:prstDash val="solid"/>
          </a:ln>
        </p:spPr>
      </p:sp>
      <p:sp>
        <p:nvSpPr>
          <p:cNvPr id="8" name="chipText"/>
          <p:cNvSpPr txBox="1"/>
          <p:nvPr/>
        </p:nvSpPr>
        <p:spPr>
          <a:xfrm>
            <a:off x="7955280" y="48463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rPr>
              <a:t>C1</a:t>
            </a:r>
            <a:endParaRPr lang="en-US" sz="1500" dirty="0"/>
          </a:p>
        </p:txBody>
      </p:sp>
      <p:sp>
        <p:nvSpPr>
          <p:cNvPr id="9" name="chip"/>
          <p:cNvSpPr/>
          <p:nvPr/>
        </p:nvSpPr>
        <p:spPr>
          <a:xfrm>
            <a:off x="8668512" y="4846320"/>
            <a:ext cx="566928" cy="566928"/>
          </a:xfrm>
          <a:prstGeom prst="ellipse">
            <a:avLst/>
          </a:prstGeom>
          <a:solidFill>
            <a:srgbClr val="C2591F"/>
          </a:solidFill>
          <a:ln w="12700">
            <a:solidFill>
              <a:srgbClr val="C2591F"/>
            </a:solidFill>
            <a:prstDash val="solid"/>
          </a:ln>
        </p:spPr>
      </p:sp>
      <p:sp>
        <p:nvSpPr>
          <p:cNvPr id="10" name="chipText"/>
          <p:cNvSpPr txBox="1"/>
          <p:nvPr/>
        </p:nvSpPr>
        <p:spPr>
          <a:xfrm>
            <a:off x="8668512" y="48463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rPr>
              <a:t>C2</a:t>
            </a:r>
            <a:endParaRPr lang="en-US" sz="1500" dirty="0"/>
          </a:p>
        </p:txBody>
      </p:sp>
      <p:sp>
        <p:nvSpPr>
          <p:cNvPr id="11" name="chip"/>
          <p:cNvSpPr/>
          <p:nvPr/>
        </p:nvSpPr>
        <p:spPr>
          <a:xfrm>
            <a:off x="9381744" y="4846320"/>
            <a:ext cx="566928" cy="566928"/>
          </a:xfrm>
          <a:prstGeom prst="ellipse">
            <a:avLst/>
          </a:prstGeom>
          <a:solidFill>
            <a:srgbClr val="6F9480"/>
          </a:solidFill>
          <a:ln w="12700">
            <a:solidFill>
              <a:srgbClr val="6F9480"/>
            </a:solidFill>
            <a:prstDash val="solid"/>
          </a:ln>
        </p:spPr>
      </p:sp>
      <p:sp>
        <p:nvSpPr>
          <p:cNvPr id="12" name="chipText"/>
          <p:cNvSpPr txBox="1"/>
          <p:nvPr/>
        </p:nvSpPr>
        <p:spPr>
          <a:xfrm>
            <a:off x="9381744" y="48463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rPr>
              <a:t>C3</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99A3"/>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PhantomX FSR">
  <a:themeElements>
    <a:clrScheme name="PhantomX FSR">
      <a:dk1>
        <a:srgbClr val="1A2228"/>
      </a:dk1>
      <a:lt1>
        <a:srgbClr val="FFFFFF"/>
      </a:lt1>
      <a:dk2>
        <a:srgbClr val="44606B"/>
      </a:dk2>
      <a:lt2>
        <a:srgbClr val="EFEBE5"/>
      </a:lt2>
      <a:accent1>
        <a:srgbClr val="23424F"/>
      </a:accent1>
      <a:accent2>
        <a:srgbClr val="C2591F"/>
      </a:accent2>
      <a:accent3>
        <a:srgbClr val="6F9480"/>
      </a:accent3>
      <a:accent4>
        <a:srgbClr val="7C8A91"/>
      </a:accent4>
      <a:accent5>
        <a:srgbClr val="9A6A3C"/>
      </a:accent5>
      <a:accent6>
        <a:srgbClr val="A8322A"/>
      </a:accent6>
      <a:hlink>
        <a:srgbClr val="23424F"/>
      </a:hlink>
      <a:folHlink>
        <a:srgbClr val="6F9480"/>
      </a:folHlink>
    </a:clrScheme>
    <a:fontScheme name="PhantomX FS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Terrain-Interaction Control of a Hexapod Robot</dc:title>
  <dc:subject>PptxGenJS Presentation</dc:subject>
  <dc:creator>FSR PhantomX</dc:creator>
  <cp:lastModifiedBy>FSR PhantomX</cp:lastModifiedBy>
  <cp:revision>1</cp:revision>
  <dcterms:created xsi:type="dcterms:W3CDTF">2026-10-05T13:44:33Z</dcterms:created>
  <dcterms:modified xsi:type="dcterms:W3CDTF">2026-10-05T13:44:33Z</dcterms:modified>
</cp:coreProperties>
</file>